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ampul" id="{a178d248-2d32-ac44-6396-656733b62660}">
          <p14:sldIdLst>
            <p14:sldId id="256"/>
          </p14:sldIdLst>
        </p14:section>
        <p14:section name="Latar belakang dan masalah" id="{10d6715c-1a9b-30f6-2e2c-e811576ed6af}">
          <p14:sldIdLst>
            <p14:sldId id="257"/>
          </p14:sldIdLst>
        </p14:section>
        <p14:section name="Solusi: konsep" id="{992a793e-4f73-8d86-38b3-f82973625ec2}">
          <p14:sldIdLst>
            <p14:sldId id="258"/>
          </p14:sldIdLst>
        </p14:section>
        <p14:section name="Solusi: validitas teknis" id="{0074ec39-d5cd-0172-667e-1225cad9c8a4}">
          <p14:sldIdLst>
            <p14:sldId id="259"/>
          </p14:sldIdLst>
        </p14:section>
        <p14:section name="Solusi: desain produk" id="{3392a775-310b-097f-120e-5061a8ae6d62}">
          <p14:sldIdLst>
            <p14:sldId id="260"/>
          </p14:sldIdLst>
        </p14:section>
        <p14:section name="Analisis pesaing" id="{8acc523e-5a29-ccad-b2e9-37b088fe671f}">
          <p14:sldIdLst>
            <p14:sldId id="261"/>
          </p14:sldIdLst>
        </p14:section>
        <p14:section name="Model keuangan" id="{06914328-feb2-9b45-6163-ded14a633d97}">
          <p14:sldIdLst>
            <p14:sldId id="262"/>
          </p14:sldIdLst>
        </p14:section>
        <p14:section name="Rencana implementasi" id="{d777cfa9-c426-42bd-3c08-6a83adf2facd}">
          <p14:sldIdLst>
            <p14:sldId id="263"/>
          </p14:sldIdLst>
        </p14:section>
        <p14:section name="Peluang bisnis dan dampak" id="{f93c3adf-f431-6d67-77b0-d437c2415bae}">
          <p14:sldIdLst>
            <p14:sldId id="264"/>
          </p14:sldIdLst>
        </p14:section>
        <p14:section name="Kesimpulan" id="{2628610b-e45f-0d75-5e3a-1306c2704bed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kW</c:v>
                </c:pt>
              </c:strCache>
            </c:strRef>
          </c:tx>
          <c:spPr>
            <a:solidFill>
              <a:srgbClr val="5B6B7F"/>
            </a:solidFill>
            <a:effectLst/>
          </c:spPr>
          <c:invertIfNegative val="0"/>
          <c:dLbls>
            <c:numFmt formatCode="[$-421]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6B7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4E9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0A52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0A52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EF2F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8452F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3E8E41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Energi biogas (LHV)</c:v>
                  </c:pt>
                  <c:pt idx="1">
                    <c:v>Listrik kotor</c:v>
                  </c:pt>
                  <c:pt idx="2">
                    <c:v>Panas selubung</c:v>
                  </c:pt>
                  <c:pt idx="3">
                    <c:v>Panas gas buang</c:v>
                  </c:pt>
                  <c:pt idx="4">
                    <c:v>Rugi radiasi dan sisa</c:v>
                  </c:pt>
                  <c:pt idx="5">
                    <c:v>Pemakaian sendiri</c:v>
                  </c:pt>
                  <c:pt idx="6">
                    <c:v>Listrik neto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2866.5130113140112</c:v>
                </c:pt>
                <c:pt idx="1">
                  <c:v>1126.5831692787917</c:v>
                </c:pt>
                <c:pt idx="2">
                  <c:v>716.6282528285028</c:v>
                </c:pt>
                <c:pt idx="3">
                  <c:v>688.3762174374532</c:v>
                </c:pt>
                <c:pt idx="4">
                  <c:v>334.9253717692635</c:v>
                </c:pt>
                <c:pt idx="5">
                  <c:v>101.58183030730822</c:v>
                </c:pt>
                <c:pt idx="6">
                  <c:v>1025.0013389714836</c:v>
                </c:pt>
              </c:numCache>
            </c:numRef>
          </c:val>
        </c:ser>
        <c:dLbls>
          <c:numFmt formatCode="[$-421]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Daya neto (kW)</c:v>
                </c:pt>
              </c:strCache>
            </c:strRef>
          </c:tx>
          <c:spPr>
            <a:solidFill>
              <a:srgbClr val="1F4E9E"/>
            </a:solidFill>
            <a:ln w="15875" cap="flat">
              <a:solidFill>
                <a:srgbClr val="1F4E9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F4E9E"/>
              </a:solidFill>
              <a:ln w="9525" cap="flat">
                <a:solidFill>
                  <a:srgbClr val="1F4E9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Sheet1!$A$2:$A$366</c:f>
              <c:multiLvlStrCache>
                <c:ptCount val="365"/>
                <c:lvl>
                  <c:pt idx="0">
                    <c:v>Jan</c:v>
                  </c:pt>
                  <c:pt idx="1">
                    <c:v>  </c:v>
                  </c:pt>
                  <c:pt idx="2">
                    <c:v>   </c:v>
                  </c:pt>
                  <c:pt idx="3">
                    <c:v>    </c:v>
                  </c:pt>
                  <c:pt idx="4">
                    <c:v>     </c:v>
                  </c:pt>
                  <c:pt idx="5">
                    <c:v>      </c:v>
                  </c:pt>
                  <c:pt idx="6">
                    <c:v>       </c:v>
                  </c:pt>
                  <c:pt idx="7">
                    <c:v>        </c:v>
                  </c:pt>
                  <c:pt idx="8">
                    <c:v>         </c:v>
                  </c:pt>
                  <c:pt idx="9">
                    <c:v>          </c:v>
                  </c:pt>
                  <c:pt idx="10">
                    <c:v>           </c:v>
                  </c:pt>
                  <c:pt idx="11">
                    <c:v>            </c:v>
                  </c:pt>
                  <c:pt idx="12">
                    <c:v>             </c:v>
                  </c:pt>
                  <c:pt idx="13">
                    <c:v>              </c:v>
                  </c:pt>
                  <c:pt idx="14">
                    <c:v>               </c:v>
                  </c:pt>
                  <c:pt idx="15">
                    <c:v>                </c:v>
                  </c:pt>
                  <c:pt idx="16">
                    <c:v>                 </c:v>
                  </c:pt>
                  <c:pt idx="17">
                    <c:v>                  </c:v>
                  </c:pt>
                  <c:pt idx="18">
                    <c:v>                   </c:v>
                  </c:pt>
                  <c:pt idx="19">
                    <c:v>                    </c:v>
                  </c:pt>
                  <c:pt idx="20">
                    <c:v>                     </c:v>
                  </c:pt>
                  <c:pt idx="21">
                    <c:v>                      </c:v>
                  </c:pt>
                  <c:pt idx="22">
                    <c:v>                       </c:v>
                  </c:pt>
                  <c:pt idx="23">
                    <c:v>                        </c:v>
                  </c:pt>
                  <c:pt idx="24">
                    <c:v>                         </c:v>
                  </c:pt>
                  <c:pt idx="25">
                    <c:v>                          </c:v>
                  </c:pt>
                  <c:pt idx="26">
                    <c:v>                           </c:v>
                  </c:pt>
                  <c:pt idx="27">
                    <c:v>                            </c:v>
                  </c:pt>
                  <c:pt idx="28">
                    <c:v>                             </c:v>
                  </c:pt>
                  <c:pt idx="29">
                    <c:v> </c:v>
                  </c:pt>
                  <c:pt idx="30">
                    <c:v>Feb</c:v>
                  </c:pt>
                  <c:pt idx="31">
                    <c:v>   </c:v>
                  </c:pt>
                  <c:pt idx="32">
                    <c:v>    </c:v>
                  </c:pt>
                  <c:pt idx="33">
                    <c:v>     </c:v>
                  </c:pt>
                  <c:pt idx="34">
                    <c:v>      </c:v>
                  </c:pt>
                  <c:pt idx="35">
                    <c:v>       </c:v>
                  </c:pt>
                  <c:pt idx="36">
                    <c:v>        </c:v>
                  </c:pt>
                  <c:pt idx="37">
                    <c:v>         </c:v>
                  </c:pt>
                  <c:pt idx="38">
                    <c:v>          </c:v>
                  </c:pt>
                  <c:pt idx="39">
                    <c:v>           </c:v>
                  </c:pt>
                  <c:pt idx="40">
                    <c:v>            </c:v>
                  </c:pt>
                  <c:pt idx="41">
                    <c:v>             </c:v>
                  </c:pt>
                  <c:pt idx="42">
                    <c:v>              </c:v>
                  </c:pt>
                  <c:pt idx="43">
                    <c:v>               </c:v>
                  </c:pt>
                  <c:pt idx="44">
                    <c:v>                </c:v>
                  </c:pt>
                  <c:pt idx="45">
                    <c:v>                 </c:v>
                  </c:pt>
                  <c:pt idx="46">
                    <c:v>                  </c:v>
                  </c:pt>
                  <c:pt idx="47">
                    <c:v>                   </c:v>
                  </c:pt>
                  <c:pt idx="48">
                    <c:v>                    </c:v>
                  </c:pt>
                  <c:pt idx="49">
                    <c:v>                     </c:v>
                  </c:pt>
                  <c:pt idx="50">
                    <c:v>                      </c:v>
                  </c:pt>
                  <c:pt idx="51">
                    <c:v>                       </c:v>
                  </c:pt>
                  <c:pt idx="52">
                    <c:v>                        </c:v>
                  </c:pt>
                  <c:pt idx="53">
                    <c:v>                         </c:v>
                  </c:pt>
                  <c:pt idx="54">
                    <c:v>                          </c:v>
                  </c:pt>
                  <c:pt idx="55">
                    <c:v>                           </c:v>
                  </c:pt>
                  <c:pt idx="56">
                    <c:v>                            </c:v>
                  </c:pt>
                  <c:pt idx="57">
                    <c:v>                             </c:v>
                  </c:pt>
                  <c:pt idx="58">
                    <c:v> </c:v>
                  </c:pt>
                  <c:pt idx="59">
                    <c:v>  </c:v>
                  </c:pt>
                  <c:pt idx="60">
                    <c:v>Mar</c:v>
                  </c:pt>
                  <c:pt idx="61">
                    <c:v>    </c:v>
                  </c:pt>
                  <c:pt idx="62">
                    <c:v>     </c:v>
                  </c:pt>
                  <c:pt idx="63">
                    <c:v>      </c:v>
                  </c:pt>
                  <c:pt idx="64">
                    <c:v>       </c:v>
                  </c:pt>
                  <c:pt idx="65">
                    <c:v>        </c:v>
                  </c:pt>
                  <c:pt idx="66">
                    <c:v>         </c:v>
                  </c:pt>
                  <c:pt idx="67">
                    <c:v>          </c:v>
                  </c:pt>
                  <c:pt idx="68">
                    <c:v>           </c:v>
                  </c:pt>
                  <c:pt idx="69">
                    <c:v>            </c:v>
                  </c:pt>
                  <c:pt idx="70">
                    <c:v>             </c:v>
                  </c:pt>
                  <c:pt idx="71">
                    <c:v>              </c:v>
                  </c:pt>
                  <c:pt idx="72">
                    <c:v>               </c:v>
                  </c:pt>
                  <c:pt idx="73">
                    <c:v>                </c:v>
                  </c:pt>
                  <c:pt idx="74">
                    <c:v>                 </c:v>
                  </c:pt>
                  <c:pt idx="75">
                    <c:v>                  </c:v>
                  </c:pt>
                  <c:pt idx="76">
                    <c:v>                   </c:v>
                  </c:pt>
                  <c:pt idx="77">
                    <c:v>                    </c:v>
                  </c:pt>
                  <c:pt idx="78">
                    <c:v>                     </c:v>
                  </c:pt>
                  <c:pt idx="79">
                    <c:v>                      </c:v>
                  </c:pt>
                  <c:pt idx="80">
                    <c:v>                       </c:v>
                  </c:pt>
                  <c:pt idx="81">
                    <c:v>                        </c:v>
                  </c:pt>
                  <c:pt idx="82">
                    <c:v>                         </c:v>
                  </c:pt>
                  <c:pt idx="83">
                    <c:v>                          </c:v>
                  </c:pt>
                  <c:pt idx="84">
                    <c:v>                           </c:v>
                  </c:pt>
                  <c:pt idx="85">
                    <c:v>                            </c:v>
                  </c:pt>
                  <c:pt idx="86">
                    <c:v>                             </c:v>
                  </c:pt>
                  <c:pt idx="87">
                    <c:v> </c:v>
                  </c:pt>
                  <c:pt idx="88">
                    <c:v>  </c:v>
                  </c:pt>
                  <c:pt idx="89">
                    <c:v>   </c:v>
                  </c:pt>
                  <c:pt idx="90">
                    <c:v>Apr</c:v>
                  </c:pt>
                  <c:pt idx="91">
                    <c:v>     </c:v>
                  </c:pt>
                  <c:pt idx="92">
                    <c:v>      </c:v>
                  </c:pt>
                  <c:pt idx="93">
                    <c:v>       </c:v>
                  </c:pt>
                  <c:pt idx="94">
                    <c:v>        </c:v>
                  </c:pt>
                  <c:pt idx="95">
                    <c:v>         </c:v>
                  </c:pt>
                  <c:pt idx="96">
                    <c:v>          </c:v>
                  </c:pt>
                  <c:pt idx="97">
                    <c:v>           </c:v>
                  </c:pt>
                  <c:pt idx="98">
                    <c:v>            </c:v>
                  </c:pt>
                  <c:pt idx="99">
                    <c:v>             </c:v>
                  </c:pt>
                  <c:pt idx="100">
                    <c:v>              </c:v>
                  </c:pt>
                  <c:pt idx="101">
                    <c:v>               </c:v>
                  </c:pt>
                  <c:pt idx="102">
                    <c:v>                </c:v>
                  </c:pt>
                  <c:pt idx="103">
                    <c:v>                 </c:v>
                  </c:pt>
                  <c:pt idx="104">
                    <c:v>                  </c:v>
                  </c:pt>
                  <c:pt idx="105">
                    <c:v>                   </c:v>
                  </c:pt>
                  <c:pt idx="106">
                    <c:v>                    </c:v>
                  </c:pt>
                  <c:pt idx="107">
                    <c:v>                     </c:v>
                  </c:pt>
                  <c:pt idx="108">
                    <c:v>                      </c:v>
                  </c:pt>
                  <c:pt idx="109">
                    <c:v>                       </c:v>
                  </c:pt>
                  <c:pt idx="110">
                    <c:v>                        </c:v>
                  </c:pt>
                  <c:pt idx="111">
                    <c:v>                         </c:v>
                  </c:pt>
                  <c:pt idx="112">
                    <c:v>                          </c:v>
                  </c:pt>
                  <c:pt idx="113">
                    <c:v>                           </c:v>
                  </c:pt>
                  <c:pt idx="114">
                    <c:v>                            </c:v>
                  </c:pt>
                  <c:pt idx="115">
                    <c:v>                             </c:v>
                  </c:pt>
                  <c:pt idx="116">
                    <c:v> </c:v>
                  </c:pt>
                  <c:pt idx="117">
                    <c:v>  </c:v>
                  </c:pt>
                  <c:pt idx="118">
                    <c:v>   </c:v>
                  </c:pt>
                  <c:pt idx="119">
                    <c:v>    </c:v>
                  </c:pt>
                  <c:pt idx="120">
                    <c:v>Mei</c:v>
                  </c:pt>
                  <c:pt idx="121">
                    <c:v>      </c:v>
                  </c:pt>
                  <c:pt idx="122">
                    <c:v>       </c:v>
                  </c:pt>
                  <c:pt idx="123">
                    <c:v>        </c:v>
                  </c:pt>
                  <c:pt idx="124">
                    <c:v>         </c:v>
                  </c:pt>
                  <c:pt idx="125">
                    <c:v>          </c:v>
                  </c:pt>
                  <c:pt idx="126">
                    <c:v>           </c:v>
                  </c:pt>
                  <c:pt idx="127">
                    <c:v>            </c:v>
                  </c:pt>
                  <c:pt idx="128">
                    <c:v>             </c:v>
                  </c:pt>
                  <c:pt idx="129">
                    <c:v>              </c:v>
                  </c:pt>
                  <c:pt idx="130">
                    <c:v>               </c:v>
                  </c:pt>
                  <c:pt idx="131">
                    <c:v>                </c:v>
                  </c:pt>
                  <c:pt idx="132">
                    <c:v>                 </c:v>
                  </c:pt>
                  <c:pt idx="133">
                    <c:v>                  </c:v>
                  </c:pt>
                  <c:pt idx="134">
                    <c:v>                   </c:v>
                  </c:pt>
                  <c:pt idx="135">
                    <c:v>                    </c:v>
                  </c:pt>
                  <c:pt idx="136">
                    <c:v>                     </c:v>
                  </c:pt>
                  <c:pt idx="137">
                    <c:v>                      </c:v>
                  </c:pt>
                  <c:pt idx="138">
                    <c:v>                       </c:v>
                  </c:pt>
                  <c:pt idx="139">
                    <c:v>                        </c:v>
                  </c:pt>
                  <c:pt idx="140">
                    <c:v>                         </c:v>
                  </c:pt>
                  <c:pt idx="141">
                    <c:v>                          </c:v>
                  </c:pt>
                  <c:pt idx="142">
                    <c:v>                           </c:v>
                  </c:pt>
                  <c:pt idx="143">
                    <c:v>                            </c:v>
                  </c:pt>
                  <c:pt idx="144">
                    <c:v>                             </c:v>
                  </c:pt>
                  <c:pt idx="145">
                    <c:v> </c:v>
                  </c:pt>
                  <c:pt idx="146">
                    <c:v>  </c:v>
                  </c:pt>
                  <c:pt idx="147">
                    <c:v>   </c:v>
                  </c:pt>
                  <c:pt idx="148">
                    <c:v>    </c:v>
                  </c:pt>
                  <c:pt idx="149">
                    <c:v>     </c:v>
                  </c:pt>
                  <c:pt idx="150">
                    <c:v>Jun</c:v>
                  </c:pt>
                  <c:pt idx="151">
                    <c:v>       </c:v>
                  </c:pt>
                  <c:pt idx="152">
                    <c:v>        </c:v>
                  </c:pt>
                  <c:pt idx="153">
                    <c:v>         </c:v>
                  </c:pt>
                  <c:pt idx="154">
                    <c:v>          </c:v>
                  </c:pt>
                  <c:pt idx="155">
                    <c:v>           </c:v>
                  </c:pt>
                  <c:pt idx="156">
                    <c:v>            </c:v>
                  </c:pt>
                  <c:pt idx="157">
                    <c:v>             </c:v>
                  </c:pt>
                  <c:pt idx="158">
                    <c:v>              </c:v>
                  </c:pt>
                  <c:pt idx="159">
                    <c:v>               </c:v>
                  </c:pt>
                  <c:pt idx="160">
                    <c:v>                </c:v>
                  </c:pt>
                  <c:pt idx="161">
                    <c:v>                 </c:v>
                  </c:pt>
                  <c:pt idx="162">
                    <c:v>                  </c:v>
                  </c:pt>
                  <c:pt idx="163">
                    <c:v>                   </c:v>
                  </c:pt>
                  <c:pt idx="164">
                    <c:v>                    </c:v>
                  </c:pt>
                  <c:pt idx="165">
                    <c:v>                     </c:v>
                  </c:pt>
                  <c:pt idx="166">
                    <c:v>                      </c:v>
                  </c:pt>
                  <c:pt idx="167">
                    <c:v>                       </c:v>
                  </c:pt>
                  <c:pt idx="168">
                    <c:v>                        </c:v>
                  </c:pt>
                  <c:pt idx="169">
                    <c:v>                         </c:v>
                  </c:pt>
                  <c:pt idx="170">
                    <c:v>                          </c:v>
                  </c:pt>
                  <c:pt idx="171">
                    <c:v>                           </c:v>
                  </c:pt>
                  <c:pt idx="172">
                    <c:v>                            </c:v>
                  </c:pt>
                  <c:pt idx="173">
                    <c:v>                             </c:v>
                  </c:pt>
                  <c:pt idx="174">
                    <c:v> </c:v>
                  </c:pt>
                  <c:pt idx="175">
                    <c:v>  </c:v>
                  </c:pt>
                  <c:pt idx="176">
                    <c:v>   </c:v>
                  </c:pt>
                  <c:pt idx="177">
                    <c:v>    </c:v>
                  </c:pt>
                  <c:pt idx="178">
                    <c:v>     </c:v>
                  </c:pt>
                  <c:pt idx="179">
                    <c:v>      </c:v>
                  </c:pt>
                  <c:pt idx="180">
                    <c:v>Jul</c:v>
                  </c:pt>
                  <c:pt idx="181">
                    <c:v>        </c:v>
                  </c:pt>
                  <c:pt idx="182">
                    <c:v>         </c:v>
                  </c:pt>
                  <c:pt idx="183">
                    <c:v>          </c:v>
                  </c:pt>
                  <c:pt idx="184">
                    <c:v>           </c:v>
                  </c:pt>
                  <c:pt idx="185">
                    <c:v>            </c:v>
                  </c:pt>
                  <c:pt idx="186">
                    <c:v>             </c:v>
                  </c:pt>
                  <c:pt idx="187">
                    <c:v>              </c:v>
                  </c:pt>
                  <c:pt idx="188">
                    <c:v>               </c:v>
                  </c:pt>
                  <c:pt idx="189">
                    <c:v>                </c:v>
                  </c:pt>
                  <c:pt idx="190">
                    <c:v>                 </c:v>
                  </c:pt>
                  <c:pt idx="191">
                    <c:v>                  </c:v>
                  </c:pt>
                  <c:pt idx="192">
                    <c:v>                   </c:v>
                  </c:pt>
                  <c:pt idx="193">
                    <c:v>                    </c:v>
                  </c:pt>
                  <c:pt idx="194">
                    <c:v>                     </c:v>
                  </c:pt>
                  <c:pt idx="195">
                    <c:v>                      </c:v>
                  </c:pt>
                  <c:pt idx="196">
                    <c:v>                       </c:v>
                  </c:pt>
                  <c:pt idx="197">
                    <c:v>                        </c:v>
                  </c:pt>
                  <c:pt idx="198">
                    <c:v>                         </c:v>
                  </c:pt>
                  <c:pt idx="199">
                    <c:v>                          </c:v>
                  </c:pt>
                  <c:pt idx="200">
                    <c:v>                           </c:v>
                  </c:pt>
                  <c:pt idx="201">
                    <c:v>                            </c:v>
                  </c:pt>
                  <c:pt idx="202">
                    <c:v>                             </c:v>
                  </c:pt>
                  <c:pt idx="203">
                    <c:v> </c:v>
                  </c:pt>
                  <c:pt idx="204">
                    <c:v>  </c:v>
                  </c:pt>
                  <c:pt idx="205">
                    <c:v>   </c:v>
                  </c:pt>
                  <c:pt idx="206">
                    <c:v>    </c:v>
                  </c:pt>
                  <c:pt idx="207">
                    <c:v>     </c:v>
                  </c:pt>
                  <c:pt idx="208">
                    <c:v>      </c:v>
                  </c:pt>
                  <c:pt idx="209">
                    <c:v>       </c:v>
                  </c:pt>
                  <c:pt idx="210">
                    <c:v>Agu</c:v>
                  </c:pt>
                  <c:pt idx="211">
                    <c:v>         </c:v>
                  </c:pt>
                  <c:pt idx="212">
                    <c:v>          </c:v>
                  </c:pt>
                  <c:pt idx="213">
                    <c:v>           </c:v>
                  </c:pt>
                  <c:pt idx="214">
                    <c:v>            </c:v>
                  </c:pt>
                  <c:pt idx="215">
                    <c:v>             </c:v>
                  </c:pt>
                  <c:pt idx="216">
                    <c:v>              </c:v>
                  </c:pt>
                  <c:pt idx="217">
                    <c:v>               </c:v>
                  </c:pt>
                  <c:pt idx="218">
                    <c:v>                </c:v>
                  </c:pt>
                  <c:pt idx="219">
                    <c:v>                 </c:v>
                  </c:pt>
                  <c:pt idx="220">
                    <c:v>                  </c:v>
                  </c:pt>
                  <c:pt idx="221">
                    <c:v>                   </c:v>
                  </c:pt>
                  <c:pt idx="222">
                    <c:v>                    </c:v>
                  </c:pt>
                  <c:pt idx="223">
                    <c:v>                     </c:v>
                  </c:pt>
                  <c:pt idx="224">
                    <c:v>                      </c:v>
                  </c:pt>
                  <c:pt idx="225">
                    <c:v>                       </c:v>
                  </c:pt>
                  <c:pt idx="226">
                    <c:v>                        </c:v>
                  </c:pt>
                  <c:pt idx="227">
                    <c:v>                         </c:v>
                  </c:pt>
                  <c:pt idx="228">
                    <c:v>                          </c:v>
                  </c:pt>
                  <c:pt idx="229">
                    <c:v>                           </c:v>
                  </c:pt>
                  <c:pt idx="230">
                    <c:v>                            </c:v>
                  </c:pt>
                  <c:pt idx="231">
                    <c:v>                             </c:v>
                  </c:pt>
                  <c:pt idx="232">
                    <c:v> </c:v>
                  </c:pt>
                  <c:pt idx="233">
                    <c:v>  </c:v>
                  </c:pt>
                  <c:pt idx="234">
                    <c:v>   </c:v>
                  </c:pt>
                  <c:pt idx="235">
                    <c:v>    </c:v>
                  </c:pt>
                  <c:pt idx="236">
                    <c:v>     </c:v>
                  </c:pt>
                  <c:pt idx="237">
                    <c:v>      </c:v>
                  </c:pt>
                  <c:pt idx="238">
                    <c:v>       </c:v>
                  </c:pt>
                  <c:pt idx="239">
                    <c:v>        </c:v>
                  </c:pt>
                  <c:pt idx="240">
                    <c:v>Sep</c:v>
                  </c:pt>
                  <c:pt idx="241">
                    <c:v>          </c:v>
                  </c:pt>
                  <c:pt idx="242">
                    <c:v>           </c:v>
                  </c:pt>
                  <c:pt idx="243">
                    <c:v>            </c:v>
                  </c:pt>
                  <c:pt idx="244">
                    <c:v>             </c:v>
                  </c:pt>
                  <c:pt idx="245">
                    <c:v>              </c:v>
                  </c:pt>
                  <c:pt idx="246">
                    <c:v>               </c:v>
                  </c:pt>
                  <c:pt idx="247">
                    <c:v>                </c:v>
                  </c:pt>
                  <c:pt idx="248">
                    <c:v>                 </c:v>
                  </c:pt>
                  <c:pt idx="249">
                    <c:v>                  </c:v>
                  </c:pt>
                  <c:pt idx="250">
                    <c:v>                   </c:v>
                  </c:pt>
                  <c:pt idx="251">
                    <c:v>                    </c:v>
                  </c:pt>
                  <c:pt idx="252">
                    <c:v>                     </c:v>
                  </c:pt>
                  <c:pt idx="253">
                    <c:v>                      </c:v>
                  </c:pt>
                  <c:pt idx="254">
                    <c:v>                       </c:v>
                  </c:pt>
                  <c:pt idx="255">
                    <c:v>                        </c:v>
                  </c:pt>
                  <c:pt idx="256">
                    <c:v>                         </c:v>
                  </c:pt>
                  <c:pt idx="257">
                    <c:v>                          </c:v>
                  </c:pt>
                  <c:pt idx="258">
                    <c:v>                           </c:v>
                  </c:pt>
                  <c:pt idx="259">
                    <c:v>                            </c:v>
                  </c:pt>
                  <c:pt idx="260">
                    <c:v>                             </c:v>
                  </c:pt>
                  <c:pt idx="261">
                    <c:v> </c:v>
                  </c:pt>
                  <c:pt idx="262">
                    <c:v>  </c:v>
                  </c:pt>
                  <c:pt idx="263">
                    <c:v>   </c:v>
                  </c:pt>
                  <c:pt idx="264">
                    <c:v>    </c:v>
                  </c:pt>
                  <c:pt idx="265">
                    <c:v>     </c:v>
                  </c:pt>
                  <c:pt idx="266">
                    <c:v>      </c:v>
                  </c:pt>
                  <c:pt idx="267">
                    <c:v>       </c:v>
                  </c:pt>
                  <c:pt idx="268">
                    <c:v>        </c:v>
                  </c:pt>
                  <c:pt idx="269">
                    <c:v>         </c:v>
                  </c:pt>
                  <c:pt idx="270">
                    <c:v>Okt</c:v>
                  </c:pt>
                  <c:pt idx="271">
                    <c:v>           </c:v>
                  </c:pt>
                  <c:pt idx="272">
                    <c:v>            </c:v>
                  </c:pt>
                  <c:pt idx="273">
                    <c:v>             </c:v>
                  </c:pt>
                  <c:pt idx="274">
                    <c:v>              </c:v>
                  </c:pt>
                  <c:pt idx="275">
                    <c:v>               </c:v>
                  </c:pt>
                  <c:pt idx="276">
                    <c:v>                </c:v>
                  </c:pt>
                  <c:pt idx="277">
                    <c:v>                 </c:v>
                  </c:pt>
                  <c:pt idx="278">
                    <c:v>                  </c:v>
                  </c:pt>
                  <c:pt idx="279">
                    <c:v>                   </c:v>
                  </c:pt>
                  <c:pt idx="280">
                    <c:v>                    </c:v>
                  </c:pt>
                  <c:pt idx="281">
                    <c:v>                     </c:v>
                  </c:pt>
                  <c:pt idx="282">
                    <c:v>                      </c:v>
                  </c:pt>
                  <c:pt idx="283">
                    <c:v>                       </c:v>
                  </c:pt>
                  <c:pt idx="284">
                    <c:v>                        </c:v>
                  </c:pt>
                  <c:pt idx="285">
                    <c:v>                         </c:v>
                  </c:pt>
                  <c:pt idx="286">
                    <c:v>                          </c:v>
                  </c:pt>
                  <c:pt idx="287">
                    <c:v>                           </c:v>
                  </c:pt>
                  <c:pt idx="288">
                    <c:v>                            </c:v>
                  </c:pt>
                  <c:pt idx="289">
                    <c:v>                             </c:v>
                  </c:pt>
                  <c:pt idx="290">
                    <c:v> </c:v>
                  </c:pt>
                  <c:pt idx="291">
                    <c:v>  </c:v>
                  </c:pt>
                  <c:pt idx="292">
                    <c:v>   </c:v>
                  </c:pt>
                  <c:pt idx="293">
                    <c:v>    </c:v>
                  </c:pt>
                  <c:pt idx="294">
                    <c:v>     </c:v>
                  </c:pt>
                  <c:pt idx="295">
                    <c:v>      </c:v>
                  </c:pt>
                  <c:pt idx="296">
                    <c:v>       </c:v>
                  </c:pt>
                  <c:pt idx="297">
                    <c:v>        </c:v>
                  </c:pt>
                  <c:pt idx="298">
                    <c:v>         </c:v>
                  </c:pt>
                  <c:pt idx="299">
                    <c:v>          </c:v>
                  </c:pt>
                  <c:pt idx="300">
                    <c:v>Nov</c:v>
                  </c:pt>
                  <c:pt idx="301">
                    <c:v>            </c:v>
                  </c:pt>
                  <c:pt idx="302">
                    <c:v>             </c:v>
                  </c:pt>
                  <c:pt idx="303">
                    <c:v>              </c:v>
                  </c:pt>
                  <c:pt idx="304">
                    <c:v>               </c:v>
                  </c:pt>
                  <c:pt idx="305">
                    <c:v>                </c:v>
                  </c:pt>
                  <c:pt idx="306">
                    <c:v>                 </c:v>
                  </c:pt>
                  <c:pt idx="307">
                    <c:v>                  </c:v>
                  </c:pt>
                  <c:pt idx="308">
                    <c:v>                   </c:v>
                  </c:pt>
                  <c:pt idx="309">
                    <c:v>                    </c:v>
                  </c:pt>
                  <c:pt idx="310">
                    <c:v>                     </c:v>
                  </c:pt>
                  <c:pt idx="311">
                    <c:v>                      </c:v>
                  </c:pt>
                  <c:pt idx="312">
                    <c:v>                       </c:v>
                  </c:pt>
                  <c:pt idx="313">
                    <c:v>                        </c:v>
                  </c:pt>
                  <c:pt idx="314">
                    <c:v>                         </c:v>
                  </c:pt>
                  <c:pt idx="315">
                    <c:v>                          </c:v>
                  </c:pt>
                  <c:pt idx="316">
                    <c:v>                           </c:v>
                  </c:pt>
                  <c:pt idx="317">
                    <c:v>                            </c:v>
                  </c:pt>
                  <c:pt idx="318">
                    <c:v>                             </c:v>
                  </c:pt>
                  <c:pt idx="319">
                    <c:v> </c:v>
                  </c:pt>
                  <c:pt idx="320">
                    <c:v>  </c:v>
                  </c:pt>
                  <c:pt idx="321">
                    <c:v>   </c:v>
                  </c:pt>
                  <c:pt idx="322">
                    <c:v>    </c:v>
                  </c:pt>
                  <c:pt idx="323">
                    <c:v>     </c:v>
                  </c:pt>
                  <c:pt idx="324">
                    <c:v>      </c:v>
                  </c:pt>
                  <c:pt idx="325">
                    <c:v>       </c:v>
                  </c:pt>
                  <c:pt idx="326">
                    <c:v>        </c:v>
                  </c:pt>
                  <c:pt idx="327">
                    <c:v>         </c:v>
                  </c:pt>
                  <c:pt idx="328">
                    <c:v>          </c:v>
                  </c:pt>
                  <c:pt idx="329">
                    <c:v>           </c:v>
                  </c:pt>
                  <c:pt idx="330">
                    <c:v>Des</c:v>
                  </c:pt>
                  <c:pt idx="331">
                    <c:v>             </c:v>
                  </c:pt>
                  <c:pt idx="332">
                    <c:v>              </c:v>
                  </c:pt>
                  <c:pt idx="333">
                    <c:v>               </c:v>
                  </c:pt>
                  <c:pt idx="334">
                    <c:v>                </c:v>
                  </c:pt>
                  <c:pt idx="335">
                    <c:v>                 </c:v>
                  </c:pt>
                  <c:pt idx="336">
                    <c:v>                  </c:v>
                  </c:pt>
                  <c:pt idx="337">
                    <c:v>                   </c:v>
                  </c:pt>
                  <c:pt idx="338">
                    <c:v>                    </c:v>
                  </c:pt>
                  <c:pt idx="339">
                    <c:v>                     </c:v>
                  </c:pt>
                  <c:pt idx="340">
                    <c:v>                      </c:v>
                  </c:pt>
                  <c:pt idx="341">
                    <c:v>                       </c:v>
                  </c:pt>
                  <c:pt idx="342">
                    <c:v>                        </c:v>
                  </c:pt>
                  <c:pt idx="343">
                    <c:v>                         </c:v>
                  </c:pt>
                  <c:pt idx="344">
                    <c:v>                          </c:v>
                  </c:pt>
                  <c:pt idx="345">
                    <c:v>                           </c:v>
                  </c:pt>
                  <c:pt idx="346">
                    <c:v>                            </c:v>
                  </c:pt>
                  <c:pt idx="347">
                    <c:v>                             </c:v>
                  </c:pt>
                  <c:pt idx="348">
                    <c:v> </c:v>
                  </c:pt>
                  <c:pt idx="349">
                    <c:v>  </c:v>
                  </c:pt>
                  <c:pt idx="350">
                    <c:v>   </c:v>
                  </c:pt>
                  <c:pt idx="351">
                    <c:v>    </c:v>
                  </c:pt>
                  <c:pt idx="352">
                    <c:v>     </c:v>
                  </c:pt>
                  <c:pt idx="353">
                    <c:v>      </c:v>
                  </c:pt>
                  <c:pt idx="354">
                    <c:v>       </c:v>
                  </c:pt>
                  <c:pt idx="355">
                    <c:v>        </c:v>
                  </c:pt>
                  <c:pt idx="356">
                    <c:v>         </c:v>
                  </c:pt>
                  <c:pt idx="357">
                    <c:v>          </c:v>
                  </c:pt>
                  <c:pt idx="358">
                    <c:v>           </c:v>
                  </c:pt>
                  <c:pt idx="359">
                    <c:v>            </c:v>
                  </c:pt>
                  <c:pt idx="360">
                    <c:v/>
                  </c:pt>
                  <c:pt idx="361">
                    <c:v>              </c:v>
                  </c:pt>
                  <c:pt idx="362">
                    <c:v>               </c:v>
                  </c:pt>
                  <c:pt idx="363">
                    <c:v>                </c:v>
                  </c:pt>
                  <c:pt idx="364">
                    <c:v>                 </c:v>
                  </c:pt>
                </c:lvl>
              </c:multiLvlStrCache>
            </c:multiLvlStrRef>
          </c:cat>
          <c:val>
            <c:numRef>
              <c:f>Sheet1!$B$2:$B$366</c:f>
              <c:numCache>
                <c:formatCode>General</c:formatCode>
                <c:ptCount val="365"/>
                <c:pt idx="0">
                  <c:v>768.3679784506738</c:v>
                </c:pt>
                <c:pt idx="1">
                  <c:v>763.2545828010383</c:v>
                </c:pt>
                <c:pt idx="2">
                  <c:v>760.9399207561969</c:v>
                </c:pt>
                <c:pt idx="3">
                  <c:v>741.9042489344962</c:v>
                </c:pt>
                <c:pt idx="4">
                  <c:v>736.6707429605493</c:v>
                </c:pt>
                <c:pt idx="5">
                  <c:v>748.9226313386926</c:v>
                </c:pt>
                <c:pt idx="6">
                  <c:v>100.28755994972609</c:v>
                </c:pt>
                <c:pt idx="7">
                  <c:v>689.1907113260268</c:v>
                </c:pt>
                <c:pt idx="8">
                  <c:v>725.4320258104126</c:v>
                </c:pt>
                <c:pt idx="9">
                  <c:v>743.2892647603974</c:v>
                </c:pt>
                <c:pt idx="10">
                  <c:v>783.2617714640689</c:v>
                </c:pt>
                <c:pt idx="11">
                  <c:v>755.655398580899</c:v>
                </c:pt>
                <c:pt idx="12">
                  <c:v>719.3832367035254</c:v>
                </c:pt>
                <c:pt idx="13">
                  <c:v>96.84564614656418</c:v>
                </c:pt>
                <c:pt idx="14">
                  <c:v>594.5971465285724</c:v>
                </c:pt>
                <c:pt idx="15">
                  <c:v>704.6486690218399</c:v>
                </c:pt>
                <c:pt idx="16">
                  <c:v>718.9335650448468</c:v>
                </c:pt>
                <c:pt idx="17">
                  <c:v>726.9798915334072</c:v>
                </c:pt>
                <c:pt idx="18">
                  <c:v>728.4529281290777</c:v>
                </c:pt>
                <c:pt idx="19">
                  <c:v>761.5821092511812</c:v>
                </c:pt>
                <c:pt idx="20">
                  <c:v>101.46306653009907</c:v>
                </c:pt>
                <c:pt idx="21">
                  <c:v>629.9803988149001</c:v>
                </c:pt>
                <c:pt idx="22">
                  <c:v>800.7070579388101</c:v>
                </c:pt>
                <c:pt idx="23">
                  <c:v>796.1419763618175</c:v>
                </c:pt>
                <c:pt idx="24">
                  <c:v>801.0513677851748</c:v>
                </c:pt>
                <c:pt idx="25">
                  <c:v>747.6867416420181</c:v>
                </c:pt>
                <c:pt idx="26">
                  <c:v>695.5633444432325</c:v>
                </c:pt>
                <c:pt idx="27">
                  <c:v>93.96406777415741</c:v>
                </c:pt>
                <c:pt idx="28">
                  <c:v>628.048656928941</c:v>
                </c:pt>
                <c:pt idx="29">
                  <c:v>723.8472558429917</c:v>
                </c:pt>
                <c:pt idx="30">
                  <c:v>700.4356537863368</c:v>
                </c:pt>
                <c:pt idx="31">
                  <c:v>679.4801467684202</c:v>
                </c:pt>
                <c:pt idx="32">
                  <c:v>707.6476955713072</c:v>
                </c:pt>
                <c:pt idx="33">
                  <c:v>640.025797676147</c:v>
                </c:pt>
                <c:pt idx="34">
                  <c:v>86.92471751507424</c:v>
                </c:pt>
                <c:pt idx="35">
                  <c:v>519.0128344503712</c:v>
                </c:pt>
                <c:pt idx="36">
                  <c:v>590.3866450460995</c:v>
                </c:pt>
                <c:pt idx="37">
                  <c:v>600.5765262444633</c:v>
                </c:pt>
                <c:pt idx="38">
                  <c:v>592.3791243062188</c:v>
                </c:pt>
                <c:pt idx="39">
                  <c:v>622.8170178627206</c:v>
                </c:pt>
                <c:pt idx="40">
                  <c:v>83.85070839398463</c:v>
                </c:pt>
                <c:pt idx="41">
                  <c:v>11.701921700195044</c:v>
                </c:pt>
                <c:pt idx="42">
                  <c:v>-2.2836900373969407</c:v>
                </c:pt>
                <c:pt idx="43">
                  <c:v>-5.5773619422948535</c:v>
                </c:pt>
                <c:pt idx="44">
                  <c:v>-6.741675830192069</c:v>
                </c:pt>
                <c:pt idx="45">
                  <c:v>-7.447121803592676</c:v>
                </c:pt>
                <c:pt idx="46">
                  <c:v>-8.038961382843869</c:v>
                </c:pt>
                <c:pt idx="47">
                  <c:v>-8.591285217498298</c:v>
                </c:pt>
                <c:pt idx="48">
                  <c:v>-9.12060590709358</c:v>
                </c:pt>
                <c:pt idx="49">
                  <c:v>-9.630981569677049</c:v>
                </c:pt>
                <c:pt idx="50">
                  <c:v>-10.123650906226699</c:v>
                </c:pt>
                <c:pt idx="51">
                  <c:v>-10.599240543710229</c:v>
                </c:pt>
                <c:pt idx="52">
                  <c:v>-11.058263085448704</c:v>
                </c:pt>
                <c:pt idx="53">
                  <c:v>-11.501218936656224</c:v>
                </c:pt>
                <c:pt idx="54">
                  <c:v>484.2919188654207</c:v>
                </c:pt>
                <c:pt idx="55">
                  <c:v>64.738679934338</c:v>
                </c:pt>
                <c:pt idx="56">
                  <c:v>480.55585219629995</c:v>
                </c:pt>
                <c:pt idx="57">
                  <c:v>547.0422257824972</c:v>
                </c:pt>
                <c:pt idx="58">
                  <c:v>535.9210540601863</c:v>
                </c:pt>
                <c:pt idx="59">
                  <c:v>579.4691547732244</c:v>
                </c:pt>
                <c:pt idx="60">
                  <c:v>547.3319690563219</c:v>
                </c:pt>
                <c:pt idx="61">
                  <c:v>514.0333239906743</c:v>
                </c:pt>
                <c:pt idx="62">
                  <c:v>69.26574861953189</c:v>
                </c:pt>
                <c:pt idx="63">
                  <c:v>505.01307612686617</c:v>
                </c:pt>
                <c:pt idx="64">
                  <c:v>525.7264348207375</c:v>
                </c:pt>
                <c:pt idx="65">
                  <c:v>581.9246505487791</c:v>
                </c:pt>
                <c:pt idx="66">
                  <c:v>608.0149121639197</c:v>
                </c:pt>
                <c:pt idx="67">
                  <c:v>577.8330080300808</c:v>
                </c:pt>
                <c:pt idx="68">
                  <c:v>540.3603161329995</c:v>
                </c:pt>
                <c:pt idx="69">
                  <c:v>72.81258720884821</c:v>
                </c:pt>
                <c:pt idx="70">
                  <c:v>520.5767316102854</c:v>
                </c:pt>
                <c:pt idx="71">
                  <c:v>506.62484104448833</c:v>
                </c:pt>
                <c:pt idx="72">
                  <c:v>524.9086352940059</c:v>
                </c:pt>
                <c:pt idx="73">
                  <c:v>492.44161632671046</c:v>
                </c:pt>
                <c:pt idx="74">
                  <c:v>520.1653599551869</c:v>
                </c:pt>
                <c:pt idx="75">
                  <c:v>504.4034729187239</c:v>
                </c:pt>
                <c:pt idx="76">
                  <c:v>68.10393310864534</c:v>
                </c:pt>
                <c:pt idx="77">
                  <c:v>415.24248914583933</c:v>
                </c:pt>
                <c:pt idx="78">
                  <c:v>497.61308450619384</c:v>
                </c:pt>
                <c:pt idx="79">
                  <c:v>482.1615709059359</c:v>
                </c:pt>
                <c:pt idx="80">
                  <c:v>500.0439556132919</c:v>
                </c:pt>
                <c:pt idx="81">
                  <c:v>487.93079572197496</c:v>
                </c:pt>
                <c:pt idx="82">
                  <c:v>509.6225916989912</c:v>
                </c:pt>
                <c:pt idx="83">
                  <c:v>68.57672631311047</c:v>
                </c:pt>
                <c:pt idx="84">
                  <c:v>442.8731677577808</c:v>
                </c:pt>
                <c:pt idx="85">
                  <c:v>483.3639529847185</c:v>
                </c:pt>
                <c:pt idx="86">
                  <c:v>485.2195583703452</c:v>
                </c:pt>
                <c:pt idx="87">
                  <c:v>515.8523297273598</c:v>
                </c:pt>
                <c:pt idx="88">
                  <c:v>520.21747480627</c:v>
                </c:pt>
                <c:pt idx="89">
                  <c:v>512.37445768151</c:v>
                </c:pt>
                <c:pt idx="90">
                  <c:v>62.98856658688169</c:v>
                </c:pt>
                <c:pt idx="91">
                  <c:v>495.22909703851343</c:v>
                </c:pt>
                <c:pt idx="92">
                  <c:v>513.8956540031567</c:v>
                </c:pt>
                <c:pt idx="93">
                  <c:v>544.7290509297571</c:v>
                </c:pt>
                <c:pt idx="94">
                  <c:v>569.506969325249</c:v>
                </c:pt>
                <c:pt idx="95">
                  <c:v>600.5908935258185</c:v>
                </c:pt>
                <c:pt idx="96">
                  <c:v>573.72133956595</c:v>
                </c:pt>
                <c:pt idx="97">
                  <c:v>76.99504177300308</c:v>
                </c:pt>
                <c:pt idx="98">
                  <c:v>517.1119639193201</c:v>
                </c:pt>
                <c:pt idx="99">
                  <c:v>530.4988694408237</c:v>
                </c:pt>
                <c:pt idx="100">
                  <c:v>535.2575243993851</c:v>
                </c:pt>
                <c:pt idx="101">
                  <c:v>514.247550627038</c:v>
                </c:pt>
                <c:pt idx="102">
                  <c:v>492.4920812607673</c:v>
                </c:pt>
                <c:pt idx="103">
                  <c:v>521.1091442876542</c:v>
                </c:pt>
                <c:pt idx="104">
                  <c:v>70.12839031850828</c:v>
                </c:pt>
                <c:pt idx="105">
                  <c:v>452.0376351321714</c:v>
                </c:pt>
                <c:pt idx="106">
                  <c:v>513.1738233099393</c:v>
                </c:pt>
                <c:pt idx="107">
                  <c:v>501.44882995777505</c:v>
                </c:pt>
                <c:pt idx="108">
                  <c:v>528.7047295727264</c:v>
                </c:pt>
                <c:pt idx="109">
                  <c:v>538.6308780116776</c:v>
                </c:pt>
                <c:pt idx="110">
                  <c:v>542.8312269176494</c:v>
                </c:pt>
                <c:pt idx="111">
                  <c:v>72.96168218590942</c:v>
                </c:pt>
                <c:pt idx="112">
                  <c:v>481.21165528299036</c:v>
                </c:pt>
                <c:pt idx="113">
                  <c:v>511.48912894132417</c:v>
                </c:pt>
                <c:pt idx="114">
                  <c:v>511.39657505529107</c:v>
                </c:pt>
                <c:pt idx="115">
                  <c:v>508.2458830335086</c:v>
                </c:pt>
                <c:pt idx="116">
                  <c:v>513.949688699804</c:v>
                </c:pt>
                <c:pt idx="117">
                  <c:v>545.8196136193272</c:v>
                </c:pt>
                <c:pt idx="118">
                  <c:v>73.20653671344436</c:v>
                </c:pt>
                <c:pt idx="119">
                  <c:v>479.64915575970997</c:v>
                </c:pt>
                <c:pt idx="120">
                  <c:v>515.5009712424625</c:v>
                </c:pt>
                <c:pt idx="121">
                  <c:v>502.5275425926084</c:v>
                </c:pt>
                <c:pt idx="122">
                  <c:v>490.4358795806644</c:v>
                </c:pt>
                <c:pt idx="123">
                  <c:v>514.9599476323913</c:v>
                </c:pt>
                <c:pt idx="124">
                  <c:v>482.757927811433</c:v>
                </c:pt>
                <c:pt idx="125">
                  <c:v>65.25636233230091</c:v>
                </c:pt>
                <c:pt idx="126">
                  <c:v>444.86741152833537</c:v>
                </c:pt>
                <c:pt idx="127">
                  <c:v>491.2117635032437</c:v>
                </c:pt>
                <c:pt idx="128">
                  <c:v>492.54262736438756</c:v>
                </c:pt>
                <c:pt idx="129">
                  <c:v>501.41111811257167</c:v>
                </c:pt>
                <c:pt idx="130">
                  <c:v>505.9461506925079</c:v>
                </c:pt>
                <c:pt idx="131">
                  <c:v>537.235894512656</c:v>
                </c:pt>
                <c:pt idx="132">
                  <c:v>72.07772528907613</c:v>
                </c:pt>
                <c:pt idx="133">
                  <c:v>491.76893440583234</c:v>
                </c:pt>
                <c:pt idx="134">
                  <c:v>547.371722988313</c:v>
                </c:pt>
                <c:pt idx="135">
                  <c:v>557.8870081937662</c:v>
                </c:pt>
                <c:pt idx="136">
                  <c:v>542.5066245664198</c:v>
                </c:pt>
                <c:pt idx="137">
                  <c:v>528.9203807406616</c:v>
                </c:pt>
                <c:pt idx="138">
                  <c:v>537.6919068775023</c:v>
                </c:pt>
                <c:pt idx="139">
                  <c:v>72.31867434109895</c:v>
                </c:pt>
                <c:pt idx="140">
                  <c:v>506.6885677805927</c:v>
                </c:pt>
                <c:pt idx="141">
                  <c:v>515.2468337905409</c:v>
                </c:pt>
                <c:pt idx="142">
                  <c:v>531.9234925858658</c:v>
                </c:pt>
                <c:pt idx="143">
                  <c:v>523.4314682295322</c:v>
                </c:pt>
                <c:pt idx="144">
                  <c:v>554.4827798011347</c:v>
                </c:pt>
                <c:pt idx="145">
                  <c:v>526.6481293276889</c:v>
                </c:pt>
                <c:pt idx="146">
                  <c:v>71.04191468460567</c:v>
                </c:pt>
                <c:pt idx="147">
                  <c:v>504.6828997594883</c:v>
                </c:pt>
                <c:pt idx="148">
                  <c:v>503.8743633597673</c:v>
                </c:pt>
                <c:pt idx="149">
                  <c:v>506.0232141559187</c:v>
                </c:pt>
                <c:pt idx="150">
                  <c:v>520.9146741428152</c:v>
                </c:pt>
                <c:pt idx="151">
                  <c:v>532.45837537827</c:v>
                </c:pt>
                <c:pt idx="152">
                  <c:v>572.375952342696</c:v>
                </c:pt>
                <c:pt idx="153">
                  <c:v>76.65820996324365</c:v>
                </c:pt>
                <c:pt idx="154">
                  <c:v>517.3108445180361</c:v>
                </c:pt>
                <c:pt idx="155">
                  <c:v>568.7192894255738</c:v>
                </c:pt>
                <c:pt idx="156">
                  <c:v>558.8795140209793</c:v>
                </c:pt>
                <c:pt idx="157">
                  <c:v>556.8598944468981</c:v>
                </c:pt>
                <c:pt idx="158">
                  <c:v>565.4524723639123</c:v>
                </c:pt>
                <c:pt idx="159">
                  <c:v>555.2460218946713</c:v>
                </c:pt>
                <c:pt idx="160">
                  <c:v>74.72645299875771</c:v>
                </c:pt>
                <c:pt idx="161">
                  <c:v>516.6048641198687</c:v>
                </c:pt>
                <c:pt idx="162">
                  <c:v>483.2522401297569</c:v>
                </c:pt>
                <c:pt idx="163">
                  <c:v>543.3139974497193</c:v>
                </c:pt>
                <c:pt idx="164">
                  <c:v>560.6924402356055</c:v>
                </c:pt>
                <c:pt idx="165">
                  <c:v>559.7074134312039</c:v>
                </c:pt>
                <c:pt idx="166">
                  <c:v>562.4193409177924</c:v>
                </c:pt>
                <c:pt idx="167">
                  <c:v>75.59397928109385</c:v>
                </c:pt>
                <c:pt idx="168">
                  <c:v>483.2125387090579</c:v>
                </c:pt>
                <c:pt idx="169">
                  <c:v>552.411209769747</c:v>
                </c:pt>
                <c:pt idx="170">
                  <c:v>583.665909273985</c:v>
                </c:pt>
                <c:pt idx="171">
                  <c:v>560.9765289317653</c:v>
                </c:pt>
                <c:pt idx="172">
                  <c:v>550.5847736715809</c:v>
                </c:pt>
                <c:pt idx="173">
                  <c:v>558.3331451540107</c:v>
                </c:pt>
                <c:pt idx="174">
                  <c:v>75.10981365473529</c:v>
                </c:pt>
                <c:pt idx="175">
                  <c:v>517.3785480493924</c:v>
                </c:pt>
                <c:pt idx="176">
                  <c:v>569.5800339777295</c:v>
                </c:pt>
                <c:pt idx="177">
                  <c:v>647.8532512511367</c:v>
                </c:pt>
                <c:pt idx="178">
                  <c:v>640.3119689819579</c:v>
                </c:pt>
                <c:pt idx="179">
                  <c:v>665.5186731710307</c:v>
                </c:pt>
                <c:pt idx="180">
                  <c:v>618.5448549596725</c:v>
                </c:pt>
                <c:pt idx="181">
                  <c:v>83.0837004362628</c:v>
                </c:pt>
                <c:pt idx="182">
                  <c:v>561.6575634412004</c:v>
                </c:pt>
                <c:pt idx="183">
                  <c:v>648.7529293716711</c:v>
                </c:pt>
                <c:pt idx="184">
                  <c:v>669.4636852865103</c:v>
                </c:pt>
                <c:pt idx="185">
                  <c:v>659.5531885165461</c:v>
                </c:pt>
                <c:pt idx="186">
                  <c:v>651.1955974258855</c:v>
                </c:pt>
                <c:pt idx="187">
                  <c:v>662.0603665641988</c:v>
                </c:pt>
                <c:pt idx="188">
                  <c:v>88.51366208532389</c:v>
                </c:pt>
                <c:pt idx="189">
                  <c:v>573.2590975397471</c:v>
                </c:pt>
                <c:pt idx="190">
                  <c:v>658.7921117758942</c:v>
                </c:pt>
                <c:pt idx="191">
                  <c:v>686.325454355043</c:v>
                </c:pt>
                <c:pt idx="192">
                  <c:v>665.3593608812168</c:v>
                </c:pt>
                <c:pt idx="193">
                  <c:v>713.1206748946536</c:v>
                </c:pt>
                <c:pt idx="194">
                  <c:v>756.8233337318247</c:v>
                </c:pt>
                <c:pt idx="195">
                  <c:v>100.24320407063104</c:v>
                </c:pt>
                <c:pt idx="196">
                  <c:v>638.5180202716053</c:v>
                </c:pt>
                <c:pt idx="197">
                  <c:v>729.4199109784643</c:v>
                </c:pt>
                <c:pt idx="198">
                  <c:v>794.083488541718</c:v>
                </c:pt>
                <c:pt idx="199">
                  <c:v>796.3627185287343</c:v>
                </c:pt>
                <c:pt idx="200">
                  <c:v>805.421406633429</c:v>
                </c:pt>
                <c:pt idx="201">
                  <c:v>783.1547904722538</c:v>
                </c:pt>
                <c:pt idx="202">
                  <c:v>104.15520894697393</c:v>
                </c:pt>
                <c:pt idx="203">
                  <c:v>620.9157113422502</c:v>
                </c:pt>
                <c:pt idx="204">
                  <c:v>662.6671602999752</c:v>
                </c:pt>
                <c:pt idx="205">
                  <c:v>687.8327721938701</c:v>
                </c:pt>
                <c:pt idx="206">
                  <c:v>710.9515338013115</c:v>
                </c:pt>
                <c:pt idx="207">
                  <c:v>783.6388727104147</c:v>
                </c:pt>
                <c:pt idx="208">
                  <c:v>744.5240366271519</c:v>
                </c:pt>
                <c:pt idx="209">
                  <c:v>99.5244261565706</c:v>
                </c:pt>
                <c:pt idx="210">
                  <c:v>628.3460306043693</c:v>
                </c:pt>
                <c:pt idx="211">
                  <c:v>719.9666099085298</c:v>
                </c:pt>
                <c:pt idx="212">
                  <c:v>767.1870366707143</c:v>
                </c:pt>
                <c:pt idx="213">
                  <c:v>748.8141585806724</c:v>
                </c:pt>
                <c:pt idx="214">
                  <c:v>739.741356054417</c:v>
                </c:pt>
                <c:pt idx="215">
                  <c:v>780.2598977319311</c:v>
                </c:pt>
                <c:pt idx="216">
                  <c:v>103.67149475076526</c:v>
                </c:pt>
                <c:pt idx="217">
                  <c:v>695.9858708710666</c:v>
                </c:pt>
                <c:pt idx="218">
                  <c:v>799.2423285683936</c:v>
                </c:pt>
                <c:pt idx="219">
                  <c:v>824.1385079127409</c:v>
                </c:pt>
                <c:pt idx="220">
                  <c:v>818.410563460687</c:v>
                </c:pt>
                <c:pt idx="221">
                  <c:v>894.5215980506484</c:v>
                </c:pt>
                <c:pt idx="222">
                  <c:v>906.7211549465997</c:v>
                </c:pt>
                <c:pt idx="223">
                  <c:v>119.4578979420724</c:v>
                </c:pt>
                <c:pt idx="224">
                  <c:v>791.1910735594537</c:v>
                </c:pt>
                <c:pt idx="225">
                  <c:v>847.881791472239</c:v>
                </c:pt>
                <c:pt idx="226">
                  <c:v>847.4257314173817</c:v>
                </c:pt>
                <c:pt idx="227">
                  <c:v>776.6775371901394</c:v>
                </c:pt>
                <c:pt idx="228">
                  <c:v>798.1340190536421</c:v>
                </c:pt>
                <c:pt idx="229">
                  <c:v>778.106568545312</c:v>
                </c:pt>
                <c:pt idx="230">
                  <c:v>104.33450356615134</c:v>
                </c:pt>
                <c:pt idx="231">
                  <c:v>731.8626573061446</c:v>
                </c:pt>
                <c:pt idx="232">
                  <c:v>832.9928304718644</c:v>
                </c:pt>
                <c:pt idx="233">
                  <c:v>858.5256129010415</c:v>
                </c:pt>
                <c:pt idx="234">
                  <c:v>833.0357429156068</c:v>
                </c:pt>
                <c:pt idx="235">
                  <c:v>816.3113346695466</c:v>
                </c:pt>
                <c:pt idx="236">
                  <c:v>847.8709627452538</c:v>
                </c:pt>
                <c:pt idx="237">
                  <c:v>112.61645906042243</c:v>
                </c:pt>
                <c:pt idx="238">
                  <c:v>754.9232307131343</c:v>
                </c:pt>
                <c:pt idx="239">
                  <c:v>854.4302622675655</c:v>
                </c:pt>
                <c:pt idx="240">
                  <c:v>841.0987282849369</c:v>
                </c:pt>
                <c:pt idx="241">
                  <c:v>883.8231221979801</c:v>
                </c:pt>
                <c:pt idx="242">
                  <c:v>890.7489840726731</c:v>
                </c:pt>
                <c:pt idx="243">
                  <c:v>924.0311659808438</c:v>
                </c:pt>
                <c:pt idx="244">
                  <c:v>121.98898765930551</c:v>
                </c:pt>
                <c:pt idx="245">
                  <c:v>836.1631390145508</c:v>
                </c:pt>
                <c:pt idx="246">
                  <c:v>928.2232337066281</c:v>
                </c:pt>
                <c:pt idx="247">
                  <c:v>970.4147471164976</c:v>
                </c:pt>
                <c:pt idx="248">
                  <c:v>1011.3173134004821</c:v>
                </c:pt>
                <c:pt idx="249">
                  <c:v>1009.968668501452</c:v>
                </c:pt>
                <c:pt idx="250">
                  <c:v>999.5012293789945</c:v>
                </c:pt>
                <c:pt idx="251">
                  <c:v>132.558182467527</c:v>
                </c:pt>
                <c:pt idx="252">
                  <c:v>860.8360137886293</c:v>
                </c:pt>
                <c:pt idx="253">
                  <c:v>913.3194308581984</c:v>
                </c:pt>
                <c:pt idx="254">
                  <c:v>902.6445791164641</c:v>
                </c:pt>
                <c:pt idx="255">
                  <c:v>879.1516187487257</c:v>
                </c:pt>
                <c:pt idx="256">
                  <c:v>869.5969310430788</c:v>
                </c:pt>
                <c:pt idx="257">
                  <c:v>893.4627663450083</c:v>
                </c:pt>
                <c:pt idx="258">
                  <c:v>119.01288760865603</c:v>
                </c:pt>
                <c:pt idx="259">
                  <c:v>789.7793727375507</c:v>
                </c:pt>
                <c:pt idx="260">
                  <c:v>841.4912400456568</c:v>
                </c:pt>
                <c:pt idx="261">
                  <c:v>827.719208260239</c:v>
                </c:pt>
                <c:pt idx="262">
                  <c:v>829.0964901110323</c:v>
                </c:pt>
                <c:pt idx="263">
                  <c:v>885.844754198015</c:v>
                </c:pt>
                <c:pt idx="264">
                  <c:v>920.1450676930714</c:v>
                </c:pt>
                <c:pt idx="265">
                  <c:v>121.86036777297481</c:v>
                </c:pt>
                <c:pt idx="266">
                  <c:v>783.1089228363907</c:v>
                </c:pt>
                <c:pt idx="267">
                  <c:v>847.4054812405365</c:v>
                </c:pt>
                <c:pt idx="268">
                  <c:v>883.3636269446132</c:v>
                </c:pt>
                <c:pt idx="269">
                  <c:v>955.8326545897456</c:v>
                </c:pt>
                <c:pt idx="270">
                  <c:v>971.3042455617422</c:v>
                </c:pt>
                <c:pt idx="271">
                  <c:v>989.1008479304521</c:v>
                </c:pt>
                <c:pt idx="272">
                  <c:v>130.90287385861208</c:v>
                </c:pt>
                <c:pt idx="273">
                  <c:v>922.0248589290394</c:v>
                </c:pt>
                <c:pt idx="274">
                  <c:v>1033.3116376380851</c:v>
                </c:pt>
                <c:pt idx="275">
                  <c:v>1027.3556040510973</c:v>
                </c:pt>
                <c:pt idx="276">
                  <c:v>1006.726927455662</c:v>
                </c:pt>
                <c:pt idx="277">
                  <c:v>1030.0150431785357</c:v>
                </c:pt>
                <c:pt idx="278">
                  <c:v>989.37058414144</c:v>
                </c:pt>
                <c:pt idx="279">
                  <c:v>131.93456641993475</c:v>
                </c:pt>
                <c:pt idx="280">
                  <c:v>809.8853153270122</c:v>
                </c:pt>
                <c:pt idx="281">
                  <c:v>892.7228089409297</c:v>
                </c:pt>
                <c:pt idx="282">
                  <c:v>880.7963076220808</c:v>
                </c:pt>
                <c:pt idx="283">
                  <c:v>899.7822272691212</c:v>
                </c:pt>
                <c:pt idx="284">
                  <c:v>883.0389483852543</c:v>
                </c:pt>
                <c:pt idx="285">
                  <c:v>942.6209940581105</c:v>
                </c:pt>
                <c:pt idx="286">
                  <c:v>124.94474199140527</c:v>
                </c:pt>
                <c:pt idx="287">
                  <c:v>750.7757148871733</c:v>
                </c:pt>
                <c:pt idx="288">
                  <c:v>879.2513400841874</c:v>
                </c:pt>
                <c:pt idx="289">
                  <c:v>900.5160616756109</c:v>
                </c:pt>
                <c:pt idx="290">
                  <c:v>933.1710541457816</c:v>
                </c:pt>
                <c:pt idx="291">
                  <c:v>962.7356824089919</c:v>
                </c:pt>
                <c:pt idx="292">
                  <c:v>971.4035283339122</c:v>
                </c:pt>
                <c:pt idx="293">
                  <c:v>128.8163913905642</c:v>
                </c:pt>
                <c:pt idx="294">
                  <c:v>827.6786620970863</c:v>
                </c:pt>
                <c:pt idx="295">
                  <c:v>876.2131969777753</c:v>
                </c:pt>
                <c:pt idx="296">
                  <c:v>906.2688841602496</c:v>
                </c:pt>
                <c:pt idx="297">
                  <c:v>945.5988029297345</c:v>
                </c:pt>
                <c:pt idx="298">
                  <c:v>958.4729157865055</c:v>
                </c:pt>
                <c:pt idx="299">
                  <c:v>957.8561228788726</c:v>
                </c:pt>
                <c:pt idx="300">
                  <c:v>127.11704357042953</c:v>
                </c:pt>
                <c:pt idx="301">
                  <c:v>817.3308241181071</c:v>
                </c:pt>
                <c:pt idx="302">
                  <c:v>892.323270290525</c:v>
                </c:pt>
                <c:pt idx="303">
                  <c:v>987.4870523324672</c:v>
                </c:pt>
                <c:pt idx="304">
                  <c:v>956.0163335126454</c:v>
                </c:pt>
                <c:pt idx="305">
                  <c:v>947.0310198542654</c:v>
                </c:pt>
                <c:pt idx="306">
                  <c:v>973.9987717251194</c:v>
                </c:pt>
                <c:pt idx="307">
                  <c:v>129.24074898565652</c:v>
                </c:pt>
                <c:pt idx="308">
                  <c:v>832.4250069465675</c:v>
                </c:pt>
                <c:pt idx="309">
                  <c:v>958.2623637485259</c:v>
                </c:pt>
                <c:pt idx="310">
                  <c:v>984.2641751082633</c:v>
                </c:pt>
                <c:pt idx="311">
                  <c:v>959.1846441675023</c:v>
                </c:pt>
                <c:pt idx="312">
                  <c:v>998.777178751973</c:v>
                </c:pt>
                <c:pt idx="313">
                  <c:v>1030.6537218446267</c:v>
                </c:pt>
                <c:pt idx="314">
                  <c:v>136.98089457370511</c:v>
                </c:pt>
                <c:pt idx="315">
                  <c:v>880.6515304484444</c:v>
                </c:pt>
                <c:pt idx="316">
                  <c:v>923.5127011427477</c:v>
                </c:pt>
                <c:pt idx="317">
                  <c:v>913.5348255096472</c:v>
                </c:pt>
                <c:pt idx="318">
                  <c:v>951.7585201933632</c:v>
                </c:pt>
                <c:pt idx="319">
                  <c:v>927.8611797577696</c:v>
                </c:pt>
                <c:pt idx="320">
                  <c:v>978.3379421537993</c:v>
                </c:pt>
                <c:pt idx="321">
                  <c:v>129.87094939203547</c:v>
                </c:pt>
                <c:pt idx="322">
                  <c:v>814.9927087012977</c:v>
                </c:pt>
                <c:pt idx="323">
                  <c:v>894.9992359101507</c:v>
                </c:pt>
                <c:pt idx="324">
                  <c:v>917.8953131217825</c:v>
                </c:pt>
                <c:pt idx="325">
                  <c:v>862.3740501372705</c:v>
                </c:pt>
                <c:pt idx="326">
                  <c:v>825.1245711136277</c:v>
                </c:pt>
                <c:pt idx="327">
                  <c:v>843.5648105188219</c:v>
                </c:pt>
                <c:pt idx="328">
                  <c:v>113.13708073774269</c:v>
                </c:pt>
                <c:pt idx="329">
                  <c:v>781.7087250660909</c:v>
                </c:pt>
                <c:pt idx="330">
                  <c:v>878.2717969173037</c:v>
                </c:pt>
                <c:pt idx="331">
                  <c:v>870.1096759368874</c:v>
                </c:pt>
                <c:pt idx="332">
                  <c:v>899.5974884291131</c:v>
                </c:pt>
                <c:pt idx="333">
                  <c:v>931.6481056367558</c:v>
                </c:pt>
                <c:pt idx="334">
                  <c:v>938.9899613963297</c:v>
                </c:pt>
                <c:pt idx="335">
                  <c:v>124.42942082276461</c:v>
                </c:pt>
                <c:pt idx="336">
                  <c:v>777.4438742803163</c:v>
                </c:pt>
                <c:pt idx="337">
                  <c:v>867.9053499497309</c:v>
                </c:pt>
                <c:pt idx="338">
                  <c:v>879.3137564454967</c:v>
                </c:pt>
                <c:pt idx="339">
                  <c:v>845.8336991533221</c:v>
                </c:pt>
                <c:pt idx="340">
                  <c:v>832.0994151199175</c:v>
                </c:pt>
                <c:pt idx="341">
                  <c:v>789.0273252756592</c:v>
                </c:pt>
                <c:pt idx="342">
                  <c:v>106.49451928068181</c:v>
                </c:pt>
                <c:pt idx="343">
                  <c:v>675.2007071545863</c:v>
                </c:pt>
                <c:pt idx="344">
                  <c:v>827.6683266779745</c:v>
                </c:pt>
                <c:pt idx="345">
                  <c:v>770.3209140296923</c:v>
                </c:pt>
                <c:pt idx="346">
                  <c:v>763.666623949035</c:v>
                </c:pt>
                <c:pt idx="347">
                  <c:v>738.1653164289673</c:v>
                </c:pt>
                <c:pt idx="348">
                  <c:v>806.0428213372371</c:v>
                </c:pt>
                <c:pt idx="349">
                  <c:v>107.45439987366629</c:v>
                </c:pt>
                <c:pt idx="350">
                  <c:v>716.8076877213641</c:v>
                </c:pt>
                <c:pt idx="351">
                  <c:v>841.1017368769885</c:v>
                </c:pt>
                <c:pt idx="352">
                  <c:v>898.3018210334839</c:v>
                </c:pt>
                <c:pt idx="353">
                  <c:v>888.7958805706901</c:v>
                </c:pt>
                <c:pt idx="354">
                  <c:v>898.3334656160675</c:v>
                </c:pt>
                <c:pt idx="355">
                  <c:v>928.3696498576332</c:v>
                </c:pt>
                <c:pt idx="356">
                  <c:v>122.54429213821294</c:v>
                </c:pt>
                <c:pt idx="357">
                  <c:v>729.2904311898542</c:v>
                </c:pt>
                <c:pt idx="358">
                  <c:v>882.5283049997333</c:v>
                </c:pt>
                <c:pt idx="359">
                  <c:v>922.5427515592849</c:v>
                </c:pt>
                <c:pt idx="360">
                  <c:v>869.6509769875148</c:v>
                </c:pt>
                <c:pt idx="361">
                  <c:v>813.3623229773551</c:v>
                </c:pt>
                <c:pt idx="362">
                  <c:v>877.6966390457796</c:v>
                </c:pt>
                <c:pt idx="363">
                  <c:v>116.44292617609949</c:v>
                </c:pt>
                <c:pt idx="364">
                  <c:v>711.606209036783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0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3ECF4"/>
              </a:solidFill>
              <a:prstDash val="solid"/>
              <a:round/>
            </a:ln>
          </c:spPr>
        </c:majorGridlines>
        <c:numFmt formatCode="[$-421]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MWh neto per blok 30 hari</c:v>
                </c:pt>
              </c:strCache>
            </c:strRef>
          </c:tx>
          <c:spPr>
            <a:solidFill>
              <a:srgbClr val="2B9FC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465.28929512530414</c:v>
                </c:pt>
                <c:pt idx="1">
                  <c:v>202.23704682649614</c:v>
                </c:pt>
                <c:pt idx="2">
                  <c:v>326.41518653256304</c:v>
                </c:pt>
                <c:pt idx="3">
                  <c:v>321.4382203006818</c:v>
                </c:pt>
                <c:pt idx="4">
                  <c:v>327.34176570680086</c:v>
                </c:pt>
                <c:pt idx="5">
                  <c:v>355.3469369197685</c:v>
                </c:pt>
                <c:pt idx="6">
                  <c:v>426.1900522281842</c:v>
                </c:pt>
                <c:pt idx="7">
                  <c:v>507.18683577380415</c:v>
                </c:pt>
                <c:pt idx="8">
                  <c:v>568.1642139772911</c:v>
                </c:pt>
                <c:pt idx="9">
                  <c:v>591.950325372359</c:v>
                </c:pt>
                <c:pt idx="10">
                  <c:v>563.7700126424395</c:v>
                </c:pt>
                <c:pt idx="11">
                  <c:v>534.19918847181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CF4"/>
              </a:solidFill>
              <a:prstDash val="solid"/>
              <a:round/>
            </a:ln>
          </c:spPr>
        </c:majorGridlines>
        <c:numFmt formatCode="[$-421]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800" b="0" i="0" u="none" strike="noStrike">
                <a:solidFill>
                  <a:srgbClr val="5B6B7F"/>
                </a:solidFill>
                <a:latin typeface="Calibri"/>
              </a:defRPr>
            </a:pPr>
            <a:r>
              <a:rPr sz="800" b="0" i="0" u="none" strike="noStrike">
                <a:solidFill>
                  <a:srgbClr val="5B6B7F"/>
                </a:solidFill>
                <a:latin typeface="Calibri"/>
              </a:rPr>
              <a:t>Korelasi peringkat (ρ) terhadap daya neto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Korelasi peringkat dengan daya neto</c:v>
                </c:pt>
              </c:strCache>
            </c:strRef>
          </c:tx>
          <c:spPr>
            <a:solidFill>
              <a:srgbClr val="1F4E9E"/>
            </a:solidFill>
            <a:effectLst/>
          </c:spPr>
          <c:invertIfNegative val="0"/>
          <c:dLbls>
            <c:numFmt formatCode="[$-421]#,##0.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E9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4E9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F4E9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8452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COD POME</c:v>
                  </c:pt>
                  <c:pt idx="1">
                    <c:v>Beban TBS PKS</c:v>
                  </c:pt>
                  <c:pt idx="2">
                    <c:v>Volume POME/t TBS</c:v>
                  </c:pt>
                  <c:pt idx="3">
                    <c:v>Kation POME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0.5553465959162244</c:v>
                </c:pt>
                <c:pt idx="1">
                  <c:v>0.5421249507809424</c:v>
                </c:pt>
                <c:pt idx="2">
                  <c:v>0.13125138282114263</c:v>
                </c:pt>
                <c:pt idx="3">
                  <c:v>-0.08481615510096938</c:v>
                </c:pt>
              </c:numCache>
            </c:numRef>
          </c:val>
        </c:ser>
        <c:dLbls>
          <c:numFmt formatCode="[$-421]#,##0.0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USD ribu</c:v>
                </c:pt>
              </c:strCache>
            </c:strRef>
          </c:tx>
          <c:spPr>
            <a:solidFill>
              <a:srgbClr val="1F4E9E"/>
            </a:solidFill>
            <a:effectLst/>
          </c:spPr>
          <c:invertIfNegative val="0"/>
          <c:dLbls>
            <c:numFmt formatCode="[$-421]#,##0" sourceLinked="0"/>
            <c:txPr>
              <a:bodyPr/>
              <a:lstStyle/>
              <a:p>
                <a:pPr>
                  <a:defRPr b="0" i="0" strike="noStrike" sz="78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Tangki GFS (reaktor, umpan, efluen, ekualisasi)</c:v>
                  </c:pt>
                  <c:pt idx="1">
                    <c:v>Genset biogas 2 × 800 kWe</c:v>
                  </c:pt>
                  <c:pt idx="2">
                    <c:v>Kontingensi 20%</c:v>
                  </c:pt>
                  <c:pt idx="3">
                    <c:v>Skid proses (praolah, kontak, dosing, lumpur, panas)</c:v>
                  </c:pt>
                  <c:pt idx="4">
                    <c:v>Sipil, angkut, ereksi</c:v>
                  </c:pt>
                  <c:pt idx="5">
                    <c:v>Pemurnian biogas, penampung, flare</c:v>
                  </c:pt>
                  <c:pt idx="6">
                    <c:v>Perpipaan, listrik, SCADA</c:v>
                  </c:pt>
                  <c:pt idx="7">
                    <c:v>Rekayasa, izin, start-up</c:v>
                  </c:pt>
                  <c:pt idx="8">
                    <c:v>Pipa lokasi dan interkoneksi PLN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1051.0507526542917</c:v>
                </c:pt>
                <c:pt idx="1">
                  <c:v>960</c:v>
                </c:pt>
                <c:pt idx="2">
                  <c:v>956.5981878726975</c:v>
                </c:pt>
                <c:pt idx="3">
                  <c:v>726.6642755536346</c:v>
                </c:pt>
                <c:pt idx="4">
                  <c:v>628.7163932745606</c:v>
                </c:pt>
                <c:pt idx="5">
                  <c:v>465.4606331535098</c:v>
                </c:pt>
                <c:pt idx="6">
                  <c:v>451.5926226847208</c:v>
                </c:pt>
                <c:pt idx="7">
                  <c:v>314.0165620427694</c:v>
                </c:pt>
                <c:pt idx="8">
                  <c:v>185.4897</c:v>
                </c:pt>
              </c:numCache>
            </c:numRef>
          </c:val>
        </c:ser>
        <c:dLbls>
          <c:numFmt formatCode="[$-421]#,##0" sourceLinked="0"/>
          <c:txPr>
            <a:bodyPr/>
            <a:lstStyle/>
            <a:p>
              <a:pPr>
                <a:defRPr b="0" i="0" strike="noStrike" sz="780" u="none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8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USD ribu</c:v>
                </c:pt>
              </c:strCache>
            </c:strRef>
          </c:tx>
          <c:spPr>
            <a:solidFill>
              <a:srgbClr val="2B9FC8"/>
            </a:solidFill>
            <a:effectLst/>
          </c:spPr>
          <c:invertIfNegative val="0"/>
          <c:dLbls>
            <c:numFmt formatCode="[$-421]#,##0" sourceLinked="0"/>
            <c:txPr>
              <a:bodyPr/>
              <a:lstStyle/>
              <a:p>
                <a:pPr>
                  <a:defRPr b="0" i="0" strike="noStrike" sz="78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O&amp;M genset (kontrak)</c:v>
                  </c:pt>
                  <c:pt idx="1">
                    <c:v>Staf operasi (10 orang)</c:v>
                  </c:pt>
                  <c:pt idx="2">
                    <c:v>Perawatan proses</c:v>
                  </c:pt>
                  <c:pt idx="3">
                    <c:v>Bahan kimia</c:v>
                  </c:pt>
                  <c:pt idx="4">
                    <c:v>Administrasi dan SCADA</c:v>
                  </c:pt>
                  <c:pt idx="5">
                    <c:v>Asuransi</c:v>
                  </c:pt>
                  <c:pt idx="6">
                    <c:v>MRV karbon</c:v>
                  </c:pt>
                  <c:pt idx="7">
                    <c:v>Sewa lahan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132.4025487150487</c:v>
                </c:pt>
                <c:pt idx="1">
                  <c:v>82</c:v>
                </c:pt>
                <c:pt idx="2">
                  <c:v>53.80552068092314</c:v>
                </c:pt>
                <c:pt idx="3">
                  <c:v>49.20088536916162</c:v>
                </c:pt>
                <c:pt idx="4">
                  <c:v>30</c:v>
                </c:pt>
                <c:pt idx="5">
                  <c:v>28.697945636180926</c:v>
                </c:pt>
                <c:pt idx="6">
                  <c:v>12</c:v>
                </c:pt>
                <c:pt idx="7">
                  <c:v>8.515424666666666</c:v>
                </c:pt>
              </c:numCache>
            </c:numRef>
          </c:val>
        </c:ser>
        <c:dLbls>
          <c:numFmt formatCode="[$-421]#,##0" sourceLinked="0"/>
          <c:txPr>
            <a:bodyPr/>
            <a:lstStyle/>
            <a:p>
              <a:pPr>
                <a:defRPr b="0" i="0" strike="noStrike" sz="780" u="none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8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Pendapatan</c:v>
                </c:pt>
              </c:strCache>
            </c:strRef>
          </c:tx>
          <c:spPr>
            <a:solidFill>
              <a:srgbClr val="3E8E41"/>
            </a:solidFill>
            <a:ln w="25400" cap="flat">
              <a:solidFill>
                <a:srgbClr val="3E8E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E8E41"/>
              </a:solidFill>
              <a:ln w="9525" cap="flat">
                <a:solidFill>
                  <a:srgbClr val="3E8E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10%</c:v>
                  </c:pt>
                  <c:pt idx="1">
                    <c:v> </c:v>
                  </c:pt>
                  <c:pt idx="2">
                    <c:v>20%</c:v>
                  </c:pt>
                  <c:pt idx="3">
                    <c:v>   </c:v>
                  </c:pt>
                  <c:pt idx="4">
                    <c:v>30%</c:v>
                  </c:pt>
                  <c:pt idx="5">
                    <c:v>     </c:v>
                  </c:pt>
                  <c:pt idx="6">
                    <c:v>40%</c:v>
                  </c:pt>
                  <c:pt idx="7">
                    <c:v>       </c:v>
                  </c:pt>
                  <c:pt idx="8">
                    <c:v>50%</c:v>
                  </c:pt>
                  <c:pt idx="9">
                    <c:v>         </c:v>
                  </c:pt>
                  <c:pt idx="10">
                    <c:v>60%</c:v>
                  </c:pt>
                  <c:pt idx="11">
                    <c:v>           </c:v>
                  </c:pt>
                  <c:pt idx="12">
                    <c:v>70%</c:v>
                  </c:pt>
                  <c:pt idx="13">
                    <c:v>             </c:v>
                  </c:pt>
                  <c:pt idx="14">
                    <c:v>80%</c:v>
                  </c:pt>
                  <c:pt idx="15">
                    <c:v>               </c:v>
                  </c:pt>
                  <c:pt idx="16">
                    <c:v>90%</c:v>
                  </c:pt>
                  <c:pt idx="17">
                    <c:v>                 </c:v>
                  </c:pt>
                  <c:pt idx="18">
                    <c:v>100%</c:v>
                  </c:pt>
                </c:lvl>
              </c:multiLvlStrCache>
            </c:multiLvl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169.64763698638063</c:v>
                </c:pt>
                <c:pt idx="1">
                  <c:v>260.0004100509018</c:v>
                </c:pt>
                <c:pt idx="2">
                  <c:v>354.6242273874563</c:v>
                </c:pt>
                <c:pt idx="3">
                  <c:v>445.1405916321634</c:v>
                </c:pt>
                <c:pt idx="4">
                  <c:v>534.286562572529</c:v>
                </c:pt>
                <c:pt idx="5">
                  <c:v>623.4842046289132</c:v>
                </c:pt>
                <c:pt idx="6">
                  <c:v>712.6166567669115</c:v>
                </c:pt>
                <c:pt idx="7">
                  <c:v>801.7091445017928</c:v>
                </c:pt>
                <c:pt idx="8">
                  <c:v>890.804223780148</c:v>
                </c:pt>
                <c:pt idx="9">
                  <c:v>979.8961837324696</c:v>
                </c:pt>
                <c:pt idx="10">
                  <c:v>1068.9898367667656</c:v>
                </c:pt>
                <c:pt idx="11">
                  <c:v>1158.0825831220168</c:v>
                </c:pt>
                <c:pt idx="12">
                  <c:v>1247.1752788346937</c:v>
                </c:pt>
                <c:pt idx="13">
                  <c:v>1336.2682036433962</c:v>
                </c:pt>
                <c:pt idx="14">
                  <c:v>1425.3588374946646</c:v>
                </c:pt>
                <c:pt idx="15">
                  <c:v>1513.995387947859</c:v>
                </c:pt>
                <c:pt idx="16">
                  <c:v>1596.54565965291</c:v>
                </c:pt>
                <c:pt idx="17">
                  <c:v>1665.0124379392755</c:v>
                </c:pt>
                <c:pt idx="18">
                  <c:v>1724.0692257527546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Biaya tunai (OPEX)</c:v>
                </c:pt>
              </c:strCache>
            </c:strRef>
          </c:tx>
          <c:spPr>
            <a:solidFill>
              <a:srgbClr val="5B6B7F"/>
            </a:solidFill>
            <a:ln w="25400" cap="flat">
              <a:solidFill>
                <a:srgbClr val="5B6B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5B6B7F"/>
              </a:solidFill>
              <a:ln w="9525" cap="flat">
                <a:solidFill>
                  <a:srgbClr val="5B6B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10%</c:v>
                  </c:pt>
                  <c:pt idx="1">
                    <c:v> </c:v>
                  </c:pt>
                  <c:pt idx="2">
                    <c:v>20%</c:v>
                  </c:pt>
                  <c:pt idx="3">
                    <c:v>   </c:v>
                  </c:pt>
                  <c:pt idx="4">
                    <c:v>30%</c:v>
                  </c:pt>
                  <c:pt idx="5">
                    <c:v>     </c:v>
                  </c:pt>
                  <c:pt idx="6">
                    <c:v>40%</c:v>
                  </c:pt>
                  <c:pt idx="7">
                    <c:v>       </c:v>
                  </c:pt>
                  <c:pt idx="8">
                    <c:v>50%</c:v>
                  </c:pt>
                  <c:pt idx="9">
                    <c:v>         </c:v>
                  </c:pt>
                  <c:pt idx="10">
                    <c:v>60%</c:v>
                  </c:pt>
                  <c:pt idx="11">
                    <c:v>           </c:v>
                  </c:pt>
                  <c:pt idx="12">
                    <c:v>70%</c:v>
                  </c:pt>
                  <c:pt idx="13">
                    <c:v>             </c:v>
                  </c:pt>
                  <c:pt idx="14">
                    <c:v>80%</c:v>
                  </c:pt>
                  <c:pt idx="15">
                    <c:v>               </c:v>
                  </c:pt>
                  <c:pt idx="16">
                    <c:v>90%</c:v>
                  </c:pt>
                  <c:pt idx="17">
                    <c:v>                 </c:v>
                  </c:pt>
                  <c:pt idx="18">
                    <c:v>100%</c:v>
                  </c:pt>
                </c:lvl>
              </c:multiLvlStrCache>
            </c:multiLvl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269.53714483105364</c:v>
                </c:pt>
                <c:pt idx="1">
                  <c:v>281.82788446155394</c:v>
                </c:pt>
                <c:pt idx="2">
                  <c:v>294.1186240920541</c:v>
                </c:pt>
                <c:pt idx="3">
                  <c:v>306.4093637225544</c:v>
                </c:pt>
                <c:pt idx="4">
                  <c:v>318.70010335305466</c:v>
                </c:pt>
                <c:pt idx="5">
                  <c:v>330.99084298355496</c:v>
                </c:pt>
                <c:pt idx="6">
                  <c:v>343.28158261405514</c:v>
                </c:pt>
                <c:pt idx="7">
                  <c:v>355.5723222445554</c:v>
                </c:pt>
                <c:pt idx="8">
                  <c:v>367.8630618750557</c:v>
                </c:pt>
                <c:pt idx="9">
                  <c:v>380.15380150555586</c:v>
                </c:pt>
                <c:pt idx="10">
                  <c:v>392.4445411360561</c:v>
                </c:pt>
                <c:pt idx="11">
                  <c:v>404.7352807665564</c:v>
                </c:pt>
                <c:pt idx="12">
                  <c:v>417.0260203970567</c:v>
                </c:pt>
                <c:pt idx="13">
                  <c:v>429.3167600275569</c:v>
                </c:pt>
                <c:pt idx="14">
                  <c:v>441.6074996580571</c:v>
                </c:pt>
                <c:pt idx="15">
                  <c:v>453.8982392885573</c:v>
                </c:pt>
                <c:pt idx="16">
                  <c:v>466.18897891905766</c:v>
                </c:pt>
                <c:pt idx="17">
                  <c:v>478.47971854955796</c:v>
                </c:pt>
                <c:pt idx="18">
                  <c:v>490.7704581800582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Biaya total (+ penyusutan + bunga)</c:v>
                </c:pt>
              </c:strCache>
            </c:strRef>
          </c:tx>
          <c:spPr>
            <a:solidFill>
              <a:srgbClr val="C8452F"/>
            </a:solidFill>
            <a:ln w="25400" cap="flat">
              <a:solidFill>
                <a:srgbClr val="C8452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8452F"/>
              </a:solidFill>
              <a:ln w="9525" cap="flat">
                <a:solidFill>
                  <a:srgbClr val="C8452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10%</c:v>
                  </c:pt>
                  <c:pt idx="1">
                    <c:v> </c:v>
                  </c:pt>
                  <c:pt idx="2">
                    <c:v>20%</c:v>
                  </c:pt>
                  <c:pt idx="3">
                    <c:v>   </c:v>
                  </c:pt>
                  <c:pt idx="4">
                    <c:v>30%</c:v>
                  </c:pt>
                  <c:pt idx="5">
                    <c:v>     </c:v>
                  </c:pt>
                  <c:pt idx="6">
                    <c:v>40%</c:v>
                  </c:pt>
                  <c:pt idx="7">
                    <c:v>       </c:v>
                  </c:pt>
                  <c:pt idx="8">
                    <c:v>50%</c:v>
                  </c:pt>
                  <c:pt idx="9">
                    <c:v>         </c:v>
                  </c:pt>
                  <c:pt idx="10">
                    <c:v>60%</c:v>
                  </c:pt>
                  <c:pt idx="11">
                    <c:v>           </c:v>
                  </c:pt>
                  <c:pt idx="12">
                    <c:v>70%</c:v>
                  </c:pt>
                  <c:pt idx="13">
                    <c:v>             </c:v>
                  </c:pt>
                  <c:pt idx="14">
                    <c:v>80%</c:v>
                  </c:pt>
                  <c:pt idx="15">
                    <c:v>               </c:v>
                  </c:pt>
                  <c:pt idx="16">
                    <c:v>90%</c:v>
                  </c:pt>
                  <c:pt idx="17">
                    <c:v>                 </c:v>
                  </c:pt>
                  <c:pt idx="18">
                    <c:v>100%</c:v>
                  </c:pt>
                </c:lvl>
              </c:multiLvlStrCache>
            </c:multiLvl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822.1419565290114</c:v>
                </c:pt>
                <c:pt idx="1">
                  <c:v>834.4326961595117</c:v>
                </c:pt>
                <c:pt idx="2">
                  <c:v>846.723435790012</c:v>
                </c:pt>
                <c:pt idx="3">
                  <c:v>859.0141754205122</c:v>
                </c:pt>
                <c:pt idx="4">
                  <c:v>871.3049150510125</c:v>
                </c:pt>
                <c:pt idx="5">
                  <c:v>883.5956546815128</c:v>
                </c:pt>
                <c:pt idx="6">
                  <c:v>895.886394312013</c:v>
                </c:pt>
                <c:pt idx="7">
                  <c:v>908.1771339425131</c:v>
                </c:pt>
                <c:pt idx="8">
                  <c:v>920.4678735730134</c:v>
                </c:pt>
                <c:pt idx="9">
                  <c:v>932.7586132035136</c:v>
                </c:pt>
                <c:pt idx="10">
                  <c:v>945.0493528340139</c:v>
                </c:pt>
                <c:pt idx="11">
                  <c:v>957.3400924645142</c:v>
                </c:pt>
                <c:pt idx="12">
                  <c:v>969.6308320950145</c:v>
                </c:pt>
                <c:pt idx="13">
                  <c:v>981.9215717255146</c:v>
                </c:pt>
                <c:pt idx="14">
                  <c:v>994.2123113560149</c:v>
                </c:pt>
                <c:pt idx="15">
                  <c:v>1006.5030509865152</c:v>
                </c:pt>
                <c:pt idx="16">
                  <c:v>1018.7937906170155</c:v>
                </c:pt>
                <c:pt idx="17">
                  <c:v>1031.0845302475157</c:v>
                </c:pt>
                <c:pt idx="18">
                  <c:v>1043.375269878016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CF4"/>
              </a:solidFill>
              <a:prstDash val="solid"/>
              <a:round/>
            </a:ln>
          </c:spPr>
        </c:majorGridlines>
        <c:numFmt formatCode="[$-421]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FCFF tahunan</c:v>
                </c:pt>
              </c:strCache>
            </c:strRef>
          </c:tx>
          <c:spPr>
            <a:solidFill>
              <a:srgbClr val="1F4E9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Sheet1!$A$2:$A$22</c:f>
              <c:multiLvlStrCache>
                <c:ptCount val="21"/>
                <c:lvl>
                  <c:pt idx="0">
                    <c:v>2027</c:v>
                  </c:pt>
                  <c:pt idx="1">
                    <c:v> </c:v>
                  </c:pt>
                  <c:pt idx="2">
                    <c:v>  </c:v>
                  </c:pt>
                  <c:pt idx="3">
                    <c:v>   </c:v>
                  </c:pt>
                  <c:pt idx="4">
                    <c:v>2031</c:v>
                  </c:pt>
                  <c:pt idx="5">
                    <c:v>     </c:v>
                  </c:pt>
                  <c:pt idx="6">
                    <c:v>      </c:v>
                  </c:pt>
                  <c:pt idx="7">
                    <c:v>       </c:v>
                  </c:pt>
                  <c:pt idx="8">
                    <c:v>2035</c:v>
                  </c:pt>
                  <c:pt idx="9">
                    <c:v>         </c:v>
                  </c:pt>
                  <c:pt idx="10">
                    <c:v>          </c:v>
                  </c:pt>
                  <c:pt idx="11">
                    <c:v>           </c:v>
                  </c:pt>
                  <c:pt idx="12">
                    <c:v>2039</c:v>
                  </c:pt>
                  <c:pt idx="13">
                    <c:v>             </c:v>
                  </c:pt>
                  <c:pt idx="14">
                    <c:v>              </c:v>
                  </c:pt>
                  <c:pt idx="15">
                    <c:v>               </c:v>
                  </c:pt>
                  <c:pt idx="16">
                    <c:v>2043</c:v>
                  </c:pt>
                  <c:pt idx="17">
                    <c:v>                 </c:v>
                  </c:pt>
                  <c:pt idx="18">
                    <c:v>                  </c:v>
                  </c:pt>
                  <c:pt idx="19">
                    <c:v>                   </c:v>
                  </c:pt>
                  <c:pt idx="20">
                    <c:v>2047</c:v>
                  </c:pt>
                </c:lvl>
              </c:multiLvlStrCache>
            </c:multiLvl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-6.498362809856808</c:v>
                </c:pt>
                <c:pt idx="1">
                  <c:v>0.40869089709281</c:v>
                </c:pt>
                <c:pt idx="2">
                  <c:v>1.4454023402865188</c:v>
                </c:pt>
                <c:pt idx="3">
                  <c:v>0.8982251772004253</c:v>
                </c:pt>
                <c:pt idx="4">
                  <c:v>0.9107873146957477</c:v>
                </c:pt>
                <c:pt idx="5">
                  <c:v>0.916299058347455</c:v>
                </c:pt>
                <c:pt idx="6">
                  <c:v>0.9219210368721965</c:v>
                </c:pt>
                <c:pt idx="7">
                  <c:v>0.9276554549674326</c:v>
                </c:pt>
                <c:pt idx="8">
                  <c:v>0.6466823449552188</c:v>
                </c:pt>
                <c:pt idx="9">
                  <c:v>0.9065760343725503</c:v>
                </c:pt>
                <c:pt idx="10">
                  <c:v>0.7450251381854234</c:v>
                </c:pt>
                <c:pt idx="11">
                  <c:v>0.6293105310113826</c:v>
                </c:pt>
                <c:pt idx="12">
                  <c:v>0.3977192115077146</c:v>
                </c:pt>
                <c:pt idx="13">
                  <c:v>0.5097397555654641</c:v>
                </c:pt>
                <c:pt idx="14">
                  <c:v>0.5151157368514732</c:v>
                </c:pt>
                <c:pt idx="15">
                  <c:v>0.5205992377632024</c:v>
                </c:pt>
                <c:pt idx="16">
                  <c:v>0.19148845050074703</c:v>
                </c:pt>
                <c:pt idx="17">
                  <c:v>0.5332514254554922</c:v>
                </c:pt>
                <c:pt idx="18">
                  <c:v>0.5390705604910266</c:v>
                </c:pt>
                <c:pt idx="19">
                  <c:v>0.5450060782272715</c:v>
                </c:pt>
                <c:pt idx="20">
                  <c:v>0.7093237433093691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Kumulatif</c:v>
                </c:pt>
              </c:strCache>
            </c:strRef>
          </c:tx>
          <c:spPr>
            <a:solidFill>
              <a:srgbClr val="3E8E41"/>
            </a:solidFill>
            <a:ln w="25400" cap="flat">
              <a:solidFill>
                <a:srgbClr val="3E8E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E8E41"/>
              </a:solidFill>
              <a:ln w="9525" cap="flat">
                <a:solidFill>
                  <a:srgbClr val="3E8E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2027</c:v>
                  </c:pt>
                  <c:pt idx="1">
                    <c:v> </c:v>
                  </c:pt>
                  <c:pt idx="2">
                    <c:v>  </c:v>
                  </c:pt>
                  <c:pt idx="3">
                    <c:v>   </c:v>
                  </c:pt>
                  <c:pt idx="4">
                    <c:v>2031</c:v>
                  </c:pt>
                  <c:pt idx="5">
                    <c:v>     </c:v>
                  </c:pt>
                  <c:pt idx="6">
                    <c:v>      </c:v>
                  </c:pt>
                  <c:pt idx="7">
                    <c:v>       </c:v>
                  </c:pt>
                  <c:pt idx="8">
                    <c:v>2035</c:v>
                  </c:pt>
                  <c:pt idx="9">
                    <c:v>         </c:v>
                  </c:pt>
                  <c:pt idx="10">
                    <c:v>          </c:v>
                  </c:pt>
                  <c:pt idx="11">
                    <c:v>           </c:v>
                  </c:pt>
                  <c:pt idx="12">
                    <c:v>2039</c:v>
                  </c:pt>
                  <c:pt idx="13">
                    <c:v>             </c:v>
                  </c:pt>
                  <c:pt idx="14">
                    <c:v>              </c:v>
                  </c:pt>
                  <c:pt idx="15">
                    <c:v>               </c:v>
                  </c:pt>
                  <c:pt idx="16">
                    <c:v>2043</c:v>
                  </c:pt>
                  <c:pt idx="17">
                    <c:v>                 </c:v>
                  </c:pt>
                  <c:pt idx="18">
                    <c:v>                  </c:v>
                  </c:pt>
                  <c:pt idx="19">
                    <c:v>                   </c:v>
                  </c:pt>
                  <c:pt idx="20">
                    <c:v>2047</c:v>
                  </c:pt>
                </c:lvl>
              </c:multiLvlStrCache>
            </c:multiLvl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-6.498362809856808</c:v>
                </c:pt>
                <c:pt idx="1">
                  <c:v>-6.089671912763998</c:v>
                </c:pt>
                <c:pt idx="2">
                  <c:v>-4.644269572477478</c:v>
                </c:pt>
                <c:pt idx="3">
                  <c:v>-3.7460443952770532</c:v>
                </c:pt>
                <c:pt idx="4">
                  <c:v>-2.8352570805813055</c:v>
                </c:pt>
                <c:pt idx="5">
                  <c:v>-1.9189580222338505</c:v>
                </c:pt>
                <c:pt idx="6">
                  <c:v>-0.9970369853616541</c:v>
                </c:pt>
                <c:pt idx="7">
                  <c:v>-0.06938153039422143</c:v>
                </c:pt>
                <c:pt idx="8">
                  <c:v>0.5773008145609975</c:v>
                </c:pt>
                <c:pt idx="9">
                  <c:v>1.4838768489335477</c:v>
                </c:pt>
                <c:pt idx="10">
                  <c:v>2.228901987118971</c:v>
                </c:pt>
                <c:pt idx="11">
                  <c:v>2.8582125181303537</c:v>
                </c:pt>
                <c:pt idx="12">
                  <c:v>3.255931729638068</c:v>
                </c:pt>
                <c:pt idx="13">
                  <c:v>3.7656714852035322</c:v>
                </c:pt>
                <c:pt idx="14">
                  <c:v>4.280787222055005</c:v>
                </c:pt>
                <c:pt idx="15">
                  <c:v>4.801386459818207</c:v>
                </c:pt>
                <c:pt idx="16">
                  <c:v>4.992874910318955</c:v>
                </c:pt>
                <c:pt idx="17">
                  <c:v>5.526126335774447</c:v>
                </c:pt>
                <c:pt idx="18">
                  <c:v>6.065196896265474</c:v>
                </c:pt>
                <c:pt idx="19">
                  <c:v>6.610202974492744</c:v>
                </c:pt>
                <c:pt idx="20">
                  <c:v>7.3195267178021135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CF4"/>
              </a:solidFill>
              <a:prstDash val="solid"/>
              <a:round/>
            </a:ln>
          </c:spPr>
        </c:majorGridlines>
        <c:numFmt formatCode="[$-421]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Buruk</c:v>
                </c:pt>
              </c:strCache>
            </c:strRef>
          </c:tx>
          <c:spPr>
            <a:solidFill>
              <a:srgbClr val="C8452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Beban TBS PKS (util)</c:v>
                  </c:pt>
                  <c:pt idx="1">
                    <c:v>CAPEX (x)</c:v>
                  </c:pt>
                  <c:pt idx="2">
                    <c:v>Solar PKS (L/t TBS)</c:v>
                  </c:pt>
                  <c:pt idx="3">
                    <c:v>Jasa pengolahan (USD/t TBS)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-1.3992806363909613</c:v>
                </c:pt>
                <c:pt idx="1">
                  <c:v>-2.0608315175312306</c:v>
                </c:pt>
                <c:pt idx="2">
                  <c:v>-0.663516954305687</c:v>
                </c:pt>
                <c:pt idx="3">
                  <c:v>-1.0007983122092343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Baik</c:v>
                </c:pt>
              </c:strCache>
            </c:strRef>
          </c:tx>
          <c:spPr>
            <a:solidFill>
              <a:srgbClr val="3E8E4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Beban TBS PKS (util)</c:v>
                  </c:pt>
                  <c:pt idx="1">
                    <c:v>CAPEX (x)</c:v>
                  </c:pt>
                  <c:pt idx="2">
                    <c:v>Solar PKS (L/t TBS)</c:v>
                  </c:pt>
                  <c:pt idx="3">
                    <c:v>Jasa pengolahan (USD/t TBS)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1.5496050695851673</c:v>
                </c:pt>
                <c:pt idx="1">
                  <c:v>0.7377817781897936</c:v>
                </c:pt>
                <c:pt idx="2">
                  <c:v>0.8619687203711972</c:v>
                </c:pt>
                <c:pt idx="3">
                  <c:v>0.12902065011374952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majorGridlines>
          <c:spPr>
            <a:ln w="6350" cap="flat">
              <a:solidFill>
                <a:srgbClr val="E3ECF4"/>
              </a:solidFill>
              <a:prstDash val="solid"/>
              <a:round/>
            </a:ln>
          </c:spPr>
        </c:majorGridlines>
        <c:numFmt formatCode="[$-421]#,##0.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USD ribu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E8E41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0C2464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1F4E9E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2B9FC8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4"/>
            <c:bubble3D val="0"/>
            <c:spPr>
              <a:solidFill>
                <a:srgbClr val="6898C8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Uji lab dan pilot</c:v>
                </c:pt>
                <c:pt idx="1">
                  <c:v>Tim dan manajemen</c:v>
                </c:pt>
                <c:pt idx="2">
                  <c:v>FEED dan HAZOP</c:v>
                </c:pt>
                <c:pt idx="3">
                  <c:v>Kuotasi dan MRV karbon</c:v>
                </c:pt>
                <c:pt idx="4">
                  <c:v>Izin dan hukum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480</c:v>
                </c:pt>
                <c:pt idx="1">
                  <c:v>310</c:v>
                </c:pt>
                <c:pt idx="2">
                  <c:v>220</c:v>
                </c:pt>
                <c:pt idx="3">
                  <c:v>160</c:v>
                </c:pt>
                <c:pt idx="4">
                  <c:v>130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NPV</c:v>
                </c:pt>
              </c:strCache>
            </c:strRef>
          </c:tx>
          <c:spPr>
            <a:solidFill>
              <a:srgbClr val="3E8E41"/>
            </a:solidFill>
            <a:effectLst/>
          </c:spPr>
          <c:invertIfNegative val="0"/>
          <c:dLbls>
            <c:numFmt formatCode="[$-421]#,##0.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E8E4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E8E4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E8E4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E8E4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E8E41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8452F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8452F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8452F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Kasus dasar</c:v>
                  </c:pt>
                  <c:pt idx="1">
                    <c:v>Solar 3,0 L/t</c:v>
                  </c:pt>
                  <c:pt idx="2">
                    <c:v>CAPEX −15%</c:v>
                  </c:pt>
                  <c:pt idx="3">
                    <c:v>Unit ke-10</c:v>
                  </c:pt>
                  <c:pt idx="4">
                    <c:v>Tanpa PM-12</c:v>
                  </c:pt>
                  <c:pt idx="5">
                    <c:v>Solar 1,0 L/t</c:v>
                  </c:pt>
                  <c:pt idx="6">
                    <c:v>Tarif excess 7,44</c:v>
                  </c:pt>
                  <c:pt idx="7">
                    <c:v>PKS terisolasi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0.12902065011374952</c:v>
                </c:pt>
                <c:pt idx="1">
                  <c:v>0.8619687203711972</c:v>
                </c:pt>
                <c:pt idx="2">
                  <c:v>1.0361439644513273</c:v>
                </c:pt>
                <c:pt idx="3">
                  <c:v>1.1960866706921167</c:v>
                </c:pt>
                <c:pt idx="4">
                  <c:v>0.046788206513476954</c:v>
                </c:pt>
                <c:pt idx="5">
                  <c:v>-0.663516954305687</c:v>
                </c:pt>
                <c:pt idx="6">
                  <c:v>-0.5906392015641645</c:v>
                </c:pt>
                <c:pt idx="7">
                  <c:v>-3.0150344199824097</c:v>
                </c:pt>
              </c:numCache>
            </c:numRef>
          </c:val>
        </c:ser>
        <c:dLbls>
          <c:numFmt formatCode="[$-421]#,##0.0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3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Set beroperasi</c:v>
                </c:pt>
              </c:strCache>
            </c:strRef>
          </c:tx>
          <c:spPr>
            <a:solidFill>
              <a:srgbClr val="1F4E9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Sheet1!$A$2:$A$30</c:f>
              <c:multiLvlStrCache>
                <c:ptCount val="29"/>
                <c:lvl>
                  <c:pt idx="0">
                    <c:v>2026</c:v>
                  </c:pt>
                  <c:pt idx="1">
                    <c:v> </c:v>
                  </c:pt>
                  <c:pt idx="2">
                    <c:v>  </c:v>
                  </c:pt>
                  <c:pt idx="3">
                    <c:v>   </c:v>
                  </c:pt>
                  <c:pt idx="4">
                    <c:v>2030</c:v>
                  </c:pt>
                  <c:pt idx="5">
                    <c:v>     </c:v>
                  </c:pt>
                  <c:pt idx="6">
                    <c:v>      </c:v>
                  </c:pt>
                  <c:pt idx="7">
                    <c:v>       </c:v>
                  </c:pt>
                  <c:pt idx="8">
                    <c:v>2034</c:v>
                  </c:pt>
                  <c:pt idx="9">
                    <c:v>         </c:v>
                  </c:pt>
                  <c:pt idx="10">
                    <c:v>          </c:v>
                  </c:pt>
                  <c:pt idx="11">
                    <c:v>           </c:v>
                  </c:pt>
                  <c:pt idx="12">
                    <c:v>2038</c:v>
                  </c:pt>
                  <c:pt idx="13">
                    <c:v>             </c:v>
                  </c:pt>
                  <c:pt idx="14">
                    <c:v>              </c:v>
                  </c:pt>
                  <c:pt idx="15">
                    <c:v>               </c:v>
                  </c:pt>
                  <c:pt idx="16">
                    <c:v>2042</c:v>
                  </c:pt>
                  <c:pt idx="17">
                    <c:v>                 </c:v>
                  </c:pt>
                  <c:pt idx="18">
                    <c:v>                  </c:v>
                  </c:pt>
                  <c:pt idx="19">
                    <c:v>                   </c:v>
                  </c:pt>
                  <c:pt idx="20">
                    <c:v>2046</c:v>
                  </c:pt>
                  <c:pt idx="21">
                    <c:v>                     </c:v>
                  </c:pt>
                  <c:pt idx="22">
                    <c:v>                      </c:v>
                  </c:pt>
                  <c:pt idx="23">
                    <c:v>                       </c:v>
                  </c:pt>
                  <c:pt idx="24">
                    <c:v>2050</c:v>
                  </c:pt>
                  <c:pt idx="25">
                    <c:v>                         </c:v>
                  </c:pt>
                  <c:pt idx="26">
                    <c:v>                          </c:v>
                  </c:pt>
                  <c:pt idx="27">
                    <c:v>                           </c:v>
                  </c:pt>
                  <c:pt idx="28">
                    <c:v>2054</c:v>
                  </c:pt>
                </c:lvl>
              </c:multiLvlStrCache>
            </c:multiLvl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2</c:v>
                </c:pt>
                <c:pt idx="4">
                  <c:v>3</c:v>
                </c:pt>
                <c:pt idx="5">
                  <c:v>4</c:v>
                </c:pt>
                <c:pt idx="6">
                  <c:v>5</c:v>
                </c:pt>
                <c:pt idx="7">
                  <c:v>6</c:v>
                </c:pt>
                <c:pt idx="8">
                  <c:v>8</c:v>
                </c:pt>
                <c:pt idx="9">
                  <c:v>10</c:v>
                </c:pt>
                <c:pt idx="10">
                  <c:v>10</c:v>
                </c:pt>
                <c:pt idx="11">
                  <c:v>10</c:v>
                </c:pt>
                <c:pt idx="12">
                  <c:v>10</c:v>
                </c:pt>
                <c:pt idx="13">
                  <c:v>10</c:v>
                </c:pt>
                <c:pt idx="14">
                  <c:v>10</c:v>
                </c:pt>
                <c:pt idx="15">
                  <c:v>10</c:v>
                </c:pt>
                <c:pt idx="16">
                  <c:v>10</c:v>
                </c:pt>
                <c:pt idx="17">
                  <c:v>10</c:v>
                </c:pt>
                <c:pt idx="18">
                  <c:v>10</c:v>
                </c:pt>
                <c:pt idx="19">
                  <c:v>10</c:v>
                </c:pt>
                <c:pt idx="20">
                  <c:v>10</c:v>
                </c:pt>
                <c:pt idx="21">
                  <c:v>10</c:v>
                </c:pt>
                <c:pt idx="22">
                  <c:v>9</c:v>
                </c:pt>
                <c:pt idx="23">
                  <c:v>8</c:v>
                </c:pt>
                <c:pt idx="24">
                  <c:v>7</c:v>
                </c:pt>
                <c:pt idx="25">
                  <c:v>6</c:v>
                </c:pt>
                <c:pt idx="26">
                  <c:v>5</c:v>
                </c:pt>
                <c:pt idx="27">
                  <c:v>4</c:v>
                </c:pt>
                <c:pt idx="28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CF4"/>
              </a:solidFill>
              <a:prstDash val="solid"/>
              <a:round/>
            </a:ln>
          </c:spPr>
        </c:majorGridlines>
        <c:numFmt formatCode="[$-421]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tCO₂e/tahun</c:v>
                </c:pt>
              </c:strCache>
            </c:strRef>
          </c:tx>
          <c:spPr>
            <a:solidFill>
              <a:srgbClr val="C8452F"/>
            </a:solidFill>
            <a:effectLst/>
          </c:spPr>
          <c:invertIfNegative val="0"/>
          <c:dLbls>
            <c:numFmt formatCode="[$-421]#,##0" sourceLinked="0"/>
            <c:txPr>
              <a:bodyPr/>
              <a:lstStyle/>
              <a:p>
                <a:pPr>
                  <a:defRPr b="0" i="0" strike="noStrike" sz="78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Efluen di kolam polishing</c:v>
                  </c:pt>
                  <c:pt idx="1">
                    <c:v>Bocor 1% biogas</c:v>
                  </c:pt>
                  <c:pt idx="2">
                    <c:v>Slip genset 0,5%</c:v>
                  </c:pt>
                  <c:pt idx="3">
                    <c:v>Baja tangki (20 tahun)</c:v>
                  </c:pt>
                  <c:pt idx="4">
                    <c:v>CH₄ terlarut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777.4334378216871</c:v>
                </c:pt>
                <c:pt idx="1">
                  <c:v>415.96378356631476</c:v>
                </c:pt>
                <c:pt idx="2">
                  <c:v>207.98189178315738</c:v>
                </c:pt>
                <c:pt idx="3">
                  <c:v>32.160750167747466</c:v>
                </c:pt>
                <c:pt idx="4">
                  <c:v>22.530613826429658</c:v>
                </c:pt>
              </c:numCache>
            </c:numRef>
          </c:val>
        </c:ser>
        <c:dLbls>
          <c:numFmt formatCode="[$-421]#,##0" sourceLinked="0"/>
          <c:txPr>
            <a:bodyPr/>
            <a:lstStyle/>
            <a:p>
              <a:pPr>
                <a:defRPr b="0" i="0" strike="noStrike" sz="780" u="none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8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Sampul. Satu klaim terukur: satu set 60 t TBS/jam menghindari ≈ 32.001 tCO2e per tahun (−96% dari kolam terbuka; AMS-III.H, UF 0,89, GWP 28) tanpa modal pabrik.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Latar belakang. SCQA: situasi (1.300 PKS, hanya 11% menangkap metana), komplikasi (kolam terbuka ≈ 26 juta tCO2e/tahun; biogas milik sendiri mahal dan berisiko), pertanyaan, jawaban (layanan BOO).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Konsep: urutan proses dari POME sampai listrik; modularitas 2/3/4 tangki identik; hanya skala 60 t TBS/jam yang layak pada asumsi dasar.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Validitas teknis (modul acuan 45 t TBS/jam; skala 60 t/jam = ×4/3 karena HRT, SRT, dan beban per tangki identik). Neraca massa menutup 0,0002%; energi neto 1.025 kW; ketidakpastian dari 400 sampel Monte Carlo.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Desain produk. Semua gambar dihasilkan dari model parametrik yang sama dengan neraca proses (pfd/, cad/). Modul acuan 45 t TBS/jam: 3 reaktor GFS, 2 genset 600 kWe, plot 99,65 × 37,7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Pesaing. Peta posisi memakai dua sumbu terukur dari Model Keputusan PKS: modal yang ditanggung PKS dan biaya POME terlevelisasi per t TBS. Porter, PESTLE, SWOT dan TOWS ditutup dengan strategi masuk.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Keuangan. Konfigurasi 60 t TBS/jam + PM-12; semua angka dari Excel berumus hidup (BG_Model_Keuangan.xlsx) yang cocok dengan model Python sampai 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Implementasi. Gantt, WBS, gerbang tahap, RACI, risiko, perizinan, dan anggaran. Peluang NPV positif per gerbang dari Monte Carlo (menyempitkan distribusi solar, CAPEX, rezim tarif, beban, dan fee).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Peluang bisnis dan dampak. Pasar bottom-up per filter; ekonomi per set menurut skenario; armada 10 set; dampak terukur dan titik panas emisi.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Kesimpulan. Tiga pesan, kartu skor, syarat kelayakan terukur, langkah berikutnya dengan dana, dan penutup berbasis bukti.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MPU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ONTE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1900" dirty="0"/>
          </a:p>
        </p:txBody>
      </p:sp>
      <p:sp>
        <p:nvSpPr>
          <p:cNvPr id="3" name="Shape 0"/>
          <p:cNvSpPr/>
          <p:nvPr/>
        </p:nvSpPr>
        <p:spPr>
          <a:xfrm>
            <a:off x="411480" y="1033272"/>
            <a:ext cx="11384280" cy="0"/>
          </a:xfrm>
          <a:prstGeom prst="line">
            <a:avLst/>
          </a:prstGeom>
          <a:noFill/>
          <a:ln w="19050">
            <a:solidFill>
              <a:srgbClr val="2B9FC8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10625328" y="274320"/>
            <a:ext cx="420624" cy="420624"/>
          </a:xfrm>
          <a:prstGeom prst="rect">
            <a:avLst>
              <a:gd name="adj" fmla="val 17391"/>
            </a:avLst>
          </a:prstGeom>
          <a:solidFill>
            <a:srgbClr val="0C2464"/>
          </a:solidFill>
          <a:ln/>
        </p:spPr>
      </p:sp>
      <p:sp>
        <p:nvSpPr>
          <p:cNvPr id="5" name="Text 2"/>
          <p:cNvSpPr/>
          <p:nvPr/>
        </p:nvSpPr>
        <p:spPr>
          <a:xfrm>
            <a:off x="10625328" y="274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1100816" y="27432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MALATAXTAX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00816" y="493776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EIC 2026 · Business Plan</a:t>
            </a:r>
            <a:endParaRPr lang="en-US" sz="65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chart" Target="/ppt/charts/chart7.xml"/><Relationship Id="rId4" Type="http://schemas.openxmlformats.org/officeDocument/2006/relationships/chart" Target="/ppt/charts/chart8.xml"/><Relationship Id="rId5" Type="http://schemas.openxmlformats.org/officeDocument/2006/relationships/chart" Target="/ppt/charts/chart9.xml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tak-1"/>
          <p:cNvSpPr txBox="1"/>
          <p:nvPr/>
        </p:nvSpPr>
        <p:spPr>
          <a:xfrm>
            <a:off x="502920" y="411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2000" dirty="0"/>
          </a:p>
        </p:txBody>
      </p:sp>
      <p:sp>
        <p:nvSpPr>
          <p:cNvPr id="3" name="teks-2"/>
          <p:cNvSpPr txBox="1"/>
          <p:nvPr/>
        </p:nvSpPr>
        <p:spPr>
          <a:xfrm>
            <a:off x="1051560" y="4114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MALATAXTAX</a:t>
            </a:r>
            <a:endParaRPr lang="en-US" sz="1200" dirty="0"/>
          </a:p>
        </p:txBody>
      </p:sp>
      <p:sp>
        <p:nvSpPr>
          <p:cNvPr id="4" name="teks-3"/>
          <p:cNvSpPr txBox="1"/>
          <p:nvPr/>
        </p:nvSpPr>
        <p:spPr>
          <a:xfrm>
            <a:off x="1051560" y="64922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Business Plan Competition  ·  EIC 2026</a:t>
            </a:r>
            <a:endParaRPr lang="en-US" sz="900" dirty="0"/>
          </a:p>
        </p:txBody>
      </p:sp>
      <p:sp>
        <p:nvSpPr>
          <p:cNvPr id="5" name="teks-4"/>
          <p:cNvSpPr txBox="1"/>
          <p:nvPr/>
        </p:nvSpPr>
        <p:spPr>
          <a:xfrm>
            <a:off x="502920" y="1097280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Subtema 3: Ekonomi Sirkular dan Solusi Lingkungan untuk Transisi Energi</a:t>
            </a:r>
            <a:endParaRPr lang="en-US" sz="950" dirty="0"/>
          </a:p>
        </p:txBody>
      </p:sp>
      <p:sp>
        <p:nvSpPr>
          <p:cNvPr id="6" name="teks-5"/>
          <p:cNvSpPr txBox="1"/>
          <p:nvPr/>
        </p:nvSpPr>
        <p:spPr>
          <a:xfrm>
            <a:off x="502920" y="1371600"/>
            <a:ext cx="5120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Biogas sebagai Layanan: </a:t>
            </a:r>
            <a:pPr indent="0" marL="0">
              <a:buNone/>
            </a:pPr>
            <a:r>
              <a:rPr lang="en-US" sz="25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pengolah POME termofilik modular untuk pabrik kelapa sawit</a:t>
            </a:r>
            <a:endParaRPr lang="en-US" sz="2500" dirty="0"/>
          </a:p>
        </p:txBody>
      </p:sp>
      <p:sp>
        <p:nvSpPr>
          <p:cNvPr id="7" name="teks-6"/>
          <p:cNvSpPr txBox="1"/>
          <p:nvPr/>
        </p:nvSpPr>
        <p:spPr>
          <a:xfrm>
            <a:off x="502920" y="3246120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limbah pabrik kelapa sawit (palm oil mill effluent, POME) diubah menjadi listrik pengganti solar, listrik jaringan, dan kredit karbon. Pabrik membayar per ton tandan buah segar (TBS) tanpa modal: set biogas dibangun, dimiliki, dan dioperasikan oleh kami (BOO), dan dapat dipindahkan.</a:t>
            </a:r>
            <a:endParaRPr lang="en-US" sz="1100" dirty="0"/>
          </a:p>
        </p:txBody>
      </p:sp>
      <p:sp>
        <p:nvSpPr>
          <p:cNvPr id="8" name="kotak-7"/>
          <p:cNvSpPr/>
          <p:nvPr/>
        </p:nvSpPr>
        <p:spPr>
          <a:xfrm>
            <a:off x="502920" y="4343400"/>
            <a:ext cx="1673352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2B9FC8"/>
            </a:solidFill>
            <a:prstDash val="solid"/>
          </a:ln>
        </p:spPr>
      </p:sp>
      <p:sp>
        <p:nvSpPr>
          <p:cNvPr id="9" name="teks-8"/>
          <p:cNvSpPr txBox="1"/>
          <p:nvPr/>
        </p:nvSpPr>
        <p:spPr>
          <a:xfrm>
            <a:off x="576072" y="4389120"/>
            <a:ext cx="1527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−96%</a:t>
            </a:r>
            <a:endParaRPr lang="en-US" sz="1800" dirty="0"/>
          </a:p>
        </p:txBody>
      </p:sp>
      <p:sp>
        <p:nvSpPr>
          <p:cNvPr id="10" name="teks-9"/>
          <p:cNvSpPr txBox="1"/>
          <p:nvPr/>
        </p:nvSpPr>
        <p:spPr>
          <a:xfrm>
            <a:off x="576072" y="4913986"/>
            <a:ext cx="1527048" cy="5047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emisi metana kolam POME dihindari: ≈ 32 ribu tCO₂e per tahun per set 60 t TBS/jam</a:t>
            </a:r>
            <a:endParaRPr lang="en-US" sz="800" dirty="0"/>
          </a:p>
        </p:txBody>
      </p:sp>
      <p:sp>
        <p:nvSpPr>
          <p:cNvPr id="11" name="kotak-10"/>
          <p:cNvSpPr/>
          <p:nvPr/>
        </p:nvSpPr>
        <p:spPr>
          <a:xfrm>
            <a:off x="2267712" y="4343400"/>
            <a:ext cx="1673352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2B9FC8"/>
            </a:solidFill>
            <a:prstDash val="solid"/>
          </a:ln>
        </p:spPr>
      </p:sp>
      <p:sp>
        <p:nvSpPr>
          <p:cNvPr id="12" name="teks-11"/>
          <p:cNvSpPr txBox="1"/>
          <p:nvPr/>
        </p:nvSpPr>
        <p:spPr>
          <a:xfrm>
            <a:off x="2340864" y="4389120"/>
            <a:ext cx="1527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0</a:t>
            </a:r>
            <a:endParaRPr lang="en-US" sz="1800" dirty="0"/>
          </a:p>
        </p:txBody>
      </p:sp>
      <p:sp>
        <p:nvSpPr>
          <p:cNvPr id="13" name="teks-12"/>
          <p:cNvSpPr txBox="1"/>
          <p:nvPr/>
        </p:nvSpPr>
        <p:spPr>
          <a:xfrm>
            <a:off x="2340864" y="4913986"/>
            <a:ext cx="1527048" cy="5047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yang dikeluarkan pabrik (skema BOO)</a:t>
            </a:r>
            <a:endParaRPr lang="en-US" sz="800" dirty="0"/>
          </a:p>
        </p:txBody>
      </p:sp>
      <p:sp>
        <p:nvSpPr>
          <p:cNvPr id="14" name="kotak-13"/>
          <p:cNvSpPr/>
          <p:nvPr/>
        </p:nvSpPr>
        <p:spPr>
          <a:xfrm>
            <a:off x="4032504" y="4343400"/>
            <a:ext cx="1673352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2B9FC8"/>
            </a:solidFill>
            <a:prstDash val="solid"/>
          </a:ln>
        </p:spPr>
      </p:sp>
      <p:sp>
        <p:nvSpPr>
          <p:cNvPr id="15" name="teks-14"/>
          <p:cNvSpPr txBox="1"/>
          <p:nvPr/>
        </p:nvSpPr>
        <p:spPr>
          <a:xfrm>
            <a:off x="4105656" y="4389120"/>
            <a:ext cx="1527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 GWh</a:t>
            </a:r>
            <a:endParaRPr lang="en-US" sz="1800" dirty="0"/>
          </a:p>
        </p:txBody>
      </p:sp>
      <p:sp>
        <p:nvSpPr>
          <p:cNvPr id="16" name="teks-15"/>
          <p:cNvSpPr txBox="1"/>
          <p:nvPr/>
        </p:nvSpPr>
        <p:spPr>
          <a:xfrm>
            <a:off x="4105656" y="4913986"/>
            <a:ext cx="1527048" cy="5047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listrik neto per tahun per set</a:t>
            </a:r>
            <a:endParaRPr lang="en-US" sz="800" dirty="0"/>
          </a:p>
        </p:txBody>
      </p:sp>
      <p:sp>
        <p:nvSpPr>
          <p:cNvPr id="17" name="teks-16"/>
          <p:cNvSpPr txBox="1"/>
          <p:nvPr/>
        </p:nvSpPr>
        <p:spPr>
          <a:xfrm>
            <a:off x="502920" y="562356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 Malataxtax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Anggota: [Nama lengkap 1] · [Nama lengkap 2] · [Nama lengkap 3]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Perguruan tinggi: [Nama perguruan tinggi]</a:t>
            </a:r>
            <a:endParaRPr lang="en-US" sz="900" dirty="0"/>
          </a:p>
        </p:txBody>
      </p:sp>
      <p:sp>
        <p:nvSpPr>
          <p:cNvPr id="18" name="teks-17"/>
          <p:cNvSpPr txBox="1"/>
          <p:nvPr/>
        </p:nvSpPr>
        <p:spPr>
          <a:xfrm>
            <a:off x="502920" y="6355080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Identitas dalam kurung siku diisi sesuai buku panduan sebelum pengumpulan.</a:t>
            </a:r>
            <a:endParaRPr lang="en-US" sz="700" dirty="0"/>
          </a:p>
        </p:txBody>
      </p:sp>
      <p:sp>
        <p:nvSpPr>
          <p:cNvPr id="19" name="kotak-18"/>
          <p:cNvSpPr/>
          <p:nvPr/>
        </p:nvSpPr>
        <p:spPr>
          <a:xfrm>
            <a:off x="5852160" y="365760"/>
            <a:ext cx="6035040" cy="3434715"/>
          </a:xfrm>
          <a:prstGeom prst="roundRect">
            <a:avLst>
              <a:gd name="adj" fmla="val 1065"/>
            </a:avLst>
          </a:prstGeom>
          <a:solidFill>
            <a:srgbClr val="FFFFFF"/>
          </a:solidFill>
          <a:ln w="19050">
            <a:solidFill>
              <a:srgbClr val="2B9FC8"/>
            </a:solidFill>
            <a:prstDash val="solid"/>
          </a:ln>
        </p:spPr>
      </p:sp>
      <p:pic>
        <p:nvPicPr>
          <p:cNvPr id="20" name="render-lokasi" descr="/home/user/aspebindo/cad/out/render/DIORAMA_lokas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411480"/>
            <a:ext cx="5943600" cy="3343275"/>
          </a:xfrm>
          <a:prstGeom prst="rect">
            <a:avLst/>
          </a:prstGeom>
        </p:spPr>
      </p:pic>
      <p:sp>
        <p:nvSpPr>
          <p:cNvPr id="21" name="kotak-19"/>
          <p:cNvSpPr txBox="1"/>
          <p:nvPr/>
        </p:nvSpPr>
        <p:spPr>
          <a:xfrm>
            <a:off x="8759952" y="1244370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22" name="kotak-20"/>
          <p:cNvSpPr txBox="1"/>
          <p:nvPr/>
        </p:nvSpPr>
        <p:spPr>
          <a:xfrm>
            <a:off x="8629936" y="1880521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23" name="kotak-21"/>
          <p:cNvSpPr txBox="1"/>
          <p:nvPr/>
        </p:nvSpPr>
        <p:spPr>
          <a:xfrm>
            <a:off x="8355973" y="1184005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24" name="kotak-22"/>
          <p:cNvSpPr txBox="1"/>
          <p:nvPr/>
        </p:nvSpPr>
        <p:spPr>
          <a:xfrm>
            <a:off x="10269069" y="1634419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kotak-23"/>
          <p:cNvSpPr txBox="1"/>
          <p:nvPr/>
        </p:nvSpPr>
        <p:spPr>
          <a:xfrm>
            <a:off x="9665422" y="1889808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26" name="kotak-24"/>
          <p:cNvSpPr txBox="1"/>
          <p:nvPr/>
        </p:nvSpPr>
        <p:spPr>
          <a:xfrm>
            <a:off x="5897880" y="3983355"/>
            <a:ext cx="2743200" cy="228600"/>
          </a:xfrm>
          <a:prstGeom prst="roundRect">
            <a:avLst>
              <a:gd name="adj" fmla="val 16000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Titik integrasi dengan PKS</a:t>
            </a:r>
            <a:endParaRPr lang="en-US" sz="900" dirty="0"/>
          </a:p>
        </p:txBody>
      </p:sp>
      <p:sp>
        <p:nvSpPr>
          <p:cNvPr id="27" name="kotak-25"/>
          <p:cNvSpPr txBox="1"/>
          <p:nvPr/>
        </p:nvSpPr>
        <p:spPr>
          <a:xfrm>
            <a:off x="5897880" y="4303395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  <p:sp>
        <p:nvSpPr>
          <p:cNvPr id="28" name="teks-26"/>
          <p:cNvSpPr txBox="1"/>
          <p:nvPr/>
        </p:nvSpPr>
        <p:spPr>
          <a:xfrm>
            <a:off x="6172200" y="4285107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POME 85 °C dari fat pit ke praolah</a:t>
            </a:r>
            <a:endParaRPr lang="en-US" sz="900" dirty="0"/>
          </a:p>
        </p:txBody>
      </p:sp>
      <p:sp>
        <p:nvSpPr>
          <p:cNvPr id="29" name="kotak-27"/>
          <p:cNvSpPr txBox="1"/>
          <p:nvPr/>
        </p:nvSpPr>
        <p:spPr>
          <a:xfrm>
            <a:off x="5897880" y="4632579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  <p:sp>
        <p:nvSpPr>
          <p:cNvPr id="30" name="teks-28"/>
          <p:cNvSpPr txBox="1"/>
          <p:nvPr/>
        </p:nvSpPr>
        <p:spPr>
          <a:xfrm>
            <a:off x="6172200" y="4614291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biogas di bekas kolam, 0,38 ha</a:t>
            </a:r>
            <a:endParaRPr lang="en-US" sz="900" dirty="0"/>
          </a:p>
        </p:txBody>
      </p:sp>
      <p:sp>
        <p:nvSpPr>
          <p:cNvPr id="31" name="kotak-29"/>
          <p:cNvSpPr txBox="1"/>
          <p:nvPr/>
        </p:nvSpPr>
        <p:spPr>
          <a:xfrm>
            <a:off x="5897880" y="4961763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  <p:sp>
        <p:nvSpPr>
          <p:cNvPr id="32" name="teks-30"/>
          <p:cNvSpPr txBox="1"/>
          <p:nvPr/>
        </p:nvSpPr>
        <p:spPr>
          <a:xfrm>
            <a:off x="6172200" y="4943475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Listrik ke rumah mesin PKS dan jaringan PLN</a:t>
            </a:r>
            <a:endParaRPr lang="en-US" sz="900" dirty="0"/>
          </a:p>
        </p:txBody>
      </p:sp>
      <p:sp>
        <p:nvSpPr>
          <p:cNvPr id="33" name="kotak-31"/>
          <p:cNvSpPr txBox="1"/>
          <p:nvPr/>
        </p:nvSpPr>
        <p:spPr>
          <a:xfrm>
            <a:off x="5897880" y="5290947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50" dirty="0"/>
          </a:p>
        </p:txBody>
      </p:sp>
      <p:sp>
        <p:nvSpPr>
          <p:cNvPr id="34" name="teks-32"/>
          <p:cNvSpPr txBox="1"/>
          <p:nvPr/>
        </p:nvSpPr>
        <p:spPr>
          <a:xfrm>
            <a:off x="6172200" y="5272659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Efluen ke kolam polishing, lalu aplikasi lahan</a:t>
            </a:r>
            <a:endParaRPr lang="en-US" sz="900" dirty="0"/>
          </a:p>
        </p:txBody>
      </p:sp>
      <p:sp>
        <p:nvSpPr>
          <p:cNvPr id="35" name="kotak-33"/>
          <p:cNvSpPr txBox="1"/>
          <p:nvPr/>
        </p:nvSpPr>
        <p:spPr>
          <a:xfrm>
            <a:off x="5897880" y="5620131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50" dirty="0"/>
          </a:p>
        </p:txBody>
      </p:sp>
      <p:sp>
        <p:nvSpPr>
          <p:cNvPr id="36" name="teks-34"/>
          <p:cNvSpPr txBox="1"/>
          <p:nvPr/>
        </p:nvSpPr>
        <p:spPr>
          <a:xfrm>
            <a:off x="6172200" y="5601843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Kolam anaerobik lama (±1,1 ha) dibebaskan</a:t>
            </a:r>
            <a:endParaRPr lang="en-US" sz="900" dirty="0"/>
          </a:p>
        </p:txBody>
      </p:sp>
      <p:sp>
        <p:nvSpPr>
          <p:cNvPr id="37" name="kotak-35"/>
          <p:cNvSpPr/>
          <p:nvPr/>
        </p:nvSpPr>
        <p:spPr>
          <a:xfrm>
            <a:off x="8686800" y="3937635"/>
            <a:ext cx="3200400" cy="1840230"/>
          </a:xfrm>
          <a:prstGeom prst="roundRect">
            <a:avLst>
              <a:gd name="adj" fmla="val 1988"/>
            </a:avLst>
          </a:prstGeom>
          <a:solidFill>
            <a:srgbClr val="FFFFFF"/>
          </a:solidFill>
          <a:ln w="15875">
            <a:solidFill>
              <a:srgbClr val="2B9FC8"/>
            </a:solidFill>
            <a:prstDash val="solid"/>
          </a:ln>
        </p:spPr>
      </p:sp>
      <p:pic>
        <p:nvPicPr>
          <p:cNvPr id="38" name="render-produk" descr="/home/user/aspebindo/cad/out/render/DIORAMA_produ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3983355"/>
            <a:ext cx="3108960" cy="1748790"/>
          </a:xfrm>
          <a:prstGeom prst="rect">
            <a:avLst/>
          </a:prstGeom>
        </p:spPr>
      </p:pic>
      <p:sp>
        <p:nvSpPr>
          <p:cNvPr id="39" name="teks-36"/>
          <p:cNvSpPr txBox="1"/>
          <p:nvPr/>
        </p:nvSpPr>
        <p:spPr>
          <a:xfrm>
            <a:off x="5897880" y="64922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3D (CadQuery) dari neraca proses dan model lokasi tim. Modul acuan 45 t TBS/jam; konfigurasi komersial 60 t TBS/jam menambah satu modul identik.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Metana POME dari ±1.150 PKS lepas ke udara karena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modal dan risiko kinerja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bukan karena teknologinya belum ada</a:t>
            </a:r>
            <a:endParaRPr lang="en-US" sz="1900" dirty="0"/>
          </a:p>
        </p:txBody>
      </p:sp>
      <p:sp>
        <p:nvSpPr>
          <p:cNvPr id="3" name="kotak-37"/>
          <p:cNvSpPr txBox="1"/>
          <p:nvPr/>
        </p:nvSpPr>
        <p:spPr>
          <a:xfrm>
            <a:off x="41148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C2464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kotak-38"/>
          <p:cNvSpPr txBox="1"/>
          <p:nvPr/>
        </p:nvSpPr>
        <p:spPr>
          <a:xfrm>
            <a:off x="189280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800" dirty="0"/>
          </a:p>
        </p:txBody>
      </p:sp>
      <p:sp>
        <p:nvSpPr>
          <p:cNvPr id="5" name="kotak-39"/>
          <p:cNvSpPr txBox="1"/>
          <p:nvPr/>
        </p:nvSpPr>
        <p:spPr>
          <a:xfrm>
            <a:off x="3374136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</a:t>
            </a:r>
            <a:endParaRPr lang="en-US" sz="800" dirty="0"/>
          </a:p>
        </p:txBody>
      </p:sp>
      <p:sp>
        <p:nvSpPr>
          <p:cNvPr id="6" name="kotak-40"/>
          <p:cNvSpPr txBox="1"/>
          <p:nvPr/>
        </p:nvSpPr>
        <p:spPr>
          <a:xfrm>
            <a:off x="4855464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Keuangan</a:t>
            </a:r>
            <a:endParaRPr lang="en-US" sz="800" dirty="0"/>
          </a:p>
        </p:txBody>
      </p:sp>
      <p:sp>
        <p:nvSpPr>
          <p:cNvPr id="7" name="kotak-41"/>
          <p:cNvSpPr txBox="1"/>
          <p:nvPr/>
        </p:nvSpPr>
        <p:spPr>
          <a:xfrm>
            <a:off x="6336792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800" dirty="0"/>
          </a:p>
        </p:txBody>
      </p:sp>
      <p:sp>
        <p:nvSpPr>
          <p:cNvPr id="8" name="kotak-42"/>
          <p:cNvSpPr txBox="1"/>
          <p:nvPr/>
        </p:nvSpPr>
        <p:spPr>
          <a:xfrm>
            <a:off x="781812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800" dirty="0"/>
          </a:p>
        </p:txBody>
      </p:sp>
      <p:sp>
        <p:nvSpPr>
          <p:cNvPr id="9" name="kotak-43"/>
          <p:cNvSpPr txBox="1"/>
          <p:nvPr/>
        </p:nvSpPr>
        <p:spPr>
          <a:xfrm>
            <a:off x="929944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800" dirty="0"/>
          </a:p>
        </p:txBody>
      </p:sp>
      <p:sp>
        <p:nvSpPr>
          <p:cNvPr id="10" name="kotak-44"/>
          <p:cNvSpPr txBox="1"/>
          <p:nvPr/>
        </p:nvSpPr>
        <p:spPr>
          <a:xfrm>
            <a:off x="11338560" y="6583680"/>
            <a:ext cx="457200" cy="228600"/>
          </a:xfrm>
          <a:prstGeom prst="roundRect">
            <a:avLst>
              <a:gd name="adj" fmla="val 12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kotak-45"/>
          <p:cNvSpPr txBox="1"/>
          <p:nvPr/>
        </p:nvSpPr>
        <p:spPr>
          <a:xfrm>
            <a:off x="411480" y="1143000"/>
            <a:ext cx="2779776" cy="201168"/>
          </a:xfrm>
          <a:prstGeom prst="roundRect">
            <a:avLst>
              <a:gd name="adj" fmla="val 18182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SITUASI</a:t>
            </a:r>
            <a:endParaRPr lang="en-US" sz="900" dirty="0"/>
          </a:p>
        </p:txBody>
      </p:sp>
      <p:sp>
        <p:nvSpPr>
          <p:cNvPr id="13" name="kotak-46"/>
          <p:cNvSpPr/>
          <p:nvPr/>
        </p:nvSpPr>
        <p:spPr>
          <a:xfrm>
            <a:off x="411480" y="1344168"/>
            <a:ext cx="2779776" cy="713232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0C2464"/>
            </a:solidFill>
            <a:prstDash val="solid"/>
          </a:ln>
        </p:spPr>
      </p:sp>
      <p:sp>
        <p:nvSpPr>
          <p:cNvPr id="14" name="teks-47"/>
          <p:cNvSpPr txBox="1"/>
          <p:nvPr/>
        </p:nvSpPr>
        <p:spPr>
          <a:xfrm>
            <a:off x="502920" y="1362456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±1.150 PKS</a:t>
            </a:r>
            <a:endParaRPr lang="en-US" sz="1400" dirty="0"/>
          </a:p>
        </p:txBody>
      </p:sp>
      <p:sp>
        <p:nvSpPr>
          <p:cNvPr id="15" name="teks-48"/>
          <p:cNvSpPr txBox="1"/>
          <p:nvPr/>
        </p:nvSpPr>
        <p:spPr>
          <a:xfrm>
            <a:off x="502920" y="1645920"/>
            <a:ext cx="2596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±1.300 PKS belum menangkap metana POME (±150 juta m³ POME per tahun)</a:t>
            </a:r>
            <a:endParaRPr lang="en-US" sz="880" dirty="0"/>
          </a:p>
        </p:txBody>
      </p:sp>
      <p:sp>
        <p:nvSpPr>
          <p:cNvPr id="16" name="kotak-49"/>
          <p:cNvSpPr txBox="1"/>
          <p:nvPr/>
        </p:nvSpPr>
        <p:spPr>
          <a:xfrm>
            <a:off x="3282696" y="1143000"/>
            <a:ext cx="2779776" cy="201168"/>
          </a:xfrm>
          <a:prstGeom prst="roundRect">
            <a:avLst>
              <a:gd name="adj" fmla="val 18182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KOMPLIKASI</a:t>
            </a:r>
            <a:endParaRPr lang="en-US" sz="900" dirty="0"/>
          </a:p>
        </p:txBody>
      </p:sp>
      <p:sp>
        <p:nvSpPr>
          <p:cNvPr id="17" name="kotak-50"/>
          <p:cNvSpPr/>
          <p:nvPr/>
        </p:nvSpPr>
        <p:spPr>
          <a:xfrm>
            <a:off x="3282696" y="1344168"/>
            <a:ext cx="2779776" cy="713232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1F4E9E"/>
            </a:solidFill>
            <a:prstDash val="solid"/>
          </a:ln>
        </p:spPr>
      </p:sp>
      <p:sp>
        <p:nvSpPr>
          <p:cNvPr id="18" name="teks-51"/>
          <p:cNvSpPr txBox="1"/>
          <p:nvPr/>
        </p:nvSpPr>
        <p:spPr>
          <a:xfrm>
            <a:off x="3374136" y="1362456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26 juta tCO₂e</a:t>
            </a:r>
            <a:endParaRPr lang="en-US" sz="1400" dirty="0"/>
          </a:p>
        </p:txBody>
      </p:sp>
      <p:sp>
        <p:nvSpPr>
          <p:cNvPr id="19" name="teks-52"/>
          <p:cNvSpPr txBox="1"/>
          <p:nvPr/>
        </p:nvSpPr>
        <p:spPr>
          <a:xfrm>
            <a:off x="3374136" y="1645920"/>
            <a:ext cx="2596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tahun lepas dari kolam; biogas milik sendiri USD 3,5–4,0 juta per set dan berisiko</a:t>
            </a:r>
            <a:endParaRPr lang="en-US" sz="880" dirty="0"/>
          </a:p>
        </p:txBody>
      </p:sp>
      <p:sp>
        <p:nvSpPr>
          <p:cNvPr id="20" name="kotak-53"/>
          <p:cNvSpPr txBox="1"/>
          <p:nvPr/>
        </p:nvSpPr>
        <p:spPr>
          <a:xfrm>
            <a:off x="6153912" y="1143000"/>
            <a:ext cx="2779776" cy="201168"/>
          </a:xfrm>
          <a:prstGeom prst="roundRect">
            <a:avLst>
              <a:gd name="adj" fmla="val 18182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PERTANYAAN</a:t>
            </a:r>
            <a:endParaRPr lang="en-US" sz="900" dirty="0"/>
          </a:p>
        </p:txBody>
      </p:sp>
      <p:sp>
        <p:nvSpPr>
          <p:cNvPr id="21" name="kotak-54"/>
          <p:cNvSpPr/>
          <p:nvPr/>
        </p:nvSpPr>
        <p:spPr>
          <a:xfrm>
            <a:off x="6153912" y="1344168"/>
            <a:ext cx="2779776" cy="713232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2B9FC8"/>
            </a:solidFill>
            <a:prstDash val="solid"/>
          </a:ln>
        </p:spPr>
      </p:sp>
      <p:sp>
        <p:nvSpPr>
          <p:cNvPr id="22" name="teks-55"/>
          <p:cNvSpPr txBox="1"/>
          <p:nvPr/>
        </p:nvSpPr>
        <p:spPr>
          <a:xfrm>
            <a:off x="6245352" y="1362456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ks-56"/>
          <p:cNvSpPr txBox="1"/>
          <p:nvPr/>
        </p:nvSpPr>
        <p:spPr>
          <a:xfrm>
            <a:off x="6245352" y="1645920"/>
            <a:ext cx="2596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PKS menangkap metana tanpa modal dan tanpa risiko kinerja, dengan biaya tidak melebihi kolam?</a:t>
            </a:r>
            <a:endParaRPr lang="en-US" sz="880" dirty="0"/>
          </a:p>
        </p:txBody>
      </p:sp>
      <p:sp>
        <p:nvSpPr>
          <p:cNvPr id="24" name="kotak-57"/>
          <p:cNvSpPr txBox="1"/>
          <p:nvPr/>
        </p:nvSpPr>
        <p:spPr>
          <a:xfrm>
            <a:off x="9025128" y="1143000"/>
            <a:ext cx="2779776" cy="201168"/>
          </a:xfrm>
          <a:prstGeom prst="roundRect">
            <a:avLst>
              <a:gd name="adj" fmla="val 18182"/>
            </a:avLst>
          </a:prstGeom>
          <a:solidFill>
            <a:srgbClr val="3E8E41"/>
          </a:solidFill>
          <a:ln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JAWABAN</a:t>
            </a:r>
            <a:endParaRPr lang="en-US" sz="900" dirty="0"/>
          </a:p>
        </p:txBody>
      </p:sp>
      <p:sp>
        <p:nvSpPr>
          <p:cNvPr id="25" name="kotak-58"/>
          <p:cNvSpPr/>
          <p:nvPr/>
        </p:nvSpPr>
        <p:spPr>
          <a:xfrm>
            <a:off x="9025128" y="1344168"/>
            <a:ext cx="2779776" cy="713232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3E8E41"/>
            </a:solidFill>
            <a:prstDash val="solid"/>
          </a:ln>
        </p:spPr>
      </p:sp>
      <p:sp>
        <p:nvSpPr>
          <p:cNvPr id="26" name="teks-59"/>
          <p:cNvSpPr txBox="1"/>
          <p:nvPr/>
        </p:nvSpPr>
        <p:spPr>
          <a:xfrm>
            <a:off x="9116568" y="1362456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8E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0 modal PKS</a:t>
            </a:r>
            <a:endParaRPr lang="en-US" sz="1400" dirty="0"/>
          </a:p>
        </p:txBody>
      </p:sp>
      <p:sp>
        <p:nvSpPr>
          <p:cNvPr id="27" name="teks-60"/>
          <p:cNvSpPr txBox="1"/>
          <p:nvPr/>
        </p:nvSpPr>
        <p:spPr>
          <a:xfrm>
            <a:off x="9116568" y="1645920"/>
            <a:ext cx="2596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Layanan BOO: set termofilik modular dibayar per t TBS dan per kWh (slide 3–7)</a:t>
            </a:r>
            <a:endParaRPr lang="en-US" sz="880" dirty="0"/>
          </a:p>
        </p:txBody>
      </p:sp>
      <p:sp>
        <p:nvSpPr>
          <p:cNvPr id="28" name="kotak-61"/>
          <p:cNvSpPr txBox="1"/>
          <p:nvPr/>
        </p:nvSpPr>
        <p:spPr>
          <a:xfrm>
            <a:off x="411480" y="2130552"/>
            <a:ext cx="2240280" cy="237744"/>
          </a:xfrm>
          <a:prstGeom prst="roundRect">
            <a:avLst>
              <a:gd name="adj" fmla="val 1538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Rumusan masalah</a:t>
            </a:r>
            <a:endParaRPr lang="en-US" sz="1000" dirty="0"/>
          </a:p>
        </p:txBody>
      </p:sp>
      <p:sp>
        <p:nvSpPr>
          <p:cNvPr id="29" name="kotak-62"/>
          <p:cNvSpPr txBox="1"/>
          <p:nvPr/>
        </p:nvSpPr>
        <p:spPr>
          <a:xfrm>
            <a:off x="2743200" y="2130552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Sub-masalah</a:t>
            </a:r>
            <a:endParaRPr lang="en-US" sz="1000" dirty="0"/>
          </a:p>
        </p:txBody>
      </p:sp>
      <p:sp>
        <p:nvSpPr>
          <p:cNvPr id="30" name="kotak-63"/>
          <p:cNvSpPr txBox="1"/>
          <p:nvPr/>
        </p:nvSpPr>
        <p:spPr>
          <a:xfrm>
            <a:off x="4846320" y="2130552"/>
            <a:ext cx="3657600" cy="237744"/>
          </a:xfrm>
          <a:prstGeom prst="roundRect">
            <a:avLst>
              <a:gd name="adj" fmla="val 15385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Akar masalah (terukur)</a:t>
            </a:r>
            <a:endParaRPr lang="en-US" sz="1000" dirty="0"/>
          </a:p>
        </p:txBody>
      </p:sp>
      <p:sp>
        <p:nvSpPr>
          <p:cNvPr id="31" name="kotak-64"/>
          <p:cNvSpPr txBox="1"/>
          <p:nvPr/>
        </p:nvSpPr>
        <p:spPr>
          <a:xfrm>
            <a:off x="8595360" y="2130552"/>
            <a:ext cx="3154680" cy="237744"/>
          </a:xfrm>
          <a:prstGeom prst="roundRect">
            <a:avLst>
              <a:gd name="adj" fmla="val 15385"/>
            </a:avLst>
          </a:prstGeom>
          <a:solidFill>
            <a:srgbClr val="3E8E41"/>
          </a:solidFill>
          <a:ln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Arah solusi</a:t>
            </a:r>
            <a:endParaRPr lang="en-US" sz="1000" dirty="0"/>
          </a:p>
        </p:txBody>
      </p:sp>
      <p:sp>
        <p:nvSpPr>
          <p:cNvPr id="32" name="kotak-65"/>
          <p:cNvSpPr txBox="1"/>
          <p:nvPr/>
        </p:nvSpPr>
        <p:spPr>
          <a:xfrm>
            <a:off x="411480" y="2404872"/>
            <a:ext cx="2240280" cy="1682496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9050"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PKS independen dapat menangkap metana POME tanpa modal dan tanpa menanggung risiko kinerja, dengan biaya tidak melebihi kolam?</a:t>
            </a:r>
            <a:endParaRPr lang="en-US" sz="1000" dirty="0"/>
          </a:p>
        </p:txBody>
      </p:sp>
      <p:sp>
        <p:nvSpPr>
          <p:cNvPr id="33" name="kotak-66"/>
          <p:cNvSpPr txBox="1"/>
          <p:nvPr/>
        </p:nvSpPr>
        <p:spPr>
          <a:xfrm>
            <a:off x="2743200" y="2404872"/>
            <a:ext cx="2011680" cy="393192"/>
          </a:xfrm>
          <a:prstGeom prst="roundRect">
            <a:avLst>
              <a:gd name="adj" fmla="val 9302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Teknologi</a:t>
            </a:r>
            <a:endParaRPr lang="en-US" sz="1000" dirty="0"/>
          </a:p>
        </p:txBody>
      </p:sp>
      <p:sp>
        <p:nvSpPr>
          <p:cNvPr id="34" name="kotak-67"/>
          <p:cNvSpPr txBox="1"/>
          <p:nvPr/>
        </p:nvSpPr>
        <p:spPr>
          <a:xfrm>
            <a:off x="4846320" y="2404872"/>
            <a:ext cx="365760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1F4E9E"/>
            </a:solidFill>
          </a:ln>
        </p:spPr>
        <p:txBody>
          <a:bodyPr wrap="square" lIns="12700" tIns="63500" rIns="63500" bIns="12700" rtlCol="0" anchor="ctr"/>
          <a:lstStyle/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Kolam terbuka: 100% CH₄ lepas, 33.457 tCO₂e/tahun per PKS 60 t/jam</a:t>
            </a:r>
            <a:endParaRPr lang="en-US" sz="850" dirty="0"/>
          </a:p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Reaktor konvensional: HRT 25–40 hari, lahan luas</a:t>
            </a:r>
            <a:endParaRPr lang="en-US" sz="850" dirty="0"/>
          </a:p>
        </p:txBody>
      </p:sp>
      <p:sp>
        <p:nvSpPr>
          <p:cNvPr id="35" name="kotak-68"/>
          <p:cNvSpPr txBox="1"/>
          <p:nvPr/>
        </p:nvSpPr>
        <p:spPr>
          <a:xfrm>
            <a:off x="8595360" y="2404872"/>
            <a:ext cx="3154680" cy="393192"/>
          </a:xfrm>
          <a:prstGeom prst="roundRect">
            <a:avLst>
              <a:gd name="adj" fmla="val 9302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12700" tIns="76200" rIns="76200" bIns="127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Reaktor kontak termofilik: HRT 5 hari, tangki GFS dibaut</a:t>
            </a:r>
            <a:endParaRPr lang="en-US" sz="900" dirty="0"/>
          </a:p>
        </p:txBody>
      </p:sp>
      <p:sp>
        <p:nvSpPr>
          <p:cNvPr id="36" name="garis-69"/>
          <p:cNvSpPr/>
          <p:nvPr/>
        </p:nvSpPr>
        <p:spPr>
          <a:xfrm flipV="1">
            <a:off x="2651760" y="2601468"/>
            <a:ext cx="91440" cy="644652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</a:ln>
        </p:spPr>
      </p:sp>
      <p:sp>
        <p:nvSpPr>
          <p:cNvPr id="37" name="garis-70"/>
          <p:cNvSpPr/>
          <p:nvPr/>
        </p:nvSpPr>
        <p:spPr>
          <a:xfrm>
            <a:off x="4754880" y="2601468"/>
            <a:ext cx="91440" cy="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38" name="garis-71"/>
          <p:cNvSpPr/>
          <p:nvPr/>
        </p:nvSpPr>
        <p:spPr>
          <a:xfrm>
            <a:off x="8503920" y="2601468"/>
            <a:ext cx="91440" cy="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39" name="kotak-72"/>
          <p:cNvSpPr txBox="1"/>
          <p:nvPr/>
        </p:nvSpPr>
        <p:spPr>
          <a:xfrm>
            <a:off x="2743200" y="2834640"/>
            <a:ext cx="2011680" cy="393192"/>
          </a:xfrm>
          <a:prstGeom prst="roundRect">
            <a:avLst>
              <a:gd name="adj" fmla="val 9302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Ekonomi</a:t>
            </a:r>
            <a:endParaRPr lang="en-US" sz="1000" dirty="0"/>
          </a:p>
        </p:txBody>
      </p:sp>
      <p:sp>
        <p:nvSpPr>
          <p:cNvPr id="40" name="kotak-73"/>
          <p:cNvSpPr txBox="1"/>
          <p:nvPr/>
        </p:nvSpPr>
        <p:spPr>
          <a:xfrm>
            <a:off x="4846320" y="2834640"/>
            <a:ext cx="365760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1F4E9E"/>
            </a:solidFill>
          </a:ln>
        </p:spPr>
        <p:txBody>
          <a:bodyPr wrap="square" lIns="12700" tIns="63500" rIns="63500" bIns="12700" rtlCol="0" anchor="ctr"/>
          <a:lstStyle/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USD 3,5–4,0 juta per set; kinerja tidak dijamin</a:t>
            </a:r>
            <a:endParaRPr lang="en-US" sz="850" dirty="0"/>
          </a:p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Pendapatan kecil: tarif 9,81 USc/kWh, karbon USD 3–5/t</a:t>
            </a:r>
            <a:endParaRPr lang="en-US" sz="850" dirty="0"/>
          </a:p>
        </p:txBody>
      </p:sp>
      <p:sp>
        <p:nvSpPr>
          <p:cNvPr id="41" name="kotak-74"/>
          <p:cNvSpPr txBox="1"/>
          <p:nvPr/>
        </p:nvSpPr>
        <p:spPr>
          <a:xfrm>
            <a:off x="8595360" y="2834640"/>
            <a:ext cx="3154680" cy="393192"/>
          </a:xfrm>
          <a:prstGeom prst="roundRect">
            <a:avLst>
              <a:gd name="adj" fmla="val 9302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12700" tIns="76200" rIns="76200" bIns="127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Layanan BOO: modal PKS nol; pendapatan jasa + listrik + karbon</a:t>
            </a:r>
            <a:endParaRPr lang="en-US" sz="900" dirty="0"/>
          </a:p>
        </p:txBody>
      </p:sp>
      <p:sp>
        <p:nvSpPr>
          <p:cNvPr id="42" name="garis-75"/>
          <p:cNvSpPr/>
          <p:nvPr/>
        </p:nvSpPr>
        <p:spPr>
          <a:xfrm flipV="1">
            <a:off x="2651760" y="3031236"/>
            <a:ext cx="91440" cy="214884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</a:ln>
        </p:spPr>
      </p:sp>
      <p:sp>
        <p:nvSpPr>
          <p:cNvPr id="43" name="garis-76"/>
          <p:cNvSpPr/>
          <p:nvPr/>
        </p:nvSpPr>
        <p:spPr>
          <a:xfrm>
            <a:off x="4754880" y="3031236"/>
            <a:ext cx="91440" cy="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44" name="garis-77"/>
          <p:cNvSpPr/>
          <p:nvPr/>
        </p:nvSpPr>
        <p:spPr>
          <a:xfrm>
            <a:off x="8503920" y="3031236"/>
            <a:ext cx="91440" cy="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45" name="kotak-78"/>
          <p:cNvSpPr txBox="1"/>
          <p:nvPr/>
        </p:nvSpPr>
        <p:spPr>
          <a:xfrm>
            <a:off x="2743200" y="3264408"/>
            <a:ext cx="2011680" cy="393192"/>
          </a:xfrm>
          <a:prstGeom prst="roundRect">
            <a:avLst>
              <a:gd name="adj" fmla="val 9302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Regulasi dan pasar</a:t>
            </a:r>
            <a:endParaRPr lang="en-US" sz="1000" dirty="0"/>
          </a:p>
        </p:txBody>
      </p:sp>
      <p:sp>
        <p:nvSpPr>
          <p:cNvPr id="46" name="kotak-79"/>
          <p:cNvSpPr txBox="1"/>
          <p:nvPr/>
        </p:nvSpPr>
        <p:spPr>
          <a:xfrm>
            <a:off x="4846320" y="3264408"/>
            <a:ext cx="365760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1F4E9E"/>
            </a:solidFill>
          </a:ln>
        </p:spPr>
        <p:txBody>
          <a:bodyPr wrap="square" lIns="12700" tIns="63500" rIns="63500" bIns="12700" rtlCol="0" anchor="ctr"/>
          <a:lstStyle/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Belum ada mandat penangkapan metana (ISPO bioenergi 2027)</a:t>
            </a:r>
            <a:endParaRPr lang="en-US" sz="850" dirty="0"/>
          </a:p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Izin jual listrik dan PJBL lambat</a:t>
            </a:r>
            <a:endParaRPr lang="en-US" sz="850" dirty="0"/>
          </a:p>
        </p:txBody>
      </p:sp>
      <p:sp>
        <p:nvSpPr>
          <p:cNvPr id="47" name="kotak-80"/>
          <p:cNvSpPr txBox="1"/>
          <p:nvPr/>
        </p:nvSpPr>
        <p:spPr>
          <a:xfrm>
            <a:off x="8595360" y="3264408"/>
            <a:ext cx="3154680" cy="393192"/>
          </a:xfrm>
          <a:prstGeom prst="roundRect">
            <a:avLst>
              <a:gd name="adj" fmla="val 9302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12700" tIns="76200" rIns="76200" bIns="127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Kontrak jasa energi; gerbang izin sebelum modal</a:t>
            </a:r>
            <a:endParaRPr lang="en-US" sz="900" dirty="0"/>
          </a:p>
        </p:txBody>
      </p:sp>
      <p:sp>
        <p:nvSpPr>
          <p:cNvPr id="48" name="garis-81"/>
          <p:cNvSpPr/>
          <p:nvPr/>
        </p:nvSpPr>
        <p:spPr>
          <a:xfrm>
            <a:off x="2651760" y="3246120"/>
            <a:ext cx="91440" cy="214884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</a:ln>
        </p:spPr>
      </p:sp>
      <p:sp>
        <p:nvSpPr>
          <p:cNvPr id="49" name="garis-82"/>
          <p:cNvSpPr/>
          <p:nvPr/>
        </p:nvSpPr>
        <p:spPr>
          <a:xfrm>
            <a:off x="4754880" y="3461004"/>
            <a:ext cx="91440" cy="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50" name="garis-83"/>
          <p:cNvSpPr/>
          <p:nvPr/>
        </p:nvSpPr>
        <p:spPr>
          <a:xfrm>
            <a:off x="8503920" y="3461004"/>
            <a:ext cx="91440" cy="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51" name="kotak-84"/>
          <p:cNvSpPr txBox="1"/>
          <p:nvPr/>
        </p:nvSpPr>
        <p:spPr>
          <a:xfrm>
            <a:off x="2743200" y="3694176"/>
            <a:ext cx="2011680" cy="393192"/>
          </a:xfrm>
          <a:prstGeom prst="roundRect">
            <a:avLst>
              <a:gd name="adj" fmla="val 9302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Organisasi</a:t>
            </a:r>
            <a:endParaRPr lang="en-US" sz="1000" dirty="0"/>
          </a:p>
        </p:txBody>
      </p:sp>
      <p:sp>
        <p:nvSpPr>
          <p:cNvPr id="52" name="kotak-85"/>
          <p:cNvSpPr txBox="1"/>
          <p:nvPr/>
        </p:nvSpPr>
        <p:spPr>
          <a:xfrm>
            <a:off x="4846320" y="3694176"/>
            <a:ext cx="365760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1F4E9E"/>
            </a:solidFill>
          </a:ln>
        </p:spPr>
        <p:txBody>
          <a:bodyPr wrap="square" lIns="12700" tIns="63500" rIns="63500" bIns="12700" rtlCol="0" anchor="ctr"/>
          <a:lstStyle/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PKS bukan operator biogas (±442 PKS tanpa kebun)</a:t>
            </a:r>
            <a:endParaRPr lang="en-US" sz="850" dirty="0"/>
          </a:p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dan POME tidak terukur per PKS</a:t>
            </a:r>
            <a:endParaRPr lang="en-US" sz="850" dirty="0"/>
          </a:p>
        </p:txBody>
      </p:sp>
      <p:sp>
        <p:nvSpPr>
          <p:cNvPr id="53" name="kotak-86"/>
          <p:cNvSpPr txBox="1"/>
          <p:nvPr/>
        </p:nvSpPr>
        <p:spPr>
          <a:xfrm>
            <a:off x="8595360" y="3694176"/>
            <a:ext cx="3154680" cy="393192"/>
          </a:xfrm>
          <a:prstGeom prst="roundRect">
            <a:avLst>
              <a:gd name="adj" fmla="val 9302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12700" tIns="76200" rIns="76200" bIns="127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menjamin kinerja; data solar diukur pada gerbang G0</a:t>
            </a:r>
            <a:endParaRPr lang="en-US" sz="900" dirty="0"/>
          </a:p>
        </p:txBody>
      </p:sp>
      <p:sp>
        <p:nvSpPr>
          <p:cNvPr id="54" name="garis-87"/>
          <p:cNvSpPr/>
          <p:nvPr/>
        </p:nvSpPr>
        <p:spPr>
          <a:xfrm>
            <a:off x="2651760" y="3246120"/>
            <a:ext cx="91440" cy="644652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</a:ln>
        </p:spPr>
      </p:sp>
      <p:sp>
        <p:nvSpPr>
          <p:cNvPr id="55" name="garis-88"/>
          <p:cNvSpPr/>
          <p:nvPr/>
        </p:nvSpPr>
        <p:spPr>
          <a:xfrm>
            <a:off x="4754880" y="3890772"/>
            <a:ext cx="91440" cy="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56" name="garis-89"/>
          <p:cNvSpPr/>
          <p:nvPr/>
        </p:nvSpPr>
        <p:spPr>
          <a:xfrm>
            <a:off x="8503920" y="3890772"/>
            <a:ext cx="91440" cy="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57" name="kotak-90"/>
          <p:cNvSpPr txBox="1"/>
          <p:nvPr/>
        </p:nvSpPr>
        <p:spPr>
          <a:xfrm>
            <a:off x="411480" y="4224528"/>
            <a:ext cx="5074920" cy="237744"/>
          </a:xfrm>
          <a:prstGeom prst="roundRect">
            <a:avLst>
              <a:gd name="adj" fmla="val 1538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Mengapa: dari gejala ke akar</a:t>
            </a:r>
            <a:endParaRPr lang="en-US" sz="1000" dirty="0"/>
          </a:p>
        </p:txBody>
      </p:sp>
      <p:sp>
        <p:nvSpPr>
          <p:cNvPr id="58" name="kotak-91"/>
          <p:cNvSpPr txBox="1"/>
          <p:nvPr/>
        </p:nvSpPr>
        <p:spPr>
          <a:xfrm>
            <a:off x="411480" y="4480560"/>
            <a:ext cx="256032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59" name="kotak-92"/>
          <p:cNvSpPr txBox="1"/>
          <p:nvPr/>
        </p:nvSpPr>
        <p:spPr>
          <a:xfrm>
            <a:off x="713232" y="4480560"/>
            <a:ext cx="4773168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BFD6E8"/>
            </a:solidFill>
          </a:ln>
        </p:spPr>
        <p:txBody>
          <a:bodyPr wrap="square" lIns="0" tIns="63500" rIns="6350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Metana POME tidak ditangkap → tidak ada reaktor biogas di PKS.</a:t>
            </a:r>
            <a:endParaRPr lang="en-US" sz="850" dirty="0"/>
          </a:p>
        </p:txBody>
      </p:sp>
      <p:sp>
        <p:nvSpPr>
          <p:cNvPr id="60" name="kotak-93"/>
          <p:cNvSpPr txBox="1"/>
          <p:nvPr/>
        </p:nvSpPr>
        <p:spPr>
          <a:xfrm>
            <a:off x="411480" y="4727448"/>
            <a:ext cx="256032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61" name="kotak-94"/>
          <p:cNvSpPr txBox="1"/>
          <p:nvPr/>
        </p:nvSpPr>
        <p:spPr>
          <a:xfrm>
            <a:off x="713232" y="4727448"/>
            <a:ext cx="4773168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BFD6E8"/>
            </a:solidFill>
          </a:ln>
        </p:spPr>
        <p:txBody>
          <a:bodyPr wrap="square" lIns="0" tIns="63500" rIns="6350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Mengapa? Modal USD 3,5–4,0 juta per set tidak sepadan dengan imbal hasil.</a:t>
            </a:r>
            <a:endParaRPr lang="en-US" sz="850" dirty="0"/>
          </a:p>
        </p:txBody>
      </p:sp>
      <p:sp>
        <p:nvSpPr>
          <p:cNvPr id="62" name="kotak-95"/>
          <p:cNvSpPr txBox="1"/>
          <p:nvPr/>
        </p:nvSpPr>
        <p:spPr>
          <a:xfrm>
            <a:off x="411480" y="4974336"/>
            <a:ext cx="256032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63" name="kotak-96"/>
          <p:cNvSpPr txBox="1"/>
          <p:nvPr/>
        </p:nvSpPr>
        <p:spPr>
          <a:xfrm>
            <a:off x="713232" y="4974336"/>
            <a:ext cx="4773168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BFD6E8"/>
            </a:solidFill>
          </a:ln>
        </p:spPr>
        <p:txBody>
          <a:bodyPr wrap="square" lIns="0" tIns="63500" rIns="6350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Mengapa? Pendapatan listrik dan karbon kecil, risiko kinerja ditanggung PKS.</a:t>
            </a:r>
            <a:endParaRPr lang="en-US" sz="850" dirty="0"/>
          </a:p>
        </p:txBody>
      </p:sp>
      <p:sp>
        <p:nvSpPr>
          <p:cNvPr id="64" name="kotak-97"/>
          <p:cNvSpPr txBox="1"/>
          <p:nvPr/>
        </p:nvSpPr>
        <p:spPr>
          <a:xfrm>
            <a:off x="411480" y="5221224"/>
            <a:ext cx="256032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65" name="kotak-98"/>
          <p:cNvSpPr txBox="1"/>
          <p:nvPr/>
        </p:nvSpPr>
        <p:spPr>
          <a:xfrm>
            <a:off x="713232" y="5221224"/>
            <a:ext cx="4773168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BFD6E8"/>
            </a:solidFill>
          </a:ln>
        </p:spPr>
        <p:txBody>
          <a:bodyPr wrap="square" lIns="0" tIns="63500" rIns="6350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Mengapa? PKS bukan operator biogas; tidak ada penjamin kinerja.</a:t>
            </a:r>
            <a:endParaRPr lang="en-US" sz="850" dirty="0"/>
          </a:p>
        </p:txBody>
      </p:sp>
      <p:sp>
        <p:nvSpPr>
          <p:cNvPr id="66" name="kotak-99"/>
          <p:cNvSpPr txBox="1"/>
          <p:nvPr/>
        </p:nvSpPr>
        <p:spPr>
          <a:xfrm>
            <a:off x="411480" y="5468112"/>
            <a:ext cx="256032" cy="219456"/>
          </a:xfrm>
          <a:prstGeom prst="roundRect">
            <a:avLst>
              <a:gd name="adj" fmla="val 16667"/>
            </a:avLst>
          </a:prstGeom>
          <a:solidFill>
            <a:srgbClr val="3E8E41"/>
          </a:solidFill>
          <a:ln>
            <a:solidFill>
              <a:srgbClr val="3E8E4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900" dirty="0"/>
          </a:p>
        </p:txBody>
      </p:sp>
      <p:sp>
        <p:nvSpPr>
          <p:cNvPr id="67" name="kotak-100"/>
          <p:cNvSpPr txBox="1"/>
          <p:nvPr/>
        </p:nvSpPr>
        <p:spPr>
          <a:xfrm>
            <a:off x="713232" y="5468112"/>
            <a:ext cx="4773168" cy="219456"/>
          </a:xfrm>
          <a:prstGeom prst="roundRect">
            <a:avLst>
              <a:gd name="adj" fmla="val 16667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0" tIns="63500" rIns="6350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Akar: teknologi dijual sebagai proyek sekali jadi, bukan layanan modular yang dijamin operator.</a:t>
            </a:r>
            <a:endParaRPr lang="en-US" sz="850" dirty="0"/>
          </a:p>
        </p:txBody>
      </p:sp>
      <p:sp>
        <p:nvSpPr>
          <p:cNvPr id="68" name="kotak-101"/>
          <p:cNvSpPr txBox="1"/>
          <p:nvPr/>
        </p:nvSpPr>
        <p:spPr>
          <a:xfrm>
            <a:off x="5623560" y="4224528"/>
            <a:ext cx="6172200" cy="237744"/>
          </a:xfrm>
          <a:prstGeom prst="roundRect">
            <a:avLst>
              <a:gd name="adj" fmla="val 1538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Pemilihan konsep: matriks keputusan berbobot (skor 1–5)</a:t>
            </a:r>
            <a:endParaRPr lang="en-US" sz="1000" dirty="0"/>
          </a:p>
        </p:txBody>
      </p:sp>
      <p:graphicFrame>
        <p:nvGraphicFramePr>
          <p:cNvPr id="3" name="tabel-1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23560" y="4480560"/>
          <a:ext cx="91440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84048"/>
                <a:gridCol w="384048"/>
                <a:gridCol w="384048"/>
                <a:gridCol w="384048"/>
                <a:gridCol w="384048"/>
                <a:gridCol w="384048"/>
                <a:gridCol w="384048"/>
                <a:gridCol w="411480"/>
                <a:gridCol w="603504"/>
              </a:tblGrid>
              <a:tr h="1737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Alternatif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K1 25%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K2 20%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K3 15%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K4 15%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K5 10%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K6 10%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K7 5%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Skor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peringkat 1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 Status quo kolam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5A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5A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 Lagun tertutup (milik PKS)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 CSTR mesofilik (milik PKS)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5A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 Biometana BOOT klaster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5A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 UASB/IC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  AnMBR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5A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  Kontak termofilik BOO (usulan)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5A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5A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5A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3,83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8E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0" name="teks-103"/>
          <p:cNvSpPr txBox="1"/>
          <p:nvPr/>
        </p:nvSpPr>
        <p:spPr>
          <a:xfrm>
            <a:off x="411480" y="5824728"/>
            <a:ext cx="11338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K1 biaya POME bagi PKS · K2 modal PKS · K3 risiko kinerja ditanggung PKS · K4 referensi di Indonesia · K5 lahan dan waktu bangun · K6 penangkapan metana · K7 dapat dipindah · % peringkat 1: dari 20.000 variasi bobot (G tetap peringkat 1 pada uji ±50% tiap bobot).</a:t>
            </a:r>
            <a:endParaRPr lang="en-US" sz="630" dirty="0"/>
          </a:p>
        </p:txBody>
      </p:sp>
      <p:sp>
        <p:nvSpPr>
          <p:cNvPr id="71" name="kotak-104"/>
          <p:cNvSpPr txBox="1"/>
          <p:nvPr/>
        </p:nvSpPr>
        <p:spPr>
          <a:xfrm>
            <a:off x="411480" y="594360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Rumusan masalah</a:t>
            </a:r>
            <a:endParaRPr lang="en-US" sz="1000" dirty="0"/>
          </a:p>
        </p:txBody>
      </p:sp>
      <p:sp>
        <p:nvSpPr>
          <p:cNvPr id="72" name="kotak-105"/>
          <p:cNvSpPr txBox="1"/>
          <p:nvPr/>
        </p:nvSpPr>
        <p:spPr>
          <a:xfrm>
            <a:off x="1828800" y="5943600"/>
            <a:ext cx="9966960" cy="347472"/>
          </a:xfrm>
          <a:prstGeom prst="roundRect">
            <a:avLst>
              <a:gd name="adj" fmla="val 13158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101600" rIns="1016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Rumusan terukur: turunkan emisi metana ≥ 90% (≈ 32 ribu tCO₂e/tahun per PKS 60 t TBS/jam) tanpa modal PKS, dengan biaya POME ≤ kolam (USD 3,14/t TBS) dan DSCR proyek ≥ 1,30.</a:t>
            </a:r>
            <a:endParaRPr lang="en-US" sz="950" dirty="0"/>
          </a:p>
        </p:txBody>
      </p:sp>
      <p:sp>
        <p:nvSpPr>
          <p:cNvPr id="73" name="teks-106"/>
          <p:cNvSpPr txBox="1"/>
          <p:nvPr/>
        </p:nvSpPr>
        <p:spPr>
          <a:xfrm>
            <a:off x="411480" y="6336792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Singkatan: PKS pabrik kelapa sawit; TBS tandan buah segar; BOO bangun-miliki-operasikan; BOOT bangun-miliki-operasikan-alihkan; HRT waktu tinggal hidraulik; PJBL perjanjian jual beli listrik; GFS baja berlapis kaca; DSCR rasio cakupan layanan utang.</a:t>
            </a:r>
            <a:endParaRPr lang="en-US" sz="560" dirty="0"/>
          </a:p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Trase/SEI-PCS 2024; IOP/ERL; GAPKI 2026; RTM Berita 2024; PASPI/BRIN; Perpres 16/2025 dan 112/2022; model tim (neraca proses Rev 2, Model Keputusan PKS); skor K2–K7 penilaian tim (research/R3, R6).</a:t>
            </a:r>
            <a:endParaRPr lang="en-US" sz="5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biogas termofilik 55 °C mengolah POME dalam 5 hari menjadi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 GWh listrik per tahun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dibayar sebagai layanan, dan dapat dibongkar-pasang</a:t>
            </a:r>
            <a:endParaRPr lang="en-US" sz="1900" dirty="0"/>
          </a:p>
        </p:txBody>
      </p:sp>
      <p:sp>
        <p:nvSpPr>
          <p:cNvPr id="3" name="kotak-107"/>
          <p:cNvSpPr txBox="1"/>
          <p:nvPr/>
        </p:nvSpPr>
        <p:spPr>
          <a:xfrm>
            <a:off x="41148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kotak-108"/>
          <p:cNvSpPr txBox="1"/>
          <p:nvPr/>
        </p:nvSpPr>
        <p:spPr>
          <a:xfrm>
            <a:off x="189280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C2464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800" dirty="0"/>
          </a:p>
        </p:txBody>
      </p:sp>
      <p:sp>
        <p:nvSpPr>
          <p:cNvPr id="5" name="kotak-109"/>
          <p:cNvSpPr txBox="1"/>
          <p:nvPr/>
        </p:nvSpPr>
        <p:spPr>
          <a:xfrm>
            <a:off x="3374136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</a:t>
            </a:r>
            <a:endParaRPr lang="en-US" sz="800" dirty="0"/>
          </a:p>
        </p:txBody>
      </p:sp>
      <p:sp>
        <p:nvSpPr>
          <p:cNvPr id="6" name="kotak-110"/>
          <p:cNvSpPr txBox="1"/>
          <p:nvPr/>
        </p:nvSpPr>
        <p:spPr>
          <a:xfrm>
            <a:off x="4855464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Keuangan</a:t>
            </a:r>
            <a:endParaRPr lang="en-US" sz="800" dirty="0"/>
          </a:p>
        </p:txBody>
      </p:sp>
      <p:sp>
        <p:nvSpPr>
          <p:cNvPr id="7" name="kotak-111"/>
          <p:cNvSpPr txBox="1"/>
          <p:nvPr/>
        </p:nvSpPr>
        <p:spPr>
          <a:xfrm>
            <a:off x="6336792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800" dirty="0"/>
          </a:p>
        </p:txBody>
      </p:sp>
      <p:sp>
        <p:nvSpPr>
          <p:cNvPr id="8" name="kotak-112"/>
          <p:cNvSpPr txBox="1"/>
          <p:nvPr/>
        </p:nvSpPr>
        <p:spPr>
          <a:xfrm>
            <a:off x="781812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800" dirty="0"/>
          </a:p>
        </p:txBody>
      </p:sp>
      <p:sp>
        <p:nvSpPr>
          <p:cNvPr id="9" name="kotak-113"/>
          <p:cNvSpPr txBox="1"/>
          <p:nvPr/>
        </p:nvSpPr>
        <p:spPr>
          <a:xfrm>
            <a:off x="929944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800" dirty="0"/>
          </a:p>
        </p:txBody>
      </p:sp>
      <p:sp>
        <p:nvSpPr>
          <p:cNvPr id="10" name="kotak-114"/>
          <p:cNvSpPr txBox="1"/>
          <p:nvPr/>
        </p:nvSpPr>
        <p:spPr>
          <a:xfrm>
            <a:off x="11338560" y="6583680"/>
            <a:ext cx="457200" cy="228600"/>
          </a:xfrm>
          <a:prstGeom prst="roundRect">
            <a:avLst>
              <a:gd name="adj" fmla="val 12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2" name="kotak-115"/>
          <p:cNvSpPr txBox="1"/>
          <p:nvPr/>
        </p:nvSpPr>
        <p:spPr>
          <a:xfrm>
            <a:off x="411480" y="1143000"/>
            <a:ext cx="5257800" cy="246888"/>
          </a:xfrm>
          <a:prstGeom prst="roundRect">
            <a:avLst>
              <a:gd name="adj" fmla="val 1481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Wujud produk (modul acuan 45 t TBS/jam)</a:t>
            </a:r>
            <a:endParaRPr lang="en-US" sz="1000" dirty="0"/>
          </a:p>
        </p:txBody>
      </p:sp>
      <p:pic>
        <p:nvPicPr>
          <p:cNvPr id="13" name="render-produk" descr="/home/user/aspebindo/cad/out/render/DIORAMA_produ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435608"/>
            <a:ext cx="5257800" cy="2377440"/>
          </a:xfrm>
          <a:prstGeom prst="rect">
            <a:avLst/>
          </a:prstGeom>
        </p:spPr>
      </p:pic>
      <p:sp>
        <p:nvSpPr>
          <p:cNvPr id="14" name="kotak-116"/>
          <p:cNvSpPr txBox="1"/>
          <p:nvPr/>
        </p:nvSpPr>
        <p:spPr>
          <a:xfrm>
            <a:off x="411480" y="3886200"/>
            <a:ext cx="5257800" cy="246888"/>
          </a:xfrm>
          <a:prstGeom prst="roundRect">
            <a:avLst>
              <a:gd name="adj" fmla="val 14815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Modular dan portabel</a:t>
            </a:r>
            <a:endParaRPr lang="en-US" sz="1000" dirty="0"/>
          </a:p>
        </p:txBody>
      </p:sp>
      <p:sp>
        <p:nvSpPr>
          <p:cNvPr id="15" name="kotak-117"/>
          <p:cNvSpPr/>
          <p:nvPr/>
        </p:nvSpPr>
        <p:spPr>
          <a:xfrm>
            <a:off x="411480" y="4187952"/>
            <a:ext cx="169164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2700">
            <a:solidFill>
              <a:srgbClr val="2B9FC8"/>
            </a:solidFill>
            <a:prstDash val="solid"/>
          </a:ln>
        </p:spPr>
      </p:sp>
      <p:sp>
        <p:nvSpPr>
          <p:cNvPr id="16" name="teks-118"/>
          <p:cNvSpPr txBox="1"/>
          <p:nvPr/>
        </p:nvSpPr>
        <p:spPr>
          <a:xfrm>
            <a:off x="484632" y="4233672"/>
            <a:ext cx="15453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500" dirty="0"/>
          </a:p>
        </p:txBody>
      </p:sp>
      <p:sp>
        <p:nvSpPr>
          <p:cNvPr id="17" name="teks-119"/>
          <p:cNvSpPr txBox="1"/>
          <p:nvPr/>
        </p:nvSpPr>
        <p:spPr>
          <a:xfrm>
            <a:off x="484632" y="4558833"/>
            <a:ext cx="1545336" cy="328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kontainer dan skid 40 ft per modul acuan</a:t>
            </a:r>
            <a:endParaRPr lang="en-US" sz="800" dirty="0"/>
          </a:p>
        </p:txBody>
      </p:sp>
      <p:sp>
        <p:nvSpPr>
          <p:cNvPr id="18" name="kotak-120"/>
          <p:cNvSpPr/>
          <p:nvPr/>
        </p:nvSpPr>
        <p:spPr>
          <a:xfrm>
            <a:off x="2194560" y="4187952"/>
            <a:ext cx="169164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2700">
            <a:solidFill>
              <a:srgbClr val="2B9FC8"/>
            </a:solidFill>
            <a:prstDash val="solid"/>
          </a:ln>
        </p:spPr>
      </p:sp>
      <p:sp>
        <p:nvSpPr>
          <p:cNvPr id="19" name="teks-121"/>
          <p:cNvSpPr txBox="1"/>
          <p:nvPr/>
        </p:nvSpPr>
        <p:spPr>
          <a:xfrm>
            <a:off x="2267712" y="4233672"/>
            <a:ext cx="15453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980 m³</a:t>
            </a:r>
            <a:endParaRPr lang="en-US" sz="1500" dirty="0"/>
          </a:p>
        </p:txBody>
      </p:sp>
      <p:sp>
        <p:nvSpPr>
          <p:cNvPr id="20" name="teks-122"/>
          <p:cNvSpPr txBox="1"/>
          <p:nvPr/>
        </p:nvSpPr>
        <p:spPr>
          <a:xfrm>
            <a:off x="2267712" y="4558833"/>
            <a:ext cx="1545336" cy="328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tangki GFS dibaut identik; 2, 3, atau 4 per set</a:t>
            </a:r>
            <a:endParaRPr lang="en-US" sz="800" dirty="0"/>
          </a:p>
        </p:txBody>
      </p:sp>
      <p:sp>
        <p:nvSpPr>
          <p:cNvPr id="21" name="kotak-123"/>
          <p:cNvSpPr/>
          <p:nvPr/>
        </p:nvSpPr>
        <p:spPr>
          <a:xfrm>
            <a:off x="3977640" y="4187952"/>
            <a:ext cx="169164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2700">
            <a:solidFill>
              <a:srgbClr val="2B9FC8"/>
            </a:solidFill>
            <a:prstDash val="solid"/>
          </a:ln>
        </p:spPr>
      </p:sp>
      <p:sp>
        <p:nvSpPr>
          <p:cNvPr id="22" name="teks-124"/>
          <p:cNvSpPr txBox="1"/>
          <p:nvPr/>
        </p:nvSpPr>
        <p:spPr>
          <a:xfrm>
            <a:off x="4050792" y="4233672"/>
            <a:ext cx="15453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±6 bulan</a:t>
            </a:r>
            <a:endParaRPr lang="en-US" sz="1500" dirty="0"/>
          </a:p>
        </p:txBody>
      </p:sp>
      <p:sp>
        <p:nvSpPr>
          <p:cNvPr id="23" name="teks-125"/>
          <p:cNvSpPr txBox="1"/>
          <p:nvPr/>
        </p:nvSpPr>
        <p:spPr>
          <a:xfrm>
            <a:off x="4050792" y="4558833"/>
            <a:ext cx="1545336" cy="328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bongkar-pasang antar-PKS, biaya 15% FCI</a:t>
            </a:r>
            <a:endParaRPr lang="en-US" sz="800" dirty="0"/>
          </a:p>
        </p:txBody>
      </p:sp>
      <p:graphicFrame>
        <p:nvGraphicFramePr>
          <p:cNvPr id="4" name="tabel-1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5001768"/>
          <a:ext cx="91440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02920"/>
                <a:gridCol w="731520"/>
                <a:gridCol w="868680"/>
                <a:gridCol w="594360"/>
                <a:gridCol w="77724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PKS (t TBS/jam)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Tangki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Genset (kWe)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Biogas (Nm³/hari)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Neto (kW)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FCI (USD juta)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NPV (USD juta)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400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7.891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84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−1,12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 (acuan)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600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11.836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84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(komersial)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800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E8E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kotak-127"/>
          <p:cNvSpPr txBox="1"/>
          <p:nvPr/>
        </p:nvSpPr>
        <p:spPr>
          <a:xfrm>
            <a:off x="5852160" y="1143000"/>
            <a:ext cx="5943600" cy="246888"/>
          </a:xfrm>
          <a:prstGeom prst="roundRect">
            <a:avLst>
              <a:gd name="adj" fmla="val 1481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 kerja, dari POME sampai listrik (set 60 t TBS/jam)</a:t>
            </a:r>
            <a:endParaRPr lang="en-US" sz="1000" dirty="0"/>
          </a:p>
        </p:txBody>
      </p:sp>
      <p:sp>
        <p:nvSpPr>
          <p:cNvPr id="26" name="teks-128"/>
          <p:cNvSpPr txBox="1"/>
          <p:nvPr/>
        </p:nvSpPr>
        <p:spPr>
          <a:xfrm>
            <a:off x="5852160" y="143560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F4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Pengolahan POME</a:t>
            </a:r>
            <a:endParaRPr lang="en-US" sz="900" dirty="0"/>
          </a:p>
        </p:txBody>
      </p:sp>
      <p:sp>
        <p:nvSpPr>
          <p:cNvPr id="27" name="kotak-129"/>
          <p:cNvSpPr txBox="1"/>
          <p:nvPr/>
        </p:nvSpPr>
        <p:spPr>
          <a:xfrm>
            <a:off x="5852160" y="1783080"/>
            <a:ext cx="1389888" cy="786384"/>
          </a:xfrm>
          <a:prstGeom prst="roundRect">
            <a:avLst>
              <a:gd name="adj" fmla="val 697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38100" tIns="63500" rIns="635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Penerimaan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780 m³ POME/hari, 85 °C, dari fat pit</a:t>
            </a:r>
            <a:endParaRPr lang="en-US" sz="900" dirty="0"/>
          </a:p>
        </p:txBody>
      </p:sp>
      <p:sp>
        <p:nvSpPr>
          <p:cNvPr id="28" name="garis-130"/>
          <p:cNvSpPr/>
          <p:nvPr/>
        </p:nvSpPr>
        <p:spPr>
          <a:xfrm>
            <a:off x="7242048" y="2176272"/>
            <a:ext cx="128016" cy="0"/>
          </a:xfrm>
          <a:prstGeom prst="line">
            <a:avLst/>
          </a:prstGeom>
          <a:noFill/>
          <a:ln w="22225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29" name="kotak-131"/>
          <p:cNvSpPr txBox="1"/>
          <p:nvPr/>
        </p:nvSpPr>
        <p:spPr>
          <a:xfrm>
            <a:off x="7370064" y="1783080"/>
            <a:ext cx="1389888" cy="786384"/>
          </a:xfrm>
          <a:prstGeom prst="roundRect">
            <a:avLst>
              <a:gd name="adj" fmla="val 697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38100" tIns="63500" rIns="635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Praolah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saringan, ruang pasir, pendingin ke 55 °C</a:t>
            </a:r>
            <a:endParaRPr lang="en-US" sz="900" dirty="0"/>
          </a:p>
        </p:txBody>
      </p:sp>
      <p:sp>
        <p:nvSpPr>
          <p:cNvPr id="30" name="garis-132"/>
          <p:cNvSpPr/>
          <p:nvPr/>
        </p:nvSpPr>
        <p:spPr>
          <a:xfrm>
            <a:off x="8759952" y="2176272"/>
            <a:ext cx="128016" cy="0"/>
          </a:xfrm>
          <a:prstGeom prst="line">
            <a:avLst/>
          </a:prstGeom>
          <a:noFill/>
          <a:ln w="22225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31" name="kotak-133"/>
          <p:cNvSpPr txBox="1"/>
          <p:nvPr/>
        </p:nvSpPr>
        <p:spPr>
          <a:xfrm>
            <a:off x="8887968" y="1783080"/>
            <a:ext cx="1389888" cy="786384"/>
          </a:xfrm>
          <a:prstGeom prst="roundRect">
            <a:avLst>
              <a:gd name="adj" fmla="val 6977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38100" tIns="63500" rIns="635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Reaktor kontak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tangki GFS, 55 °C, HRT 5 hari</a:t>
            </a:r>
            <a:endParaRPr lang="en-US" sz="900" dirty="0"/>
          </a:p>
        </p:txBody>
      </p:sp>
      <p:sp>
        <p:nvSpPr>
          <p:cNvPr id="32" name="garis-134"/>
          <p:cNvSpPr/>
          <p:nvPr/>
        </p:nvSpPr>
        <p:spPr>
          <a:xfrm>
            <a:off x="10277856" y="2176272"/>
            <a:ext cx="128016" cy="0"/>
          </a:xfrm>
          <a:prstGeom prst="line">
            <a:avLst/>
          </a:prstGeom>
          <a:noFill/>
          <a:ln w="22225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33" name="kotak-135"/>
          <p:cNvSpPr txBox="1"/>
          <p:nvPr/>
        </p:nvSpPr>
        <p:spPr>
          <a:xfrm>
            <a:off x="10405872" y="1783080"/>
            <a:ext cx="1389888" cy="786384"/>
          </a:xfrm>
          <a:prstGeom prst="roundRect">
            <a:avLst>
              <a:gd name="adj" fmla="val 697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38100" tIns="63500" rIns="635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Degasser + settler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lumpur kembali ke reaktor (SRT 12 hari)</a:t>
            </a:r>
            <a:endParaRPr lang="en-US" sz="900" dirty="0"/>
          </a:p>
        </p:txBody>
      </p:sp>
      <p:sp>
        <p:nvSpPr>
          <p:cNvPr id="34" name="garis-136"/>
          <p:cNvSpPr/>
          <p:nvPr/>
        </p:nvSpPr>
        <p:spPr>
          <a:xfrm>
            <a:off x="11100816" y="1655064"/>
            <a:ext cx="0" cy="128016"/>
          </a:xfrm>
          <a:prstGeom prst="line">
            <a:avLst/>
          </a:prstGeom>
          <a:noFill/>
          <a:ln w="19050">
            <a:solidFill>
              <a:srgbClr val="3E8E41"/>
            </a:solidFill>
            <a:prstDash val="solid"/>
          </a:ln>
        </p:spPr>
      </p:sp>
      <p:sp>
        <p:nvSpPr>
          <p:cNvPr id="35" name="garis-137"/>
          <p:cNvSpPr/>
          <p:nvPr/>
        </p:nvSpPr>
        <p:spPr>
          <a:xfrm>
            <a:off x="9582912" y="1655064"/>
            <a:ext cx="1517904" cy="0"/>
          </a:xfrm>
          <a:prstGeom prst="line">
            <a:avLst/>
          </a:prstGeom>
          <a:noFill/>
          <a:ln w="19050">
            <a:solidFill>
              <a:srgbClr val="3E8E41"/>
            </a:solidFill>
            <a:prstDash val="solid"/>
          </a:ln>
        </p:spPr>
      </p:sp>
      <p:sp>
        <p:nvSpPr>
          <p:cNvPr id="36" name="garis-138"/>
          <p:cNvSpPr/>
          <p:nvPr/>
        </p:nvSpPr>
        <p:spPr>
          <a:xfrm>
            <a:off x="9582912" y="1655064"/>
            <a:ext cx="0" cy="128016"/>
          </a:xfrm>
          <a:prstGeom prst="line">
            <a:avLst/>
          </a:prstGeom>
          <a:noFill/>
          <a:ln w="19050">
            <a:solidFill>
              <a:srgbClr val="3E8E41"/>
            </a:solidFill>
            <a:prstDash val="solid"/>
            <a:tailEnd type="triangle"/>
          </a:ln>
        </p:spPr>
      </p:sp>
      <p:sp>
        <p:nvSpPr>
          <p:cNvPr id="37" name="teks-139"/>
          <p:cNvSpPr txBox="1"/>
          <p:nvPr/>
        </p:nvSpPr>
        <p:spPr>
          <a:xfrm>
            <a:off x="9674352" y="1490472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resirkulasi 780 m³/hari</a:t>
            </a:r>
            <a:endParaRPr lang="en-US" sz="800" dirty="0"/>
          </a:p>
        </p:txBody>
      </p:sp>
      <p:sp>
        <p:nvSpPr>
          <p:cNvPr id="38" name="garis-140"/>
          <p:cNvSpPr/>
          <p:nvPr/>
        </p:nvSpPr>
        <p:spPr>
          <a:xfrm>
            <a:off x="8065008" y="2569464"/>
            <a:ext cx="0" cy="201168"/>
          </a:xfrm>
          <a:prstGeom prst="line">
            <a:avLst/>
          </a:prstGeom>
          <a:noFill/>
          <a:ln w="1587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39" name="teks-141"/>
          <p:cNvSpPr txBox="1"/>
          <p:nvPr/>
        </p:nvSpPr>
        <p:spPr>
          <a:xfrm>
            <a:off x="7333488" y="2788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 saringan dan pasir ke PKS</a:t>
            </a:r>
            <a:endParaRPr lang="en-US" sz="800" dirty="0"/>
          </a:p>
        </p:txBody>
      </p:sp>
      <p:sp>
        <p:nvSpPr>
          <p:cNvPr id="40" name="garis-142"/>
          <p:cNvSpPr/>
          <p:nvPr/>
        </p:nvSpPr>
        <p:spPr>
          <a:xfrm>
            <a:off x="11100816" y="2569464"/>
            <a:ext cx="0" cy="201168"/>
          </a:xfrm>
          <a:prstGeom prst="line">
            <a:avLst/>
          </a:prstGeom>
          <a:noFill/>
          <a:ln w="19050">
            <a:solidFill>
              <a:srgbClr val="2B9FC8"/>
            </a:solidFill>
            <a:prstDash val="solid"/>
            <a:tailEnd type="triangle"/>
          </a:ln>
        </p:spPr>
      </p:sp>
      <p:sp>
        <p:nvSpPr>
          <p:cNvPr id="41" name="teks-143"/>
          <p:cNvSpPr txBox="1"/>
          <p:nvPr/>
        </p:nvSpPr>
        <p:spPr>
          <a:xfrm>
            <a:off x="10387584" y="2788920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efluen 725 m³/hari ke kolam polishing</a:t>
            </a:r>
            <a:endParaRPr lang="en-US" sz="800" dirty="0"/>
          </a:p>
        </p:txBody>
      </p:sp>
      <p:sp>
        <p:nvSpPr>
          <p:cNvPr id="42" name="teks-144"/>
          <p:cNvSpPr txBox="1"/>
          <p:nvPr/>
        </p:nvSpPr>
        <p:spPr>
          <a:xfrm>
            <a:off x="5852160" y="2999232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A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Biogas menjadi listrik</a:t>
            </a:r>
            <a:endParaRPr lang="en-US" sz="900" dirty="0"/>
          </a:p>
        </p:txBody>
      </p:sp>
      <p:sp>
        <p:nvSpPr>
          <p:cNvPr id="43" name="garis-145"/>
          <p:cNvSpPr/>
          <p:nvPr/>
        </p:nvSpPr>
        <p:spPr>
          <a:xfrm>
            <a:off x="9582912" y="2569464"/>
            <a:ext cx="0" cy="594360"/>
          </a:xfrm>
          <a:prstGeom prst="line">
            <a:avLst/>
          </a:prstGeom>
          <a:noFill/>
          <a:ln w="28575">
            <a:solidFill>
              <a:srgbClr val="E0A526"/>
            </a:solidFill>
            <a:prstDash val="solid"/>
          </a:ln>
        </p:spPr>
      </p:sp>
      <p:sp>
        <p:nvSpPr>
          <p:cNvPr id="44" name="garis-146"/>
          <p:cNvSpPr/>
          <p:nvPr/>
        </p:nvSpPr>
        <p:spPr>
          <a:xfrm>
            <a:off x="6547104" y="3163824"/>
            <a:ext cx="3035808" cy="0"/>
          </a:xfrm>
          <a:prstGeom prst="line">
            <a:avLst/>
          </a:prstGeom>
          <a:noFill/>
          <a:ln w="28575">
            <a:solidFill>
              <a:srgbClr val="E0A526"/>
            </a:solidFill>
            <a:prstDash val="solid"/>
          </a:ln>
        </p:spPr>
      </p:sp>
      <p:sp>
        <p:nvSpPr>
          <p:cNvPr id="45" name="garis-147"/>
          <p:cNvSpPr/>
          <p:nvPr/>
        </p:nvSpPr>
        <p:spPr>
          <a:xfrm>
            <a:off x="6547104" y="3163824"/>
            <a:ext cx="0" cy="146304"/>
          </a:xfrm>
          <a:prstGeom prst="line">
            <a:avLst/>
          </a:prstGeom>
          <a:noFill/>
          <a:ln w="28575">
            <a:solidFill>
              <a:srgbClr val="E0A526"/>
            </a:solidFill>
            <a:prstDash val="solid"/>
            <a:tailEnd type="triangle"/>
          </a:ln>
        </p:spPr>
      </p:sp>
      <p:sp>
        <p:nvSpPr>
          <p:cNvPr id="46" name="teks-148"/>
          <p:cNvSpPr txBox="1"/>
          <p:nvPr/>
        </p:nvSpPr>
        <p:spPr>
          <a:xfrm>
            <a:off x="7644384" y="2999232"/>
            <a:ext cx="2377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9A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15.781 Nm³ biogas/hari (CH₄ 58%)</a:t>
            </a:r>
            <a:endParaRPr lang="en-US" sz="800" dirty="0"/>
          </a:p>
        </p:txBody>
      </p:sp>
      <p:sp>
        <p:nvSpPr>
          <p:cNvPr id="47" name="kotak-149"/>
          <p:cNvSpPr txBox="1"/>
          <p:nvPr/>
        </p:nvSpPr>
        <p:spPr>
          <a:xfrm>
            <a:off x="5852160" y="3310128"/>
            <a:ext cx="1389888" cy="786384"/>
          </a:xfrm>
          <a:prstGeom prst="roundRect">
            <a:avLst>
              <a:gd name="adj" fmla="val 6977"/>
            </a:avLst>
          </a:prstGeom>
          <a:solidFill>
            <a:srgbClr val="FFF3CF"/>
          </a:solidFill>
          <a:ln w="15875">
            <a:solidFill>
              <a:srgbClr val="E0A526"/>
            </a:solidFill>
          </a:ln>
        </p:spPr>
        <p:txBody>
          <a:bodyPr wrap="square" lIns="38100" tIns="63500" rIns="635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Pemurnian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 2.868 → 21 ppm (bio-scrubber, karbon aktif)</a:t>
            </a:r>
            <a:endParaRPr lang="en-US" sz="900" dirty="0"/>
          </a:p>
        </p:txBody>
      </p:sp>
      <p:sp>
        <p:nvSpPr>
          <p:cNvPr id="48" name="garis-150"/>
          <p:cNvSpPr/>
          <p:nvPr/>
        </p:nvSpPr>
        <p:spPr>
          <a:xfrm>
            <a:off x="7242048" y="3703320"/>
            <a:ext cx="128016" cy="0"/>
          </a:xfrm>
          <a:prstGeom prst="line">
            <a:avLst/>
          </a:prstGeom>
          <a:noFill/>
          <a:ln w="22225">
            <a:solidFill>
              <a:srgbClr val="9A6A00"/>
            </a:solidFill>
            <a:prstDash val="solid"/>
            <a:tailEnd type="triangle"/>
          </a:ln>
        </p:spPr>
      </p:sp>
      <p:sp>
        <p:nvSpPr>
          <p:cNvPr id="49" name="kotak-151"/>
          <p:cNvSpPr txBox="1"/>
          <p:nvPr/>
        </p:nvSpPr>
        <p:spPr>
          <a:xfrm>
            <a:off x="7370064" y="3310128"/>
            <a:ext cx="1389888" cy="786384"/>
          </a:xfrm>
          <a:prstGeom prst="roundRect">
            <a:avLst>
              <a:gd name="adj" fmla="val 6977"/>
            </a:avLst>
          </a:prstGeom>
          <a:solidFill>
            <a:srgbClr val="FFF3CF"/>
          </a:solidFill>
          <a:ln w="15875">
            <a:solidFill>
              <a:srgbClr val="E0A526"/>
            </a:solidFill>
          </a:ln>
        </p:spPr>
        <p:txBody>
          <a:bodyPr wrap="square" lIns="38100" tIns="63500" rIns="635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Penampung gas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membran ganda 2 jam; flare tertutup</a:t>
            </a:r>
            <a:endParaRPr lang="en-US" sz="900" dirty="0"/>
          </a:p>
        </p:txBody>
      </p:sp>
      <p:sp>
        <p:nvSpPr>
          <p:cNvPr id="50" name="garis-152"/>
          <p:cNvSpPr/>
          <p:nvPr/>
        </p:nvSpPr>
        <p:spPr>
          <a:xfrm>
            <a:off x="8759952" y="3703320"/>
            <a:ext cx="128016" cy="0"/>
          </a:xfrm>
          <a:prstGeom prst="line">
            <a:avLst/>
          </a:prstGeom>
          <a:noFill/>
          <a:ln w="22225">
            <a:solidFill>
              <a:srgbClr val="9A6A00"/>
            </a:solidFill>
            <a:prstDash val="solid"/>
            <a:tailEnd type="triangle"/>
          </a:ln>
        </p:spPr>
      </p:sp>
      <p:sp>
        <p:nvSpPr>
          <p:cNvPr id="51" name="kotak-153"/>
          <p:cNvSpPr txBox="1"/>
          <p:nvPr/>
        </p:nvSpPr>
        <p:spPr>
          <a:xfrm>
            <a:off x="8887968" y="3310128"/>
            <a:ext cx="1389888" cy="786384"/>
          </a:xfrm>
          <a:prstGeom prst="roundRect">
            <a:avLst>
              <a:gd name="adj" fmla="val 6977"/>
            </a:avLst>
          </a:prstGeom>
          <a:solidFill>
            <a:srgbClr val="FFF3CF"/>
          </a:solidFill>
          <a:ln w="15875">
            <a:solidFill>
              <a:srgbClr val="E0A526"/>
            </a:solidFill>
          </a:ln>
        </p:spPr>
        <p:txBody>
          <a:bodyPr wrap="square" lIns="38100" tIns="63500" rIns="635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Genset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× 800 kWe, efisiensi listrik 39,3%</a:t>
            </a:r>
            <a:endParaRPr lang="en-US" sz="900" dirty="0"/>
          </a:p>
        </p:txBody>
      </p:sp>
      <p:sp>
        <p:nvSpPr>
          <p:cNvPr id="52" name="garis-154"/>
          <p:cNvSpPr/>
          <p:nvPr/>
        </p:nvSpPr>
        <p:spPr>
          <a:xfrm>
            <a:off x="10277856" y="3703320"/>
            <a:ext cx="128016" cy="0"/>
          </a:xfrm>
          <a:prstGeom prst="line">
            <a:avLst/>
          </a:prstGeom>
          <a:noFill/>
          <a:ln w="22225">
            <a:solidFill>
              <a:srgbClr val="9A6A00"/>
            </a:solidFill>
            <a:prstDash val="solid"/>
            <a:tailEnd type="triangle"/>
          </a:ln>
        </p:spPr>
      </p:sp>
      <p:sp>
        <p:nvSpPr>
          <p:cNvPr id="53" name="kotak-155"/>
          <p:cNvSpPr txBox="1"/>
          <p:nvPr/>
        </p:nvSpPr>
        <p:spPr>
          <a:xfrm>
            <a:off x="10405872" y="3310128"/>
            <a:ext cx="1389888" cy="786384"/>
          </a:xfrm>
          <a:prstGeom prst="roundRect">
            <a:avLst>
              <a:gd name="adj" fmla="val 6977"/>
            </a:avLst>
          </a:prstGeom>
          <a:solidFill>
            <a:srgbClr val="FFF3CF"/>
          </a:solidFill>
          <a:ln w="15875">
            <a:solidFill>
              <a:srgbClr val="E0A526"/>
            </a:solidFill>
          </a:ln>
        </p:spPr>
        <p:txBody>
          <a:bodyPr wrap="square" lIns="38100" tIns="63500" rIns="635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Listrik dan panas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kV ke PKS dan PLN; panas ke reaktor</a:t>
            </a:r>
            <a:endParaRPr lang="en-US" sz="900" dirty="0"/>
          </a:p>
        </p:txBody>
      </p:sp>
      <p:sp>
        <p:nvSpPr>
          <p:cNvPr id="54" name="garis-156"/>
          <p:cNvSpPr/>
          <p:nvPr/>
        </p:nvSpPr>
        <p:spPr>
          <a:xfrm>
            <a:off x="11100816" y="4096512"/>
            <a:ext cx="0" cy="246888"/>
          </a:xfrm>
          <a:prstGeom prst="line">
            <a:avLst/>
          </a:prstGeom>
          <a:noFill/>
          <a:ln w="15875">
            <a:solidFill>
              <a:srgbClr val="0C2464"/>
            </a:solidFill>
            <a:prstDash val="solid"/>
          </a:ln>
        </p:spPr>
      </p:sp>
      <p:sp>
        <p:nvSpPr>
          <p:cNvPr id="55" name="garis-157"/>
          <p:cNvSpPr/>
          <p:nvPr/>
        </p:nvSpPr>
        <p:spPr>
          <a:xfrm>
            <a:off x="6560820" y="4343400"/>
            <a:ext cx="4539996" cy="0"/>
          </a:xfrm>
          <a:prstGeom prst="line">
            <a:avLst/>
          </a:prstGeom>
          <a:noFill/>
          <a:ln w="15875">
            <a:solidFill>
              <a:srgbClr val="0C2464"/>
            </a:solidFill>
            <a:prstDash val="solid"/>
          </a:ln>
        </p:spPr>
      </p:sp>
      <p:sp>
        <p:nvSpPr>
          <p:cNvPr id="56" name="garis-158"/>
          <p:cNvSpPr/>
          <p:nvPr/>
        </p:nvSpPr>
        <p:spPr>
          <a:xfrm>
            <a:off x="6560820" y="4343400"/>
            <a:ext cx="0" cy="91440"/>
          </a:xfrm>
          <a:prstGeom prst="line">
            <a:avLst/>
          </a:prstGeom>
          <a:noFill/>
          <a:ln w="15875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57" name="kotak-159"/>
          <p:cNvSpPr txBox="1"/>
          <p:nvPr/>
        </p:nvSpPr>
        <p:spPr>
          <a:xfrm>
            <a:off x="5852160" y="4434840"/>
            <a:ext cx="1417320" cy="502920"/>
          </a:xfrm>
          <a:prstGeom prst="roundRect">
            <a:avLst>
              <a:gd name="adj" fmla="val 9091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Listrik ke PKS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1,55 GWh/tahun, menggantikan solar</a:t>
            </a:r>
            <a:endParaRPr lang="en-US" sz="900" dirty="0"/>
          </a:p>
        </p:txBody>
      </p:sp>
      <p:sp>
        <p:nvSpPr>
          <p:cNvPr id="58" name="garis-160"/>
          <p:cNvSpPr/>
          <p:nvPr/>
        </p:nvSpPr>
        <p:spPr>
          <a:xfrm>
            <a:off x="8069580" y="4343400"/>
            <a:ext cx="0" cy="91440"/>
          </a:xfrm>
          <a:prstGeom prst="line">
            <a:avLst/>
          </a:prstGeom>
          <a:noFill/>
          <a:ln w="15875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59" name="kotak-161"/>
          <p:cNvSpPr txBox="1"/>
          <p:nvPr/>
        </p:nvSpPr>
        <p:spPr>
          <a:xfrm>
            <a:off x="7360920" y="4434840"/>
            <a:ext cx="1417320" cy="502920"/>
          </a:xfrm>
          <a:prstGeom prst="roundRect">
            <a:avLst>
              <a:gd name="adj" fmla="val 9091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Ekspor ke PLN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5,00 GWh/tahun, 9,81 USc/kWh</a:t>
            </a:r>
            <a:endParaRPr lang="en-US" sz="900" dirty="0"/>
          </a:p>
        </p:txBody>
      </p:sp>
      <p:sp>
        <p:nvSpPr>
          <p:cNvPr id="60" name="garis-162"/>
          <p:cNvSpPr/>
          <p:nvPr/>
        </p:nvSpPr>
        <p:spPr>
          <a:xfrm>
            <a:off x="9578340" y="4343400"/>
            <a:ext cx="0" cy="91440"/>
          </a:xfrm>
          <a:prstGeom prst="line">
            <a:avLst/>
          </a:prstGeom>
          <a:noFill/>
          <a:ln w="15875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61" name="kotak-163"/>
          <p:cNvSpPr txBox="1"/>
          <p:nvPr/>
        </p:nvSpPr>
        <p:spPr>
          <a:xfrm>
            <a:off x="8869680" y="4434840"/>
            <a:ext cx="1417320" cy="502920"/>
          </a:xfrm>
          <a:prstGeom prst="roundRect">
            <a:avLst>
              <a:gd name="adj" fmla="val 9091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Kredit karbon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30 ribu tCO₂e/tahun</a:t>
            </a:r>
            <a:endParaRPr lang="en-US" sz="900" dirty="0"/>
          </a:p>
        </p:txBody>
      </p:sp>
      <p:sp>
        <p:nvSpPr>
          <p:cNvPr id="62" name="garis-164"/>
          <p:cNvSpPr/>
          <p:nvPr/>
        </p:nvSpPr>
        <p:spPr>
          <a:xfrm>
            <a:off x="11087100" y="4343400"/>
            <a:ext cx="0" cy="91440"/>
          </a:xfrm>
          <a:prstGeom prst="line">
            <a:avLst/>
          </a:prstGeom>
          <a:noFill/>
          <a:ln w="15875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63" name="kotak-165"/>
          <p:cNvSpPr txBox="1"/>
          <p:nvPr/>
        </p:nvSpPr>
        <p:spPr>
          <a:xfrm>
            <a:off x="10378440" y="4434840"/>
            <a:ext cx="1417320" cy="502920"/>
          </a:xfrm>
          <a:prstGeom prst="roundRect">
            <a:avLst>
              <a:gd name="adj" fmla="val 9091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Jasa pengolahan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1,25 per t TBS</a:t>
            </a:r>
            <a:endParaRPr lang="en-US" sz="900" dirty="0"/>
          </a:p>
        </p:txBody>
      </p:sp>
      <p:sp>
        <p:nvSpPr>
          <p:cNvPr id="64" name="kotak-166"/>
          <p:cNvSpPr txBox="1"/>
          <p:nvPr/>
        </p:nvSpPr>
        <p:spPr>
          <a:xfrm>
            <a:off x="5852160" y="5074920"/>
            <a:ext cx="2903220" cy="228600"/>
          </a:xfrm>
          <a:prstGeom prst="roundRect">
            <a:avLst>
              <a:gd name="adj" fmla="val 16000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Pengguna dan nilai</a:t>
            </a:r>
            <a:endParaRPr lang="en-US" sz="950" dirty="0"/>
          </a:p>
        </p:txBody>
      </p:sp>
      <p:sp>
        <p:nvSpPr>
          <p:cNvPr id="65" name="kotak-167"/>
          <p:cNvSpPr txBox="1"/>
          <p:nvPr/>
        </p:nvSpPr>
        <p:spPr>
          <a:xfrm>
            <a:off x="8892540" y="5074920"/>
            <a:ext cx="2903220" cy="228600"/>
          </a:xfrm>
          <a:prstGeom prst="roundRect">
            <a:avLst>
              <a:gd name="adj" fmla="val 16000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Pembeda dari praktik saat ini</a:t>
            </a:r>
            <a:endParaRPr lang="en-US" sz="950" dirty="0"/>
          </a:p>
        </p:txBody>
      </p:sp>
      <p:sp>
        <p:nvSpPr>
          <p:cNvPr id="66" name="kotak-168"/>
          <p:cNvSpPr/>
          <p:nvPr/>
        </p:nvSpPr>
        <p:spPr>
          <a:xfrm>
            <a:off x="5852160" y="5303520"/>
            <a:ext cx="2903220" cy="658368"/>
          </a:xfrm>
          <a:prstGeom prst="roundRect">
            <a:avLst>
              <a:gd name="adj" fmla="val 6944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67" name="kotak-169"/>
          <p:cNvSpPr/>
          <p:nvPr/>
        </p:nvSpPr>
        <p:spPr>
          <a:xfrm>
            <a:off x="8892540" y="5303520"/>
            <a:ext cx="2903220" cy="658368"/>
          </a:xfrm>
          <a:prstGeom prst="roundRect">
            <a:avLst>
              <a:gd name="adj" fmla="val 6944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68" name="teks-170"/>
          <p:cNvSpPr txBox="1"/>
          <p:nvPr/>
        </p:nvSpPr>
        <p:spPr>
          <a:xfrm>
            <a:off x="5925312" y="5340096"/>
            <a:ext cx="27569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PKS 45–60 t TBS/jam, solar tergantikan ≥ 2,0 L/t TBS</a:t>
            </a:r>
            <a:endParaRPr lang="en-US" sz="9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PKS bayar USD 3,00 vs 3,14/t TBS bila memakai kolam</a:t>
            </a:r>
            <a:endParaRPr lang="en-US" sz="900" dirty="0"/>
          </a:p>
        </p:txBody>
      </p:sp>
      <p:sp>
        <p:nvSpPr>
          <p:cNvPr id="69" name="teks-171"/>
          <p:cNvSpPr txBox="1"/>
          <p:nvPr/>
        </p:nvSpPr>
        <p:spPr>
          <a:xfrm>
            <a:off x="8965692" y="5340096"/>
            <a:ext cx="27569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Layanan, bukan proyek: operator menjamin kinerja</a:t>
            </a:r>
            <a:endParaRPr lang="en-US" sz="9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HRT 5 hari (kolam tertutup 25–40 hari), plot 0,38–0,5 ha</a:t>
            </a:r>
            <a:endParaRPr lang="en-US" sz="900" dirty="0"/>
          </a:p>
        </p:txBody>
      </p:sp>
      <p:sp>
        <p:nvSpPr>
          <p:cNvPr id="70" name="kotak-172"/>
          <p:cNvSpPr txBox="1"/>
          <p:nvPr/>
        </p:nvSpPr>
        <p:spPr>
          <a:xfrm>
            <a:off x="411480" y="594360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1000" dirty="0"/>
          </a:p>
        </p:txBody>
      </p:sp>
      <p:sp>
        <p:nvSpPr>
          <p:cNvPr id="71" name="kotak-173"/>
          <p:cNvSpPr txBox="1"/>
          <p:nvPr/>
        </p:nvSpPr>
        <p:spPr>
          <a:xfrm>
            <a:off x="1828800" y="5943600"/>
            <a:ext cx="9966960" cy="347472"/>
          </a:xfrm>
          <a:prstGeom prst="roundRect">
            <a:avLst>
              <a:gd name="adj" fmla="val 13158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101600" rIns="1016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Konsep ini menukar proyek rekayasa sekali jadi dengan layanan modular: modal PKS nol, reaktor 5 hari, dan set yang dapat dipindah bila PKS berhenti beroperasi.</a:t>
            </a:r>
            <a:endParaRPr lang="en-US" sz="950" dirty="0"/>
          </a:p>
        </p:txBody>
      </p:sp>
      <p:sp>
        <p:nvSpPr>
          <p:cNvPr id="72" name="teks-174"/>
          <p:cNvSpPr txBox="1"/>
          <p:nvPr/>
        </p:nvSpPr>
        <p:spPr>
          <a:xfrm>
            <a:off x="411480" y="6336792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Singkatan: GFS baja berlapis kaca; HRT/SRT waktu tinggal hidraulik/lumpur; FCI biaya modal tetap; NPV nilai kini neto; PKS pabrik kelapa sawit.</a:t>
            </a:r>
            <a:endParaRPr lang="en-US" sz="560" dirty="0"/>
          </a:p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neraca proses Rev 2 (process/outputs/results.json; aliran 60 t/jam = modul acuan × 4/3); Model Keputusan PKS; model 3D tim; research/R3, R6.</a:t>
            </a:r>
            <a:endParaRPr lang="en-US" sz="5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Neraca massa dan energi menutup: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585 m³ POME per hari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menghasilkan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11.836 Nm³ biogas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5,3 GWh listrik neto per tahun</a:t>
            </a:r>
            <a:endParaRPr lang="en-US" sz="1900" dirty="0"/>
          </a:p>
        </p:txBody>
      </p:sp>
      <p:sp>
        <p:nvSpPr>
          <p:cNvPr id="3" name="kotak-175"/>
          <p:cNvSpPr txBox="1"/>
          <p:nvPr/>
        </p:nvSpPr>
        <p:spPr>
          <a:xfrm>
            <a:off x="41148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kotak-176"/>
          <p:cNvSpPr txBox="1"/>
          <p:nvPr/>
        </p:nvSpPr>
        <p:spPr>
          <a:xfrm>
            <a:off x="189280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C2464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800" dirty="0"/>
          </a:p>
        </p:txBody>
      </p:sp>
      <p:sp>
        <p:nvSpPr>
          <p:cNvPr id="5" name="kotak-177"/>
          <p:cNvSpPr txBox="1"/>
          <p:nvPr/>
        </p:nvSpPr>
        <p:spPr>
          <a:xfrm>
            <a:off x="3374136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</a:t>
            </a:r>
            <a:endParaRPr lang="en-US" sz="800" dirty="0"/>
          </a:p>
        </p:txBody>
      </p:sp>
      <p:sp>
        <p:nvSpPr>
          <p:cNvPr id="6" name="kotak-178"/>
          <p:cNvSpPr txBox="1"/>
          <p:nvPr/>
        </p:nvSpPr>
        <p:spPr>
          <a:xfrm>
            <a:off x="4855464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Keuangan</a:t>
            </a:r>
            <a:endParaRPr lang="en-US" sz="800" dirty="0"/>
          </a:p>
        </p:txBody>
      </p:sp>
      <p:sp>
        <p:nvSpPr>
          <p:cNvPr id="7" name="kotak-179"/>
          <p:cNvSpPr txBox="1"/>
          <p:nvPr/>
        </p:nvSpPr>
        <p:spPr>
          <a:xfrm>
            <a:off x="6336792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800" dirty="0"/>
          </a:p>
        </p:txBody>
      </p:sp>
      <p:sp>
        <p:nvSpPr>
          <p:cNvPr id="8" name="kotak-180"/>
          <p:cNvSpPr txBox="1"/>
          <p:nvPr/>
        </p:nvSpPr>
        <p:spPr>
          <a:xfrm>
            <a:off x="781812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800" dirty="0"/>
          </a:p>
        </p:txBody>
      </p:sp>
      <p:sp>
        <p:nvSpPr>
          <p:cNvPr id="9" name="kotak-181"/>
          <p:cNvSpPr txBox="1"/>
          <p:nvPr/>
        </p:nvSpPr>
        <p:spPr>
          <a:xfrm>
            <a:off x="929944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800" dirty="0"/>
          </a:p>
        </p:txBody>
      </p:sp>
      <p:sp>
        <p:nvSpPr>
          <p:cNvPr id="10" name="kotak-182"/>
          <p:cNvSpPr txBox="1"/>
          <p:nvPr/>
        </p:nvSpPr>
        <p:spPr>
          <a:xfrm>
            <a:off x="11338560" y="6583680"/>
            <a:ext cx="457200" cy="228600"/>
          </a:xfrm>
          <a:prstGeom prst="roundRect">
            <a:avLst>
              <a:gd name="adj" fmla="val 12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2" name="kotak-183"/>
          <p:cNvSpPr/>
          <p:nvPr/>
        </p:nvSpPr>
        <p:spPr>
          <a:xfrm>
            <a:off x="411480" y="1143000"/>
            <a:ext cx="1188720" cy="365760"/>
          </a:xfrm>
          <a:prstGeom prst="roundRect">
            <a:avLst>
              <a:gd name="adj" fmla="val 10000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13" name="teks-184"/>
          <p:cNvSpPr txBox="1"/>
          <p:nvPr/>
        </p:nvSpPr>
        <p:spPr>
          <a:xfrm>
            <a:off x="466344" y="1161288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Suhu</a:t>
            </a:r>
            <a:endParaRPr lang="en-US" sz="750" dirty="0"/>
          </a:p>
        </p:txBody>
      </p:sp>
      <p:sp>
        <p:nvSpPr>
          <p:cNvPr id="14" name="teks-185"/>
          <p:cNvSpPr txBox="1"/>
          <p:nvPr/>
        </p:nvSpPr>
        <p:spPr>
          <a:xfrm>
            <a:off x="466344" y="128930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°C</a:t>
            </a:r>
            <a:endParaRPr lang="en-US" sz="950" dirty="0"/>
          </a:p>
        </p:txBody>
      </p:sp>
      <p:sp>
        <p:nvSpPr>
          <p:cNvPr id="15" name="kotak-186"/>
          <p:cNvSpPr/>
          <p:nvPr/>
        </p:nvSpPr>
        <p:spPr>
          <a:xfrm>
            <a:off x="1709928" y="1143000"/>
            <a:ext cx="1188720" cy="365760"/>
          </a:xfrm>
          <a:prstGeom prst="roundRect">
            <a:avLst>
              <a:gd name="adj" fmla="val 10000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16" name="teks-187"/>
          <p:cNvSpPr txBox="1"/>
          <p:nvPr/>
        </p:nvSpPr>
        <p:spPr>
          <a:xfrm>
            <a:off x="1764792" y="1161288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HRT / SRT</a:t>
            </a:r>
            <a:endParaRPr lang="en-US" sz="750" dirty="0"/>
          </a:p>
        </p:txBody>
      </p:sp>
      <p:sp>
        <p:nvSpPr>
          <p:cNvPr id="17" name="teks-188"/>
          <p:cNvSpPr txBox="1"/>
          <p:nvPr/>
        </p:nvSpPr>
        <p:spPr>
          <a:xfrm>
            <a:off x="1764792" y="128930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5,0 / 12 hari</a:t>
            </a:r>
            <a:endParaRPr lang="en-US" sz="950" dirty="0"/>
          </a:p>
        </p:txBody>
      </p:sp>
      <p:sp>
        <p:nvSpPr>
          <p:cNvPr id="18" name="kotak-189"/>
          <p:cNvSpPr/>
          <p:nvPr/>
        </p:nvSpPr>
        <p:spPr>
          <a:xfrm>
            <a:off x="3008376" y="1143000"/>
            <a:ext cx="1188720" cy="365760"/>
          </a:xfrm>
          <a:prstGeom prst="roundRect">
            <a:avLst>
              <a:gd name="adj" fmla="val 10000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19" name="teks-190"/>
          <p:cNvSpPr txBox="1"/>
          <p:nvPr/>
        </p:nvSpPr>
        <p:spPr>
          <a:xfrm>
            <a:off x="3063240" y="1161288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OLR</a:t>
            </a:r>
            <a:endParaRPr lang="en-US" sz="750" dirty="0"/>
          </a:p>
        </p:txBody>
      </p:sp>
      <p:sp>
        <p:nvSpPr>
          <p:cNvPr id="20" name="teks-191"/>
          <p:cNvSpPr txBox="1"/>
          <p:nvPr/>
        </p:nvSpPr>
        <p:spPr>
          <a:xfrm>
            <a:off x="3063240" y="128930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9,9 kg COD/m³·hari</a:t>
            </a:r>
            <a:endParaRPr lang="en-US" sz="950" dirty="0"/>
          </a:p>
        </p:txBody>
      </p:sp>
      <p:sp>
        <p:nvSpPr>
          <p:cNvPr id="21" name="kotak-192"/>
          <p:cNvSpPr/>
          <p:nvPr/>
        </p:nvSpPr>
        <p:spPr>
          <a:xfrm>
            <a:off x="4306824" y="1143000"/>
            <a:ext cx="1188720" cy="365760"/>
          </a:xfrm>
          <a:prstGeom prst="roundRect">
            <a:avLst>
              <a:gd name="adj" fmla="val 10000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22" name="teks-193"/>
          <p:cNvSpPr txBox="1"/>
          <p:nvPr/>
        </p:nvSpPr>
        <p:spPr>
          <a:xfrm>
            <a:off x="4361688" y="1161288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 umpan</a:t>
            </a:r>
            <a:endParaRPr lang="en-US" sz="750" dirty="0"/>
          </a:p>
        </p:txBody>
      </p:sp>
      <p:sp>
        <p:nvSpPr>
          <p:cNvPr id="23" name="teks-194"/>
          <p:cNvSpPr txBox="1"/>
          <p:nvPr/>
        </p:nvSpPr>
        <p:spPr>
          <a:xfrm>
            <a:off x="4361688" y="128930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49,7 g/L</a:t>
            </a:r>
            <a:endParaRPr lang="en-US" sz="950" dirty="0"/>
          </a:p>
        </p:txBody>
      </p:sp>
      <p:sp>
        <p:nvSpPr>
          <p:cNvPr id="24" name="kotak-195"/>
          <p:cNvSpPr/>
          <p:nvPr/>
        </p:nvSpPr>
        <p:spPr>
          <a:xfrm>
            <a:off x="5605272" y="1143000"/>
            <a:ext cx="1188720" cy="365760"/>
          </a:xfrm>
          <a:prstGeom prst="roundRect">
            <a:avLst>
              <a:gd name="adj" fmla="val 10000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25" name="teks-196"/>
          <p:cNvSpPr txBox="1"/>
          <p:nvPr/>
        </p:nvSpPr>
        <p:spPr>
          <a:xfrm>
            <a:off x="5660136" y="1161288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Penyisihan COD</a:t>
            </a:r>
            <a:endParaRPr lang="en-US" sz="750" dirty="0"/>
          </a:p>
        </p:txBody>
      </p:sp>
      <p:sp>
        <p:nvSpPr>
          <p:cNvPr id="26" name="teks-197"/>
          <p:cNvSpPr txBox="1"/>
          <p:nvPr/>
        </p:nvSpPr>
        <p:spPr>
          <a:xfrm>
            <a:off x="5660136" y="128930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68%</a:t>
            </a:r>
            <a:endParaRPr lang="en-US" sz="950" dirty="0"/>
          </a:p>
        </p:txBody>
      </p:sp>
      <p:sp>
        <p:nvSpPr>
          <p:cNvPr id="27" name="kotak-198"/>
          <p:cNvSpPr/>
          <p:nvPr/>
        </p:nvSpPr>
        <p:spPr>
          <a:xfrm>
            <a:off x="6903720" y="1143000"/>
            <a:ext cx="1188720" cy="365760"/>
          </a:xfrm>
          <a:prstGeom prst="roundRect">
            <a:avLst>
              <a:gd name="adj" fmla="val 10000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28" name="teks-199"/>
          <p:cNvSpPr txBox="1"/>
          <p:nvPr/>
        </p:nvSpPr>
        <p:spPr>
          <a:xfrm>
            <a:off x="6958584" y="1161288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Reaktor</a:t>
            </a:r>
            <a:endParaRPr lang="en-US" sz="750" dirty="0"/>
          </a:p>
        </p:txBody>
      </p:sp>
      <p:sp>
        <p:nvSpPr>
          <p:cNvPr id="29" name="teks-200"/>
          <p:cNvSpPr txBox="1"/>
          <p:nvPr/>
        </p:nvSpPr>
        <p:spPr>
          <a:xfrm>
            <a:off x="6958584" y="128930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× 980 m³</a:t>
            </a:r>
            <a:endParaRPr lang="en-US" sz="950" dirty="0"/>
          </a:p>
        </p:txBody>
      </p:sp>
      <p:sp>
        <p:nvSpPr>
          <p:cNvPr id="30" name="kotak-201"/>
          <p:cNvSpPr txBox="1"/>
          <p:nvPr/>
        </p:nvSpPr>
        <p:spPr>
          <a:xfrm>
            <a:off x="411480" y="1572768"/>
            <a:ext cx="768096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Neraca massa nameplate, modul acuan 45 t TBS/jam (kg/jam)</a:t>
            </a:r>
            <a:endParaRPr lang="en-US" sz="950" dirty="0"/>
          </a:p>
        </p:txBody>
      </p:sp>
      <p:sp>
        <p:nvSpPr>
          <p:cNvPr id="31" name="kotak-202"/>
          <p:cNvSpPr txBox="1"/>
          <p:nvPr/>
        </p:nvSpPr>
        <p:spPr>
          <a:xfrm>
            <a:off x="411480" y="2029968"/>
            <a:ext cx="1645920" cy="566928"/>
          </a:xfrm>
          <a:prstGeom prst="roundRect">
            <a:avLst>
              <a:gd name="adj" fmla="val 806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POME mentah</a:t>
            </a:r>
            <a:endParaRPr lang="en-US" sz="9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 °C · 24.375</a:t>
            </a:r>
            <a:endParaRPr lang="en-US" sz="900" dirty="0"/>
          </a:p>
        </p:txBody>
      </p:sp>
      <p:sp>
        <p:nvSpPr>
          <p:cNvPr id="32" name="kotak-203"/>
          <p:cNvSpPr txBox="1"/>
          <p:nvPr/>
        </p:nvSpPr>
        <p:spPr>
          <a:xfrm>
            <a:off x="2423160" y="2029968"/>
            <a:ext cx="1645920" cy="566928"/>
          </a:xfrm>
          <a:prstGeom prst="roundRect">
            <a:avLst>
              <a:gd name="adj" fmla="val 806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Praolah + pendingin</a:t>
            </a:r>
            <a:endParaRPr lang="en-US" sz="9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saringan, ruang pasir, 85 → 55 °C</a:t>
            </a:r>
            <a:endParaRPr lang="en-US" sz="900" dirty="0"/>
          </a:p>
        </p:txBody>
      </p:sp>
      <p:sp>
        <p:nvSpPr>
          <p:cNvPr id="33" name="kotak-204"/>
          <p:cNvSpPr txBox="1"/>
          <p:nvPr/>
        </p:nvSpPr>
        <p:spPr>
          <a:xfrm>
            <a:off x="4434840" y="2029968"/>
            <a:ext cx="1645920" cy="566928"/>
          </a:xfrm>
          <a:prstGeom prst="roundRect">
            <a:avLst>
              <a:gd name="adj" fmla="val 8065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Reaktor + degasser + settler</a:t>
            </a:r>
            <a:endParaRPr lang="en-US" sz="9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tangki GFS 55 °C</a:t>
            </a:r>
            <a:endParaRPr lang="en-US" sz="900" dirty="0"/>
          </a:p>
        </p:txBody>
      </p:sp>
      <p:sp>
        <p:nvSpPr>
          <p:cNvPr id="34" name="kotak-205"/>
          <p:cNvSpPr txBox="1"/>
          <p:nvPr/>
        </p:nvSpPr>
        <p:spPr>
          <a:xfrm>
            <a:off x="6446520" y="2029968"/>
            <a:ext cx="1645920" cy="566928"/>
          </a:xfrm>
          <a:prstGeom prst="roundRect">
            <a:avLst>
              <a:gd name="adj" fmla="val 806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Efluen</a:t>
            </a:r>
            <a:endParaRPr lang="en-US" sz="9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 kolam polishing</a:t>
            </a:r>
            <a:endParaRPr lang="en-US" sz="900" dirty="0"/>
          </a:p>
        </p:txBody>
      </p:sp>
      <p:sp>
        <p:nvSpPr>
          <p:cNvPr id="35" name="garis-206"/>
          <p:cNvSpPr/>
          <p:nvPr/>
        </p:nvSpPr>
        <p:spPr>
          <a:xfrm>
            <a:off x="2057400" y="2313432"/>
            <a:ext cx="365760" cy="0"/>
          </a:xfrm>
          <a:prstGeom prst="line">
            <a:avLst/>
          </a:prstGeom>
          <a:noFill/>
          <a:ln w="19050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36" name="teks-207"/>
          <p:cNvSpPr txBox="1"/>
          <p:nvPr/>
        </p:nvSpPr>
        <p:spPr>
          <a:xfrm>
            <a:off x="2057400" y="206654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24.375</a:t>
            </a:r>
            <a:endParaRPr lang="en-US" sz="800" dirty="0"/>
          </a:p>
        </p:txBody>
      </p:sp>
      <p:sp>
        <p:nvSpPr>
          <p:cNvPr id="37" name="garis-208"/>
          <p:cNvSpPr/>
          <p:nvPr/>
        </p:nvSpPr>
        <p:spPr>
          <a:xfrm>
            <a:off x="4069080" y="2313432"/>
            <a:ext cx="365760" cy="0"/>
          </a:xfrm>
          <a:prstGeom prst="line">
            <a:avLst/>
          </a:prstGeom>
          <a:noFill/>
          <a:ln w="19050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38" name="teks-209"/>
          <p:cNvSpPr txBox="1"/>
          <p:nvPr/>
        </p:nvSpPr>
        <p:spPr>
          <a:xfrm>
            <a:off x="4069080" y="206654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24.129</a:t>
            </a:r>
            <a:endParaRPr lang="en-US" sz="800" dirty="0"/>
          </a:p>
        </p:txBody>
      </p:sp>
      <p:sp>
        <p:nvSpPr>
          <p:cNvPr id="39" name="garis-210"/>
          <p:cNvSpPr/>
          <p:nvPr/>
        </p:nvSpPr>
        <p:spPr>
          <a:xfrm>
            <a:off x="6080760" y="2313432"/>
            <a:ext cx="365760" cy="0"/>
          </a:xfrm>
          <a:prstGeom prst="line">
            <a:avLst/>
          </a:prstGeom>
          <a:noFill/>
          <a:ln w="19050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40" name="teks-211"/>
          <p:cNvSpPr txBox="1"/>
          <p:nvPr/>
        </p:nvSpPr>
        <p:spPr>
          <a:xfrm>
            <a:off x="6080760" y="206654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22.664</a:t>
            </a:r>
            <a:endParaRPr lang="en-US" sz="800" dirty="0"/>
          </a:p>
        </p:txBody>
      </p:sp>
      <p:sp>
        <p:nvSpPr>
          <p:cNvPr id="41" name="garis-212"/>
          <p:cNvSpPr/>
          <p:nvPr/>
        </p:nvSpPr>
        <p:spPr>
          <a:xfrm>
            <a:off x="5852160" y="1911096"/>
            <a:ext cx="0" cy="118872"/>
          </a:xfrm>
          <a:prstGeom prst="line">
            <a:avLst/>
          </a:prstGeom>
          <a:noFill/>
          <a:ln w="19050">
            <a:solidFill>
              <a:srgbClr val="3E8E41"/>
            </a:solidFill>
            <a:prstDash val="solid"/>
          </a:ln>
        </p:spPr>
      </p:sp>
      <p:sp>
        <p:nvSpPr>
          <p:cNvPr id="42" name="garis-213"/>
          <p:cNvSpPr/>
          <p:nvPr/>
        </p:nvSpPr>
        <p:spPr>
          <a:xfrm>
            <a:off x="4709160" y="1911096"/>
            <a:ext cx="1143000" cy="0"/>
          </a:xfrm>
          <a:prstGeom prst="line">
            <a:avLst/>
          </a:prstGeom>
          <a:noFill/>
          <a:ln w="19050">
            <a:solidFill>
              <a:srgbClr val="3E8E41"/>
            </a:solidFill>
            <a:prstDash val="solid"/>
          </a:ln>
        </p:spPr>
      </p:sp>
      <p:sp>
        <p:nvSpPr>
          <p:cNvPr id="43" name="garis-214"/>
          <p:cNvSpPr/>
          <p:nvPr/>
        </p:nvSpPr>
        <p:spPr>
          <a:xfrm>
            <a:off x="4709160" y="1911096"/>
            <a:ext cx="0" cy="118872"/>
          </a:xfrm>
          <a:prstGeom prst="line">
            <a:avLst/>
          </a:prstGeom>
          <a:noFill/>
          <a:ln w="19050">
            <a:solidFill>
              <a:srgbClr val="3E8E41"/>
            </a:solidFill>
            <a:prstDash val="solid"/>
            <a:tailEnd type="triangle"/>
          </a:ln>
        </p:spPr>
      </p:sp>
      <p:sp>
        <p:nvSpPr>
          <p:cNvPr id="44" name="teks-215"/>
          <p:cNvSpPr txBox="1"/>
          <p:nvPr/>
        </p:nvSpPr>
        <p:spPr>
          <a:xfrm>
            <a:off x="4846320" y="1892808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resirkulasi lumpur 24.127</a:t>
            </a:r>
            <a:endParaRPr lang="en-US" sz="750" dirty="0"/>
          </a:p>
        </p:txBody>
      </p:sp>
      <p:sp>
        <p:nvSpPr>
          <p:cNvPr id="45" name="garis-216"/>
          <p:cNvSpPr/>
          <p:nvPr/>
        </p:nvSpPr>
        <p:spPr>
          <a:xfrm>
            <a:off x="2880360" y="2596896"/>
            <a:ext cx="0" cy="22860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46" name="teks-217"/>
          <p:cNvSpPr txBox="1"/>
          <p:nvPr/>
        </p:nvSpPr>
        <p:spPr>
          <a:xfrm>
            <a:off x="2011680" y="2651760"/>
            <a:ext cx="8229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 246</a:t>
            </a:r>
            <a:endParaRPr lang="en-US" sz="750" dirty="0"/>
          </a:p>
        </p:txBody>
      </p:sp>
      <p:sp>
        <p:nvSpPr>
          <p:cNvPr id="47" name="garis-218"/>
          <p:cNvSpPr/>
          <p:nvPr/>
        </p:nvSpPr>
        <p:spPr>
          <a:xfrm>
            <a:off x="4526280" y="2596896"/>
            <a:ext cx="0" cy="484632"/>
          </a:xfrm>
          <a:prstGeom prst="line">
            <a:avLst/>
          </a:prstGeom>
          <a:noFill/>
          <a:ln w="19050">
            <a:solidFill>
              <a:srgbClr val="7A5C3A"/>
            </a:solidFill>
            <a:prstDash val="solid"/>
          </a:ln>
        </p:spPr>
      </p:sp>
      <p:sp>
        <p:nvSpPr>
          <p:cNvPr id="48" name="garis-219"/>
          <p:cNvSpPr/>
          <p:nvPr/>
        </p:nvSpPr>
        <p:spPr>
          <a:xfrm>
            <a:off x="4069080" y="3081528"/>
            <a:ext cx="457200" cy="0"/>
          </a:xfrm>
          <a:prstGeom prst="line">
            <a:avLst/>
          </a:prstGeom>
          <a:noFill/>
          <a:ln w="19050">
            <a:solidFill>
              <a:srgbClr val="7A5C3A"/>
            </a:solidFill>
            <a:prstDash val="solid"/>
            <a:headEnd type="triangle"/>
          </a:ln>
        </p:spPr>
      </p:sp>
      <p:sp>
        <p:nvSpPr>
          <p:cNvPr id="49" name="teks-220"/>
          <p:cNvSpPr txBox="1"/>
          <p:nvPr/>
        </p:nvSpPr>
        <p:spPr>
          <a:xfrm>
            <a:off x="2971800" y="2651760"/>
            <a:ext cx="1051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lumpur buangan 4.531</a:t>
            </a:r>
            <a:endParaRPr lang="en-US" sz="750" dirty="0"/>
          </a:p>
        </p:txBody>
      </p:sp>
      <p:sp>
        <p:nvSpPr>
          <p:cNvPr id="50" name="kotak-221"/>
          <p:cNvSpPr txBox="1"/>
          <p:nvPr/>
        </p:nvSpPr>
        <p:spPr>
          <a:xfrm>
            <a:off x="2423160" y="2852928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EAF4FB"/>
          </a:solidFill>
          <a:ln w="9525">
            <a:solidFill>
              <a:srgbClr val="BFD6E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Screw press</a:t>
            </a:r>
            <a:endParaRPr lang="en-US" sz="9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kue 785 + filtrat 3.746</a:t>
            </a:r>
            <a:endParaRPr lang="en-US" sz="900" dirty="0"/>
          </a:p>
        </p:txBody>
      </p:sp>
      <p:sp>
        <p:nvSpPr>
          <p:cNvPr id="51" name="garis-222"/>
          <p:cNvSpPr/>
          <p:nvPr/>
        </p:nvSpPr>
        <p:spPr>
          <a:xfrm>
            <a:off x="5303520" y="2596896"/>
            <a:ext cx="0" cy="256032"/>
          </a:xfrm>
          <a:prstGeom prst="line">
            <a:avLst/>
          </a:prstGeom>
          <a:noFill/>
          <a:ln w="25400">
            <a:solidFill>
              <a:srgbClr val="E0A526"/>
            </a:solidFill>
            <a:prstDash val="solid"/>
            <a:tailEnd type="triangle"/>
          </a:ln>
        </p:spPr>
      </p:sp>
      <p:sp>
        <p:nvSpPr>
          <p:cNvPr id="52" name="teks-223"/>
          <p:cNvSpPr txBox="1"/>
          <p:nvPr/>
        </p:nvSpPr>
        <p:spPr>
          <a:xfrm>
            <a:off x="5349240" y="2651760"/>
            <a:ext cx="731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9A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biogas 681</a:t>
            </a:r>
            <a:endParaRPr lang="en-US" sz="750" dirty="0"/>
          </a:p>
        </p:txBody>
      </p:sp>
      <p:sp>
        <p:nvSpPr>
          <p:cNvPr id="53" name="kotak-224"/>
          <p:cNvSpPr txBox="1"/>
          <p:nvPr/>
        </p:nvSpPr>
        <p:spPr>
          <a:xfrm>
            <a:off x="4617720" y="2852928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FFF3CF"/>
          </a:solidFill>
          <a:ln w="9525">
            <a:solidFill>
              <a:srgbClr val="E0A526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Pemurnian biogas</a:t>
            </a:r>
            <a:endParaRPr lang="en-US" sz="9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616 kg/jam (buang 72)</a:t>
            </a:r>
            <a:endParaRPr lang="en-US" sz="900" dirty="0"/>
          </a:p>
        </p:txBody>
      </p:sp>
      <p:sp>
        <p:nvSpPr>
          <p:cNvPr id="54" name="garis-225"/>
          <p:cNvSpPr/>
          <p:nvPr/>
        </p:nvSpPr>
        <p:spPr>
          <a:xfrm>
            <a:off x="6263640" y="3081528"/>
            <a:ext cx="182880" cy="0"/>
          </a:xfrm>
          <a:prstGeom prst="line">
            <a:avLst/>
          </a:prstGeom>
          <a:noFill/>
          <a:ln w="22225">
            <a:solidFill>
              <a:srgbClr val="9A6A00"/>
            </a:solidFill>
            <a:prstDash val="solid"/>
            <a:tailEnd type="triangle"/>
          </a:ln>
        </p:spPr>
      </p:sp>
      <p:sp>
        <p:nvSpPr>
          <p:cNvPr id="55" name="kotak-226"/>
          <p:cNvSpPr txBox="1"/>
          <p:nvPr/>
        </p:nvSpPr>
        <p:spPr>
          <a:xfrm>
            <a:off x="6446520" y="2852928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FFF3CF"/>
          </a:solidFill>
          <a:ln w="9525">
            <a:solidFill>
              <a:srgbClr val="E0A526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Genset 2 × 600 kWe</a:t>
            </a:r>
            <a:endParaRPr lang="en-US" sz="9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buang 6.988 (150 °C)</a:t>
            </a:r>
            <a:endParaRPr lang="en-US" sz="900" dirty="0"/>
          </a:p>
        </p:txBody>
      </p:sp>
      <p:sp>
        <p:nvSpPr>
          <p:cNvPr id="56" name="garis-227"/>
          <p:cNvSpPr/>
          <p:nvPr/>
        </p:nvSpPr>
        <p:spPr>
          <a:xfrm>
            <a:off x="7772400" y="2670048"/>
            <a:ext cx="0" cy="18288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57" name="teks-228"/>
          <p:cNvSpPr txBox="1"/>
          <p:nvPr/>
        </p:nvSpPr>
        <p:spPr>
          <a:xfrm>
            <a:off x="6812280" y="2651760"/>
            <a:ext cx="914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udara 6.372</a:t>
            </a:r>
            <a:endParaRPr lang="en-US" sz="750" dirty="0"/>
          </a:p>
        </p:txBody>
      </p:sp>
      <p:sp>
        <p:nvSpPr>
          <p:cNvPr id="58" name="teks-229"/>
          <p:cNvSpPr txBox="1"/>
          <p:nvPr/>
        </p:nvSpPr>
        <p:spPr>
          <a:xfrm>
            <a:off x="411480" y="3401568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masuk 30.756 = Σ keluar 30.755 kg/jam</a:t>
            </a:r>
            <a:pPr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(galat 0,0002%; neraca unsur C, H, O, N, S &lt; 10⁻⁴)</a:t>
            </a:r>
            <a:endParaRPr lang="en-US" sz="850" dirty="0"/>
          </a:p>
        </p:txBody>
      </p:sp>
      <p:sp>
        <p:nvSpPr>
          <p:cNvPr id="59" name="kotak-230"/>
          <p:cNvSpPr txBox="1"/>
          <p:nvPr/>
        </p:nvSpPr>
        <p:spPr>
          <a:xfrm>
            <a:off x="8275320" y="1143000"/>
            <a:ext cx="352044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limbah ke kWh (per hari nameplate)</a:t>
            </a:r>
            <a:endParaRPr lang="en-US" sz="950" dirty="0"/>
          </a:p>
        </p:txBody>
      </p:sp>
      <p:sp>
        <p:nvSpPr>
          <p:cNvPr id="60" name="kotak-231"/>
          <p:cNvSpPr txBox="1"/>
          <p:nvPr/>
        </p:nvSpPr>
        <p:spPr>
          <a:xfrm>
            <a:off x="8275320" y="1417320"/>
            <a:ext cx="3520440" cy="352044"/>
          </a:xfrm>
          <a:prstGeom prst="roundRect">
            <a:avLst>
              <a:gd name="adj" fmla="val 10390"/>
            </a:avLst>
          </a:prstGeom>
          <a:solidFill>
            <a:srgbClr val="EAF4FB"/>
          </a:solidFill>
          <a:ln w="9525">
            <a:solidFill>
              <a:srgbClr val="BFD6E8"/>
            </a:solidFill>
          </a:ln>
        </p:spPr>
        <p:txBody>
          <a:bodyPr wrap="square" lIns="0" tIns="101600" rIns="10160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585 m³ POME</a:t>
            </a:r>
            <a:endParaRPr lang="en-US" sz="900" dirty="0"/>
          </a:p>
          <a:p>
            <a:pPr algn="l" indent="0" marL="0">
              <a:buNone/>
            </a:pPr>
            <a:r>
              <a:rPr lang="en-US" sz="74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 29,1 t/hari (49,7 g/L)</a:t>
            </a:r>
            <a:endParaRPr lang="en-US" sz="900" dirty="0"/>
          </a:p>
        </p:txBody>
      </p:sp>
      <p:sp>
        <p:nvSpPr>
          <p:cNvPr id="61" name="kotak-232"/>
          <p:cNvSpPr txBox="1"/>
          <p:nvPr/>
        </p:nvSpPr>
        <p:spPr>
          <a:xfrm>
            <a:off x="8275320" y="1783080"/>
            <a:ext cx="3520440" cy="352044"/>
          </a:xfrm>
          <a:prstGeom prst="roundRect">
            <a:avLst>
              <a:gd name="adj" fmla="val 10390"/>
            </a:avLst>
          </a:prstGeom>
          <a:solidFill>
            <a:srgbClr val="EAF4FB"/>
          </a:solidFill>
          <a:ln w="9525">
            <a:solidFill>
              <a:srgbClr val="BFD6E8"/>
            </a:solidFill>
          </a:ln>
        </p:spPr>
        <p:txBody>
          <a:bodyPr wrap="square" lIns="0" tIns="101600" rIns="10160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11.836 Nm³ biogas</a:t>
            </a:r>
            <a:endParaRPr lang="en-US" sz="900" dirty="0"/>
          </a:p>
          <a:p>
            <a:pPr algn="l" indent="0" marL="0">
              <a:buNone/>
            </a:pPr>
            <a:r>
              <a:rPr lang="en-US" sz="74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20,2 Nm³ per m³ POME; CH₄ 58%</a:t>
            </a:r>
            <a:endParaRPr lang="en-US" sz="900" dirty="0"/>
          </a:p>
        </p:txBody>
      </p:sp>
      <p:sp>
        <p:nvSpPr>
          <p:cNvPr id="62" name="kotak-233"/>
          <p:cNvSpPr txBox="1"/>
          <p:nvPr/>
        </p:nvSpPr>
        <p:spPr>
          <a:xfrm>
            <a:off x="8275320" y="2148840"/>
            <a:ext cx="3520440" cy="352044"/>
          </a:xfrm>
          <a:prstGeom prst="roundRect">
            <a:avLst>
              <a:gd name="adj" fmla="val 10390"/>
            </a:avLst>
          </a:prstGeom>
          <a:solidFill>
            <a:srgbClr val="EAF4FB"/>
          </a:solidFill>
          <a:ln w="9525">
            <a:solidFill>
              <a:srgbClr val="BFD6E8"/>
            </a:solidFill>
          </a:ln>
        </p:spPr>
        <p:txBody>
          <a:bodyPr wrap="square" lIns="0" tIns="101600" rIns="10160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6.919 Nm³ CH₄</a:t>
            </a:r>
            <a:endParaRPr lang="en-US" sz="900" dirty="0"/>
          </a:p>
          <a:p>
            <a:pPr algn="l" indent="0" marL="0">
              <a:buNone/>
            </a:pPr>
            <a:r>
              <a:rPr lang="en-US" sz="74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11,8 Nm³ per m³ POME</a:t>
            </a:r>
            <a:endParaRPr lang="en-US" sz="900" dirty="0"/>
          </a:p>
        </p:txBody>
      </p:sp>
      <p:sp>
        <p:nvSpPr>
          <p:cNvPr id="63" name="kotak-234"/>
          <p:cNvSpPr txBox="1"/>
          <p:nvPr/>
        </p:nvSpPr>
        <p:spPr>
          <a:xfrm>
            <a:off x="8275320" y="2514600"/>
            <a:ext cx="3520440" cy="352044"/>
          </a:xfrm>
          <a:prstGeom prst="roundRect">
            <a:avLst>
              <a:gd name="adj" fmla="val 10390"/>
            </a:avLst>
          </a:prstGeom>
          <a:solidFill>
            <a:srgbClr val="EAF4FB"/>
          </a:solidFill>
          <a:ln w="9525">
            <a:solidFill>
              <a:srgbClr val="BFD6E8"/>
            </a:solidFill>
          </a:ln>
        </p:spPr>
        <p:txBody>
          <a:bodyPr wrap="square" lIns="0" tIns="101600" rIns="10160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1.127 kWe kotor</a:t>
            </a:r>
            <a:endParaRPr lang="en-US" sz="900" dirty="0"/>
          </a:p>
          <a:p>
            <a:pPr algn="l" indent="0" marL="0">
              <a:buNone/>
            </a:pPr>
            <a:r>
              <a:rPr lang="en-US" sz="74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46,2 kWh per m³ POME</a:t>
            </a:r>
            <a:endParaRPr lang="en-US" sz="900" dirty="0"/>
          </a:p>
        </p:txBody>
      </p:sp>
      <p:sp>
        <p:nvSpPr>
          <p:cNvPr id="64" name="kotak-235"/>
          <p:cNvSpPr txBox="1"/>
          <p:nvPr/>
        </p:nvSpPr>
        <p:spPr>
          <a:xfrm>
            <a:off x="8275320" y="2880360"/>
            <a:ext cx="3520440" cy="352044"/>
          </a:xfrm>
          <a:prstGeom prst="roundRect">
            <a:avLst>
              <a:gd name="adj" fmla="val 10390"/>
            </a:avLst>
          </a:prstGeom>
          <a:solidFill>
            <a:srgbClr val="EAF4FB"/>
          </a:solidFill>
          <a:ln w="9525">
            <a:solidFill>
              <a:srgbClr val="BFD6E8"/>
            </a:solidFill>
          </a:ln>
        </p:spPr>
        <p:txBody>
          <a:bodyPr wrap="square" lIns="0" tIns="101600" rIns="10160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1.025 kWe neto</a:t>
            </a:r>
            <a:endParaRPr lang="en-US" sz="900" dirty="0"/>
          </a:p>
          <a:p>
            <a:pPr algn="l" indent="0" marL="0">
              <a:buNone/>
            </a:pPr>
            <a:r>
              <a:rPr lang="en-US" sz="74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42,1 kWh per m³ POME</a:t>
            </a:r>
            <a:endParaRPr lang="en-US" sz="900" dirty="0"/>
          </a:p>
        </p:txBody>
      </p:sp>
      <p:sp>
        <p:nvSpPr>
          <p:cNvPr id="65" name="kotak-236"/>
          <p:cNvSpPr txBox="1"/>
          <p:nvPr/>
        </p:nvSpPr>
        <p:spPr>
          <a:xfrm>
            <a:off x="8275320" y="3246120"/>
            <a:ext cx="3520440" cy="352044"/>
          </a:xfrm>
          <a:prstGeom prst="roundRect">
            <a:avLst>
              <a:gd name="adj" fmla="val 10390"/>
            </a:avLst>
          </a:prstGeom>
          <a:solidFill>
            <a:srgbClr val="3E8E41"/>
          </a:solidFill>
          <a:ln w="9525">
            <a:solidFill>
              <a:srgbClr val="3E8E41"/>
            </a:solidFill>
          </a:ln>
        </p:spPr>
        <p:txBody>
          <a:bodyPr wrap="square" lIns="0" tIns="101600" rIns="10160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5,27 GWh/tahun</a:t>
            </a:r>
            <a:endParaRPr lang="en-US" sz="900" dirty="0"/>
          </a:p>
          <a:p>
            <a:pPr algn="l" indent="0" marL="0">
              <a:buNone/>
            </a:pPr>
            <a:r>
              <a:rPr lang="en-US" sz="7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rata-rata tahunan: 40,0 kWh/m³ POME; 26,0 kWh/t TBS</a:t>
            </a:r>
            <a:endParaRPr lang="en-US" sz="900" dirty="0"/>
          </a:p>
        </p:txBody>
      </p:sp>
      <p:sp>
        <p:nvSpPr>
          <p:cNvPr id="66" name="kotak-237"/>
          <p:cNvSpPr txBox="1"/>
          <p:nvPr/>
        </p:nvSpPr>
        <p:spPr>
          <a:xfrm>
            <a:off x="411480" y="3675888"/>
            <a:ext cx="3749040" cy="219456"/>
          </a:xfrm>
          <a:prstGeom prst="roundRect">
            <a:avLst>
              <a:gd name="adj" fmla="val 16667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Neraca energi (kW, nameplate)</a:t>
            </a:r>
            <a:endParaRPr lang="en-US" sz="950" dirty="0"/>
          </a:p>
        </p:txBody>
      </p:sp>
      <p:graphicFrame>
        <p:nvGraphicFramePr>
          <p:cNvPr id="67" name="Chart 0" descr=""/>
          <p:cNvGraphicFramePr/>
          <p:nvPr/>
        </p:nvGraphicFramePr>
        <p:xfrm>
          <a:off x="365760" y="3913632"/>
          <a:ext cx="3840480" cy="1554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8" name="teks-238"/>
          <p:cNvSpPr txBox="1"/>
          <p:nvPr/>
        </p:nvSpPr>
        <p:spPr>
          <a:xfrm>
            <a:off x="411480" y="54864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Efisiensi listrik 39,3%; pemakaian sendiri 9% dari daya kotor (pencampur jet 24 kW, menara pendingin 13 kW, bantu genset 36 kW). Panas selubung dan gas buang (1.405 kW) cukup memanasi reaktor (17 kW).</a:t>
            </a:r>
            <a:endParaRPr lang="en-US" sz="780" dirty="0"/>
          </a:p>
        </p:txBody>
      </p:sp>
      <p:sp>
        <p:nvSpPr>
          <p:cNvPr id="69" name="kotak-239"/>
          <p:cNvSpPr txBox="1"/>
          <p:nvPr/>
        </p:nvSpPr>
        <p:spPr>
          <a:xfrm>
            <a:off x="4297680" y="3675888"/>
            <a:ext cx="3749040" cy="219456"/>
          </a:xfrm>
          <a:prstGeom prst="roundRect">
            <a:avLst>
              <a:gd name="adj" fmla="val 16667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Kinerja reaktor selama setahun (simulasi 365 hari)</a:t>
            </a:r>
            <a:endParaRPr lang="en-US" sz="950" dirty="0"/>
          </a:p>
        </p:txBody>
      </p:sp>
      <p:graphicFrame>
        <p:nvGraphicFramePr>
          <p:cNvPr id="70" name="Chart 1" descr=""/>
          <p:cNvGraphicFramePr/>
          <p:nvPr/>
        </p:nvGraphicFramePr>
        <p:xfrm>
          <a:off x="4251960" y="3913632"/>
          <a:ext cx="3840480" cy="868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1" name="Chart 2" descr=""/>
          <p:cNvGraphicFramePr/>
          <p:nvPr/>
        </p:nvGraphicFramePr>
        <p:xfrm>
          <a:off x="4251960" y="4791456"/>
          <a:ext cx="3840480" cy="7132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2" name="teks-240"/>
          <p:cNvSpPr txBox="1"/>
          <p:nvPr/>
        </p:nvSpPr>
        <p:spPr>
          <a:xfrm>
            <a:off x="4297680" y="550468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Stabil: pH 7,11–7,2; FOS/TAC maks 0,05 (batas 0,3); VFA ≈ 85 mg/L. Dip: hari Minggu (≈ 94 kW) dan henti 14 hari; musiman ±25%.</a:t>
            </a:r>
            <a:endParaRPr lang="en-US" sz="780" dirty="0"/>
          </a:p>
        </p:txBody>
      </p:sp>
      <p:sp>
        <p:nvSpPr>
          <p:cNvPr id="73" name="kotak-241"/>
          <p:cNvSpPr txBox="1"/>
          <p:nvPr/>
        </p:nvSpPr>
        <p:spPr>
          <a:xfrm>
            <a:off x="8183880" y="3675888"/>
            <a:ext cx="3611880" cy="219456"/>
          </a:xfrm>
          <a:prstGeom prst="roundRect">
            <a:avLst>
              <a:gd name="adj" fmla="val 16667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Ketidakpastian umpan dan kinerja (400 sampel)</a:t>
            </a:r>
            <a:endParaRPr lang="en-US" sz="950" dirty="0"/>
          </a:p>
        </p:txBody>
      </p:sp>
      <p:graphicFrame>
        <p:nvGraphicFramePr>
          <p:cNvPr id="74" name="Chart 3" descr=""/>
          <p:cNvGraphicFramePr/>
          <p:nvPr/>
        </p:nvGraphicFramePr>
        <p:xfrm>
          <a:off x="8138160" y="3913632"/>
          <a:ext cx="3703320" cy="8961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5" name="tabel-2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83880" y="4846320"/>
          <a:ext cx="9144000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685800"/>
                <a:gridCol w="685800"/>
                <a:gridCol w="731520"/>
              </a:tblGrid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Keluaran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Biogas (Nm³/hari)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6.485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8.627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11.518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Daya neto (kW)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OLR (kg COD/m³·hari)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Penyisihan COD (%)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6" name="kotak-243"/>
          <p:cNvSpPr txBox="1"/>
          <p:nvPr/>
        </p:nvSpPr>
        <p:spPr>
          <a:xfrm>
            <a:off x="411480" y="594360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1000" dirty="0"/>
          </a:p>
        </p:txBody>
      </p:sp>
      <p:sp>
        <p:nvSpPr>
          <p:cNvPr id="77" name="kotak-244"/>
          <p:cNvSpPr txBox="1"/>
          <p:nvPr/>
        </p:nvSpPr>
        <p:spPr>
          <a:xfrm>
            <a:off x="1828800" y="5943600"/>
            <a:ext cx="9966960" cy="347472"/>
          </a:xfrm>
          <a:prstGeom prst="roundRect">
            <a:avLst>
              <a:gd name="adj" fmla="val 13158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101600" rIns="1016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m³ POME menghasilkan ≈ 40 kWh listrik neto per tahun; kolam metana ditutup dengan reaktor 5 hari, dan 91% daya kotor tersedia untuk dijual karena pemakaian sendiri hanya 9%.</a:t>
            </a:r>
            <a:endParaRPr lang="en-US" sz="950" dirty="0"/>
          </a:p>
        </p:txBody>
      </p:sp>
      <p:sp>
        <p:nvSpPr>
          <p:cNvPr id="78" name="teks-245"/>
          <p:cNvSpPr txBox="1"/>
          <p:nvPr/>
        </p:nvSpPr>
        <p:spPr>
          <a:xfrm>
            <a:off x="411480" y="6336792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Singkatan: COD kebutuhan oksigen kimiawi; OLR laju beban organik; FOS/TAC rasio asam volatil terhadap alkalinitas; VFA asam lemak volatil; LHV nilai kalor bawah; Nm³ meter kubik normal.</a:t>
            </a:r>
            <a:endParaRPr lang="en-US" sz="560" dirty="0"/>
          </a:p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process/biogas_balance.py Rev 2 (ADM1-lite terkalibrasi; simulasi 365 hari; Monte Carlo 400 sampel; results.json), research/R4 (Choorit 2007). Parameter kinetika: literatur; belum ada data terukur di lokasi (TRL 4).</a:t>
            </a:r>
            <a:endParaRPr lang="en-US" sz="5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Desain produk: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PFD, tata letak, model 3D, dan sembilan lembar gambar rekayasa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menunjukkan set yang dirancang rinci, bukan sekadar konsep</a:t>
            </a:r>
            <a:endParaRPr lang="en-US" sz="1900" dirty="0"/>
          </a:p>
        </p:txBody>
      </p:sp>
      <p:sp>
        <p:nvSpPr>
          <p:cNvPr id="3" name="kotak-246"/>
          <p:cNvSpPr txBox="1"/>
          <p:nvPr/>
        </p:nvSpPr>
        <p:spPr>
          <a:xfrm>
            <a:off x="41148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kotak-247"/>
          <p:cNvSpPr txBox="1"/>
          <p:nvPr/>
        </p:nvSpPr>
        <p:spPr>
          <a:xfrm>
            <a:off x="189280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C2464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800" dirty="0"/>
          </a:p>
        </p:txBody>
      </p:sp>
      <p:sp>
        <p:nvSpPr>
          <p:cNvPr id="5" name="kotak-248"/>
          <p:cNvSpPr txBox="1"/>
          <p:nvPr/>
        </p:nvSpPr>
        <p:spPr>
          <a:xfrm>
            <a:off x="3374136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</a:t>
            </a:r>
            <a:endParaRPr lang="en-US" sz="800" dirty="0"/>
          </a:p>
        </p:txBody>
      </p:sp>
      <p:sp>
        <p:nvSpPr>
          <p:cNvPr id="6" name="kotak-249"/>
          <p:cNvSpPr txBox="1"/>
          <p:nvPr/>
        </p:nvSpPr>
        <p:spPr>
          <a:xfrm>
            <a:off x="4855464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Keuangan</a:t>
            </a:r>
            <a:endParaRPr lang="en-US" sz="800" dirty="0"/>
          </a:p>
        </p:txBody>
      </p:sp>
      <p:sp>
        <p:nvSpPr>
          <p:cNvPr id="7" name="kotak-250"/>
          <p:cNvSpPr txBox="1"/>
          <p:nvPr/>
        </p:nvSpPr>
        <p:spPr>
          <a:xfrm>
            <a:off x="6336792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800" dirty="0"/>
          </a:p>
        </p:txBody>
      </p:sp>
      <p:sp>
        <p:nvSpPr>
          <p:cNvPr id="8" name="kotak-251"/>
          <p:cNvSpPr txBox="1"/>
          <p:nvPr/>
        </p:nvSpPr>
        <p:spPr>
          <a:xfrm>
            <a:off x="781812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800" dirty="0"/>
          </a:p>
        </p:txBody>
      </p:sp>
      <p:sp>
        <p:nvSpPr>
          <p:cNvPr id="9" name="kotak-252"/>
          <p:cNvSpPr txBox="1"/>
          <p:nvPr/>
        </p:nvSpPr>
        <p:spPr>
          <a:xfrm>
            <a:off x="929944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800" dirty="0"/>
          </a:p>
        </p:txBody>
      </p:sp>
      <p:sp>
        <p:nvSpPr>
          <p:cNvPr id="10" name="kotak-253"/>
          <p:cNvSpPr txBox="1"/>
          <p:nvPr/>
        </p:nvSpPr>
        <p:spPr>
          <a:xfrm>
            <a:off x="11338560" y="6583680"/>
            <a:ext cx="457200" cy="228600"/>
          </a:xfrm>
          <a:prstGeom prst="roundRect">
            <a:avLst>
              <a:gd name="adj" fmla="val 12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2" name="kotak-254"/>
          <p:cNvSpPr txBox="1"/>
          <p:nvPr/>
        </p:nvSpPr>
        <p:spPr>
          <a:xfrm>
            <a:off x="411480" y="1143000"/>
            <a:ext cx="5715000" cy="228600"/>
          </a:xfrm>
          <a:prstGeom prst="roundRect">
            <a:avLst>
              <a:gd name="adj" fmla="val 16000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Diagram alir proses (PFD BG-002 Rev 3): dibaca dari kiri ke kanan</a:t>
            </a:r>
            <a:endParaRPr lang="en-US" sz="950" dirty="0"/>
          </a:p>
        </p:txBody>
      </p:sp>
      <p:sp>
        <p:nvSpPr>
          <p:cNvPr id="13" name="kotak-255"/>
          <p:cNvSpPr/>
          <p:nvPr/>
        </p:nvSpPr>
        <p:spPr>
          <a:xfrm>
            <a:off x="411480" y="1371600"/>
            <a:ext cx="57150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D6E8"/>
            </a:solidFill>
            <a:prstDash val="solid"/>
          </a:ln>
        </p:spPr>
      </p:sp>
      <p:pic>
        <p:nvPicPr>
          <p:cNvPr id="14" name="gambar-256" descr="/home/user/aspebindo/deck/img/pfd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6942" y="1389888"/>
            <a:ext cx="5444076" cy="3072384"/>
          </a:xfrm>
          <a:prstGeom prst="rect">
            <a:avLst/>
          </a:prstGeom>
        </p:spPr>
      </p:pic>
      <p:sp>
        <p:nvSpPr>
          <p:cNvPr id="15" name="teks-257"/>
          <p:cNvSpPr txBox="1"/>
          <p:nvPr/>
        </p:nvSpPr>
        <p:spPr>
          <a:xfrm>
            <a:off x="411480" y="4507992"/>
            <a:ext cx="571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A-100 praolah · A-200 reaktor kontak · A-300 degasser, settler, lumpur · A-400 pemurnian dan penampung gas · A-500 genset dan pemulih panas · A-600 menara pendingin. Tag, nomor aliran 1–26, suhu, tekanan, dan laju massa tertera pada lembar A2.</a:t>
            </a:r>
            <a:endParaRPr lang="en-US" sz="750" dirty="0"/>
          </a:p>
        </p:txBody>
      </p:sp>
      <p:sp>
        <p:nvSpPr>
          <p:cNvPr id="16" name="kotak-258"/>
          <p:cNvSpPr txBox="1"/>
          <p:nvPr/>
        </p:nvSpPr>
        <p:spPr>
          <a:xfrm>
            <a:off x="411480" y="4818888"/>
            <a:ext cx="2834640" cy="201168"/>
          </a:xfrm>
          <a:prstGeom prst="roundRect">
            <a:avLst>
              <a:gd name="adj" fmla="val 18182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Reaktor GFS (BG-V-201): Ø11,5 × 10,8 m, 980 m³</a:t>
            </a:r>
            <a:endParaRPr lang="en-US" sz="750" dirty="0"/>
          </a:p>
        </p:txBody>
      </p:sp>
      <p:sp>
        <p:nvSpPr>
          <p:cNvPr id="17" name="kotak-259"/>
          <p:cNvSpPr/>
          <p:nvPr/>
        </p:nvSpPr>
        <p:spPr>
          <a:xfrm>
            <a:off x="411480" y="5020056"/>
            <a:ext cx="2834640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BFD6E8"/>
            </a:solidFill>
            <a:prstDash val="solid"/>
          </a:ln>
        </p:spPr>
      </p:sp>
      <p:pic>
        <p:nvPicPr>
          <p:cNvPr id="18" name="gambar-260" descr="/home/user/aspebindo/deck/img/v20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2270" y="5029200"/>
            <a:ext cx="1213059" cy="886968"/>
          </a:xfrm>
          <a:prstGeom prst="rect">
            <a:avLst/>
          </a:prstGeom>
        </p:spPr>
      </p:pic>
      <p:sp>
        <p:nvSpPr>
          <p:cNvPr id="19" name="kotak-261"/>
          <p:cNvSpPr txBox="1"/>
          <p:nvPr/>
        </p:nvSpPr>
        <p:spPr>
          <a:xfrm>
            <a:off x="3291840" y="4818888"/>
            <a:ext cx="2834640" cy="201168"/>
          </a:xfrm>
          <a:prstGeom prst="roundRect">
            <a:avLst>
              <a:gd name="adj" fmla="val 18182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⑥ Skid kontak (BG-M-004): degasser + lamella</a:t>
            </a:r>
            <a:endParaRPr lang="en-US" sz="750" dirty="0"/>
          </a:p>
        </p:txBody>
      </p:sp>
      <p:sp>
        <p:nvSpPr>
          <p:cNvPr id="20" name="kotak-262"/>
          <p:cNvSpPr/>
          <p:nvPr/>
        </p:nvSpPr>
        <p:spPr>
          <a:xfrm>
            <a:off x="3291840" y="5020056"/>
            <a:ext cx="2834640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BFD6E8"/>
            </a:solidFill>
            <a:prstDash val="solid"/>
          </a:ln>
        </p:spPr>
      </p:sp>
      <p:pic>
        <p:nvPicPr>
          <p:cNvPr id="21" name="gambar-263" descr="/home/user/aspebindo/deck/img/m00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1563" y="5029200"/>
            <a:ext cx="1075195" cy="886968"/>
          </a:xfrm>
          <a:prstGeom prst="rect">
            <a:avLst/>
          </a:prstGeom>
        </p:spPr>
      </p:pic>
      <p:sp>
        <p:nvSpPr>
          <p:cNvPr id="22" name="kotak-264"/>
          <p:cNvSpPr txBox="1"/>
          <p:nvPr/>
        </p:nvSpPr>
        <p:spPr>
          <a:xfrm>
            <a:off x="6263640" y="1143000"/>
            <a:ext cx="5532120" cy="228600"/>
          </a:xfrm>
          <a:prstGeom prst="roundRect">
            <a:avLst>
              <a:gd name="adj" fmla="val 16000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Tata letak plot 1:400 (BG-GA-001): 99,65 × 37,7 m = 0,38 ha</a:t>
            </a:r>
            <a:endParaRPr lang="en-US" sz="900" dirty="0"/>
          </a:p>
        </p:txBody>
      </p:sp>
      <p:sp>
        <p:nvSpPr>
          <p:cNvPr id="23" name="kotak-265"/>
          <p:cNvSpPr/>
          <p:nvPr/>
        </p:nvSpPr>
        <p:spPr>
          <a:xfrm>
            <a:off x="6263640" y="1371600"/>
            <a:ext cx="553212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BFD6E8"/>
            </a:solidFill>
            <a:prstDash val="solid"/>
          </a:ln>
        </p:spPr>
      </p:sp>
      <p:pic>
        <p:nvPicPr>
          <p:cNvPr id="24" name="gambar-266" descr="/home/user/aspebindo/deck/img/plan_g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2432" y="1389888"/>
            <a:ext cx="5314537" cy="1837944"/>
          </a:xfrm>
          <a:prstGeom prst="rect">
            <a:avLst/>
          </a:prstGeom>
        </p:spPr>
      </p:pic>
      <p:sp>
        <p:nvSpPr>
          <p:cNvPr id="25" name="kotak-267"/>
          <p:cNvSpPr txBox="1"/>
          <p:nvPr/>
        </p:nvSpPr>
        <p:spPr>
          <a:xfrm>
            <a:off x="6263640" y="3310128"/>
            <a:ext cx="2743200" cy="201168"/>
          </a:xfrm>
          <a:prstGeom prst="roundRect">
            <a:avLst>
              <a:gd name="adj" fmla="val 18182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Model 3D set lengkap</a:t>
            </a:r>
            <a:endParaRPr lang="en-US" sz="800" dirty="0"/>
          </a:p>
        </p:txBody>
      </p:sp>
      <p:sp>
        <p:nvSpPr>
          <p:cNvPr id="26" name="kotak-268"/>
          <p:cNvSpPr/>
          <p:nvPr/>
        </p:nvSpPr>
        <p:spPr>
          <a:xfrm>
            <a:off x="6263640" y="3511296"/>
            <a:ext cx="27432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BFD6E8"/>
            </a:solidFill>
            <a:prstDash val="solid"/>
          </a:ln>
        </p:spPr>
      </p:sp>
      <p:pic>
        <p:nvPicPr>
          <p:cNvPr id="27" name="gambar-269" descr="/home/user/aspebindo/cad/out/render/PLANT_iso-depa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8138" y="3529584"/>
            <a:ext cx="1954203" cy="1243584"/>
          </a:xfrm>
          <a:prstGeom prst="rect">
            <a:avLst/>
          </a:prstGeom>
        </p:spPr>
      </p:pic>
      <p:sp>
        <p:nvSpPr>
          <p:cNvPr id="28" name="kotak-270"/>
          <p:cNvSpPr txBox="1"/>
          <p:nvPr/>
        </p:nvSpPr>
        <p:spPr>
          <a:xfrm>
            <a:off x="9052560" y="3310128"/>
            <a:ext cx="2743200" cy="201168"/>
          </a:xfrm>
          <a:prstGeom prst="roundRect">
            <a:avLst>
              <a:gd name="adj" fmla="val 18182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Lokasi di PKS 1:1750 (BG-GA-002)</a:t>
            </a:r>
            <a:endParaRPr lang="en-US" sz="800" dirty="0"/>
          </a:p>
        </p:txBody>
      </p:sp>
      <p:sp>
        <p:nvSpPr>
          <p:cNvPr id="29" name="kotak-271"/>
          <p:cNvSpPr/>
          <p:nvPr/>
        </p:nvSpPr>
        <p:spPr>
          <a:xfrm>
            <a:off x="9052560" y="3511296"/>
            <a:ext cx="27432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BFD6E8"/>
            </a:solidFill>
            <a:prstDash val="solid"/>
          </a:ln>
        </p:spPr>
      </p:sp>
      <p:pic>
        <p:nvPicPr>
          <p:cNvPr id="30" name="gambar-272" descr="/home/user/aspebindo/deck/img/ga002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0848" y="3613810"/>
            <a:ext cx="2706624" cy="1075131"/>
          </a:xfrm>
          <a:prstGeom prst="rect">
            <a:avLst/>
          </a:prstGeom>
        </p:spPr>
      </p:pic>
      <p:sp>
        <p:nvSpPr>
          <p:cNvPr id="31" name="kotak-273"/>
          <p:cNvSpPr txBox="1"/>
          <p:nvPr/>
        </p:nvSpPr>
        <p:spPr>
          <a:xfrm>
            <a:off x="6263640" y="4846320"/>
            <a:ext cx="5532120" cy="201168"/>
          </a:xfrm>
          <a:prstGeom prst="roundRect">
            <a:avLst>
              <a:gd name="adj" fmla="val 18182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Peralatan utama modul acuan 45 t TBS/jam (dari PFD dan daftar bagian)</a:t>
            </a:r>
            <a:endParaRPr lang="en-US" sz="800" dirty="0"/>
          </a:p>
        </p:txBody>
      </p:sp>
      <p:graphicFrame>
        <p:nvGraphicFramePr>
          <p:cNvPr id="6" name="tabel-27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5056632"/>
          <a:ext cx="91440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606040"/>
                <a:gridCol w="1828800"/>
              </a:tblGrid>
              <a:tr h="1554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Tag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Uraian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Ukuran / kapasitas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1444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R-201…203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reaktor kontak GFS dibaut, 55 °C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Ø11,46 × 10,8 m; 3 × 980 m³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44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DG-301 · LS-301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degasser vakum · settler lamella 60°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m³ · 81 m² proyeksi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444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GH-301 · FL-301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penampung gas membran ganda · flare tertutup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986 m³ (2 jam) · ≥ 15 m dari GH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44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BTF-301 · AC-301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bio-scrubber H₂S · karbon aktif penjaga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2.868 → 21 ppm H₂S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444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GE-401/402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genset biogas kontainer 40 ft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600 kWe; η 39,3%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kotak-275"/>
          <p:cNvSpPr txBox="1"/>
          <p:nvPr/>
        </p:nvSpPr>
        <p:spPr>
          <a:xfrm>
            <a:off x="411480" y="594360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1000" dirty="0"/>
          </a:p>
        </p:txBody>
      </p:sp>
      <p:sp>
        <p:nvSpPr>
          <p:cNvPr id="34" name="kotak-276"/>
          <p:cNvSpPr txBox="1"/>
          <p:nvPr/>
        </p:nvSpPr>
        <p:spPr>
          <a:xfrm>
            <a:off x="1828800" y="5943600"/>
            <a:ext cx="9966960" cy="347472"/>
          </a:xfrm>
          <a:prstGeom prst="roundRect">
            <a:avLst>
              <a:gd name="adj" fmla="val 13158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101600" rIns="1016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Rancangan sudah mencakup PFD, tata letak dengan jarak aman terverifikasi, model 3D, dan gambar unit utama; yang belum ada adalah gambar tangki ekualisasi dan modul keempat untuk skala 60 t TBS/jam.</a:t>
            </a:r>
            <a:endParaRPr lang="en-US" sz="950" dirty="0"/>
          </a:p>
        </p:txBody>
      </p:sp>
      <p:sp>
        <p:nvSpPr>
          <p:cNvPr id="35" name="teks-277"/>
          <p:cNvSpPr txBox="1"/>
          <p:nvPr/>
        </p:nvSpPr>
        <p:spPr>
          <a:xfrm>
            <a:off x="411480" y="6336792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Singkatan: PFD diagram alir proses; GFS baja berlapis kaca; PM modul portabel; DG degasser; LS settler lamella; ISO/ISA standar simbol.</a:t>
            </a:r>
            <a:endParaRPr lang="en-US" sz="560" dirty="0"/>
          </a:p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pfd/outputs/PFD_BG-002_Rev3.pdf; cad/drawings/out/BG_drawing_set_A3.pdf (9 lembar, pemeriksa tabrakan teks: 0 temuan); model CadQuery tim.</a:t>
            </a:r>
            <a:endParaRPr lang="en-US" sz="5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 lebih murah dalam modal, tetapi hanya layanan BOO kami yang memberi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modal PKS nol dan risiko di operator</a:t>
            </a:r>
            <a:endParaRPr lang="en-US" sz="1900" dirty="0"/>
          </a:p>
        </p:txBody>
      </p:sp>
      <p:sp>
        <p:nvSpPr>
          <p:cNvPr id="3" name="kotak-278"/>
          <p:cNvSpPr txBox="1"/>
          <p:nvPr/>
        </p:nvSpPr>
        <p:spPr>
          <a:xfrm>
            <a:off x="41148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kotak-279"/>
          <p:cNvSpPr txBox="1"/>
          <p:nvPr/>
        </p:nvSpPr>
        <p:spPr>
          <a:xfrm>
            <a:off x="189280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800" dirty="0"/>
          </a:p>
        </p:txBody>
      </p:sp>
      <p:sp>
        <p:nvSpPr>
          <p:cNvPr id="5" name="kotak-280"/>
          <p:cNvSpPr txBox="1"/>
          <p:nvPr/>
        </p:nvSpPr>
        <p:spPr>
          <a:xfrm>
            <a:off x="3374136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C2464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</a:t>
            </a:r>
            <a:endParaRPr lang="en-US" sz="800" dirty="0"/>
          </a:p>
        </p:txBody>
      </p:sp>
      <p:sp>
        <p:nvSpPr>
          <p:cNvPr id="6" name="kotak-281"/>
          <p:cNvSpPr txBox="1"/>
          <p:nvPr/>
        </p:nvSpPr>
        <p:spPr>
          <a:xfrm>
            <a:off x="4855464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Keuangan</a:t>
            </a:r>
            <a:endParaRPr lang="en-US" sz="800" dirty="0"/>
          </a:p>
        </p:txBody>
      </p:sp>
      <p:sp>
        <p:nvSpPr>
          <p:cNvPr id="7" name="kotak-282"/>
          <p:cNvSpPr txBox="1"/>
          <p:nvPr/>
        </p:nvSpPr>
        <p:spPr>
          <a:xfrm>
            <a:off x="6336792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800" dirty="0"/>
          </a:p>
        </p:txBody>
      </p:sp>
      <p:sp>
        <p:nvSpPr>
          <p:cNvPr id="8" name="kotak-283"/>
          <p:cNvSpPr txBox="1"/>
          <p:nvPr/>
        </p:nvSpPr>
        <p:spPr>
          <a:xfrm>
            <a:off x="781812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800" dirty="0"/>
          </a:p>
        </p:txBody>
      </p:sp>
      <p:sp>
        <p:nvSpPr>
          <p:cNvPr id="9" name="kotak-284"/>
          <p:cNvSpPr txBox="1"/>
          <p:nvPr/>
        </p:nvSpPr>
        <p:spPr>
          <a:xfrm>
            <a:off x="929944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800" dirty="0"/>
          </a:p>
        </p:txBody>
      </p:sp>
      <p:sp>
        <p:nvSpPr>
          <p:cNvPr id="10" name="kotak-285"/>
          <p:cNvSpPr txBox="1"/>
          <p:nvPr/>
        </p:nvSpPr>
        <p:spPr>
          <a:xfrm>
            <a:off x="11338560" y="6583680"/>
            <a:ext cx="457200" cy="228600"/>
          </a:xfrm>
          <a:prstGeom prst="roundRect">
            <a:avLst>
              <a:gd name="adj" fmla="val 12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kotak-286"/>
          <p:cNvSpPr txBox="1"/>
          <p:nvPr/>
        </p:nvSpPr>
        <p:spPr>
          <a:xfrm>
            <a:off x="411480" y="1143000"/>
            <a:ext cx="6949440" cy="228600"/>
          </a:xfrm>
          <a:prstGeom prst="roundRect">
            <a:avLst>
              <a:gd name="adj" fmla="val 16000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Pembanding teknologi dan model penyampaian (per PKS 60 t TBS/jam)</a:t>
            </a:r>
            <a:endParaRPr lang="en-US" sz="950" dirty="0"/>
          </a:p>
        </p:txBody>
      </p:sp>
      <p:graphicFrame>
        <p:nvGraphicFramePr>
          <p:cNvPr id="7" name="tabel-28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89888"/>
          <a:ext cx="91440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31520"/>
                <a:gridCol w="914400"/>
                <a:gridCol w="777240"/>
                <a:gridCol w="365760"/>
                <a:gridCol w="1645920"/>
                <a:gridCol w="5029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Opsi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 PKS (USD juta)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Biaya POME PKS (USD/t TBS)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Risiko kinerja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TRL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Referensi di Indonesia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Skor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 Status quo kolam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±85–90% PKS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 Lagun tertutup (milik PKS)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PKS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Sei Mangkei 2,4 MW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 CSTR mesofilik (milik PKS)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PKS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TSE 2 MW (2025)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 Biometana BOOT (klaster)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pengembang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PTPN IV, 8 PKS (2026)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 UASB/IC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±4,4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PKS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belum ada untuk POME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  AnMBR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±8,0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PKS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belum ada untuk POME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  Kontak termofilik BOO (usulan)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belum (perlu pilot)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3,83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8E41"/>
                    </a:solidFill>
                  </a:tcPr>
                </a:tc>
              </a:tr>
            </a:tbl>
          </a:graphicData>
        </a:graphic>
      </p:graphicFrame>
      <p:sp>
        <p:nvSpPr>
          <p:cNvPr id="14" name="teks-288"/>
          <p:cNvSpPr txBox="1"/>
          <p:nvPr/>
        </p:nvSpPr>
        <p:spPr>
          <a:xfrm>
            <a:off x="411480" y="3136392"/>
            <a:ext cx="6949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Biaya POME PKS = biaya terlevelisasi 20 tahun (Model Keputusan PKS, solar tergantikan 2,0 L/t TBS); opsi D–F tanpa data biaya publik. Skor 1–5 berbobot (K1–K7, slide 2).</a:t>
            </a:r>
            <a:endParaRPr lang="en-US" sz="730" dirty="0"/>
          </a:p>
        </p:txBody>
      </p:sp>
      <p:sp>
        <p:nvSpPr>
          <p:cNvPr id="15" name="kotak-289"/>
          <p:cNvSpPr txBox="1"/>
          <p:nvPr/>
        </p:nvSpPr>
        <p:spPr>
          <a:xfrm>
            <a:off x="7498080" y="1143000"/>
            <a:ext cx="4297680" cy="228600"/>
          </a:xfrm>
          <a:prstGeom prst="roundRect">
            <a:avLst>
              <a:gd name="adj" fmla="val 16000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Peta posisi: modal PKS vs biaya POME PKS (model)</a:t>
            </a:r>
            <a:endParaRPr lang="en-US" sz="950" dirty="0"/>
          </a:p>
        </p:txBody>
      </p:sp>
      <p:sp>
        <p:nvSpPr>
          <p:cNvPr id="16" name="kotak-290"/>
          <p:cNvSpPr/>
          <p:nvPr/>
        </p:nvSpPr>
        <p:spPr>
          <a:xfrm>
            <a:off x="8001000" y="1600200"/>
            <a:ext cx="361188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17" name="garis-291"/>
          <p:cNvSpPr/>
          <p:nvPr/>
        </p:nvSpPr>
        <p:spPr>
          <a:xfrm>
            <a:off x="8001000" y="2859786"/>
            <a:ext cx="3611880" cy="0"/>
          </a:xfrm>
          <a:prstGeom prst="line">
            <a:avLst/>
          </a:prstGeom>
          <a:noFill/>
          <a:ln w="6350">
            <a:solidFill>
              <a:srgbClr val="E3ECF4"/>
            </a:solidFill>
            <a:prstDash val="solid"/>
          </a:ln>
        </p:spPr>
      </p:sp>
      <p:sp>
        <p:nvSpPr>
          <p:cNvPr id="18" name="teks-292"/>
          <p:cNvSpPr txBox="1"/>
          <p:nvPr/>
        </p:nvSpPr>
        <p:spPr>
          <a:xfrm>
            <a:off x="7680960" y="2795778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</a:t>
            </a:r>
            <a:endParaRPr lang="en-US" sz="750" dirty="0"/>
          </a:p>
        </p:txBody>
      </p:sp>
      <p:sp>
        <p:nvSpPr>
          <p:cNvPr id="19" name="garis-293"/>
          <p:cNvSpPr/>
          <p:nvPr/>
        </p:nvSpPr>
        <p:spPr>
          <a:xfrm>
            <a:off x="8001000" y="2528316"/>
            <a:ext cx="3611880" cy="0"/>
          </a:xfrm>
          <a:prstGeom prst="line">
            <a:avLst/>
          </a:prstGeom>
          <a:noFill/>
          <a:ln w="6350">
            <a:solidFill>
              <a:srgbClr val="E3ECF4"/>
            </a:solidFill>
            <a:prstDash val="solid"/>
          </a:ln>
        </p:spPr>
      </p:sp>
      <p:sp>
        <p:nvSpPr>
          <p:cNvPr id="20" name="teks-294"/>
          <p:cNvSpPr txBox="1"/>
          <p:nvPr/>
        </p:nvSpPr>
        <p:spPr>
          <a:xfrm>
            <a:off x="7680960" y="2464308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</a:t>
            </a:r>
            <a:endParaRPr lang="en-US" sz="750" dirty="0"/>
          </a:p>
        </p:txBody>
      </p:sp>
      <p:sp>
        <p:nvSpPr>
          <p:cNvPr id="21" name="garis-295"/>
          <p:cNvSpPr/>
          <p:nvPr/>
        </p:nvSpPr>
        <p:spPr>
          <a:xfrm>
            <a:off x="8001000" y="2196846"/>
            <a:ext cx="3611880" cy="0"/>
          </a:xfrm>
          <a:prstGeom prst="line">
            <a:avLst/>
          </a:prstGeom>
          <a:noFill/>
          <a:ln w="6350">
            <a:solidFill>
              <a:srgbClr val="E3ECF4"/>
            </a:solidFill>
            <a:prstDash val="solid"/>
          </a:ln>
        </p:spPr>
      </p:sp>
      <p:sp>
        <p:nvSpPr>
          <p:cNvPr id="22" name="teks-296"/>
          <p:cNvSpPr txBox="1"/>
          <p:nvPr/>
        </p:nvSpPr>
        <p:spPr>
          <a:xfrm>
            <a:off x="7680960" y="2132838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</a:t>
            </a:r>
            <a:endParaRPr lang="en-US" sz="750" dirty="0"/>
          </a:p>
        </p:txBody>
      </p:sp>
      <p:sp>
        <p:nvSpPr>
          <p:cNvPr id="23" name="garis-297"/>
          <p:cNvSpPr/>
          <p:nvPr/>
        </p:nvSpPr>
        <p:spPr>
          <a:xfrm>
            <a:off x="8001000" y="1865376"/>
            <a:ext cx="3611880" cy="0"/>
          </a:xfrm>
          <a:prstGeom prst="line">
            <a:avLst/>
          </a:prstGeom>
          <a:noFill/>
          <a:ln w="6350">
            <a:solidFill>
              <a:srgbClr val="E3ECF4"/>
            </a:solidFill>
            <a:prstDash val="solid"/>
          </a:ln>
        </p:spPr>
      </p:sp>
      <p:sp>
        <p:nvSpPr>
          <p:cNvPr id="24" name="teks-298"/>
          <p:cNvSpPr txBox="1"/>
          <p:nvPr/>
        </p:nvSpPr>
        <p:spPr>
          <a:xfrm>
            <a:off x="7680960" y="1801368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3,0</a:t>
            </a:r>
            <a:endParaRPr lang="en-US" sz="750" dirty="0"/>
          </a:p>
        </p:txBody>
      </p:sp>
      <p:sp>
        <p:nvSpPr>
          <p:cNvPr id="25" name="teks-299"/>
          <p:cNvSpPr txBox="1"/>
          <p:nvPr/>
        </p:nvSpPr>
        <p:spPr>
          <a:xfrm>
            <a:off x="7863840" y="2944368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750" dirty="0"/>
          </a:p>
        </p:txBody>
      </p:sp>
      <p:sp>
        <p:nvSpPr>
          <p:cNvPr id="26" name="teks-300"/>
          <p:cNvSpPr txBox="1"/>
          <p:nvPr/>
        </p:nvSpPr>
        <p:spPr>
          <a:xfrm>
            <a:off x="8666480" y="2944368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  <p:sp>
        <p:nvSpPr>
          <p:cNvPr id="27" name="teks-301"/>
          <p:cNvSpPr txBox="1"/>
          <p:nvPr/>
        </p:nvSpPr>
        <p:spPr>
          <a:xfrm>
            <a:off x="9469120" y="2944368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28" name="teks-302"/>
          <p:cNvSpPr txBox="1"/>
          <p:nvPr/>
        </p:nvSpPr>
        <p:spPr>
          <a:xfrm>
            <a:off x="10271760" y="2944368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sp>
        <p:nvSpPr>
          <p:cNvPr id="29" name="teks-303"/>
          <p:cNvSpPr txBox="1"/>
          <p:nvPr/>
        </p:nvSpPr>
        <p:spPr>
          <a:xfrm>
            <a:off x="11074400" y="2944368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30" name="teks-304"/>
          <p:cNvSpPr txBox="1"/>
          <p:nvPr/>
        </p:nvSpPr>
        <p:spPr>
          <a:xfrm>
            <a:off x="8001000" y="3081528"/>
            <a:ext cx="3611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yang dikeluarkan PKS (USD juta)</a:t>
            </a:r>
            <a:endParaRPr lang="en-US" sz="780" dirty="0"/>
          </a:p>
        </p:txBody>
      </p:sp>
      <p:sp>
        <p:nvSpPr>
          <p:cNvPr id="31" name="teks-305"/>
          <p:cNvSpPr txBox="1"/>
          <p:nvPr/>
        </p:nvSpPr>
        <p:spPr>
          <a:xfrm>
            <a:off x="7479792" y="1600200"/>
            <a:ext cx="502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USD/t TBS</a:t>
            </a:r>
            <a:endParaRPr lang="en-US" sz="750" dirty="0"/>
          </a:p>
        </p:txBody>
      </p:sp>
      <p:sp>
        <p:nvSpPr>
          <p:cNvPr id="32" name="kotak-306"/>
          <p:cNvSpPr txBox="1"/>
          <p:nvPr/>
        </p:nvSpPr>
        <p:spPr>
          <a:xfrm>
            <a:off x="7936992" y="1662853"/>
            <a:ext cx="219456" cy="219456"/>
          </a:xfrm>
          <a:prstGeom prst="roundRect">
            <a:avLst>
              <a:gd name="adj" fmla="val 58333"/>
            </a:avLst>
          </a:prstGeom>
          <a:solidFill>
            <a:srgbClr val="5B6B7F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900" dirty="0"/>
          </a:p>
        </p:txBody>
      </p:sp>
      <p:sp>
        <p:nvSpPr>
          <p:cNvPr id="33" name="kotak-307"/>
          <p:cNvSpPr txBox="1"/>
          <p:nvPr/>
        </p:nvSpPr>
        <p:spPr>
          <a:xfrm>
            <a:off x="10716565" y="2408208"/>
            <a:ext cx="219456" cy="219456"/>
          </a:xfrm>
          <a:prstGeom prst="roundRect">
            <a:avLst>
              <a:gd name="adj" fmla="val 58333"/>
            </a:avLst>
          </a:prstGeom>
          <a:solidFill>
            <a:srgbClr val="6898C8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900" dirty="0"/>
          </a:p>
        </p:txBody>
      </p:sp>
      <p:sp>
        <p:nvSpPr>
          <p:cNvPr id="34" name="kotak-308"/>
          <p:cNvSpPr txBox="1"/>
          <p:nvPr/>
        </p:nvSpPr>
        <p:spPr>
          <a:xfrm>
            <a:off x="11101832" y="2629639"/>
            <a:ext cx="219456" cy="219456"/>
          </a:xfrm>
          <a:prstGeom prst="roundRect">
            <a:avLst>
              <a:gd name="adj" fmla="val 58333"/>
            </a:avLst>
          </a:prstGeom>
          <a:solidFill>
            <a:srgbClr val="6898C8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kotak-309"/>
          <p:cNvSpPr txBox="1"/>
          <p:nvPr/>
        </p:nvSpPr>
        <p:spPr>
          <a:xfrm>
            <a:off x="8183880" y="1753029"/>
            <a:ext cx="219456" cy="219456"/>
          </a:xfrm>
          <a:prstGeom prst="roundRect">
            <a:avLst>
              <a:gd name="adj" fmla="val 58333"/>
            </a:avLst>
          </a:prstGeom>
          <a:solidFill>
            <a:srgbClr val="3E8E41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900" dirty="0"/>
          </a:p>
        </p:txBody>
      </p:sp>
      <p:sp>
        <p:nvSpPr>
          <p:cNvPr id="36" name="teks-310"/>
          <p:cNvSpPr txBox="1"/>
          <p:nvPr/>
        </p:nvSpPr>
        <p:spPr>
          <a:xfrm>
            <a:off x="7635240" y="3255264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G: modal nol, biaya setara kolam (A). B dan C lebih murah tetapi menuntut USD 3,5–4,0 juta dan risiko kinerja di PKS.</a:t>
            </a:r>
            <a:endParaRPr lang="en-US" sz="750" dirty="0"/>
          </a:p>
        </p:txBody>
      </p:sp>
      <p:sp>
        <p:nvSpPr>
          <p:cNvPr id="37" name="kotak-311"/>
          <p:cNvSpPr txBox="1"/>
          <p:nvPr/>
        </p:nvSpPr>
        <p:spPr>
          <a:xfrm>
            <a:off x="411480" y="3383280"/>
            <a:ext cx="324612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Lima kekuatan Porter (1–5)</a:t>
            </a:r>
            <a:endParaRPr lang="en-US" sz="900" dirty="0"/>
          </a:p>
        </p:txBody>
      </p:sp>
      <p:sp>
        <p:nvSpPr>
          <p:cNvPr id="38" name="teks-312"/>
          <p:cNvSpPr txBox="1"/>
          <p:nvPr/>
        </p:nvSpPr>
        <p:spPr>
          <a:xfrm>
            <a:off x="411480" y="3639312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Pembeli (PKS, PLN)</a:t>
            </a:r>
            <a:endParaRPr lang="en-US" sz="800" dirty="0"/>
          </a:p>
        </p:txBody>
      </p:sp>
      <p:sp>
        <p:nvSpPr>
          <p:cNvPr id="39" name="kotak-313"/>
          <p:cNvSpPr/>
          <p:nvPr/>
        </p:nvSpPr>
        <p:spPr>
          <a:xfrm>
            <a:off x="1627632" y="3648456"/>
            <a:ext cx="1280160" cy="128016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40" name="kotak-314"/>
          <p:cNvSpPr/>
          <p:nvPr/>
        </p:nvSpPr>
        <p:spPr>
          <a:xfrm>
            <a:off x="1627632" y="3648456"/>
            <a:ext cx="981456" cy="128016"/>
          </a:xfrm>
          <a:prstGeom prst="rect">
            <a:avLst/>
          </a:prstGeom>
          <a:solidFill>
            <a:srgbClr val="C8452F"/>
          </a:solidFill>
          <a:ln w="12700">
            <a:solidFill>
              <a:srgbClr val="C8452F"/>
            </a:solidFill>
            <a:prstDash val="solid"/>
          </a:ln>
        </p:spPr>
      </p:sp>
      <p:sp>
        <p:nvSpPr>
          <p:cNvPr id="41" name="teks-315"/>
          <p:cNvSpPr txBox="1"/>
          <p:nvPr/>
        </p:nvSpPr>
        <p:spPr>
          <a:xfrm>
            <a:off x="2944368" y="3639312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3,8</a:t>
            </a:r>
            <a:endParaRPr lang="en-US" sz="800" dirty="0"/>
          </a:p>
        </p:txBody>
      </p:sp>
      <p:sp>
        <p:nvSpPr>
          <p:cNvPr id="42" name="teks-316"/>
          <p:cNvSpPr txBox="1"/>
          <p:nvPr/>
        </p:nvSpPr>
        <p:spPr>
          <a:xfrm>
            <a:off x="411480" y="3776472"/>
            <a:ext cx="3200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harus &lt; biaya yang dihindari PKS</a:t>
            </a:r>
            <a:endParaRPr lang="en-US" sz="720" dirty="0"/>
          </a:p>
        </p:txBody>
      </p:sp>
      <p:sp>
        <p:nvSpPr>
          <p:cNvPr id="43" name="teks-317"/>
          <p:cNvSpPr txBox="1"/>
          <p:nvPr/>
        </p:nvSpPr>
        <p:spPr>
          <a:xfrm>
            <a:off x="411480" y="3931920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Persaingan</a:t>
            </a:r>
            <a:endParaRPr lang="en-US" sz="800" dirty="0"/>
          </a:p>
        </p:txBody>
      </p:sp>
      <p:sp>
        <p:nvSpPr>
          <p:cNvPr id="44" name="kotak-318"/>
          <p:cNvSpPr/>
          <p:nvPr/>
        </p:nvSpPr>
        <p:spPr>
          <a:xfrm>
            <a:off x="1627632" y="3941064"/>
            <a:ext cx="1280160" cy="128016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45" name="kotak-319"/>
          <p:cNvSpPr/>
          <p:nvPr/>
        </p:nvSpPr>
        <p:spPr>
          <a:xfrm>
            <a:off x="1627632" y="3941064"/>
            <a:ext cx="887578" cy="128016"/>
          </a:xfrm>
          <a:prstGeom prst="rect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46" name="teks-320"/>
          <p:cNvSpPr txBox="1"/>
          <p:nvPr/>
        </p:nvSpPr>
        <p:spPr>
          <a:xfrm>
            <a:off x="2944368" y="3931920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3,5</a:t>
            </a:r>
            <a:endParaRPr lang="en-US" sz="800" dirty="0"/>
          </a:p>
        </p:txBody>
      </p:sp>
      <p:sp>
        <p:nvSpPr>
          <p:cNvPr id="47" name="teks-321"/>
          <p:cNvSpPr txBox="1"/>
          <p:nvPr/>
        </p:nvSpPr>
        <p:spPr>
          <a:xfrm>
            <a:off x="411480" y="4069080"/>
            <a:ext cx="3200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 reNIKOLA, EPC lagun, program grup</a:t>
            </a:r>
            <a:endParaRPr lang="en-US" sz="720" dirty="0"/>
          </a:p>
        </p:txBody>
      </p:sp>
      <p:sp>
        <p:nvSpPr>
          <p:cNvPr id="48" name="teks-322"/>
          <p:cNvSpPr txBox="1"/>
          <p:nvPr/>
        </p:nvSpPr>
        <p:spPr>
          <a:xfrm>
            <a:off x="411480" y="4224528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 substitusi</a:t>
            </a:r>
            <a:endParaRPr lang="en-US" sz="800" dirty="0"/>
          </a:p>
        </p:txBody>
      </p:sp>
      <p:sp>
        <p:nvSpPr>
          <p:cNvPr id="49" name="kotak-323"/>
          <p:cNvSpPr/>
          <p:nvPr/>
        </p:nvSpPr>
        <p:spPr>
          <a:xfrm>
            <a:off x="1627632" y="4233672"/>
            <a:ext cx="1280160" cy="128016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0" name="kotak-324"/>
          <p:cNvSpPr/>
          <p:nvPr/>
        </p:nvSpPr>
        <p:spPr>
          <a:xfrm>
            <a:off x="1627632" y="4233672"/>
            <a:ext cx="819302" cy="128016"/>
          </a:xfrm>
          <a:prstGeom prst="rect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51" name="teks-325"/>
          <p:cNvSpPr txBox="1"/>
          <p:nvPr/>
        </p:nvSpPr>
        <p:spPr>
          <a:xfrm>
            <a:off x="2944368" y="4224528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3,2</a:t>
            </a:r>
            <a:endParaRPr lang="en-US" sz="800" dirty="0"/>
          </a:p>
        </p:txBody>
      </p:sp>
      <p:sp>
        <p:nvSpPr>
          <p:cNvPr id="52" name="teks-326"/>
          <p:cNvSpPr txBox="1"/>
          <p:nvPr/>
        </p:nvSpPr>
        <p:spPr>
          <a:xfrm>
            <a:off x="411480" y="4361688"/>
            <a:ext cx="3200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kolam murah; PLTS + baterai</a:t>
            </a:r>
            <a:endParaRPr lang="en-US" sz="720" dirty="0"/>
          </a:p>
        </p:txBody>
      </p:sp>
      <p:sp>
        <p:nvSpPr>
          <p:cNvPr id="53" name="teks-327"/>
          <p:cNvSpPr txBox="1"/>
          <p:nvPr/>
        </p:nvSpPr>
        <p:spPr>
          <a:xfrm>
            <a:off x="411480" y="4517136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Pendatang baru</a:t>
            </a:r>
            <a:endParaRPr lang="en-US" sz="800" dirty="0"/>
          </a:p>
        </p:txBody>
      </p:sp>
      <p:sp>
        <p:nvSpPr>
          <p:cNvPr id="54" name="kotak-328"/>
          <p:cNvSpPr/>
          <p:nvPr/>
        </p:nvSpPr>
        <p:spPr>
          <a:xfrm>
            <a:off x="1627632" y="4526280"/>
            <a:ext cx="1280160" cy="128016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5" name="kotak-329"/>
          <p:cNvSpPr/>
          <p:nvPr/>
        </p:nvSpPr>
        <p:spPr>
          <a:xfrm>
            <a:off x="1627632" y="4526280"/>
            <a:ext cx="716890" cy="128016"/>
          </a:xfrm>
          <a:prstGeom prst="rect">
            <a:avLst/>
          </a:prstGeom>
          <a:solidFill>
            <a:srgbClr val="3E8E41"/>
          </a:solidFill>
          <a:ln w="12700">
            <a:solidFill>
              <a:srgbClr val="3E8E41"/>
            </a:solidFill>
            <a:prstDash val="solid"/>
          </a:ln>
        </p:spPr>
      </p:sp>
      <p:sp>
        <p:nvSpPr>
          <p:cNvPr id="56" name="teks-330"/>
          <p:cNvSpPr txBox="1"/>
          <p:nvPr/>
        </p:nvSpPr>
        <p:spPr>
          <a:xfrm>
            <a:off x="2944368" y="4517136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</a:t>
            </a:r>
            <a:endParaRPr lang="en-US" sz="800" dirty="0"/>
          </a:p>
        </p:txBody>
      </p:sp>
      <p:sp>
        <p:nvSpPr>
          <p:cNvPr id="57" name="teks-331"/>
          <p:cNvSpPr txBox="1"/>
          <p:nvPr/>
        </p:nvSpPr>
        <p:spPr>
          <a:xfrm>
            <a:off x="411480" y="4654296"/>
            <a:ext cx="3200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izin PLN, modal USD 5,9 juta</a:t>
            </a:r>
            <a:endParaRPr lang="en-US" sz="720" dirty="0"/>
          </a:p>
        </p:txBody>
      </p:sp>
      <p:sp>
        <p:nvSpPr>
          <p:cNvPr id="58" name="teks-332"/>
          <p:cNvSpPr txBox="1"/>
          <p:nvPr/>
        </p:nvSpPr>
        <p:spPr>
          <a:xfrm>
            <a:off x="411480" y="4809744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Pemasok</a:t>
            </a:r>
            <a:endParaRPr lang="en-US" sz="800" dirty="0"/>
          </a:p>
        </p:txBody>
      </p:sp>
      <p:sp>
        <p:nvSpPr>
          <p:cNvPr id="59" name="kotak-333"/>
          <p:cNvSpPr/>
          <p:nvPr/>
        </p:nvSpPr>
        <p:spPr>
          <a:xfrm>
            <a:off x="1627632" y="4818888"/>
            <a:ext cx="1280160" cy="128016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60" name="kotak-334"/>
          <p:cNvSpPr/>
          <p:nvPr/>
        </p:nvSpPr>
        <p:spPr>
          <a:xfrm>
            <a:off x="1627632" y="4818888"/>
            <a:ext cx="648614" cy="128016"/>
          </a:xfrm>
          <a:prstGeom prst="rect">
            <a:avLst/>
          </a:prstGeom>
          <a:solidFill>
            <a:srgbClr val="3E8E41"/>
          </a:solidFill>
          <a:ln w="12700">
            <a:solidFill>
              <a:srgbClr val="3E8E41"/>
            </a:solidFill>
            <a:prstDash val="solid"/>
          </a:ln>
        </p:spPr>
      </p:sp>
      <p:sp>
        <p:nvSpPr>
          <p:cNvPr id="61" name="teks-335"/>
          <p:cNvSpPr txBox="1"/>
          <p:nvPr/>
        </p:nvSpPr>
        <p:spPr>
          <a:xfrm>
            <a:off x="2944368" y="4809744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</a:t>
            </a:r>
            <a:endParaRPr lang="en-US" sz="800" dirty="0"/>
          </a:p>
        </p:txBody>
      </p:sp>
      <p:sp>
        <p:nvSpPr>
          <p:cNvPr id="62" name="teks-336"/>
          <p:cNvSpPr txBox="1"/>
          <p:nvPr/>
        </p:nvSpPr>
        <p:spPr>
          <a:xfrm>
            <a:off x="411480" y="4946904"/>
            <a:ext cx="3200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genset 6–9 bulan; GFS banyak</a:t>
            </a:r>
            <a:endParaRPr lang="en-US" sz="720" dirty="0"/>
          </a:p>
        </p:txBody>
      </p:sp>
      <p:sp>
        <p:nvSpPr>
          <p:cNvPr id="63" name="kotak-337"/>
          <p:cNvSpPr txBox="1"/>
          <p:nvPr/>
        </p:nvSpPr>
        <p:spPr>
          <a:xfrm>
            <a:off x="3794760" y="3383280"/>
            <a:ext cx="365760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PESTLE → keputusan</a:t>
            </a:r>
            <a:endParaRPr lang="en-US" sz="900" dirty="0"/>
          </a:p>
        </p:txBody>
      </p:sp>
      <p:graphicFrame>
        <p:nvGraphicFramePr>
          <p:cNvPr id="13" name="tabel-3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94760" y="3639312"/>
          <a:ext cx="91440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146304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Faktor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Kondisi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Keputusan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Politik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Perpres 112/2022: tarif plafon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dasar tarif 9,81 USc, tanpa F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Ekonomi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solar Rp 21.000/L; suku bunga tinggi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PKS solar-berat; utang 58%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Sosial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bau POME; kerja lokal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kontrak komunitas; 10 pekerja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Teknologi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TRL 4 termofilik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 wajib sebelum FID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Hukum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IUPTLS/PJBL belum pasti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kontrak jasa energi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Lingkungan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ISPO 2027, RED II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nilai penangkapan metana naik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</a:tbl>
          </a:graphicData>
        </a:graphic>
      </p:graphicFrame>
      <p:sp>
        <p:nvSpPr>
          <p:cNvPr id="65" name="kotak-339"/>
          <p:cNvSpPr txBox="1"/>
          <p:nvPr/>
        </p:nvSpPr>
        <p:spPr>
          <a:xfrm>
            <a:off x="7589520" y="3383280"/>
            <a:ext cx="420624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SWOT → TOWS</a:t>
            </a:r>
            <a:endParaRPr lang="en-US" sz="900" dirty="0"/>
          </a:p>
        </p:txBody>
      </p:sp>
      <p:sp>
        <p:nvSpPr>
          <p:cNvPr id="66" name="kotak-340"/>
          <p:cNvSpPr txBox="1"/>
          <p:nvPr/>
        </p:nvSpPr>
        <p:spPr>
          <a:xfrm>
            <a:off x="7589520" y="3639312"/>
            <a:ext cx="2084832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875">
            <a:solidFill>
              <a:srgbClr val="3E8E41"/>
            </a:solidFill>
          </a:ln>
        </p:spPr>
        <p:txBody>
          <a:bodyPr wrap="square" lIns="12700" tIns="63500" rIns="63500" bIns="1270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KEKUATAN</a:t>
            </a:r>
            <a:endParaRPr lang="en-US" sz="900" dirty="0"/>
          </a:p>
          <a:p>
            <a:pPr algn="l" indent="0" marL="0">
              <a:buNone/>
            </a:pPr>
            <a:r>
              <a:rPr lang="en-US" sz="76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PKS nol; portabel; HRT 5 hari</a:t>
            </a:r>
            <a:endParaRPr lang="en-US" sz="900" dirty="0"/>
          </a:p>
        </p:txBody>
      </p:sp>
      <p:sp>
        <p:nvSpPr>
          <p:cNvPr id="67" name="kotak-341"/>
          <p:cNvSpPr txBox="1"/>
          <p:nvPr/>
        </p:nvSpPr>
        <p:spPr>
          <a:xfrm>
            <a:off x="9710928" y="3639312"/>
            <a:ext cx="2084832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875">
            <a:solidFill>
              <a:srgbClr val="C8452F"/>
            </a:solidFill>
          </a:ln>
        </p:spPr>
        <p:txBody>
          <a:bodyPr wrap="square" lIns="12700" tIns="63500" rIns="63500" bIns="1270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KELEMAHAN</a:t>
            </a:r>
            <a:endParaRPr lang="en-US" sz="900" dirty="0"/>
          </a:p>
          <a:p>
            <a:pPr algn="l" indent="0" marL="0">
              <a:buNone/>
            </a:pPr>
            <a:r>
              <a:rPr lang="en-US" sz="76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TRL 4; CAPEX/kWe tinggi; skala min. 60 t/jam</a:t>
            </a:r>
            <a:endParaRPr lang="en-US" sz="900" dirty="0"/>
          </a:p>
        </p:txBody>
      </p:sp>
      <p:sp>
        <p:nvSpPr>
          <p:cNvPr id="68" name="kotak-342"/>
          <p:cNvSpPr txBox="1"/>
          <p:nvPr/>
        </p:nvSpPr>
        <p:spPr>
          <a:xfrm>
            <a:off x="7589520" y="4050792"/>
            <a:ext cx="2084832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875">
            <a:solidFill>
              <a:srgbClr val="1F4E9E"/>
            </a:solidFill>
          </a:ln>
        </p:spPr>
        <p:txBody>
          <a:bodyPr wrap="square" lIns="12700" tIns="63500" rIns="63500" bIns="1270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PELUANG</a:t>
            </a:r>
            <a:endParaRPr lang="en-US" sz="900" dirty="0"/>
          </a:p>
          <a:p>
            <a:pPr algn="l" indent="0" marL="0">
              <a:buNone/>
            </a:pPr>
            <a:r>
              <a:rPr lang="en-US" sz="76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ISPO 2027; ±1.150 PKS tanpa penangkap</a:t>
            </a:r>
            <a:endParaRPr lang="en-US" sz="900" dirty="0"/>
          </a:p>
        </p:txBody>
      </p:sp>
      <p:sp>
        <p:nvSpPr>
          <p:cNvPr id="69" name="kotak-343"/>
          <p:cNvSpPr txBox="1"/>
          <p:nvPr/>
        </p:nvSpPr>
        <p:spPr>
          <a:xfrm>
            <a:off x="9710928" y="4050792"/>
            <a:ext cx="2084832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875">
            <a:solidFill>
              <a:srgbClr val="E0A526"/>
            </a:solidFill>
          </a:ln>
        </p:spPr>
        <p:txBody>
          <a:bodyPr wrap="square" lIns="12700" tIns="63500" rIns="63500" bIns="1270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0A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ANCAMAN</a:t>
            </a:r>
            <a:endParaRPr lang="en-US" sz="900" dirty="0"/>
          </a:p>
          <a:p>
            <a:pPr algn="l" indent="0" marL="0">
              <a:buNone/>
            </a:pPr>
            <a:r>
              <a:rPr lang="en-US" sz="76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izin/tarif PLN; karbon rendah; program grup</a:t>
            </a:r>
            <a:endParaRPr lang="en-US" sz="900" dirty="0"/>
          </a:p>
        </p:txBody>
      </p:sp>
      <p:graphicFrame>
        <p:nvGraphicFramePr>
          <p:cNvPr id="19" name="tabel-34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4480560"/>
          <a:ext cx="91440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200400"/>
              </a:tblGrid>
              <a:tr h="1737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Strategi TOWS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Tindakan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kontrak percontohan sebelum ISPO 2027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 untuk TRL 6; jaminan kinerja bertahap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kontrak jasa energi; tarif dasar konservatif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WT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mulai 60 t/jam; kuotasi vendor sebelum FID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</a:tbl>
          </a:graphicData>
        </a:graphic>
      </p:graphicFrame>
      <p:sp>
        <p:nvSpPr>
          <p:cNvPr id="71" name="kotak-345"/>
          <p:cNvSpPr txBox="1"/>
          <p:nvPr/>
        </p:nvSpPr>
        <p:spPr>
          <a:xfrm>
            <a:off x="411480" y="5394960"/>
            <a:ext cx="2788920" cy="502920"/>
          </a:xfrm>
          <a:prstGeom prst="roundRect">
            <a:avLst>
              <a:gd name="adj" fmla="val 7273"/>
            </a:avLst>
          </a:prstGeom>
          <a:solidFill>
            <a:srgbClr val="EAF4FB"/>
          </a:solidFill>
          <a:ln w="9525">
            <a:solidFill>
              <a:srgbClr val="BFD6E8"/>
            </a:solidFill>
          </a:ln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 awal</a:t>
            </a:r>
            <a:endParaRPr lang="en-US" sz="900" dirty="0"/>
          </a:p>
          <a:p>
            <a:pPr algn="l" indent="0" marL="0">
              <a:buNone/>
            </a:pPr>
            <a:r>
              <a:rPr lang="en-US" sz="76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PKS independen 60 t TBS/jam, solar tergantikan ≥ 2 L/t, jaringan 20 kV ≤ 2 km: ±57 PKS</a:t>
            </a:r>
            <a:endParaRPr lang="en-US" sz="900" dirty="0"/>
          </a:p>
        </p:txBody>
      </p:sp>
      <p:sp>
        <p:nvSpPr>
          <p:cNvPr id="72" name="kotak-346"/>
          <p:cNvSpPr txBox="1"/>
          <p:nvPr/>
        </p:nvSpPr>
        <p:spPr>
          <a:xfrm>
            <a:off x="3282696" y="5394960"/>
            <a:ext cx="2788920" cy="502920"/>
          </a:xfrm>
          <a:prstGeom prst="roundRect">
            <a:avLst>
              <a:gd name="adj" fmla="val 7273"/>
            </a:avLst>
          </a:prstGeom>
          <a:solidFill>
            <a:srgbClr val="EAF4FB"/>
          </a:solidFill>
          <a:ln w="9525">
            <a:solidFill>
              <a:srgbClr val="BFD6E8"/>
            </a:solidFill>
          </a:ln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Kemitraan</a:t>
            </a:r>
            <a:endParaRPr lang="en-US" sz="900" dirty="0"/>
          </a:p>
          <a:p>
            <a:pPr algn="l" indent="0" marL="0">
              <a:buNone/>
            </a:pPr>
            <a:r>
              <a:rPr lang="en-US" sz="76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PKS mitra pilot, kontraktor EPC lokal, laboratorium universitas, vendor genset/GFS</a:t>
            </a:r>
            <a:endParaRPr lang="en-US" sz="900" dirty="0"/>
          </a:p>
        </p:txBody>
      </p:sp>
      <p:sp>
        <p:nvSpPr>
          <p:cNvPr id="73" name="kotak-347"/>
          <p:cNvSpPr txBox="1"/>
          <p:nvPr/>
        </p:nvSpPr>
        <p:spPr>
          <a:xfrm>
            <a:off x="6153912" y="5394960"/>
            <a:ext cx="2788920" cy="502920"/>
          </a:xfrm>
          <a:prstGeom prst="roundRect">
            <a:avLst>
              <a:gd name="adj" fmla="val 7273"/>
            </a:avLst>
          </a:prstGeom>
          <a:solidFill>
            <a:srgbClr val="EAF4FB"/>
          </a:solidFill>
          <a:ln w="9525">
            <a:solidFill>
              <a:srgbClr val="BFD6E8"/>
            </a:solidFill>
          </a:ln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Harga</a:t>
            </a:r>
            <a:endParaRPr lang="en-US" sz="900" dirty="0"/>
          </a:p>
          <a:p>
            <a:pPr algn="l" indent="0" marL="0">
              <a:buNone/>
            </a:pPr>
            <a:r>
              <a:rPr lang="en-US" sz="76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USD 1,25/t TBS + USD 0,20/kWh: di dalam jendela USD 1,19–1,39</a:t>
            </a:r>
            <a:endParaRPr lang="en-US" sz="900" dirty="0"/>
          </a:p>
        </p:txBody>
      </p:sp>
      <p:sp>
        <p:nvSpPr>
          <p:cNvPr id="74" name="kotak-348"/>
          <p:cNvSpPr txBox="1"/>
          <p:nvPr/>
        </p:nvSpPr>
        <p:spPr>
          <a:xfrm>
            <a:off x="9025128" y="5394960"/>
            <a:ext cx="2788920" cy="502920"/>
          </a:xfrm>
          <a:prstGeom prst="roundRect">
            <a:avLst>
              <a:gd name="adj" fmla="val 7273"/>
            </a:avLst>
          </a:prstGeom>
          <a:solidFill>
            <a:srgbClr val="EAF4FB"/>
          </a:solidFill>
          <a:ln w="9525">
            <a:solidFill>
              <a:srgbClr val="BFD6E8"/>
            </a:solidFill>
          </a:ln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Pembeda dijaga</a:t>
            </a:r>
            <a:endParaRPr lang="en-US" sz="900" dirty="0"/>
          </a:p>
          <a:p>
            <a:pPr algn="l" indent="0" marL="0">
              <a:buNone/>
            </a:pPr>
            <a:r>
              <a:rPr lang="en-US" sz="76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jaminan kinerja, portabilitas, data operasi; hambatan: izin PLN, kontrak 20 tahun</a:t>
            </a:r>
            <a:endParaRPr lang="en-US" sz="900" dirty="0"/>
          </a:p>
        </p:txBody>
      </p:sp>
      <p:sp>
        <p:nvSpPr>
          <p:cNvPr id="75" name="kotak-349"/>
          <p:cNvSpPr txBox="1"/>
          <p:nvPr/>
        </p:nvSpPr>
        <p:spPr>
          <a:xfrm>
            <a:off x="411480" y="594360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1000" dirty="0"/>
          </a:p>
        </p:txBody>
      </p:sp>
      <p:sp>
        <p:nvSpPr>
          <p:cNvPr id="76" name="kotak-350"/>
          <p:cNvSpPr txBox="1"/>
          <p:nvPr/>
        </p:nvSpPr>
        <p:spPr>
          <a:xfrm>
            <a:off x="1828800" y="5943600"/>
            <a:ext cx="9966960" cy="347472"/>
          </a:xfrm>
          <a:prstGeom prst="roundRect">
            <a:avLst>
              <a:gd name="adj" fmla="val 13158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101600" rIns="1016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Kami tidak menang pada biaya modal atau kematangan; kami menang pada siapa yang menanggung modal dan risiko. Karena itu pasar awal hanya PKS tanpa modal dengan solar berat, dan klaim harus dibuktikan pilot.</a:t>
            </a:r>
            <a:endParaRPr lang="en-US" sz="950" dirty="0"/>
          </a:p>
        </p:txBody>
      </p:sp>
      <p:sp>
        <p:nvSpPr>
          <p:cNvPr id="77" name="teks-351"/>
          <p:cNvSpPr txBox="1"/>
          <p:nvPr/>
        </p:nvSpPr>
        <p:spPr>
          <a:xfrm>
            <a:off x="411480" y="6336792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Singkatan: TRL tingkat kesiapan teknologi; BOOT bangun-miliki-operasikan-alihkan; UASB/IC reaktor lumpur aktif aliran ke atas; AnMBR reaktor membran anaerob; IUPTLS izin usaha penyediaan tenaga listrik untuk kepentingan sendiri; PJBL perjanjian jual beli listrik; FID keputusan investasi akhir.</a:t>
            </a:r>
            <a:endParaRPr lang="en-US" sz="560" dirty="0"/>
          </a:p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research/R3 (pesaing: reNIKOLA, KIS, TSE, AANE), R2, R6; Model Keputusan PKS (finance/fin_mill.py); skor K2–K7 penilaian tim.</a:t>
            </a:r>
            <a:endParaRPr lang="en-US" sz="56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Kasus dasar layak tipis: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NPV USD 0,13 juta dan IRR 10,3%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impas NPV pada beban PKS 74% terhadap asumsi 75%</a:t>
            </a:r>
            <a:endParaRPr lang="en-US" sz="1900" dirty="0"/>
          </a:p>
        </p:txBody>
      </p:sp>
      <p:sp>
        <p:nvSpPr>
          <p:cNvPr id="3" name="kotak-352"/>
          <p:cNvSpPr txBox="1"/>
          <p:nvPr/>
        </p:nvSpPr>
        <p:spPr>
          <a:xfrm>
            <a:off x="41148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kotak-353"/>
          <p:cNvSpPr txBox="1"/>
          <p:nvPr/>
        </p:nvSpPr>
        <p:spPr>
          <a:xfrm>
            <a:off x="189280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800" dirty="0"/>
          </a:p>
        </p:txBody>
      </p:sp>
      <p:sp>
        <p:nvSpPr>
          <p:cNvPr id="5" name="kotak-354"/>
          <p:cNvSpPr txBox="1"/>
          <p:nvPr/>
        </p:nvSpPr>
        <p:spPr>
          <a:xfrm>
            <a:off x="3374136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</a:t>
            </a:r>
            <a:endParaRPr lang="en-US" sz="800" dirty="0"/>
          </a:p>
        </p:txBody>
      </p:sp>
      <p:sp>
        <p:nvSpPr>
          <p:cNvPr id="6" name="kotak-355"/>
          <p:cNvSpPr txBox="1"/>
          <p:nvPr/>
        </p:nvSpPr>
        <p:spPr>
          <a:xfrm>
            <a:off x="4855464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C2464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Keuangan</a:t>
            </a:r>
            <a:endParaRPr lang="en-US" sz="800" dirty="0"/>
          </a:p>
        </p:txBody>
      </p:sp>
      <p:sp>
        <p:nvSpPr>
          <p:cNvPr id="7" name="kotak-356"/>
          <p:cNvSpPr txBox="1"/>
          <p:nvPr/>
        </p:nvSpPr>
        <p:spPr>
          <a:xfrm>
            <a:off x="6336792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800" dirty="0"/>
          </a:p>
        </p:txBody>
      </p:sp>
      <p:sp>
        <p:nvSpPr>
          <p:cNvPr id="8" name="kotak-357"/>
          <p:cNvSpPr txBox="1"/>
          <p:nvPr/>
        </p:nvSpPr>
        <p:spPr>
          <a:xfrm>
            <a:off x="781812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800" dirty="0"/>
          </a:p>
        </p:txBody>
      </p:sp>
      <p:sp>
        <p:nvSpPr>
          <p:cNvPr id="9" name="kotak-358"/>
          <p:cNvSpPr txBox="1"/>
          <p:nvPr/>
        </p:nvSpPr>
        <p:spPr>
          <a:xfrm>
            <a:off x="929944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800" dirty="0"/>
          </a:p>
        </p:txBody>
      </p:sp>
      <p:sp>
        <p:nvSpPr>
          <p:cNvPr id="10" name="kotak-359"/>
          <p:cNvSpPr txBox="1"/>
          <p:nvPr/>
        </p:nvSpPr>
        <p:spPr>
          <a:xfrm>
            <a:off x="11338560" y="6583680"/>
            <a:ext cx="457200" cy="228600"/>
          </a:xfrm>
          <a:prstGeom prst="roundRect">
            <a:avLst>
              <a:gd name="adj" fmla="val 12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12" name="kotak-360"/>
          <p:cNvSpPr txBox="1"/>
          <p:nvPr/>
        </p:nvSpPr>
        <p:spPr>
          <a:xfrm>
            <a:off x="411480" y="1143000"/>
            <a:ext cx="2926080" cy="228600"/>
          </a:xfrm>
          <a:prstGeom prst="roundRect">
            <a:avLst>
              <a:gd name="adj" fmla="val 16000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Ringkasan ekonomi</a:t>
            </a:r>
            <a:endParaRPr lang="en-US" sz="950" dirty="0"/>
          </a:p>
        </p:txBody>
      </p:sp>
      <p:graphicFrame>
        <p:nvGraphicFramePr>
          <p:cNvPr id="8" name="tabel-36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89888"/>
          <a:ext cx="914400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508760"/>
              </a:tblGrid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Investasi (FCI 2027)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5,85 juta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Pendapatan tahun penuh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1,34 juta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 · margin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0,91 juta · 68%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Pembiayaan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58% utang 8%, ekuitas 15%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WACC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9,9%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NPV proyek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2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0,13 juta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 proyek · ekuitas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20" b="1" dirty="0">
                          <a:solidFill>
                            <a:srgbClr val="C84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10,3% · 10,9%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Payback (biasa · terdiskonto)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 · 18,8 tahun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DSCR minimum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 (ambang 1,30)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LCOE kotor · bersih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0,186 · 0,108/kWh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Impas akuntansi · NPV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52% · 74% beban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P(NPV &gt; 0), Monte Carlo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20" dirty="0">
                          <a:solidFill>
                            <a:srgbClr val="C84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 (P50 USD −0,80 juta)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</a:tbl>
          </a:graphicData>
        </a:graphic>
      </p:graphicFrame>
      <p:sp>
        <p:nvSpPr>
          <p:cNvPr id="14" name="kotak-362"/>
          <p:cNvSpPr txBox="1"/>
          <p:nvPr/>
        </p:nvSpPr>
        <p:spPr>
          <a:xfrm>
            <a:off x="411480" y="4370832"/>
            <a:ext cx="2926080" cy="201168"/>
          </a:xfrm>
          <a:prstGeom prst="roundRect">
            <a:avLst>
              <a:gd name="adj" fmla="val 18182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Asumsi kunci</a:t>
            </a:r>
            <a:endParaRPr lang="en-US" sz="850" dirty="0"/>
          </a:p>
        </p:txBody>
      </p:sp>
      <p:sp>
        <p:nvSpPr>
          <p:cNvPr id="15" name="teks-363"/>
          <p:cNvSpPr txBox="1"/>
          <p:nvPr/>
        </p:nvSpPr>
        <p:spPr>
          <a:xfrm>
            <a:off x="411480" y="4590288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Umur 20 tahun (2028–2047), USD nominal 2026, inflasi 2%, pajak 22% (penyusutan 8 tahun, tax allowance 30%), PKS 60 t TBS/jam × 20 jam × 300 hari × beban 75%, ketersediaan 93%. Fee USD 1,25/t TBS; listrik ke PKS USD 0,20/kWh (solar 2,0 L/t, Rp 21.000/L); ekspor PLN 9,81 USc/kWh; karbon USD 5/t. Kelas estimasi 4: −20%/+40%.</a:t>
            </a:r>
            <a:endParaRPr lang="en-US" sz="760" dirty="0"/>
          </a:p>
        </p:txBody>
      </p:sp>
      <p:sp>
        <p:nvSpPr>
          <p:cNvPr id="16" name="kotak-364"/>
          <p:cNvSpPr txBox="1"/>
          <p:nvPr/>
        </p:nvSpPr>
        <p:spPr>
          <a:xfrm>
            <a:off x="3474720" y="1143000"/>
            <a:ext cx="4069080" cy="228600"/>
          </a:xfrm>
          <a:prstGeom prst="roundRect">
            <a:avLst>
              <a:gd name="adj" fmla="val 16000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CAPEX bottom-up: USD 5,74 juta (2026)</a:t>
            </a:r>
            <a:endParaRPr lang="en-US" sz="95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3429000" y="1371600"/>
          <a:ext cx="416052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ks-365"/>
          <p:cNvSpPr txBox="1"/>
          <p:nvPr/>
        </p:nvSpPr>
        <p:spPr>
          <a:xfrm>
            <a:off x="3474720" y="3346704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Biaya peralatan terbeli USD 3,65 juta → terpasang dan tidak langsung → kontingensi 20% → FCI. USD 3.587/kWe terpasang (pembanding tangki CSTR USD 2.600).</a:t>
            </a:r>
            <a:endParaRPr lang="en-US" sz="750" dirty="0"/>
          </a:p>
        </p:txBody>
      </p:sp>
      <p:sp>
        <p:nvSpPr>
          <p:cNvPr id="19" name="kotak-366"/>
          <p:cNvSpPr txBox="1"/>
          <p:nvPr/>
        </p:nvSpPr>
        <p:spPr>
          <a:xfrm>
            <a:off x="3474720" y="3657600"/>
            <a:ext cx="4069080" cy="219456"/>
          </a:xfrm>
          <a:prstGeom prst="roundRect">
            <a:avLst>
              <a:gd name="adj" fmla="val 16667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OPEX tahun penuh: USD 397 ribu (USD 2026)</a:t>
            </a:r>
            <a:endParaRPr lang="en-US" sz="900" dirty="0"/>
          </a:p>
        </p:txBody>
      </p:sp>
      <p:graphicFrame>
        <p:nvGraphicFramePr>
          <p:cNvPr id="20" name="Chart 1" descr=""/>
          <p:cNvGraphicFramePr/>
          <p:nvPr/>
        </p:nvGraphicFramePr>
        <p:xfrm>
          <a:off x="3429000" y="3886200"/>
          <a:ext cx="416052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1" name="teks-367"/>
          <p:cNvSpPr txBox="1"/>
          <p:nvPr/>
        </p:nvSpPr>
        <p:spPr>
          <a:xfrm>
            <a:off x="3474720" y="550468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Biaya tetap USD 203 ribu; variabel USD 182 ribu. Tambahan: overhaul genset tahun 8 dan 16, penggantian atap tangki tahun 12.</a:t>
            </a:r>
            <a:endParaRPr lang="en-US" sz="750" dirty="0"/>
          </a:p>
        </p:txBody>
      </p:sp>
      <p:sp>
        <p:nvSpPr>
          <p:cNvPr id="22" name="kotak-368"/>
          <p:cNvSpPr txBox="1"/>
          <p:nvPr/>
        </p:nvSpPr>
        <p:spPr>
          <a:xfrm>
            <a:off x="7680960" y="1143000"/>
            <a:ext cx="4114800" cy="228600"/>
          </a:xfrm>
          <a:prstGeom prst="roundRect">
            <a:avLst>
              <a:gd name="adj" fmla="val 16000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Titik impas: pendapatan vs biaya terhadap beban PKS</a:t>
            </a:r>
            <a:endParaRPr lang="en-US" sz="950" dirty="0"/>
          </a:p>
        </p:txBody>
      </p:sp>
      <p:graphicFrame>
        <p:nvGraphicFramePr>
          <p:cNvPr id="23" name="Chart 2" descr=""/>
          <p:cNvGraphicFramePr/>
          <p:nvPr/>
        </p:nvGraphicFramePr>
        <p:xfrm>
          <a:off x="7635240" y="1371600"/>
          <a:ext cx="4206240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4" name="kotak-369"/>
          <p:cNvSpPr/>
          <p:nvPr/>
        </p:nvSpPr>
        <p:spPr>
          <a:xfrm>
            <a:off x="7680960" y="2706624"/>
            <a:ext cx="128016" cy="82296"/>
          </a:xfrm>
          <a:prstGeom prst="rect">
            <a:avLst/>
          </a:prstGeom>
          <a:solidFill>
            <a:srgbClr val="3E8E41"/>
          </a:solidFill>
          <a:ln w="12700">
            <a:solidFill>
              <a:srgbClr val="3E8E41"/>
            </a:solidFill>
            <a:prstDash val="solid"/>
          </a:ln>
        </p:spPr>
      </p:sp>
      <p:sp>
        <p:nvSpPr>
          <p:cNvPr id="25" name="teks-370"/>
          <p:cNvSpPr txBox="1"/>
          <p:nvPr/>
        </p:nvSpPr>
        <p:spPr>
          <a:xfrm>
            <a:off x="7845552" y="2679192"/>
            <a:ext cx="17373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Pendapatan</a:t>
            </a:r>
            <a:endParaRPr lang="en-US" sz="720" dirty="0"/>
          </a:p>
        </p:txBody>
      </p:sp>
      <p:sp>
        <p:nvSpPr>
          <p:cNvPr id="26" name="kotak-371"/>
          <p:cNvSpPr/>
          <p:nvPr/>
        </p:nvSpPr>
        <p:spPr>
          <a:xfrm>
            <a:off x="8686800" y="2706624"/>
            <a:ext cx="128016" cy="82296"/>
          </a:xfrm>
          <a:prstGeom prst="rect">
            <a:avLst/>
          </a:prstGeom>
          <a:solidFill>
            <a:srgbClr val="5B6B7F"/>
          </a:solidFill>
          <a:ln w="12700">
            <a:solidFill>
              <a:srgbClr val="5B6B7F"/>
            </a:solidFill>
            <a:prstDash val="solid"/>
          </a:ln>
        </p:spPr>
      </p:sp>
      <p:sp>
        <p:nvSpPr>
          <p:cNvPr id="27" name="teks-372"/>
          <p:cNvSpPr txBox="1"/>
          <p:nvPr/>
        </p:nvSpPr>
        <p:spPr>
          <a:xfrm>
            <a:off x="8851392" y="2679192"/>
            <a:ext cx="17373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Biaya tunai (OPEX)</a:t>
            </a:r>
            <a:endParaRPr lang="en-US" sz="720" dirty="0"/>
          </a:p>
        </p:txBody>
      </p:sp>
      <p:sp>
        <p:nvSpPr>
          <p:cNvPr id="28" name="kotak-373"/>
          <p:cNvSpPr/>
          <p:nvPr/>
        </p:nvSpPr>
        <p:spPr>
          <a:xfrm>
            <a:off x="10012680" y="2706624"/>
            <a:ext cx="128016" cy="82296"/>
          </a:xfrm>
          <a:prstGeom prst="rect">
            <a:avLst/>
          </a:prstGeom>
          <a:solidFill>
            <a:srgbClr val="C8452F"/>
          </a:solidFill>
          <a:ln w="12700">
            <a:solidFill>
              <a:srgbClr val="C8452F"/>
            </a:solidFill>
            <a:prstDash val="solid"/>
          </a:ln>
        </p:spPr>
      </p:sp>
      <p:sp>
        <p:nvSpPr>
          <p:cNvPr id="29" name="teks-374"/>
          <p:cNvSpPr txBox="1"/>
          <p:nvPr/>
        </p:nvSpPr>
        <p:spPr>
          <a:xfrm>
            <a:off x="10177272" y="2679192"/>
            <a:ext cx="17373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Biaya total + penyusutan + bunga</a:t>
            </a:r>
            <a:endParaRPr lang="en-US" sz="720" dirty="0"/>
          </a:p>
        </p:txBody>
      </p:sp>
      <p:sp>
        <p:nvSpPr>
          <p:cNvPr id="30" name="teks-375"/>
          <p:cNvSpPr txBox="1"/>
          <p:nvPr/>
        </p:nvSpPr>
        <p:spPr>
          <a:xfrm>
            <a:off x="7680960" y="28163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x: beban PKS (% nameplate); y: USD ribu/tahun. Impas tunai ≈ 16% · impas akuntansi 52% · impas NPV 74% (asumsi 75%). Fee impas USD 1,19/t; CAPEX impas +2%.</a:t>
            </a:r>
            <a:endParaRPr lang="en-US" sz="730" dirty="0"/>
          </a:p>
        </p:txBody>
      </p:sp>
      <p:sp>
        <p:nvSpPr>
          <p:cNvPr id="31" name="kotak-376"/>
          <p:cNvSpPr txBox="1"/>
          <p:nvPr/>
        </p:nvSpPr>
        <p:spPr>
          <a:xfrm>
            <a:off x="7680960" y="3127248"/>
            <a:ext cx="4114800" cy="219456"/>
          </a:xfrm>
          <a:prstGeom prst="roundRect">
            <a:avLst>
              <a:gd name="adj" fmla="val 16667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Arus kas proyek dan payback (USD juta)</a:t>
            </a:r>
            <a:endParaRPr lang="en-US" sz="900" dirty="0"/>
          </a:p>
        </p:txBody>
      </p:sp>
      <p:graphicFrame>
        <p:nvGraphicFramePr>
          <p:cNvPr id="32" name="Chart 3" descr=""/>
          <p:cNvGraphicFramePr/>
          <p:nvPr/>
        </p:nvGraphicFramePr>
        <p:xfrm>
          <a:off x="7635240" y="3346704"/>
          <a:ext cx="4206240" cy="1097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3" name="teks-377"/>
          <p:cNvSpPr txBox="1"/>
          <p:nvPr/>
        </p:nvSpPr>
        <p:spPr>
          <a:xfrm>
            <a:off x="7680960" y="445312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Puncak dana USD 6,5 juta (2027–28); payback 7,1 tahun sejak operasi (2028); sustaining: overhaul 2035, 2043; atap 2039.</a:t>
            </a:r>
            <a:endParaRPr lang="en-US" sz="750" dirty="0"/>
          </a:p>
        </p:txBody>
      </p:sp>
      <p:sp>
        <p:nvSpPr>
          <p:cNvPr id="34" name="kotak-378"/>
          <p:cNvSpPr txBox="1"/>
          <p:nvPr/>
        </p:nvSpPr>
        <p:spPr>
          <a:xfrm>
            <a:off x="7680960" y="4727448"/>
            <a:ext cx="4114800" cy="201168"/>
          </a:xfrm>
          <a:prstGeom prst="roundRect">
            <a:avLst>
              <a:gd name="adj" fmla="val 18182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Tornado NPV (USD juta): skenario buruk ↔ baik</a:t>
            </a:r>
            <a:endParaRPr lang="en-US" sz="850" dirty="0"/>
          </a:p>
        </p:txBody>
      </p:sp>
      <p:graphicFrame>
        <p:nvGraphicFramePr>
          <p:cNvPr id="35" name="Chart 4" descr=""/>
          <p:cNvGraphicFramePr/>
          <p:nvPr/>
        </p:nvGraphicFramePr>
        <p:xfrm>
          <a:off x="7635240" y="4937760"/>
          <a:ext cx="4206240" cy="960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36" name="kotak-379"/>
          <p:cNvSpPr txBox="1"/>
          <p:nvPr/>
        </p:nvSpPr>
        <p:spPr>
          <a:xfrm>
            <a:off x="411480" y="5394960"/>
            <a:ext cx="2926080" cy="201168"/>
          </a:xfrm>
          <a:prstGeom prst="roundRect">
            <a:avLst>
              <a:gd name="adj" fmla="val 18182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Bauran pendapatan tahun penuh</a:t>
            </a:r>
            <a:endParaRPr lang="en-US" sz="850" dirty="0"/>
          </a:p>
        </p:txBody>
      </p:sp>
      <p:sp>
        <p:nvSpPr>
          <p:cNvPr id="37" name="kotak-380"/>
          <p:cNvSpPr txBox="1"/>
          <p:nvPr/>
        </p:nvSpPr>
        <p:spPr>
          <a:xfrm>
            <a:off x="411480" y="5632704"/>
            <a:ext cx="799958" cy="182880"/>
          </a:xfrm>
          <a:prstGeom prst="rect">
            <a:avLst/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27%</a:t>
            </a:r>
            <a:endParaRPr lang="en-US" sz="800" dirty="0"/>
          </a:p>
        </p:txBody>
      </p:sp>
      <p:sp>
        <p:nvSpPr>
          <p:cNvPr id="38" name="teks-381"/>
          <p:cNvSpPr txBox="1"/>
          <p:nvPr/>
        </p:nvSpPr>
        <p:spPr>
          <a:xfrm>
            <a:off x="411480" y="5824728"/>
            <a:ext cx="79995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Jasa POME</a:t>
            </a:r>
            <a:endParaRPr lang="en-US" sz="680" dirty="0"/>
          </a:p>
        </p:txBody>
      </p:sp>
      <p:sp>
        <p:nvSpPr>
          <p:cNvPr id="39" name="kotak-382"/>
          <p:cNvSpPr txBox="1"/>
          <p:nvPr/>
        </p:nvSpPr>
        <p:spPr>
          <a:xfrm>
            <a:off x="1211438" y="5632704"/>
            <a:ext cx="735199" cy="182880"/>
          </a:xfrm>
          <a:prstGeom prst="rect">
            <a:avLst/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800" dirty="0"/>
          </a:p>
        </p:txBody>
      </p:sp>
      <p:sp>
        <p:nvSpPr>
          <p:cNvPr id="40" name="teks-383"/>
          <p:cNvSpPr txBox="1"/>
          <p:nvPr/>
        </p:nvSpPr>
        <p:spPr>
          <a:xfrm>
            <a:off x="1211438" y="5824728"/>
            <a:ext cx="735199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Listrik PKS</a:t>
            </a:r>
            <a:endParaRPr lang="en-US" sz="680" dirty="0"/>
          </a:p>
        </p:txBody>
      </p:sp>
      <p:sp>
        <p:nvSpPr>
          <p:cNvPr id="41" name="kotak-384"/>
          <p:cNvSpPr txBox="1"/>
          <p:nvPr/>
        </p:nvSpPr>
        <p:spPr>
          <a:xfrm>
            <a:off x="1946637" y="5632704"/>
            <a:ext cx="1073065" cy="182880"/>
          </a:xfrm>
          <a:prstGeom prst="rect">
            <a:avLst/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37%</a:t>
            </a:r>
            <a:endParaRPr lang="en-US" sz="800" dirty="0"/>
          </a:p>
        </p:txBody>
      </p:sp>
      <p:sp>
        <p:nvSpPr>
          <p:cNvPr id="42" name="teks-385"/>
          <p:cNvSpPr txBox="1"/>
          <p:nvPr/>
        </p:nvSpPr>
        <p:spPr>
          <a:xfrm>
            <a:off x="1946637" y="5824728"/>
            <a:ext cx="1073065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Ekspor PLN</a:t>
            </a:r>
            <a:endParaRPr lang="en-US" sz="680" dirty="0"/>
          </a:p>
        </p:txBody>
      </p:sp>
      <p:sp>
        <p:nvSpPr>
          <p:cNvPr id="43" name="kotak-386"/>
          <p:cNvSpPr txBox="1"/>
          <p:nvPr/>
        </p:nvSpPr>
        <p:spPr>
          <a:xfrm>
            <a:off x="3019702" y="5632704"/>
            <a:ext cx="317858" cy="182880"/>
          </a:xfrm>
          <a:prstGeom prst="rect">
            <a:avLst/>
          </a:prstGeom>
          <a:solidFill>
            <a:srgbClr val="3E8E41"/>
          </a:solidFill>
          <a:ln>
            <a:solidFill>
              <a:srgbClr val="3E8E4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11%</a:t>
            </a:r>
            <a:endParaRPr lang="en-US" sz="800" dirty="0"/>
          </a:p>
        </p:txBody>
      </p:sp>
      <p:sp>
        <p:nvSpPr>
          <p:cNvPr id="44" name="teks-387"/>
          <p:cNvSpPr txBox="1"/>
          <p:nvPr/>
        </p:nvSpPr>
        <p:spPr>
          <a:xfrm>
            <a:off x="3019702" y="5824728"/>
            <a:ext cx="31785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Karbon</a:t>
            </a:r>
            <a:endParaRPr lang="en-US" sz="680" dirty="0"/>
          </a:p>
        </p:txBody>
      </p:sp>
      <p:sp>
        <p:nvSpPr>
          <p:cNvPr id="45" name="kotak-388"/>
          <p:cNvSpPr txBox="1"/>
          <p:nvPr/>
        </p:nvSpPr>
        <p:spPr>
          <a:xfrm>
            <a:off x="411480" y="594360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1000" dirty="0"/>
          </a:p>
        </p:txBody>
      </p:sp>
      <p:sp>
        <p:nvSpPr>
          <p:cNvPr id="46" name="kotak-389"/>
          <p:cNvSpPr txBox="1"/>
          <p:nvPr/>
        </p:nvSpPr>
        <p:spPr>
          <a:xfrm>
            <a:off x="1828800" y="5943600"/>
            <a:ext cx="9966960" cy="347472"/>
          </a:xfrm>
          <a:prstGeom prst="roundRect">
            <a:avLst>
              <a:gd name="adj" fmla="val 13158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101600" rIns="1016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Kelayakan hanya terjadi jika beban PKS ≥ 74%, CAPEX tidak naik &gt; 2%, dan fee ≥ USD 1,19/t; peluang NPV positif 25% (Monte Carlo), naik ke ±45% setelah gerbang data, kuotasi, dan izin.</a:t>
            </a:r>
            <a:endParaRPr lang="en-US" sz="950" dirty="0"/>
          </a:p>
        </p:txBody>
      </p:sp>
      <p:sp>
        <p:nvSpPr>
          <p:cNvPr id="47" name="teks-390"/>
          <p:cNvSpPr txBox="1"/>
          <p:nvPr/>
        </p:nvSpPr>
        <p:spPr>
          <a:xfrm>
            <a:off x="411480" y="6336792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Singkatan: FCI biaya modal tetap; FCFF arus kas bebas proyek; WACC biaya modal rata-rata tertimbang; DSCR rasio cakupan layanan utang; LCOE biaya listrik terlevelisasi; MRV pemantauan, pelaporan, verifikasi.</a:t>
            </a:r>
            <a:endParaRPr lang="en-US" sz="560" dirty="0"/>
          </a:p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BG_Model_Keuangan.xlsx; finance/fin_core.py v4; Monte Carlo 4.000 iterasi (distribusi di lembar Monte Carlo); research/R2, R6.</a:t>
            </a:r>
            <a:endParaRPr lang="en-US" sz="5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gerbang go/no-go dalam ±30 bulan menaikkan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4 menjadi 7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peluang NPV positif dari 25% menjadi 45%, dengan anggaran USD 1,3 juta</a:t>
            </a:r>
            <a:endParaRPr lang="en-US" sz="1900" dirty="0"/>
          </a:p>
        </p:txBody>
      </p:sp>
      <p:sp>
        <p:nvSpPr>
          <p:cNvPr id="3" name="kotak-391"/>
          <p:cNvSpPr txBox="1"/>
          <p:nvPr/>
        </p:nvSpPr>
        <p:spPr>
          <a:xfrm>
            <a:off x="41148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kotak-392"/>
          <p:cNvSpPr txBox="1"/>
          <p:nvPr/>
        </p:nvSpPr>
        <p:spPr>
          <a:xfrm>
            <a:off x="189280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800" dirty="0"/>
          </a:p>
        </p:txBody>
      </p:sp>
      <p:sp>
        <p:nvSpPr>
          <p:cNvPr id="5" name="kotak-393"/>
          <p:cNvSpPr txBox="1"/>
          <p:nvPr/>
        </p:nvSpPr>
        <p:spPr>
          <a:xfrm>
            <a:off x="3374136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</a:t>
            </a:r>
            <a:endParaRPr lang="en-US" sz="800" dirty="0"/>
          </a:p>
        </p:txBody>
      </p:sp>
      <p:sp>
        <p:nvSpPr>
          <p:cNvPr id="6" name="kotak-394"/>
          <p:cNvSpPr txBox="1"/>
          <p:nvPr/>
        </p:nvSpPr>
        <p:spPr>
          <a:xfrm>
            <a:off x="4855464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Keuangan</a:t>
            </a:r>
            <a:endParaRPr lang="en-US" sz="800" dirty="0"/>
          </a:p>
        </p:txBody>
      </p:sp>
      <p:sp>
        <p:nvSpPr>
          <p:cNvPr id="7" name="kotak-395"/>
          <p:cNvSpPr txBox="1"/>
          <p:nvPr/>
        </p:nvSpPr>
        <p:spPr>
          <a:xfrm>
            <a:off x="6336792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C2464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800" dirty="0"/>
          </a:p>
        </p:txBody>
      </p:sp>
      <p:sp>
        <p:nvSpPr>
          <p:cNvPr id="8" name="kotak-396"/>
          <p:cNvSpPr txBox="1"/>
          <p:nvPr/>
        </p:nvSpPr>
        <p:spPr>
          <a:xfrm>
            <a:off x="781812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800" dirty="0"/>
          </a:p>
        </p:txBody>
      </p:sp>
      <p:sp>
        <p:nvSpPr>
          <p:cNvPr id="9" name="kotak-397"/>
          <p:cNvSpPr txBox="1"/>
          <p:nvPr/>
        </p:nvSpPr>
        <p:spPr>
          <a:xfrm>
            <a:off x="929944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800" dirty="0"/>
          </a:p>
        </p:txBody>
      </p:sp>
      <p:sp>
        <p:nvSpPr>
          <p:cNvPr id="10" name="kotak-398"/>
          <p:cNvSpPr txBox="1"/>
          <p:nvPr/>
        </p:nvSpPr>
        <p:spPr>
          <a:xfrm>
            <a:off x="11338560" y="6583680"/>
            <a:ext cx="457200" cy="228600"/>
          </a:xfrm>
          <a:prstGeom prst="roundRect">
            <a:avLst>
              <a:gd name="adj" fmla="val 12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12" name="kotak-399"/>
          <p:cNvSpPr txBox="1"/>
          <p:nvPr/>
        </p:nvSpPr>
        <p:spPr>
          <a:xfrm>
            <a:off x="411480" y="1143000"/>
            <a:ext cx="7589520" cy="228600"/>
          </a:xfrm>
          <a:prstGeom prst="roundRect">
            <a:avLst>
              <a:gd name="adj" fmla="val 16000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Gantt dan jalur kritis (kuartal 4/2026 – kuartal 2/2029)</a:t>
            </a:r>
            <a:endParaRPr lang="en-US" sz="950" dirty="0"/>
          </a:p>
        </p:txBody>
      </p:sp>
      <p:sp>
        <p:nvSpPr>
          <p:cNvPr id="13" name="kotak-400"/>
          <p:cNvSpPr txBox="1"/>
          <p:nvPr/>
        </p:nvSpPr>
        <p:spPr>
          <a:xfrm>
            <a:off x="2743200" y="1408176"/>
            <a:ext cx="457200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K4 '26</a:t>
            </a:r>
            <a:endParaRPr lang="en-US" sz="700" dirty="0"/>
          </a:p>
        </p:txBody>
      </p:sp>
      <p:sp>
        <p:nvSpPr>
          <p:cNvPr id="14" name="kotak-401"/>
          <p:cNvSpPr txBox="1"/>
          <p:nvPr/>
        </p:nvSpPr>
        <p:spPr>
          <a:xfrm>
            <a:off x="3218688" y="1408176"/>
            <a:ext cx="457200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K1 '27</a:t>
            </a:r>
            <a:endParaRPr lang="en-US" sz="700" dirty="0"/>
          </a:p>
        </p:txBody>
      </p:sp>
      <p:sp>
        <p:nvSpPr>
          <p:cNvPr id="15" name="kotak-402"/>
          <p:cNvSpPr txBox="1"/>
          <p:nvPr/>
        </p:nvSpPr>
        <p:spPr>
          <a:xfrm>
            <a:off x="3694176" y="1408176"/>
            <a:ext cx="457200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K2</a:t>
            </a:r>
            <a:endParaRPr lang="en-US" sz="700" dirty="0"/>
          </a:p>
        </p:txBody>
      </p:sp>
      <p:sp>
        <p:nvSpPr>
          <p:cNvPr id="16" name="kotak-403"/>
          <p:cNvSpPr txBox="1"/>
          <p:nvPr/>
        </p:nvSpPr>
        <p:spPr>
          <a:xfrm>
            <a:off x="4169664" y="1408176"/>
            <a:ext cx="457200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K3</a:t>
            </a:r>
            <a:endParaRPr lang="en-US" sz="700" dirty="0"/>
          </a:p>
        </p:txBody>
      </p:sp>
      <p:sp>
        <p:nvSpPr>
          <p:cNvPr id="17" name="kotak-404"/>
          <p:cNvSpPr txBox="1"/>
          <p:nvPr/>
        </p:nvSpPr>
        <p:spPr>
          <a:xfrm>
            <a:off x="4645152" y="1408176"/>
            <a:ext cx="457200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K4</a:t>
            </a:r>
            <a:endParaRPr lang="en-US" sz="700" dirty="0"/>
          </a:p>
        </p:txBody>
      </p:sp>
      <p:sp>
        <p:nvSpPr>
          <p:cNvPr id="18" name="kotak-405"/>
          <p:cNvSpPr txBox="1"/>
          <p:nvPr/>
        </p:nvSpPr>
        <p:spPr>
          <a:xfrm>
            <a:off x="5120640" y="1408176"/>
            <a:ext cx="457200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K1 '28</a:t>
            </a:r>
            <a:endParaRPr lang="en-US" sz="700" dirty="0"/>
          </a:p>
        </p:txBody>
      </p:sp>
      <p:sp>
        <p:nvSpPr>
          <p:cNvPr id="19" name="kotak-406"/>
          <p:cNvSpPr txBox="1"/>
          <p:nvPr/>
        </p:nvSpPr>
        <p:spPr>
          <a:xfrm>
            <a:off x="5596128" y="1408176"/>
            <a:ext cx="457200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K2</a:t>
            </a:r>
            <a:endParaRPr lang="en-US" sz="700" dirty="0"/>
          </a:p>
        </p:txBody>
      </p:sp>
      <p:sp>
        <p:nvSpPr>
          <p:cNvPr id="20" name="kotak-407"/>
          <p:cNvSpPr txBox="1"/>
          <p:nvPr/>
        </p:nvSpPr>
        <p:spPr>
          <a:xfrm>
            <a:off x="6071616" y="1408176"/>
            <a:ext cx="457200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K3</a:t>
            </a:r>
            <a:endParaRPr lang="en-US" sz="700" dirty="0"/>
          </a:p>
        </p:txBody>
      </p:sp>
      <p:sp>
        <p:nvSpPr>
          <p:cNvPr id="21" name="kotak-408"/>
          <p:cNvSpPr txBox="1"/>
          <p:nvPr/>
        </p:nvSpPr>
        <p:spPr>
          <a:xfrm>
            <a:off x="6547104" y="1408176"/>
            <a:ext cx="457200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K4</a:t>
            </a:r>
            <a:endParaRPr lang="en-US" sz="700" dirty="0"/>
          </a:p>
        </p:txBody>
      </p:sp>
      <p:sp>
        <p:nvSpPr>
          <p:cNvPr id="22" name="kotak-409"/>
          <p:cNvSpPr txBox="1"/>
          <p:nvPr/>
        </p:nvSpPr>
        <p:spPr>
          <a:xfrm>
            <a:off x="7022592" y="1408176"/>
            <a:ext cx="457200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K1 '29</a:t>
            </a:r>
            <a:endParaRPr lang="en-US" sz="700" dirty="0"/>
          </a:p>
        </p:txBody>
      </p:sp>
      <p:sp>
        <p:nvSpPr>
          <p:cNvPr id="23" name="kotak-410"/>
          <p:cNvSpPr txBox="1"/>
          <p:nvPr/>
        </p:nvSpPr>
        <p:spPr>
          <a:xfrm>
            <a:off x="7498080" y="1408176"/>
            <a:ext cx="457200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K2</a:t>
            </a:r>
            <a:endParaRPr lang="en-US" sz="700" dirty="0"/>
          </a:p>
        </p:txBody>
      </p:sp>
      <p:sp>
        <p:nvSpPr>
          <p:cNvPr id="24" name="teks-411"/>
          <p:cNvSpPr txBox="1"/>
          <p:nvPr/>
        </p:nvSpPr>
        <p:spPr>
          <a:xfrm>
            <a:off x="411480" y="1636776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 </a:t>
            </a:r>
            <a:pPr indent="0" marL="0">
              <a:buNone/>
            </a:pPr>
            <a:r>
              <a:rPr lang="en-US" sz="7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solar dan POME PKS mitra</a:t>
            </a:r>
            <a:endParaRPr lang="en-US" sz="780" dirty="0"/>
          </a:p>
        </p:txBody>
      </p:sp>
      <p:sp>
        <p:nvSpPr>
          <p:cNvPr id="25" name="kotak-412"/>
          <p:cNvSpPr txBox="1"/>
          <p:nvPr/>
        </p:nvSpPr>
        <p:spPr>
          <a:xfrm>
            <a:off x="2743200" y="1655064"/>
            <a:ext cx="932688" cy="173736"/>
          </a:xfrm>
          <a:prstGeom prst="roundRect">
            <a:avLst>
              <a:gd name="adj" fmla="val 15789"/>
            </a:avLst>
          </a:prstGeom>
          <a:solidFill>
            <a:srgbClr val="6898C8"/>
          </a:solidFill>
          <a:ln>
            <a:solidFill>
              <a:srgbClr val="6898C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bln</a:t>
            </a:r>
            <a:endParaRPr lang="en-US" sz="730" dirty="0"/>
          </a:p>
        </p:txBody>
      </p:sp>
      <p:sp>
        <p:nvSpPr>
          <p:cNvPr id="26" name="kotak-413"/>
          <p:cNvSpPr/>
          <p:nvPr/>
        </p:nvSpPr>
        <p:spPr>
          <a:xfrm>
            <a:off x="2743200" y="1847088"/>
            <a:ext cx="5212080" cy="0"/>
          </a:xfrm>
          <a:prstGeom prst="rect">
            <a:avLst/>
          </a:prstGeom>
          <a:solidFill>
            <a:srgbClr val="BFD6E8"/>
          </a:solidFill>
          <a:ln w="3175">
            <a:solidFill>
              <a:srgbClr val="BFD6E8"/>
            </a:solidFill>
            <a:prstDash val="solid"/>
          </a:ln>
        </p:spPr>
      </p:sp>
      <p:sp>
        <p:nvSpPr>
          <p:cNvPr id="27" name="teks-414"/>
          <p:cNvSpPr txBox="1"/>
          <p:nvPr/>
        </p:nvSpPr>
        <p:spPr>
          <a:xfrm>
            <a:off x="411480" y="185623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 </a:t>
            </a:r>
            <a:pPr indent="0" marL="0">
              <a:buNone/>
            </a:pPr>
            <a:r>
              <a:rPr lang="en-US" sz="7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laboratorium semikontinu 55 °C</a:t>
            </a:r>
            <a:endParaRPr lang="en-US" sz="780" dirty="0"/>
          </a:p>
        </p:txBody>
      </p:sp>
      <p:sp>
        <p:nvSpPr>
          <p:cNvPr id="28" name="kotak-415"/>
          <p:cNvSpPr txBox="1"/>
          <p:nvPr/>
        </p:nvSpPr>
        <p:spPr>
          <a:xfrm>
            <a:off x="2743200" y="1874520"/>
            <a:ext cx="1408176" cy="173736"/>
          </a:xfrm>
          <a:prstGeom prst="roundRect">
            <a:avLst>
              <a:gd name="adj" fmla="val 15789"/>
            </a:avLst>
          </a:prstGeom>
          <a:solidFill>
            <a:srgbClr val="6898C8"/>
          </a:solidFill>
          <a:ln>
            <a:solidFill>
              <a:srgbClr val="6898C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bln</a:t>
            </a:r>
            <a:endParaRPr lang="en-US" sz="730" dirty="0"/>
          </a:p>
        </p:txBody>
      </p:sp>
      <p:sp>
        <p:nvSpPr>
          <p:cNvPr id="29" name="kotak-416"/>
          <p:cNvSpPr/>
          <p:nvPr/>
        </p:nvSpPr>
        <p:spPr>
          <a:xfrm>
            <a:off x="2743200" y="2066544"/>
            <a:ext cx="5212080" cy="0"/>
          </a:xfrm>
          <a:prstGeom prst="rect">
            <a:avLst/>
          </a:prstGeom>
          <a:solidFill>
            <a:srgbClr val="BFD6E8"/>
          </a:solidFill>
          <a:ln w="3175">
            <a:solidFill>
              <a:srgbClr val="BFD6E8"/>
            </a:solidFill>
            <a:prstDash val="solid"/>
          </a:ln>
        </p:spPr>
      </p:sp>
      <p:sp>
        <p:nvSpPr>
          <p:cNvPr id="30" name="teks-417"/>
          <p:cNvSpPr txBox="1"/>
          <p:nvPr/>
        </p:nvSpPr>
        <p:spPr>
          <a:xfrm>
            <a:off x="411480" y="2075688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 </a:t>
            </a:r>
            <a:pPr indent="0" marL="0">
              <a:buNone/>
            </a:pPr>
            <a:r>
              <a:rPr lang="en-US" sz="7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Kuotasi vendor, FEED, HAZOP</a:t>
            </a:r>
            <a:endParaRPr lang="en-US" sz="780" dirty="0"/>
          </a:p>
        </p:txBody>
      </p:sp>
      <p:sp>
        <p:nvSpPr>
          <p:cNvPr id="31" name="kotak-418"/>
          <p:cNvSpPr txBox="1"/>
          <p:nvPr/>
        </p:nvSpPr>
        <p:spPr>
          <a:xfrm>
            <a:off x="3218688" y="2093976"/>
            <a:ext cx="1883664" cy="173736"/>
          </a:xfrm>
          <a:prstGeom prst="roundRect">
            <a:avLst>
              <a:gd name="adj" fmla="val 15789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bln</a:t>
            </a:r>
            <a:endParaRPr lang="en-US" sz="730" dirty="0"/>
          </a:p>
        </p:txBody>
      </p:sp>
      <p:sp>
        <p:nvSpPr>
          <p:cNvPr id="32" name="kotak-419"/>
          <p:cNvSpPr/>
          <p:nvPr/>
        </p:nvSpPr>
        <p:spPr>
          <a:xfrm>
            <a:off x="2743200" y="2286000"/>
            <a:ext cx="5212080" cy="0"/>
          </a:xfrm>
          <a:prstGeom prst="rect">
            <a:avLst/>
          </a:prstGeom>
          <a:solidFill>
            <a:srgbClr val="BFD6E8"/>
          </a:solidFill>
          <a:ln w="3175">
            <a:solidFill>
              <a:srgbClr val="BFD6E8"/>
            </a:solidFill>
            <a:prstDash val="solid"/>
          </a:ln>
        </p:spPr>
      </p:sp>
      <p:sp>
        <p:nvSpPr>
          <p:cNvPr id="33" name="teks-420"/>
          <p:cNvSpPr txBox="1"/>
          <p:nvPr/>
        </p:nvSpPr>
        <p:spPr>
          <a:xfrm>
            <a:off x="411480" y="229514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 </a:t>
            </a:r>
            <a:pPr indent="0" marL="0">
              <a:buNone/>
            </a:pPr>
            <a:r>
              <a:rPr lang="en-US" sz="7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Perizinan (PBG, SLO, IUPTLS, PJBL, UKL-UPL)</a:t>
            </a:r>
            <a:endParaRPr lang="en-US" sz="780" dirty="0"/>
          </a:p>
        </p:txBody>
      </p:sp>
      <p:sp>
        <p:nvSpPr>
          <p:cNvPr id="34" name="kotak-421"/>
          <p:cNvSpPr txBox="1"/>
          <p:nvPr/>
        </p:nvSpPr>
        <p:spPr>
          <a:xfrm>
            <a:off x="3218688" y="2313432"/>
            <a:ext cx="2834640" cy="173736"/>
          </a:xfrm>
          <a:prstGeom prst="roundRect">
            <a:avLst>
              <a:gd name="adj" fmla="val 15789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bln</a:t>
            </a:r>
            <a:endParaRPr lang="en-US" sz="730" dirty="0"/>
          </a:p>
        </p:txBody>
      </p:sp>
      <p:sp>
        <p:nvSpPr>
          <p:cNvPr id="35" name="kotak-422"/>
          <p:cNvSpPr/>
          <p:nvPr/>
        </p:nvSpPr>
        <p:spPr>
          <a:xfrm>
            <a:off x="2743200" y="2505456"/>
            <a:ext cx="5212080" cy="0"/>
          </a:xfrm>
          <a:prstGeom prst="rect">
            <a:avLst/>
          </a:prstGeom>
          <a:solidFill>
            <a:srgbClr val="BFD6E8"/>
          </a:solidFill>
          <a:ln w="3175">
            <a:solidFill>
              <a:srgbClr val="BFD6E8"/>
            </a:solidFill>
            <a:prstDash val="solid"/>
          </a:ln>
        </p:spPr>
      </p:sp>
      <p:sp>
        <p:nvSpPr>
          <p:cNvPr id="36" name="teks-423"/>
          <p:cNvSpPr txBox="1"/>
          <p:nvPr/>
        </p:nvSpPr>
        <p:spPr>
          <a:xfrm>
            <a:off x="411480" y="251460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 </a:t>
            </a:r>
            <a:pPr indent="0" marL="0">
              <a:buNone/>
            </a:pPr>
            <a:r>
              <a:rPr lang="en-US" sz="7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10–20 m³ di PKS (TRL 6)</a:t>
            </a:r>
            <a:endParaRPr lang="en-US" sz="780" dirty="0"/>
          </a:p>
        </p:txBody>
      </p:sp>
      <p:sp>
        <p:nvSpPr>
          <p:cNvPr id="37" name="kotak-424"/>
          <p:cNvSpPr txBox="1"/>
          <p:nvPr/>
        </p:nvSpPr>
        <p:spPr>
          <a:xfrm>
            <a:off x="4169664" y="2532888"/>
            <a:ext cx="2359152" cy="173736"/>
          </a:xfrm>
          <a:prstGeom prst="roundRect">
            <a:avLst>
              <a:gd name="adj" fmla="val 15789"/>
            </a:avLst>
          </a:prstGeom>
          <a:solidFill>
            <a:srgbClr val="3E8E41"/>
          </a:solidFill>
          <a:ln>
            <a:solidFill>
              <a:srgbClr val="3E8E4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bln</a:t>
            </a:r>
            <a:endParaRPr lang="en-US" sz="730" dirty="0"/>
          </a:p>
        </p:txBody>
      </p:sp>
      <p:sp>
        <p:nvSpPr>
          <p:cNvPr id="38" name="kotak-425"/>
          <p:cNvSpPr/>
          <p:nvPr/>
        </p:nvSpPr>
        <p:spPr>
          <a:xfrm>
            <a:off x="2743200" y="2724912"/>
            <a:ext cx="5212080" cy="0"/>
          </a:xfrm>
          <a:prstGeom prst="rect">
            <a:avLst/>
          </a:prstGeom>
          <a:solidFill>
            <a:srgbClr val="BFD6E8"/>
          </a:solidFill>
          <a:ln w="3175">
            <a:solidFill>
              <a:srgbClr val="BFD6E8"/>
            </a:solidFill>
            <a:prstDash val="solid"/>
          </a:ln>
        </p:spPr>
      </p:sp>
      <p:sp>
        <p:nvSpPr>
          <p:cNvPr id="39" name="teks-426"/>
          <p:cNvSpPr txBox="1"/>
          <p:nvPr/>
        </p:nvSpPr>
        <p:spPr>
          <a:xfrm>
            <a:off x="411480" y="2734056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  </a:t>
            </a:r>
            <a:pPr indent="0" marL="0">
              <a:buNone/>
            </a:pPr>
            <a:r>
              <a:rPr lang="en-US" sz="7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Pengadaan dan fabrikasi (genset 6–9 bln)</a:t>
            </a:r>
            <a:endParaRPr lang="en-US" sz="780" dirty="0"/>
          </a:p>
        </p:txBody>
      </p:sp>
      <p:sp>
        <p:nvSpPr>
          <p:cNvPr id="40" name="kotak-427"/>
          <p:cNvSpPr txBox="1"/>
          <p:nvPr/>
        </p:nvSpPr>
        <p:spPr>
          <a:xfrm>
            <a:off x="5120640" y="2752344"/>
            <a:ext cx="1883664" cy="173736"/>
          </a:xfrm>
          <a:prstGeom prst="roundRect">
            <a:avLst>
              <a:gd name="adj" fmla="val 15789"/>
            </a:avLst>
          </a:prstGeom>
          <a:solidFill>
            <a:srgbClr val="6898C8"/>
          </a:solidFill>
          <a:ln>
            <a:solidFill>
              <a:srgbClr val="6898C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bln</a:t>
            </a:r>
            <a:endParaRPr lang="en-US" sz="730" dirty="0"/>
          </a:p>
        </p:txBody>
      </p:sp>
      <p:sp>
        <p:nvSpPr>
          <p:cNvPr id="41" name="kotak-428"/>
          <p:cNvSpPr/>
          <p:nvPr/>
        </p:nvSpPr>
        <p:spPr>
          <a:xfrm>
            <a:off x="2743200" y="2944368"/>
            <a:ext cx="5212080" cy="0"/>
          </a:xfrm>
          <a:prstGeom prst="rect">
            <a:avLst/>
          </a:prstGeom>
          <a:solidFill>
            <a:srgbClr val="BFD6E8"/>
          </a:solidFill>
          <a:ln w="3175">
            <a:solidFill>
              <a:srgbClr val="BFD6E8"/>
            </a:solidFill>
            <a:prstDash val="solid"/>
          </a:ln>
        </p:spPr>
      </p:sp>
      <p:sp>
        <p:nvSpPr>
          <p:cNvPr id="42" name="teks-429"/>
          <p:cNvSpPr txBox="1"/>
          <p:nvPr/>
        </p:nvSpPr>
        <p:spPr>
          <a:xfrm>
            <a:off x="411480" y="295351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 </a:t>
            </a:r>
            <a:pPr indent="0" marL="0">
              <a:buNone/>
            </a:pPr>
            <a:r>
              <a:rPr lang="en-US" sz="7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Konstruksi set 1 dan komisioning</a:t>
            </a:r>
            <a:endParaRPr lang="en-US" sz="780" dirty="0"/>
          </a:p>
        </p:txBody>
      </p:sp>
      <p:sp>
        <p:nvSpPr>
          <p:cNvPr id="43" name="kotak-430"/>
          <p:cNvSpPr txBox="1"/>
          <p:nvPr/>
        </p:nvSpPr>
        <p:spPr>
          <a:xfrm>
            <a:off x="6071616" y="2971800"/>
            <a:ext cx="1408176" cy="173736"/>
          </a:xfrm>
          <a:prstGeom prst="roundRect">
            <a:avLst>
              <a:gd name="adj" fmla="val 15789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bln</a:t>
            </a:r>
            <a:endParaRPr lang="en-US" sz="730" dirty="0"/>
          </a:p>
        </p:txBody>
      </p:sp>
      <p:sp>
        <p:nvSpPr>
          <p:cNvPr id="44" name="kotak-431"/>
          <p:cNvSpPr/>
          <p:nvPr/>
        </p:nvSpPr>
        <p:spPr>
          <a:xfrm>
            <a:off x="2743200" y="3163824"/>
            <a:ext cx="5212080" cy="0"/>
          </a:xfrm>
          <a:prstGeom prst="rect">
            <a:avLst/>
          </a:prstGeom>
          <a:solidFill>
            <a:srgbClr val="BFD6E8"/>
          </a:solidFill>
          <a:ln w="3175">
            <a:solidFill>
              <a:srgbClr val="BFD6E8"/>
            </a:solidFill>
            <a:prstDash val="solid"/>
          </a:ln>
        </p:spPr>
      </p:sp>
      <p:sp>
        <p:nvSpPr>
          <p:cNvPr id="45" name="teks-432"/>
          <p:cNvSpPr txBox="1"/>
          <p:nvPr/>
        </p:nvSpPr>
        <p:spPr>
          <a:xfrm>
            <a:off x="411480" y="3172968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 </a:t>
            </a:r>
            <a:pPr indent="0" marL="0">
              <a:buNone/>
            </a:pPr>
            <a:r>
              <a:rPr lang="en-US" sz="7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Operasi demonstrasi (TRL 7) dan MRV</a:t>
            </a:r>
            <a:endParaRPr lang="en-US" sz="780" dirty="0"/>
          </a:p>
        </p:txBody>
      </p:sp>
      <p:sp>
        <p:nvSpPr>
          <p:cNvPr id="46" name="kotak-433"/>
          <p:cNvSpPr txBox="1"/>
          <p:nvPr/>
        </p:nvSpPr>
        <p:spPr>
          <a:xfrm>
            <a:off x="7022592" y="3191256"/>
            <a:ext cx="932688" cy="173736"/>
          </a:xfrm>
          <a:prstGeom prst="roundRect">
            <a:avLst>
              <a:gd name="adj" fmla="val 15789"/>
            </a:avLst>
          </a:prstGeom>
          <a:solidFill>
            <a:srgbClr val="3E8E41"/>
          </a:solidFill>
          <a:ln>
            <a:solidFill>
              <a:srgbClr val="3E8E4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bln</a:t>
            </a:r>
            <a:endParaRPr lang="en-US" sz="730" dirty="0"/>
          </a:p>
        </p:txBody>
      </p:sp>
      <p:sp>
        <p:nvSpPr>
          <p:cNvPr id="47" name="kotak-434"/>
          <p:cNvSpPr/>
          <p:nvPr/>
        </p:nvSpPr>
        <p:spPr>
          <a:xfrm>
            <a:off x="2743200" y="3383280"/>
            <a:ext cx="5212080" cy="0"/>
          </a:xfrm>
          <a:prstGeom prst="rect">
            <a:avLst/>
          </a:prstGeom>
          <a:solidFill>
            <a:srgbClr val="BFD6E8"/>
          </a:solidFill>
          <a:ln w="3175">
            <a:solidFill>
              <a:srgbClr val="BFD6E8"/>
            </a:solidFill>
            <a:prstDash val="solid"/>
          </a:ln>
        </p:spPr>
      </p:sp>
      <p:sp>
        <p:nvSpPr>
          <p:cNvPr id="48" name="teks-435"/>
          <p:cNvSpPr txBox="1"/>
          <p:nvPr/>
        </p:nvSpPr>
        <p:spPr>
          <a:xfrm>
            <a:off x="411480" y="341985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Gerbang tahap</a:t>
            </a:r>
            <a:endParaRPr lang="en-US" sz="800" dirty="0"/>
          </a:p>
        </p:txBody>
      </p:sp>
      <p:sp>
        <p:nvSpPr>
          <p:cNvPr id="49" name="garis-436"/>
          <p:cNvSpPr/>
          <p:nvPr/>
        </p:nvSpPr>
        <p:spPr>
          <a:xfrm>
            <a:off x="3694176" y="1609344"/>
            <a:ext cx="0" cy="1810512"/>
          </a:xfrm>
          <a:prstGeom prst="line">
            <a:avLst/>
          </a:prstGeom>
          <a:noFill/>
          <a:ln w="11430">
            <a:solidFill>
              <a:srgbClr val="C8452F"/>
            </a:solidFill>
            <a:prstDash val="dash"/>
          </a:ln>
        </p:spPr>
      </p:sp>
      <p:sp>
        <p:nvSpPr>
          <p:cNvPr id="50" name="kotak-437"/>
          <p:cNvSpPr txBox="1"/>
          <p:nvPr/>
        </p:nvSpPr>
        <p:spPr>
          <a:xfrm>
            <a:off x="3538728" y="3419856"/>
            <a:ext cx="310896" cy="201168"/>
          </a:xfrm>
          <a:prstGeom prst="roundRect">
            <a:avLst>
              <a:gd name="adj" fmla="val 50000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G0</a:t>
            </a:r>
            <a:endParaRPr lang="en-US" sz="800" dirty="0"/>
          </a:p>
        </p:txBody>
      </p:sp>
      <p:sp>
        <p:nvSpPr>
          <p:cNvPr id="51" name="garis-438"/>
          <p:cNvSpPr/>
          <p:nvPr/>
        </p:nvSpPr>
        <p:spPr>
          <a:xfrm>
            <a:off x="5120640" y="1609344"/>
            <a:ext cx="0" cy="1810512"/>
          </a:xfrm>
          <a:prstGeom prst="line">
            <a:avLst/>
          </a:prstGeom>
          <a:noFill/>
          <a:ln w="11430">
            <a:solidFill>
              <a:srgbClr val="C8452F"/>
            </a:solidFill>
            <a:prstDash val="dash"/>
          </a:ln>
        </p:spPr>
      </p:sp>
      <p:sp>
        <p:nvSpPr>
          <p:cNvPr id="52" name="kotak-439"/>
          <p:cNvSpPr txBox="1"/>
          <p:nvPr/>
        </p:nvSpPr>
        <p:spPr>
          <a:xfrm>
            <a:off x="4965192" y="3419856"/>
            <a:ext cx="310896" cy="201168"/>
          </a:xfrm>
          <a:prstGeom prst="roundRect">
            <a:avLst>
              <a:gd name="adj" fmla="val 50000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</a:t>
            </a:r>
            <a:endParaRPr lang="en-US" sz="800" dirty="0"/>
          </a:p>
        </p:txBody>
      </p:sp>
      <p:sp>
        <p:nvSpPr>
          <p:cNvPr id="53" name="garis-440"/>
          <p:cNvSpPr/>
          <p:nvPr/>
        </p:nvSpPr>
        <p:spPr>
          <a:xfrm>
            <a:off x="6547104" y="1609344"/>
            <a:ext cx="0" cy="1810512"/>
          </a:xfrm>
          <a:prstGeom prst="line">
            <a:avLst/>
          </a:prstGeom>
          <a:noFill/>
          <a:ln w="11430">
            <a:solidFill>
              <a:srgbClr val="C8452F"/>
            </a:solidFill>
            <a:prstDash val="dash"/>
          </a:ln>
        </p:spPr>
      </p:sp>
      <p:sp>
        <p:nvSpPr>
          <p:cNvPr id="54" name="kotak-441"/>
          <p:cNvSpPr txBox="1"/>
          <p:nvPr/>
        </p:nvSpPr>
        <p:spPr>
          <a:xfrm>
            <a:off x="6391656" y="3419856"/>
            <a:ext cx="310896" cy="201168"/>
          </a:xfrm>
          <a:prstGeom prst="roundRect">
            <a:avLst>
              <a:gd name="adj" fmla="val 50000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G2</a:t>
            </a:r>
            <a:endParaRPr lang="en-US" sz="800" dirty="0"/>
          </a:p>
        </p:txBody>
      </p:sp>
      <p:sp>
        <p:nvSpPr>
          <p:cNvPr id="55" name="garis-442"/>
          <p:cNvSpPr/>
          <p:nvPr/>
        </p:nvSpPr>
        <p:spPr>
          <a:xfrm>
            <a:off x="7735824" y="1609344"/>
            <a:ext cx="0" cy="1810512"/>
          </a:xfrm>
          <a:prstGeom prst="line">
            <a:avLst/>
          </a:prstGeom>
          <a:noFill/>
          <a:ln w="11430">
            <a:solidFill>
              <a:srgbClr val="C8452F"/>
            </a:solidFill>
            <a:prstDash val="dash"/>
          </a:ln>
        </p:spPr>
      </p:sp>
      <p:sp>
        <p:nvSpPr>
          <p:cNvPr id="56" name="kotak-443"/>
          <p:cNvSpPr txBox="1"/>
          <p:nvPr/>
        </p:nvSpPr>
        <p:spPr>
          <a:xfrm>
            <a:off x="7580376" y="3419856"/>
            <a:ext cx="310896" cy="201168"/>
          </a:xfrm>
          <a:prstGeom prst="roundRect">
            <a:avLst>
              <a:gd name="adj" fmla="val 50000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G3</a:t>
            </a:r>
            <a:endParaRPr lang="en-US" sz="800" dirty="0"/>
          </a:p>
        </p:txBody>
      </p:sp>
      <p:sp>
        <p:nvSpPr>
          <p:cNvPr id="57" name="teks-444"/>
          <p:cNvSpPr txBox="1"/>
          <p:nvPr/>
        </p:nvSpPr>
        <p:spPr>
          <a:xfrm>
            <a:off x="411480" y="3648456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C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Jalur kritis: kuotasi/FEED → izin PLN dan IUPTLS → genset (6–9 bulan) → konstruksi. WBS: 1 data dan uji · 2 rekayasa dan izin · 3 pilot · 4 pengadaan dan konstruksi · 5 operasi dan MRV.</a:t>
            </a:r>
            <a:endParaRPr lang="en-US" sz="730" dirty="0"/>
          </a:p>
        </p:txBody>
      </p:sp>
      <p:sp>
        <p:nvSpPr>
          <p:cNvPr id="58" name="kotak-445"/>
          <p:cNvSpPr txBox="1"/>
          <p:nvPr/>
        </p:nvSpPr>
        <p:spPr>
          <a:xfrm>
            <a:off x="8138160" y="1143000"/>
            <a:ext cx="3657600" cy="228600"/>
          </a:xfrm>
          <a:prstGeom prst="roundRect">
            <a:avLst>
              <a:gd name="adj" fmla="val 16000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Anggaran pengembangan: USD 1,3 juta (usulan)</a:t>
            </a:r>
            <a:endParaRPr lang="en-US" sz="950" dirty="0"/>
          </a:p>
        </p:txBody>
      </p:sp>
      <p:graphicFrame>
        <p:nvGraphicFramePr>
          <p:cNvPr id="59" name="Chart 0" descr=""/>
          <p:cNvGraphicFramePr/>
          <p:nvPr/>
        </p:nvGraphicFramePr>
        <p:xfrm>
          <a:off x="8092440" y="1417320"/>
          <a:ext cx="160020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0" name="teks-446"/>
          <p:cNvSpPr txBox="1"/>
          <p:nvPr/>
        </p:nvSpPr>
        <p:spPr>
          <a:xfrm>
            <a:off x="8412480" y="20574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1.300</a:t>
            </a:r>
            <a:endParaRPr lang="en-US" sz="1300" dirty="0"/>
          </a:p>
        </p:txBody>
      </p:sp>
      <p:sp>
        <p:nvSpPr>
          <p:cNvPr id="61" name="kotak-447"/>
          <p:cNvSpPr/>
          <p:nvPr/>
        </p:nvSpPr>
        <p:spPr>
          <a:xfrm>
            <a:off x="9738360" y="1572768"/>
            <a:ext cx="128016" cy="128016"/>
          </a:xfrm>
          <a:prstGeom prst="rect">
            <a:avLst/>
          </a:prstGeom>
          <a:solidFill>
            <a:srgbClr val="3E8E41"/>
          </a:solidFill>
          <a:ln w="12700">
            <a:solidFill>
              <a:srgbClr val="3E8E41"/>
            </a:solidFill>
            <a:prstDash val="solid"/>
          </a:ln>
        </p:spPr>
      </p:sp>
      <p:sp>
        <p:nvSpPr>
          <p:cNvPr id="62" name="teks-448"/>
          <p:cNvSpPr txBox="1"/>
          <p:nvPr/>
        </p:nvSpPr>
        <p:spPr>
          <a:xfrm>
            <a:off x="9921240" y="153619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lab dan pilot</a:t>
            </a:r>
            <a:endParaRPr lang="en-US" sz="820" dirty="0"/>
          </a:p>
        </p:txBody>
      </p:sp>
      <p:sp>
        <p:nvSpPr>
          <p:cNvPr id="63" name="teks-449"/>
          <p:cNvSpPr txBox="1"/>
          <p:nvPr/>
        </p:nvSpPr>
        <p:spPr>
          <a:xfrm>
            <a:off x="11247120" y="15361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480</a:t>
            </a:r>
            <a:endParaRPr lang="en-US" sz="850" dirty="0"/>
          </a:p>
        </p:txBody>
      </p:sp>
      <p:sp>
        <p:nvSpPr>
          <p:cNvPr id="64" name="kotak-450"/>
          <p:cNvSpPr/>
          <p:nvPr/>
        </p:nvSpPr>
        <p:spPr>
          <a:xfrm>
            <a:off x="9738360" y="1847088"/>
            <a:ext cx="128016" cy="128016"/>
          </a:xfrm>
          <a:prstGeom prst="rect">
            <a:avLst/>
          </a:prstGeom>
          <a:solidFill>
            <a:srgbClr val="0C2464"/>
          </a:solidFill>
          <a:ln w="12700">
            <a:solidFill>
              <a:srgbClr val="0C2464"/>
            </a:solidFill>
            <a:prstDash val="solid"/>
          </a:ln>
        </p:spPr>
      </p:sp>
      <p:sp>
        <p:nvSpPr>
          <p:cNvPr id="65" name="teks-451"/>
          <p:cNvSpPr txBox="1"/>
          <p:nvPr/>
        </p:nvSpPr>
        <p:spPr>
          <a:xfrm>
            <a:off x="9921240" y="181051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 dan manajemen</a:t>
            </a:r>
            <a:endParaRPr lang="en-US" sz="820" dirty="0"/>
          </a:p>
        </p:txBody>
      </p:sp>
      <p:sp>
        <p:nvSpPr>
          <p:cNvPr id="66" name="teks-452"/>
          <p:cNvSpPr txBox="1"/>
          <p:nvPr/>
        </p:nvSpPr>
        <p:spPr>
          <a:xfrm>
            <a:off x="11247120" y="181051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310</a:t>
            </a:r>
            <a:endParaRPr lang="en-US" sz="850" dirty="0"/>
          </a:p>
        </p:txBody>
      </p:sp>
      <p:sp>
        <p:nvSpPr>
          <p:cNvPr id="67" name="kotak-453"/>
          <p:cNvSpPr/>
          <p:nvPr/>
        </p:nvSpPr>
        <p:spPr>
          <a:xfrm>
            <a:off x="9738360" y="2121408"/>
            <a:ext cx="128016" cy="128016"/>
          </a:xfrm>
          <a:prstGeom prst="rect">
            <a:avLst/>
          </a:prstGeom>
          <a:solidFill>
            <a:srgbClr val="1F4E9E"/>
          </a:solidFill>
          <a:ln w="12700">
            <a:solidFill>
              <a:srgbClr val="1F4E9E"/>
            </a:solidFill>
            <a:prstDash val="solid"/>
          </a:ln>
        </p:spPr>
      </p:sp>
      <p:sp>
        <p:nvSpPr>
          <p:cNvPr id="68" name="teks-454"/>
          <p:cNvSpPr txBox="1"/>
          <p:nvPr/>
        </p:nvSpPr>
        <p:spPr>
          <a:xfrm>
            <a:off x="9921240" y="208483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dan HAZOP</a:t>
            </a:r>
            <a:endParaRPr lang="en-US" sz="820" dirty="0"/>
          </a:p>
        </p:txBody>
      </p:sp>
      <p:sp>
        <p:nvSpPr>
          <p:cNvPr id="69" name="teks-455"/>
          <p:cNvSpPr txBox="1"/>
          <p:nvPr/>
        </p:nvSpPr>
        <p:spPr>
          <a:xfrm>
            <a:off x="11247120" y="20848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220</a:t>
            </a:r>
            <a:endParaRPr lang="en-US" sz="850" dirty="0"/>
          </a:p>
        </p:txBody>
      </p:sp>
      <p:sp>
        <p:nvSpPr>
          <p:cNvPr id="70" name="kotak-456"/>
          <p:cNvSpPr/>
          <p:nvPr/>
        </p:nvSpPr>
        <p:spPr>
          <a:xfrm>
            <a:off x="9738360" y="2395728"/>
            <a:ext cx="128016" cy="128016"/>
          </a:xfrm>
          <a:prstGeom prst="rect">
            <a:avLst/>
          </a:prstGeom>
          <a:solidFill>
            <a:srgbClr val="2B9FC8"/>
          </a:solidFill>
          <a:ln w="12700">
            <a:solidFill>
              <a:srgbClr val="2B9FC8"/>
            </a:solidFill>
            <a:prstDash val="solid"/>
          </a:ln>
        </p:spPr>
      </p:sp>
      <p:sp>
        <p:nvSpPr>
          <p:cNvPr id="71" name="teks-457"/>
          <p:cNvSpPr txBox="1"/>
          <p:nvPr/>
        </p:nvSpPr>
        <p:spPr>
          <a:xfrm>
            <a:off x="9921240" y="235915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Kuotasi dan MRV karbon</a:t>
            </a:r>
            <a:endParaRPr lang="en-US" sz="820" dirty="0"/>
          </a:p>
        </p:txBody>
      </p:sp>
      <p:sp>
        <p:nvSpPr>
          <p:cNvPr id="72" name="teks-458"/>
          <p:cNvSpPr txBox="1"/>
          <p:nvPr/>
        </p:nvSpPr>
        <p:spPr>
          <a:xfrm>
            <a:off x="11247120" y="235915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</a:t>
            </a:r>
            <a:endParaRPr lang="en-US" sz="850" dirty="0"/>
          </a:p>
        </p:txBody>
      </p:sp>
      <p:sp>
        <p:nvSpPr>
          <p:cNvPr id="73" name="kotak-459"/>
          <p:cNvSpPr/>
          <p:nvPr/>
        </p:nvSpPr>
        <p:spPr>
          <a:xfrm>
            <a:off x="9738360" y="2670048"/>
            <a:ext cx="128016" cy="128016"/>
          </a:xfrm>
          <a:prstGeom prst="rect">
            <a:avLst/>
          </a:prstGeom>
          <a:solidFill>
            <a:srgbClr val="6898C8"/>
          </a:solidFill>
          <a:ln w="12700">
            <a:solidFill>
              <a:srgbClr val="6898C8"/>
            </a:solidFill>
            <a:prstDash val="solid"/>
          </a:ln>
        </p:spPr>
      </p:sp>
      <p:sp>
        <p:nvSpPr>
          <p:cNvPr id="74" name="teks-460"/>
          <p:cNvSpPr txBox="1"/>
          <p:nvPr/>
        </p:nvSpPr>
        <p:spPr>
          <a:xfrm>
            <a:off x="9921240" y="26334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Izin dan hukum</a:t>
            </a:r>
            <a:endParaRPr lang="en-US" sz="820" dirty="0"/>
          </a:p>
        </p:txBody>
      </p:sp>
      <p:sp>
        <p:nvSpPr>
          <p:cNvPr id="75" name="teks-461"/>
          <p:cNvSpPr txBox="1"/>
          <p:nvPr/>
        </p:nvSpPr>
        <p:spPr>
          <a:xfrm>
            <a:off x="11247120" y="26334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</a:t>
            </a:r>
            <a:endParaRPr lang="en-US" sz="850" dirty="0"/>
          </a:p>
        </p:txBody>
      </p:sp>
      <p:sp>
        <p:nvSpPr>
          <p:cNvPr id="76" name="teks-462"/>
          <p:cNvSpPr txBox="1"/>
          <p:nvPr/>
        </p:nvSpPr>
        <p:spPr>
          <a:xfrm>
            <a:off x="8138160" y="3035808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ribu. Status: usulan tim, belum ada komitmen. Sumber prospektif: hibah riset, kontribusi in-kind PKS mitra, investor tahap awal. Mitra yang belum terikat: PKS mitra, EPC, laboratorium universitas, vendor genset dan GFS.</a:t>
            </a:r>
            <a:endParaRPr lang="en-US" sz="760" dirty="0"/>
          </a:p>
        </p:txBody>
      </p:sp>
      <p:sp>
        <p:nvSpPr>
          <p:cNvPr id="77" name="kotak-463"/>
          <p:cNvSpPr txBox="1"/>
          <p:nvPr/>
        </p:nvSpPr>
        <p:spPr>
          <a:xfrm>
            <a:off x="411480" y="3986784"/>
            <a:ext cx="2788920" cy="201168"/>
          </a:xfrm>
          <a:prstGeom prst="roundRect">
            <a:avLst>
              <a:gd name="adj" fmla="val 18182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G0 · Data PKS · bulan 6</a:t>
            </a:r>
            <a:endParaRPr lang="en-US" sz="830" dirty="0"/>
          </a:p>
        </p:txBody>
      </p:sp>
      <p:sp>
        <p:nvSpPr>
          <p:cNvPr id="78" name="kotak-464"/>
          <p:cNvSpPr/>
          <p:nvPr/>
        </p:nvSpPr>
        <p:spPr>
          <a:xfrm>
            <a:off x="411480" y="4187952"/>
            <a:ext cx="27889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8452F"/>
            </a:solidFill>
            <a:prstDash val="solid"/>
          </a:ln>
        </p:spPr>
      </p:sp>
      <p:sp>
        <p:nvSpPr>
          <p:cNvPr id="79" name="teks-465"/>
          <p:cNvSpPr txBox="1"/>
          <p:nvPr/>
        </p:nvSpPr>
        <p:spPr>
          <a:xfrm>
            <a:off x="475488" y="4206240"/>
            <a:ext cx="2660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7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tergantikan terukur ≥ 2,0 L/t TBS (log 12 bulan)</a:t>
            </a:r>
            <a:endParaRPr lang="en-US" sz="740" dirty="0"/>
          </a:p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7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Jaringan 20 kV ≤ 2 km; beban TBS ≥ 70%</a:t>
            </a:r>
            <a:endParaRPr lang="en-US" sz="740" dirty="0"/>
          </a:p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7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Surat minat PKS mitra</a:t>
            </a:r>
            <a:endParaRPr lang="en-US" sz="740" dirty="0"/>
          </a:p>
        </p:txBody>
      </p:sp>
      <p:sp>
        <p:nvSpPr>
          <p:cNvPr id="80" name="teks-466"/>
          <p:cNvSpPr txBox="1"/>
          <p:nvPr/>
        </p:nvSpPr>
        <p:spPr>
          <a:xfrm>
            <a:off x="475488" y="4626864"/>
            <a:ext cx="26609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C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P(NPV&gt;0) setelah lolos: 24% · gagal: berhenti/ganti PKS</a:t>
            </a:r>
            <a:endParaRPr lang="en-US" sz="720" dirty="0"/>
          </a:p>
        </p:txBody>
      </p:sp>
      <p:sp>
        <p:nvSpPr>
          <p:cNvPr id="81" name="kotak-467"/>
          <p:cNvSpPr txBox="1"/>
          <p:nvPr/>
        </p:nvSpPr>
        <p:spPr>
          <a:xfrm>
            <a:off x="3282696" y="3986784"/>
            <a:ext cx="2788920" cy="201168"/>
          </a:xfrm>
          <a:prstGeom prst="roundRect">
            <a:avLst>
              <a:gd name="adj" fmla="val 18182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 · Kuotasi · bulan 15</a:t>
            </a:r>
            <a:endParaRPr lang="en-US" sz="830" dirty="0"/>
          </a:p>
        </p:txBody>
      </p:sp>
      <p:sp>
        <p:nvSpPr>
          <p:cNvPr id="82" name="kotak-468"/>
          <p:cNvSpPr/>
          <p:nvPr/>
        </p:nvSpPr>
        <p:spPr>
          <a:xfrm>
            <a:off x="3282696" y="4187952"/>
            <a:ext cx="27889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8452F"/>
            </a:solidFill>
            <a:prstDash val="solid"/>
          </a:ln>
        </p:spPr>
      </p:sp>
      <p:sp>
        <p:nvSpPr>
          <p:cNvPr id="83" name="teks-469"/>
          <p:cNvSpPr txBox="1"/>
          <p:nvPr/>
        </p:nvSpPr>
        <p:spPr>
          <a:xfrm>
            <a:off x="3346704" y="4206240"/>
            <a:ext cx="2660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7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FCI ≤ USD 6,0 juta (±12%)</a:t>
            </a:r>
            <a:endParaRPr lang="en-US" sz="740" dirty="0"/>
          </a:p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7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Tiga kuotasi: tangki GFS dan genset</a:t>
            </a:r>
            <a:endParaRPr lang="en-US" sz="740" dirty="0"/>
          </a:p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7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Perjanjian pendahuluan PKS</a:t>
            </a:r>
            <a:endParaRPr lang="en-US" sz="740" dirty="0"/>
          </a:p>
        </p:txBody>
      </p:sp>
      <p:sp>
        <p:nvSpPr>
          <p:cNvPr id="84" name="teks-470"/>
          <p:cNvSpPr txBox="1"/>
          <p:nvPr/>
        </p:nvSpPr>
        <p:spPr>
          <a:xfrm>
            <a:off x="3346704" y="4626864"/>
            <a:ext cx="26609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C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P(NPV&gt;0) setelah lolos: 35% · gagal: berhenti/ganti PKS</a:t>
            </a:r>
            <a:endParaRPr lang="en-US" sz="720" dirty="0"/>
          </a:p>
        </p:txBody>
      </p:sp>
      <p:sp>
        <p:nvSpPr>
          <p:cNvPr id="85" name="kotak-471"/>
          <p:cNvSpPr txBox="1"/>
          <p:nvPr/>
        </p:nvSpPr>
        <p:spPr>
          <a:xfrm>
            <a:off x="6153912" y="3986784"/>
            <a:ext cx="2788920" cy="201168"/>
          </a:xfrm>
          <a:prstGeom prst="roundRect">
            <a:avLst>
              <a:gd name="adj" fmla="val 18182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G2 · FEED dan hukum · bulan 24</a:t>
            </a:r>
            <a:endParaRPr lang="en-US" sz="830" dirty="0"/>
          </a:p>
        </p:txBody>
      </p:sp>
      <p:sp>
        <p:nvSpPr>
          <p:cNvPr id="86" name="kotak-472"/>
          <p:cNvSpPr/>
          <p:nvPr/>
        </p:nvSpPr>
        <p:spPr>
          <a:xfrm>
            <a:off x="6153912" y="4187952"/>
            <a:ext cx="27889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8452F"/>
            </a:solidFill>
            <a:prstDash val="solid"/>
          </a:ln>
        </p:spPr>
      </p:sp>
      <p:sp>
        <p:nvSpPr>
          <p:cNvPr id="87" name="teks-473"/>
          <p:cNvSpPr txBox="1"/>
          <p:nvPr/>
        </p:nvSpPr>
        <p:spPr>
          <a:xfrm>
            <a:off x="6217920" y="4206240"/>
            <a:ext cx="2660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7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HAZOP tanpa risiko tinggi</a:t>
            </a:r>
            <a:endParaRPr lang="en-US" sz="740" dirty="0"/>
          </a:p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7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 kontrak dan tarif dikonfirmasi ESDM/PLN</a:t>
            </a:r>
            <a:endParaRPr lang="en-US" sz="740" dirty="0"/>
          </a:p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7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Penawaran pembiayaan (DSCR ≥ 1,30)</a:t>
            </a:r>
            <a:endParaRPr lang="en-US" sz="740" dirty="0"/>
          </a:p>
        </p:txBody>
      </p:sp>
      <p:sp>
        <p:nvSpPr>
          <p:cNvPr id="88" name="teks-474"/>
          <p:cNvSpPr txBox="1"/>
          <p:nvPr/>
        </p:nvSpPr>
        <p:spPr>
          <a:xfrm>
            <a:off x="6217920" y="4626864"/>
            <a:ext cx="26609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C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P(NPV&gt;0) setelah lolos: 46% · gagal: berhenti/ganti PKS</a:t>
            </a:r>
            <a:endParaRPr lang="en-US" sz="720" dirty="0"/>
          </a:p>
        </p:txBody>
      </p:sp>
      <p:sp>
        <p:nvSpPr>
          <p:cNvPr id="89" name="kotak-475"/>
          <p:cNvSpPr txBox="1"/>
          <p:nvPr/>
        </p:nvSpPr>
        <p:spPr>
          <a:xfrm>
            <a:off x="9025128" y="3986784"/>
            <a:ext cx="2788920" cy="201168"/>
          </a:xfrm>
          <a:prstGeom prst="roundRect">
            <a:avLst>
              <a:gd name="adj" fmla="val 18182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G3 · Pilot · bulan 30</a:t>
            </a:r>
            <a:endParaRPr lang="en-US" sz="830" dirty="0"/>
          </a:p>
        </p:txBody>
      </p:sp>
      <p:sp>
        <p:nvSpPr>
          <p:cNvPr id="90" name="kotak-476"/>
          <p:cNvSpPr/>
          <p:nvPr/>
        </p:nvSpPr>
        <p:spPr>
          <a:xfrm>
            <a:off x="9025128" y="4187952"/>
            <a:ext cx="27889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8452F"/>
            </a:solidFill>
            <a:prstDash val="solid"/>
          </a:ln>
        </p:spPr>
      </p:sp>
      <p:sp>
        <p:nvSpPr>
          <p:cNvPr id="91" name="teks-477"/>
          <p:cNvSpPr txBox="1"/>
          <p:nvPr/>
        </p:nvSpPr>
        <p:spPr>
          <a:xfrm>
            <a:off x="9089136" y="4206240"/>
            <a:ext cx="2660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7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 ≥ 65% pada OLR ≥ 8; settler ≥ 85%</a:t>
            </a:r>
            <a:endParaRPr lang="en-US" sz="740" dirty="0"/>
          </a:p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7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 ke genset ≤ 50 ppm</a:t>
            </a:r>
            <a:endParaRPr lang="en-US" sz="740" dirty="0"/>
          </a:p>
          <a:p>
            <a:pPr marL="101600" indent="-101600">
              <a:spcAft>
                <a:spcPts val="100"/>
              </a:spcAft>
              <a:buSzPct val="100000"/>
              <a:buChar char="•"/>
            </a:pPr>
            <a:r>
              <a:rPr lang="en-US" sz="7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Kontrak 20 tahun ditandatangani → FID</a:t>
            </a:r>
            <a:endParaRPr lang="en-US" sz="740" dirty="0"/>
          </a:p>
        </p:txBody>
      </p:sp>
      <p:sp>
        <p:nvSpPr>
          <p:cNvPr id="92" name="teks-478"/>
          <p:cNvSpPr txBox="1"/>
          <p:nvPr/>
        </p:nvSpPr>
        <p:spPr>
          <a:xfrm>
            <a:off x="9089136" y="4626864"/>
            <a:ext cx="26609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C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P(NPV&gt;0) setelah lolos: 45% · gagal: berhenti/ganti PKS</a:t>
            </a:r>
            <a:endParaRPr lang="en-US" sz="720" dirty="0"/>
          </a:p>
        </p:txBody>
      </p:sp>
      <p:sp>
        <p:nvSpPr>
          <p:cNvPr id="93" name="kotak-479"/>
          <p:cNvSpPr txBox="1"/>
          <p:nvPr/>
        </p:nvSpPr>
        <p:spPr>
          <a:xfrm>
            <a:off x="411480" y="4846320"/>
            <a:ext cx="3291840" cy="182880"/>
          </a:xfrm>
          <a:prstGeom prst="roundRect">
            <a:avLst>
              <a:gd name="adj" fmla="val 20000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RACI (R pelaksana, A penanggung jawab, C konsultasi)</a:t>
            </a:r>
            <a:endParaRPr lang="en-US" sz="780" dirty="0"/>
          </a:p>
        </p:txBody>
      </p:sp>
      <p:graphicFrame>
        <p:nvGraphicFramePr>
          <p:cNvPr id="9" name="tabel-48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5047488"/>
          <a:ext cx="91440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57200"/>
                <a:gridCol w="457200"/>
                <a:gridCol w="457200"/>
                <a:gridCol w="457200"/>
              </a:tblGrid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Kegiatan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PKS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EPC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dan uji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FEED, HAZOP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Izin ESDM/PLN/KLH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Konstruksi dan operasi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</a:tbl>
          </a:graphicData>
        </a:graphic>
      </p:graphicFrame>
      <p:sp>
        <p:nvSpPr>
          <p:cNvPr id="95" name="kotak-481"/>
          <p:cNvSpPr txBox="1"/>
          <p:nvPr/>
        </p:nvSpPr>
        <p:spPr>
          <a:xfrm>
            <a:off x="3840480" y="4846320"/>
            <a:ext cx="4023360" cy="182880"/>
          </a:xfrm>
          <a:prstGeom prst="roundRect">
            <a:avLst>
              <a:gd name="adj" fmla="val 20000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Risiko utama dan pemilik</a:t>
            </a:r>
            <a:endParaRPr lang="en-US" sz="780" dirty="0"/>
          </a:p>
        </p:txBody>
      </p:sp>
      <p:graphicFrame>
        <p:nvGraphicFramePr>
          <p:cNvPr id="17" name="tabel-48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0" y="5047488"/>
          <a:ext cx="9144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777240"/>
                <a:gridCol w="1874520"/>
              </a:tblGrid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Risiko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Peluang · dampak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Mitigasi (pemilik)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Tarif dan izin jual listrik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· 4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konfirmasi ESDM, kontrak jasa (hukum)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 &gt; USD 6 juta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4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tiga kuotasi, desain ke biaya (pengadaan)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Kinerja termofilik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5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 dan jaminan bertahap (teknis)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Solar &lt; 1,5 L/t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4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gerbang G0 (komersial)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</a:tbl>
          </a:graphicData>
        </a:graphic>
      </p:graphicFrame>
      <p:sp>
        <p:nvSpPr>
          <p:cNvPr id="97" name="kotak-483"/>
          <p:cNvSpPr txBox="1"/>
          <p:nvPr/>
        </p:nvSpPr>
        <p:spPr>
          <a:xfrm>
            <a:off x="8001000" y="4846320"/>
            <a:ext cx="3794760" cy="182880"/>
          </a:xfrm>
          <a:prstGeom prst="roundRect">
            <a:avLst>
              <a:gd name="adj" fmla="val 20000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Perizinan (otoritas)</a:t>
            </a:r>
            <a:endParaRPr lang="en-US" sz="780" dirty="0"/>
          </a:p>
        </p:txBody>
      </p:sp>
      <p:graphicFrame>
        <p:nvGraphicFramePr>
          <p:cNvPr id="25" name="tabel-48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01000" y="5047488"/>
          <a:ext cx="9144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508760"/>
              </a:tblGrid>
              <a:tr h="1554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Izin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Otoritas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PBG/SLF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pemerintah daerah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UKL-UPL, persetujuan teknis air limbah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KLH/DLH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IUPTLS/IUPTLU, PJBL, SLO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ESDM (Gatrik), PLN, LIT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K3 bejana tekan dan listrik; ISPO 2027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Kemnaker; Komite ISPO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</a:tbl>
          </a:graphicData>
        </a:graphic>
      </p:graphicFrame>
      <p:sp>
        <p:nvSpPr>
          <p:cNvPr id="99" name="kotak-485"/>
          <p:cNvSpPr txBox="1"/>
          <p:nvPr/>
        </p:nvSpPr>
        <p:spPr>
          <a:xfrm>
            <a:off x="411480" y="594360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1000" dirty="0"/>
          </a:p>
        </p:txBody>
      </p:sp>
      <p:sp>
        <p:nvSpPr>
          <p:cNvPr id="100" name="kotak-486"/>
          <p:cNvSpPr txBox="1"/>
          <p:nvPr/>
        </p:nvSpPr>
        <p:spPr>
          <a:xfrm>
            <a:off x="1828800" y="5943600"/>
            <a:ext cx="9966960" cy="347472"/>
          </a:xfrm>
          <a:prstGeom prst="roundRect">
            <a:avLst>
              <a:gd name="adj" fmla="val 13158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101600" rIns="1016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Dana pengembangan USD 1,3 juta membeli informasi, bukan aset: tiap gerbang mengubah asumsi terlemah menjadi data, dan modal besar (± USD 5,9 juta) baru dikucurkan setelah G3.</a:t>
            </a:r>
            <a:endParaRPr lang="en-US" sz="950" dirty="0"/>
          </a:p>
        </p:txBody>
      </p:sp>
      <p:sp>
        <p:nvSpPr>
          <p:cNvPr id="101" name="teks-487"/>
          <p:cNvSpPr txBox="1"/>
          <p:nvPr/>
        </p:nvSpPr>
        <p:spPr>
          <a:xfrm>
            <a:off x="411480" y="6336792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Singkatan: FEED desain rekayasa awal; HAZOP kajian bahaya dan operabilitas; MRV pemantauan, pelaporan, verifikasi; FID keputusan investasi akhir; PBG persetujuan bangunan gedung; SLO sertifikat laik operasi; LIT lembaga inspeksi teknik.</a:t>
            </a:r>
            <a:endParaRPr lang="en-US" sz="560" dirty="0"/>
          </a:p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usulan tim; durasi dan kendala dari research/R4 dan R6 (SLO ≤ 4 hari kerja setelah inspeksi, FAQ Ditjen Gatrik 2024; lama izin lain belum terverifikasi); Monte Carlo per gerbang (deck/export_data.py).</a:t>
            </a:r>
            <a:endParaRPr lang="en-US" sz="5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Pasar yang dapat dilayani ±57 PKS (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73 juta per tahun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); 10 set pada 2034 menghindari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±320 ribu tCO₂e per tahun</a:t>
            </a:r>
            <a:endParaRPr lang="en-US" sz="1900" dirty="0"/>
          </a:p>
        </p:txBody>
      </p:sp>
      <p:sp>
        <p:nvSpPr>
          <p:cNvPr id="3" name="kotak-488"/>
          <p:cNvSpPr txBox="1"/>
          <p:nvPr/>
        </p:nvSpPr>
        <p:spPr>
          <a:xfrm>
            <a:off x="41148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kotak-489"/>
          <p:cNvSpPr txBox="1"/>
          <p:nvPr/>
        </p:nvSpPr>
        <p:spPr>
          <a:xfrm>
            <a:off x="189280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800" dirty="0"/>
          </a:p>
        </p:txBody>
      </p:sp>
      <p:sp>
        <p:nvSpPr>
          <p:cNvPr id="5" name="kotak-490"/>
          <p:cNvSpPr txBox="1"/>
          <p:nvPr/>
        </p:nvSpPr>
        <p:spPr>
          <a:xfrm>
            <a:off x="3374136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</a:t>
            </a:r>
            <a:endParaRPr lang="en-US" sz="800" dirty="0"/>
          </a:p>
        </p:txBody>
      </p:sp>
      <p:sp>
        <p:nvSpPr>
          <p:cNvPr id="6" name="kotak-491"/>
          <p:cNvSpPr txBox="1"/>
          <p:nvPr/>
        </p:nvSpPr>
        <p:spPr>
          <a:xfrm>
            <a:off x="4855464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Keuangan</a:t>
            </a:r>
            <a:endParaRPr lang="en-US" sz="800" dirty="0"/>
          </a:p>
        </p:txBody>
      </p:sp>
      <p:sp>
        <p:nvSpPr>
          <p:cNvPr id="7" name="kotak-492"/>
          <p:cNvSpPr txBox="1"/>
          <p:nvPr/>
        </p:nvSpPr>
        <p:spPr>
          <a:xfrm>
            <a:off x="6336792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800" dirty="0"/>
          </a:p>
        </p:txBody>
      </p:sp>
      <p:sp>
        <p:nvSpPr>
          <p:cNvPr id="8" name="kotak-493"/>
          <p:cNvSpPr txBox="1"/>
          <p:nvPr/>
        </p:nvSpPr>
        <p:spPr>
          <a:xfrm>
            <a:off x="781812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C2464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800" dirty="0"/>
          </a:p>
        </p:txBody>
      </p:sp>
      <p:sp>
        <p:nvSpPr>
          <p:cNvPr id="9" name="kotak-494"/>
          <p:cNvSpPr txBox="1"/>
          <p:nvPr/>
        </p:nvSpPr>
        <p:spPr>
          <a:xfrm>
            <a:off x="929944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800" dirty="0"/>
          </a:p>
        </p:txBody>
      </p:sp>
      <p:sp>
        <p:nvSpPr>
          <p:cNvPr id="10" name="kotak-495"/>
          <p:cNvSpPr txBox="1"/>
          <p:nvPr/>
        </p:nvSpPr>
        <p:spPr>
          <a:xfrm>
            <a:off x="11338560" y="6583680"/>
            <a:ext cx="457200" cy="228600"/>
          </a:xfrm>
          <a:prstGeom prst="roundRect">
            <a:avLst>
              <a:gd name="adj" fmla="val 12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12" name="kotak-496"/>
          <p:cNvSpPr txBox="1"/>
          <p:nvPr/>
        </p:nvSpPr>
        <p:spPr>
          <a:xfrm>
            <a:off x="411480" y="1143000"/>
            <a:ext cx="3749040" cy="228600"/>
          </a:xfrm>
          <a:prstGeom prst="roundRect">
            <a:avLst>
              <a:gd name="adj" fmla="val 16000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Ukuran pasar bottom-up (set setara 60 t TBS/jam)</a:t>
            </a:r>
            <a:endParaRPr lang="en-US" sz="950" dirty="0"/>
          </a:p>
        </p:txBody>
      </p:sp>
      <p:sp>
        <p:nvSpPr>
          <p:cNvPr id="13" name="kotak-497"/>
          <p:cNvSpPr txBox="1"/>
          <p:nvPr/>
        </p:nvSpPr>
        <p:spPr>
          <a:xfrm>
            <a:off x="411480" y="1417320"/>
            <a:ext cx="3749040" cy="420624"/>
          </a:xfrm>
          <a:prstGeom prst="roundRect">
            <a:avLst>
              <a:gd name="adj" fmla="val 8696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TAM: 756 set</a:t>
            </a:r>
            <a:endParaRPr lang="en-US" sz="9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960 juta/tahun · 1.210 MWe</a:t>
            </a:r>
            <a:endParaRPr lang="en-US" sz="900" dirty="0"/>
          </a:p>
        </p:txBody>
      </p:sp>
      <p:sp>
        <p:nvSpPr>
          <p:cNvPr id="14" name="kotak-498"/>
          <p:cNvSpPr txBox="1"/>
          <p:nvPr/>
        </p:nvSpPr>
        <p:spPr>
          <a:xfrm>
            <a:off x="731520" y="1874520"/>
            <a:ext cx="3108960" cy="420624"/>
          </a:xfrm>
          <a:prstGeom prst="roundRect">
            <a:avLst>
              <a:gd name="adj" fmla="val 8696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 luas: 636 set</a:t>
            </a:r>
            <a:endParaRPr lang="en-US" sz="9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807 juta/tahun · 1.017 MWe</a:t>
            </a:r>
            <a:endParaRPr lang="en-US" sz="900" dirty="0"/>
          </a:p>
        </p:txBody>
      </p:sp>
      <p:sp>
        <p:nvSpPr>
          <p:cNvPr id="15" name="kotak-499"/>
          <p:cNvSpPr txBox="1"/>
          <p:nvPr/>
        </p:nvSpPr>
        <p:spPr>
          <a:xfrm>
            <a:off x="1051560" y="2331720"/>
            <a:ext cx="2468880" cy="420624"/>
          </a:xfrm>
          <a:prstGeom prst="roundRect">
            <a:avLst>
              <a:gd name="adj" fmla="val 8696"/>
            </a:avLst>
          </a:prstGeom>
          <a:solidFill>
            <a:srgbClr val="3E8E41"/>
          </a:solidFill>
          <a:ln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SAM: 57 set</a:t>
            </a:r>
            <a:endParaRPr lang="en-US" sz="9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73 juta/tahun · 92 MWe</a:t>
            </a:r>
            <a:endParaRPr lang="en-US" sz="900" dirty="0"/>
          </a:p>
        </p:txBody>
      </p:sp>
      <p:sp>
        <p:nvSpPr>
          <p:cNvPr id="16" name="kotak-500"/>
          <p:cNvSpPr txBox="1"/>
          <p:nvPr/>
        </p:nvSpPr>
        <p:spPr>
          <a:xfrm>
            <a:off x="1371600" y="2788920"/>
            <a:ext cx="1828800" cy="420624"/>
          </a:xfrm>
          <a:prstGeom prst="roundRect">
            <a:avLst>
              <a:gd name="adj" fmla="val 8696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 2034: 10 set</a:t>
            </a:r>
            <a:endParaRPr lang="en-US" sz="9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13 juta/tahun · 16 MWe</a:t>
            </a:r>
            <a:endParaRPr lang="en-US" sz="900" dirty="0"/>
          </a:p>
        </p:txBody>
      </p:sp>
      <p:graphicFrame>
        <p:nvGraphicFramePr>
          <p:cNvPr id="10" name="tabel-5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3273552"/>
          <a:ext cx="9144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777240"/>
                <a:gridCol w="685800"/>
              </a:tblGrid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Filter menuju SAM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Porsi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Keyakinan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PKS tanpa penangkap metana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88,5%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sedang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Kapasitas 30–60 t/jam; Sumatera/Kalimantan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 × 85%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rendah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Solar tergantikan ≥ 2 L/t TBS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hipotesis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Jaringan 20 kV ≤ 2 km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hipotesis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Bebas program biogas grup besar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hipotesis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ks-502"/>
          <p:cNvSpPr txBox="1"/>
          <p:nvPr/>
        </p:nvSpPr>
        <p:spPr>
          <a:xfrm>
            <a:off x="411480" y="42976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 10 set = 17% SAM dan 22% laju bangun PLTBg nasional. Filter hipotesis divalidasi pada gerbang G0.</a:t>
            </a:r>
            <a:endParaRPr lang="en-US" sz="750" dirty="0"/>
          </a:p>
        </p:txBody>
      </p:sp>
      <p:sp>
        <p:nvSpPr>
          <p:cNvPr id="19" name="kotak-503"/>
          <p:cNvSpPr txBox="1"/>
          <p:nvPr/>
        </p:nvSpPr>
        <p:spPr>
          <a:xfrm>
            <a:off x="4297680" y="1143000"/>
            <a:ext cx="3886200" cy="228600"/>
          </a:xfrm>
          <a:prstGeom prst="roundRect">
            <a:avLst>
              <a:gd name="adj" fmla="val 16000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Peluang dan risiko per set: NPV menurut skenario (USD juta)</a:t>
            </a:r>
            <a:endParaRPr lang="en-US" sz="95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251960" y="1389888"/>
          <a:ext cx="397764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ks-504"/>
          <p:cNvSpPr txBox="1"/>
          <p:nvPr/>
        </p:nvSpPr>
        <p:spPr>
          <a:xfrm>
            <a:off x="4297680" y="431596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tergantikan dan CAPEX menentukan: pada 3,0 L/t NPV USD 0,86 juta (IRR 12,0%, PKS hemat 14%); tanpa ekspor PLN proyek tidak layak.</a:t>
            </a:r>
            <a:endParaRPr lang="en-US" sz="750" dirty="0"/>
          </a:p>
        </p:txBody>
      </p:sp>
      <p:sp>
        <p:nvSpPr>
          <p:cNvPr id="22" name="kotak-505"/>
          <p:cNvSpPr txBox="1"/>
          <p:nvPr/>
        </p:nvSpPr>
        <p:spPr>
          <a:xfrm>
            <a:off x="8321040" y="1143000"/>
            <a:ext cx="3474720" cy="228600"/>
          </a:xfrm>
          <a:prstGeom prst="roundRect">
            <a:avLst>
              <a:gd name="adj" fmla="val 16000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 terukur per set 60 t TBS/jam</a:t>
            </a:r>
            <a:endParaRPr lang="en-US" sz="950" dirty="0"/>
          </a:p>
        </p:txBody>
      </p:sp>
      <p:graphicFrame>
        <p:nvGraphicFramePr>
          <p:cNvPr id="19" name="tabel-50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21040" y="1389888"/>
          <a:ext cx="91440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Tujuan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Hasil terukur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SDG 13 aksi iklim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32.001 tCO₂e/tahun (−96%)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SDG 7 energi bersih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 GWh/tahun; 1,55 GWh ke PKS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Solar tergantikan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465 ribu L/tahun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SDG 8 pekerjaan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pekerja lokal; fabrikasi skid dalam negeri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SDG 6 air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efluen BOD 1.543 mg/L; tanpa buang ke sungai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Keselamatan (K3)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HAZOP dan SOP sebelum operasi; detektor gas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Tata kelola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pemantauan emisi dan efluen dilaporkan terbuka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kotak-507"/>
          <p:cNvSpPr txBox="1"/>
          <p:nvPr/>
        </p:nvSpPr>
        <p:spPr>
          <a:xfrm>
            <a:off x="411480" y="4617720"/>
            <a:ext cx="3749040" cy="228600"/>
          </a:xfrm>
          <a:prstGeom prst="roundRect">
            <a:avLst>
              <a:gd name="adj" fmla="val 16000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Tawaran kepada pemodal</a:t>
            </a:r>
            <a:endParaRPr lang="en-US" sz="950" dirty="0"/>
          </a:p>
        </p:txBody>
      </p:sp>
      <p:graphicFrame>
        <p:nvGraphicFramePr>
          <p:cNvPr id="28" name="tabel-50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855464"/>
          <a:ext cx="914400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33172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pertama (60 t/jam)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6,5 juta dana puncak (utang 58%)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Imbal hasil set 1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 proyek 10,3%; ekuitas 10,9%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 ke-10 (kurva belajar)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 13,5%; NPV USD 1,20 juta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Armada 10 set (2027–2034)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dana puncak USD 43 juta; NPV korporasi USD −5,2 juta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Impas korporasi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±11 set (overhead PV USD 7,9 juta)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kotak-509"/>
          <p:cNvSpPr txBox="1"/>
          <p:nvPr/>
        </p:nvSpPr>
        <p:spPr>
          <a:xfrm>
            <a:off x="4297680" y="4617720"/>
            <a:ext cx="3886200" cy="228600"/>
          </a:xfrm>
          <a:prstGeom prst="roundRect">
            <a:avLst>
              <a:gd name="adj" fmla="val 16000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Penggelaran armada: set beroperasi</a:t>
            </a:r>
            <a:endParaRPr lang="en-US" sz="950" dirty="0"/>
          </a:p>
        </p:txBody>
      </p:sp>
      <p:graphicFrame>
        <p:nvGraphicFramePr>
          <p:cNvPr id="27" name="Chart 1" descr=""/>
          <p:cNvGraphicFramePr/>
          <p:nvPr/>
        </p:nvGraphicFramePr>
        <p:xfrm>
          <a:off x="4251960" y="4846320"/>
          <a:ext cx="3977640" cy="1051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8" name="kotak-510"/>
          <p:cNvSpPr txBox="1"/>
          <p:nvPr/>
        </p:nvSpPr>
        <p:spPr>
          <a:xfrm>
            <a:off x="8321040" y="3913632"/>
            <a:ext cx="3474720" cy="228600"/>
          </a:xfrm>
          <a:prstGeom prst="roundRect">
            <a:avLst>
              <a:gd name="adj" fmla="val 16000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Titik panas emisi sisa proyek (tCO₂e/tahun)</a:t>
            </a:r>
            <a:endParaRPr lang="en-US" sz="900" dirty="0"/>
          </a:p>
        </p:txBody>
      </p:sp>
      <p:graphicFrame>
        <p:nvGraphicFramePr>
          <p:cNvPr id="29" name="Chart 2" descr=""/>
          <p:cNvGraphicFramePr/>
          <p:nvPr/>
        </p:nvGraphicFramePr>
        <p:xfrm>
          <a:off x="8275320" y="4142232"/>
          <a:ext cx="3566160" cy="1188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0" name="teks-511"/>
          <p:cNvSpPr txBox="1"/>
          <p:nvPr/>
        </p:nvSpPr>
        <p:spPr>
          <a:xfrm>
            <a:off x="8321040" y="53492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kolam 33.457 − emisi sisa 1.456 = 32.001 tCO₂e dihindari. Kredit dijual 30.431 (rasio 0,95). Manfaat jaringan (3.996) dan solar (1.247) tidak diklaim, agar tidak ada hitung ganda.</a:t>
            </a:r>
            <a:endParaRPr lang="en-US" sz="740" dirty="0"/>
          </a:p>
        </p:txBody>
      </p:sp>
      <p:sp>
        <p:nvSpPr>
          <p:cNvPr id="31" name="kotak-512"/>
          <p:cNvSpPr txBox="1"/>
          <p:nvPr/>
        </p:nvSpPr>
        <p:spPr>
          <a:xfrm>
            <a:off x="411480" y="594360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1000" dirty="0"/>
          </a:p>
        </p:txBody>
      </p:sp>
      <p:sp>
        <p:nvSpPr>
          <p:cNvPr id="32" name="kotak-513"/>
          <p:cNvSpPr txBox="1"/>
          <p:nvPr/>
        </p:nvSpPr>
        <p:spPr>
          <a:xfrm>
            <a:off x="1828800" y="5943600"/>
            <a:ext cx="9966960" cy="347472"/>
          </a:xfrm>
          <a:prstGeom prst="roundRect">
            <a:avLst>
              <a:gd name="adj" fmla="val 13158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101600" rIns="1016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Peluangnya nyata tetapi sempit: hanya ±57 dari ±1.150 PKS lolos filter solar, jaringan, dan program grup; armada baru menutup biaya korporasi setelah ±11 set, jadi pasar harus dibuktikan di gerbang G0.</a:t>
            </a:r>
            <a:endParaRPr lang="en-US" sz="950" dirty="0"/>
          </a:p>
        </p:txBody>
      </p:sp>
      <p:sp>
        <p:nvSpPr>
          <p:cNvPr id="33" name="teks-514"/>
          <p:cNvSpPr txBox="1"/>
          <p:nvPr/>
        </p:nvSpPr>
        <p:spPr>
          <a:xfrm>
            <a:off x="411480" y="6336792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Singkatan: SAM pasar yang dapat dilayani; SOM pasar yang dapat dicapai; TAM total pasar; PLTBg pembangkit listrik tenaga biogas; K3 keselamatan dan kesehatan kerja; SDG tujuan pembangunan berkelanjutan.</a:t>
            </a:r>
            <a:endParaRPr lang="en-US" sz="560" dirty="0"/>
          </a:p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fin_market.py (pasar bottom-up; Trase/SEI-PCS, GAPKI 2026, PASPI/BRIN), fin_core.py (skenario, armada), neraca proses Rev 2; faktor baja 1,9 kgCO₂e/kg (ICE v3, asumsi); research/R1, R3.</a:t>
            </a:r>
            <a:endParaRPr lang="en-US" sz="56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Kesimpulan: konsep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layak teknis dan berdampak besar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tetapi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layak komersial hanya bersyarat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langkah berikutnya adalah pilot dan kuotasi senilai USD 1,3 juta</a:t>
            </a:r>
            <a:endParaRPr lang="en-US" sz="1900" dirty="0"/>
          </a:p>
        </p:txBody>
      </p:sp>
      <p:sp>
        <p:nvSpPr>
          <p:cNvPr id="3" name="kotak-515"/>
          <p:cNvSpPr txBox="1"/>
          <p:nvPr/>
        </p:nvSpPr>
        <p:spPr>
          <a:xfrm>
            <a:off x="41148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kotak-516"/>
          <p:cNvSpPr txBox="1"/>
          <p:nvPr/>
        </p:nvSpPr>
        <p:spPr>
          <a:xfrm>
            <a:off x="189280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800" dirty="0"/>
          </a:p>
        </p:txBody>
      </p:sp>
      <p:sp>
        <p:nvSpPr>
          <p:cNvPr id="5" name="kotak-517"/>
          <p:cNvSpPr txBox="1"/>
          <p:nvPr/>
        </p:nvSpPr>
        <p:spPr>
          <a:xfrm>
            <a:off x="3374136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</a:t>
            </a:r>
            <a:endParaRPr lang="en-US" sz="800" dirty="0"/>
          </a:p>
        </p:txBody>
      </p:sp>
      <p:sp>
        <p:nvSpPr>
          <p:cNvPr id="6" name="kotak-518"/>
          <p:cNvSpPr txBox="1"/>
          <p:nvPr/>
        </p:nvSpPr>
        <p:spPr>
          <a:xfrm>
            <a:off x="4855464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Keuangan</a:t>
            </a:r>
            <a:endParaRPr lang="en-US" sz="800" dirty="0"/>
          </a:p>
        </p:txBody>
      </p:sp>
      <p:sp>
        <p:nvSpPr>
          <p:cNvPr id="7" name="kotak-519"/>
          <p:cNvSpPr txBox="1"/>
          <p:nvPr/>
        </p:nvSpPr>
        <p:spPr>
          <a:xfrm>
            <a:off x="6336792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800" dirty="0"/>
          </a:p>
        </p:txBody>
      </p:sp>
      <p:sp>
        <p:nvSpPr>
          <p:cNvPr id="8" name="kotak-520"/>
          <p:cNvSpPr txBox="1"/>
          <p:nvPr/>
        </p:nvSpPr>
        <p:spPr>
          <a:xfrm>
            <a:off x="781812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800" dirty="0"/>
          </a:p>
        </p:txBody>
      </p:sp>
      <p:sp>
        <p:nvSpPr>
          <p:cNvPr id="9" name="kotak-521"/>
          <p:cNvSpPr txBox="1"/>
          <p:nvPr/>
        </p:nvSpPr>
        <p:spPr>
          <a:xfrm>
            <a:off x="929944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C2464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800" dirty="0"/>
          </a:p>
        </p:txBody>
      </p:sp>
      <p:sp>
        <p:nvSpPr>
          <p:cNvPr id="10" name="kotak-522"/>
          <p:cNvSpPr txBox="1"/>
          <p:nvPr/>
        </p:nvSpPr>
        <p:spPr>
          <a:xfrm>
            <a:off x="11338560" y="6583680"/>
            <a:ext cx="457200" cy="228600"/>
          </a:xfrm>
          <a:prstGeom prst="roundRect">
            <a:avLst>
              <a:gd name="adj" fmla="val 12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12" name="kotak-523"/>
          <p:cNvSpPr txBox="1"/>
          <p:nvPr/>
        </p:nvSpPr>
        <p:spPr>
          <a:xfrm>
            <a:off x="411480" y="1143000"/>
            <a:ext cx="3749040" cy="246888"/>
          </a:xfrm>
          <a:prstGeom prst="roundRect">
            <a:avLst>
              <a:gd name="adj" fmla="val 1481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Masalah nyata</a:t>
            </a:r>
            <a:endParaRPr lang="en-US" sz="1000" dirty="0"/>
          </a:p>
        </p:txBody>
      </p:sp>
      <p:sp>
        <p:nvSpPr>
          <p:cNvPr id="13" name="kotak-524"/>
          <p:cNvSpPr/>
          <p:nvPr/>
        </p:nvSpPr>
        <p:spPr>
          <a:xfrm>
            <a:off x="411480" y="1389888"/>
            <a:ext cx="3749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0C2464"/>
            </a:solidFill>
            <a:prstDash val="solid"/>
          </a:ln>
        </p:spPr>
      </p:sp>
      <p:sp>
        <p:nvSpPr>
          <p:cNvPr id="14" name="teks-525"/>
          <p:cNvSpPr txBox="1"/>
          <p:nvPr/>
        </p:nvSpPr>
        <p:spPr>
          <a:xfrm>
            <a:off x="502920" y="1444752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±1.150 PKS melepas ≈ 26 juta tCO₂e per tahun metana; PKS bersolar berat membayar USD 0,67 juta per tahun untuk listrik diesel.</a:t>
            </a:r>
            <a:endParaRPr lang="en-US" sz="950" dirty="0"/>
          </a:p>
        </p:txBody>
      </p:sp>
      <p:sp>
        <p:nvSpPr>
          <p:cNvPr id="15" name="kotak-526"/>
          <p:cNvSpPr txBox="1"/>
          <p:nvPr/>
        </p:nvSpPr>
        <p:spPr>
          <a:xfrm>
            <a:off x="4251960" y="1143000"/>
            <a:ext cx="3749040" cy="246888"/>
          </a:xfrm>
          <a:prstGeom prst="roundRect">
            <a:avLst>
              <a:gd name="adj" fmla="val 14815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Solusi kredibel</a:t>
            </a:r>
            <a:endParaRPr lang="en-US" sz="1000" dirty="0"/>
          </a:p>
        </p:txBody>
      </p:sp>
      <p:sp>
        <p:nvSpPr>
          <p:cNvPr id="16" name="kotak-527"/>
          <p:cNvSpPr/>
          <p:nvPr/>
        </p:nvSpPr>
        <p:spPr>
          <a:xfrm>
            <a:off x="4251960" y="1389888"/>
            <a:ext cx="3749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9E"/>
            </a:solidFill>
            <a:prstDash val="solid"/>
          </a:ln>
        </p:spPr>
      </p:sp>
      <p:sp>
        <p:nvSpPr>
          <p:cNvPr id="17" name="teks-528"/>
          <p:cNvSpPr txBox="1"/>
          <p:nvPr/>
        </p:nvSpPr>
        <p:spPr>
          <a:xfrm>
            <a:off x="4343400" y="1444752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Neraca massa menutup 0,0002%; reaktor 5 hari; 40 kWh neto per m³ POME; genset dan tangki GFS teknologi matang. TRL sistem 4.</a:t>
            </a:r>
            <a:endParaRPr lang="en-US" sz="950" dirty="0"/>
          </a:p>
        </p:txBody>
      </p:sp>
      <p:sp>
        <p:nvSpPr>
          <p:cNvPr id="18" name="kotak-529"/>
          <p:cNvSpPr txBox="1"/>
          <p:nvPr/>
        </p:nvSpPr>
        <p:spPr>
          <a:xfrm>
            <a:off x="8092440" y="1143000"/>
            <a:ext cx="3749040" cy="246888"/>
          </a:xfrm>
          <a:prstGeom prst="roundRect">
            <a:avLst>
              <a:gd name="adj" fmla="val 14815"/>
            </a:avLst>
          </a:prstGeom>
          <a:solidFill>
            <a:srgbClr val="3E8E41"/>
          </a:solidFill>
          <a:ln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Ekonomi bersyarat</a:t>
            </a:r>
            <a:endParaRPr lang="en-US" sz="1000" dirty="0"/>
          </a:p>
        </p:txBody>
      </p:sp>
      <p:sp>
        <p:nvSpPr>
          <p:cNvPr id="19" name="kotak-530"/>
          <p:cNvSpPr/>
          <p:nvPr/>
        </p:nvSpPr>
        <p:spPr>
          <a:xfrm>
            <a:off x="8092440" y="1389888"/>
            <a:ext cx="3749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3E8E41"/>
            </a:solidFill>
            <a:prstDash val="solid"/>
          </a:ln>
        </p:spPr>
      </p:sp>
      <p:sp>
        <p:nvSpPr>
          <p:cNvPr id="20" name="teks-531"/>
          <p:cNvSpPr txBox="1"/>
          <p:nvPr/>
        </p:nvSpPr>
        <p:spPr>
          <a:xfrm>
            <a:off x="8183880" y="1444752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60 t TBS/jam: NPV USD 0,13 juta, IRR 10,3%, DSCR 1,31; PKS hemat 4,3% tanpa modal. Peluang NPV positif 25% kini.</a:t>
            </a:r>
            <a:endParaRPr lang="en-US" sz="950" dirty="0"/>
          </a:p>
        </p:txBody>
      </p:sp>
      <p:sp>
        <p:nvSpPr>
          <p:cNvPr id="21" name="kotak-532"/>
          <p:cNvSpPr txBox="1"/>
          <p:nvPr/>
        </p:nvSpPr>
        <p:spPr>
          <a:xfrm>
            <a:off x="411480" y="2240280"/>
            <a:ext cx="3749040" cy="228600"/>
          </a:xfrm>
          <a:prstGeom prst="roundRect">
            <a:avLst>
              <a:gd name="adj" fmla="val 16000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Kartu skor kesiapan (1–5)</a:t>
            </a:r>
            <a:endParaRPr lang="en-US" sz="950" dirty="0"/>
          </a:p>
        </p:txBody>
      </p:sp>
      <p:sp>
        <p:nvSpPr>
          <p:cNvPr id="22" name="teks-533"/>
          <p:cNvSpPr txBox="1"/>
          <p:nvPr/>
        </p:nvSpPr>
        <p:spPr>
          <a:xfrm>
            <a:off x="411480" y="254203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Kelayakan teknis</a:t>
            </a:r>
            <a:endParaRPr lang="en-US" sz="900" dirty="0"/>
          </a:p>
        </p:txBody>
      </p:sp>
      <p:sp>
        <p:nvSpPr>
          <p:cNvPr id="23" name="kotak-534"/>
          <p:cNvSpPr/>
          <p:nvPr/>
        </p:nvSpPr>
        <p:spPr>
          <a:xfrm>
            <a:off x="1737360" y="2560320"/>
            <a:ext cx="2377440" cy="155448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4" name="kotak-535"/>
          <p:cNvSpPr txBox="1"/>
          <p:nvPr/>
        </p:nvSpPr>
        <p:spPr>
          <a:xfrm>
            <a:off x="1737360" y="2560320"/>
            <a:ext cx="1426464" cy="155448"/>
          </a:xfrm>
          <a:prstGeom prst="rect">
            <a:avLst/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3,0</a:t>
            </a:r>
            <a:endParaRPr lang="en-US" sz="780" dirty="0"/>
          </a:p>
        </p:txBody>
      </p:sp>
      <p:sp>
        <p:nvSpPr>
          <p:cNvPr id="25" name="teks-536"/>
          <p:cNvSpPr txBox="1"/>
          <p:nvPr/>
        </p:nvSpPr>
        <p:spPr>
          <a:xfrm>
            <a:off x="411480" y="2724912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TRL 4; neraca menutup</a:t>
            </a:r>
            <a:endParaRPr lang="en-US" sz="750" dirty="0"/>
          </a:p>
        </p:txBody>
      </p:sp>
      <p:sp>
        <p:nvSpPr>
          <p:cNvPr id="26" name="teks-537"/>
          <p:cNvSpPr txBox="1"/>
          <p:nvPr/>
        </p:nvSpPr>
        <p:spPr>
          <a:xfrm>
            <a:off x="411480" y="299923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Daya tarik ekonomi</a:t>
            </a:r>
            <a:endParaRPr lang="en-US" sz="900" dirty="0"/>
          </a:p>
        </p:txBody>
      </p:sp>
      <p:sp>
        <p:nvSpPr>
          <p:cNvPr id="27" name="kotak-538"/>
          <p:cNvSpPr/>
          <p:nvPr/>
        </p:nvSpPr>
        <p:spPr>
          <a:xfrm>
            <a:off x="1737360" y="3017520"/>
            <a:ext cx="2377440" cy="155448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8" name="kotak-539"/>
          <p:cNvSpPr txBox="1"/>
          <p:nvPr/>
        </p:nvSpPr>
        <p:spPr>
          <a:xfrm>
            <a:off x="1737360" y="3017520"/>
            <a:ext cx="1188720" cy="155448"/>
          </a:xfrm>
          <a:prstGeom prst="rect">
            <a:avLst/>
          </a:prstGeom>
          <a:solidFill>
            <a:srgbClr val="E0A526"/>
          </a:solidFill>
          <a:ln>
            <a:solidFill>
              <a:srgbClr val="E0A52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</a:t>
            </a:r>
            <a:endParaRPr lang="en-US" sz="780" dirty="0"/>
          </a:p>
        </p:txBody>
      </p:sp>
      <p:sp>
        <p:nvSpPr>
          <p:cNvPr id="29" name="teks-540"/>
          <p:cNvSpPr txBox="1"/>
          <p:nvPr/>
        </p:nvSpPr>
        <p:spPr>
          <a:xfrm>
            <a:off x="411480" y="3182112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≈ WACC; median Monte Carlo negatif</a:t>
            </a:r>
            <a:endParaRPr lang="en-US" sz="750" dirty="0"/>
          </a:p>
        </p:txBody>
      </p:sp>
      <p:sp>
        <p:nvSpPr>
          <p:cNvPr id="30" name="teks-541"/>
          <p:cNvSpPr txBox="1"/>
          <p:nvPr/>
        </p:nvSpPr>
        <p:spPr>
          <a:xfrm>
            <a:off x="411480" y="345643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Kesiapan pasar</a:t>
            </a:r>
            <a:endParaRPr lang="en-US" sz="900" dirty="0"/>
          </a:p>
        </p:txBody>
      </p:sp>
      <p:sp>
        <p:nvSpPr>
          <p:cNvPr id="31" name="kotak-542"/>
          <p:cNvSpPr/>
          <p:nvPr/>
        </p:nvSpPr>
        <p:spPr>
          <a:xfrm>
            <a:off x="1737360" y="3474720"/>
            <a:ext cx="2377440" cy="155448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32" name="kotak-543"/>
          <p:cNvSpPr txBox="1"/>
          <p:nvPr/>
        </p:nvSpPr>
        <p:spPr>
          <a:xfrm>
            <a:off x="1737360" y="3474720"/>
            <a:ext cx="1188720" cy="155448"/>
          </a:xfrm>
          <a:prstGeom prst="rect">
            <a:avLst/>
          </a:prstGeom>
          <a:solidFill>
            <a:srgbClr val="E0A526"/>
          </a:solidFill>
          <a:ln>
            <a:solidFill>
              <a:srgbClr val="E0A52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</a:t>
            </a:r>
            <a:endParaRPr lang="en-US" sz="780" dirty="0"/>
          </a:p>
        </p:txBody>
      </p:sp>
      <p:sp>
        <p:nvSpPr>
          <p:cNvPr id="33" name="teks-544"/>
          <p:cNvSpPr txBox="1"/>
          <p:nvPr/>
        </p:nvSpPr>
        <p:spPr>
          <a:xfrm>
            <a:off x="411480" y="3639312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 ±57 PKS; filter hipotesis</a:t>
            </a:r>
            <a:endParaRPr lang="en-US" sz="750" dirty="0"/>
          </a:p>
        </p:txBody>
      </p:sp>
      <p:sp>
        <p:nvSpPr>
          <p:cNvPr id="34" name="teks-545"/>
          <p:cNvSpPr txBox="1"/>
          <p:nvPr/>
        </p:nvSpPr>
        <p:spPr>
          <a:xfrm>
            <a:off x="411480" y="391363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Keberlanjutan</a:t>
            </a:r>
            <a:endParaRPr lang="en-US" sz="900" dirty="0"/>
          </a:p>
        </p:txBody>
      </p:sp>
      <p:sp>
        <p:nvSpPr>
          <p:cNvPr id="35" name="kotak-546"/>
          <p:cNvSpPr/>
          <p:nvPr/>
        </p:nvSpPr>
        <p:spPr>
          <a:xfrm>
            <a:off x="1737360" y="3931920"/>
            <a:ext cx="2377440" cy="155448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36" name="kotak-547"/>
          <p:cNvSpPr txBox="1"/>
          <p:nvPr/>
        </p:nvSpPr>
        <p:spPr>
          <a:xfrm>
            <a:off x="1737360" y="3931920"/>
            <a:ext cx="2139696" cy="155448"/>
          </a:xfrm>
          <a:prstGeom prst="rect">
            <a:avLst/>
          </a:prstGeom>
          <a:solidFill>
            <a:srgbClr val="3E8E41"/>
          </a:solidFill>
          <a:ln>
            <a:solidFill>
              <a:srgbClr val="3E8E4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4,5</a:t>
            </a:r>
            <a:endParaRPr lang="en-US" sz="780" dirty="0"/>
          </a:p>
        </p:txBody>
      </p:sp>
      <p:sp>
        <p:nvSpPr>
          <p:cNvPr id="37" name="teks-548"/>
          <p:cNvSpPr txBox="1"/>
          <p:nvPr/>
        </p:nvSpPr>
        <p:spPr>
          <a:xfrm>
            <a:off x="411480" y="4096512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−96% metana; titik panas efluen</a:t>
            </a:r>
            <a:endParaRPr lang="en-US" sz="750" dirty="0"/>
          </a:p>
        </p:txBody>
      </p:sp>
      <p:sp>
        <p:nvSpPr>
          <p:cNvPr id="38" name="teks-549"/>
          <p:cNvSpPr txBox="1"/>
          <p:nvPr/>
        </p:nvSpPr>
        <p:spPr>
          <a:xfrm>
            <a:off x="411480" y="437083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Risiko implementasi</a:t>
            </a:r>
            <a:endParaRPr lang="en-US" sz="900" dirty="0"/>
          </a:p>
        </p:txBody>
      </p:sp>
      <p:sp>
        <p:nvSpPr>
          <p:cNvPr id="39" name="kotak-550"/>
          <p:cNvSpPr/>
          <p:nvPr/>
        </p:nvSpPr>
        <p:spPr>
          <a:xfrm>
            <a:off x="1737360" y="4389120"/>
            <a:ext cx="2377440" cy="155448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40" name="kotak-551"/>
          <p:cNvSpPr txBox="1"/>
          <p:nvPr/>
        </p:nvSpPr>
        <p:spPr>
          <a:xfrm>
            <a:off x="1737360" y="4389120"/>
            <a:ext cx="950976" cy="155448"/>
          </a:xfrm>
          <a:prstGeom prst="rect">
            <a:avLst/>
          </a:prstGeom>
          <a:solidFill>
            <a:srgbClr val="E0A526"/>
          </a:solidFill>
          <a:ln>
            <a:solidFill>
              <a:srgbClr val="E0A52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</a:t>
            </a:r>
            <a:endParaRPr lang="en-US" sz="780" dirty="0"/>
          </a:p>
        </p:txBody>
      </p:sp>
      <p:sp>
        <p:nvSpPr>
          <p:cNvPr id="41" name="teks-552"/>
          <p:cNvSpPr txBox="1"/>
          <p:nvPr/>
        </p:nvSpPr>
        <p:spPr>
          <a:xfrm>
            <a:off x="411480" y="4553712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tarif/izin PLN; kinerja termofilik</a:t>
            </a:r>
            <a:endParaRPr lang="en-US" sz="750" dirty="0"/>
          </a:p>
        </p:txBody>
      </p:sp>
      <p:sp>
        <p:nvSpPr>
          <p:cNvPr id="42" name="kotak-553"/>
          <p:cNvSpPr txBox="1"/>
          <p:nvPr/>
        </p:nvSpPr>
        <p:spPr>
          <a:xfrm>
            <a:off x="4297680" y="2240280"/>
            <a:ext cx="3886200" cy="228600"/>
          </a:xfrm>
          <a:prstGeom prst="roundRect">
            <a:avLst>
              <a:gd name="adj" fmla="val 16000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Syarat kelayakan terukur (di bawahnya NPV &lt; 0)</a:t>
            </a:r>
            <a:endParaRPr lang="en-US" sz="950" dirty="0"/>
          </a:p>
        </p:txBody>
      </p:sp>
      <p:graphicFrame>
        <p:nvGraphicFramePr>
          <p:cNvPr id="11" name="tabel-5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97680" y="2514600"/>
          <a:ext cx="91440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051560"/>
                <a:gridCol w="96012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Ambang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Dasar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Solar tergantikan (L/t TBS)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1,84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Beban PKS (% nameplate)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74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 jasa (USD/t TBS)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1,19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Tarif ekspor PLN (USc/kWh)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9,29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9,81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 (FCI)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USD 5,9 juta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5,74 (2026)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Harga karbon (USD/t)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4,0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Produksi biogas (% desain)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91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" name="teks-555"/>
          <p:cNvSpPr txBox="1"/>
          <p:nvPr/>
        </p:nvSpPr>
        <p:spPr>
          <a:xfrm>
            <a:off x="4297680" y="4462272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Ambang diperoleh dari titik impas model (NPV = 0 satu variabel per kali); margin pengaman tipis, sehingga semua syarat harus dibuktikan di gerbang G0–G3.</a:t>
            </a:r>
            <a:endParaRPr lang="en-US" sz="750" dirty="0"/>
          </a:p>
        </p:txBody>
      </p:sp>
      <p:sp>
        <p:nvSpPr>
          <p:cNvPr id="45" name="kotak-556"/>
          <p:cNvSpPr txBox="1"/>
          <p:nvPr/>
        </p:nvSpPr>
        <p:spPr>
          <a:xfrm>
            <a:off x="8321040" y="2240280"/>
            <a:ext cx="3474720" cy="228600"/>
          </a:xfrm>
          <a:prstGeom prst="roundRect">
            <a:avLst>
              <a:gd name="adj" fmla="val 16000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Langkah berikutnya dan dana (≤ 30 bulan)</a:t>
            </a:r>
            <a:endParaRPr lang="en-US" sz="950" dirty="0"/>
          </a:p>
        </p:txBody>
      </p:sp>
      <p:graphicFrame>
        <p:nvGraphicFramePr>
          <p:cNvPr id="21" name="tabel-5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21040" y="2514600"/>
          <a:ext cx="9144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73152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Langkah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Hasil terukur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ribu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PKS mitra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solar ≥ 2,0 L/t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Uji lab + pilot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 ≥ 65%; TRL 6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480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Kuotasi + FEED + HAZOP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FCI ≤ USD 6,0 juta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380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Izin dan hukum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PJBL, IUPTLS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 dan MRV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 1 siap FID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8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1.300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</a:tbl>
          </a:graphicData>
        </a:graphic>
      </p:graphicFrame>
      <p:sp>
        <p:nvSpPr>
          <p:cNvPr id="47" name="teks-558"/>
          <p:cNvSpPr txBox="1"/>
          <p:nvPr/>
        </p:nvSpPr>
        <p:spPr>
          <a:xfrm>
            <a:off x="8321040" y="44622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Usulan, belum berkomitmen. Peluang NPV positif: 25% → 24% → 35% → 46% → 45% setelah tiap gerbang.</a:t>
            </a:r>
            <a:endParaRPr lang="en-US" sz="750" dirty="0"/>
          </a:p>
        </p:txBody>
      </p:sp>
      <p:sp>
        <p:nvSpPr>
          <p:cNvPr id="48" name="kotak-559"/>
          <p:cNvSpPr txBox="1"/>
          <p:nvPr/>
        </p:nvSpPr>
        <p:spPr>
          <a:xfrm>
            <a:off x="411480" y="4800600"/>
            <a:ext cx="1138428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Uji penentang: titik terlemah yang masih terbuka</a:t>
            </a:r>
            <a:endParaRPr lang="en-US" sz="900" dirty="0"/>
          </a:p>
        </p:txBody>
      </p:sp>
      <p:sp>
        <p:nvSpPr>
          <p:cNvPr id="49" name="kotak-560"/>
          <p:cNvSpPr txBox="1"/>
          <p:nvPr/>
        </p:nvSpPr>
        <p:spPr>
          <a:xfrm>
            <a:off x="411480" y="5047488"/>
            <a:ext cx="2221992" cy="475488"/>
          </a:xfrm>
          <a:prstGeom prst="roundRect">
            <a:avLst>
              <a:gd name="adj" fmla="val 7692"/>
            </a:avLst>
          </a:prstGeom>
          <a:solidFill>
            <a:srgbClr val="FBE6E2"/>
          </a:solidFill>
          <a:ln w="9525">
            <a:solidFill>
              <a:srgbClr val="C8452F"/>
            </a:solidFill>
          </a:ln>
        </p:spPr>
        <p:txBody>
          <a:bodyPr wrap="square" lIns="12700" tIns="63500" rIns="63500" bIns="1270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Teknis</a:t>
            </a:r>
            <a:endParaRPr lang="en-US" sz="900" dirty="0"/>
          </a:p>
          <a:p>
            <a:pPr algn="l" indent="0" marL="0">
              <a:buNone/>
            </a:pPr>
            <a:r>
              <a:rPr lang="en-US" sz="7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OLR 9,9 &gt; 8 rekomendasi; belum skala penuh</a:t>
            </a:r>
            <a:endParaRPr lang="en-US" sz="900" dirty="0"/>
          </a:p>
        </p:txBody>
      </p:sp>
      <p:sp>
        <p:nvSpPr>
          <p:cNvPr id="50" name="kotak-561"/>
          <p:cNvSpPr txBox="1"/>
          <p:nvPr/>
        </p:nvSpPr>
        <p:spPr>
          <a:xfrm>
            <a:off x="2697480" y="5047488"/>
            <a:ext cx="2221992" cy="475488"/>
          </a:xfrm>
          <a:prstGeom prst="roundRect">
            <a:avLst>
              <a:gd name="adj" fmla="val 7692"/>
            </a:avLst>
          </a:prstGeom>
          <a:solidFill>
            <a:srgbClr val="FBE6E2"/>
          </a:solidFill>
          <a:ln w="9525">
            <a:solidFill>
              <a:srgbClr val="C8452F"/>
            </a:solidFill>
          </a:ln>
        </p:spPr>
        <p:txBody>
          <a:bodyPr wrap="square" lIns="12700" tIns="63500" rIns="63500" bIns="1270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Keuangan</a:t>
            </a:r>
            <a:endParaRPr lang="en-US" sz="900" dirty="0"/>
          </a:p>
          <a:p>
            <a:pPr algn="l" indent="0" marL="0">
              <a:buNone/>
            </a:pPr>
            <a:r>
              <a:rPr lang="en-US" sz="7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GFS USD 200/m³ belum dikuotasi</a:t>
            </a:r>
            <a:endParaRPr lang="en-US" sz="900" dirty="0"/>
          </a:p>
        </p:txBody>
      </p:sp>
      <p:sp>
        <p:nvSpPr>
          <p:cNvPr id="51" name="kotak-562"/>
          <p:cNvSpPr txBox="1"/>
          <p:nvPr/>
        </p:nvSpPr>
        <p:spPr>
          <a:xfrm>
            <a:off x="4983480" y="5047488"/>
            <a:ext cx="2221992" cy="475488"/>
          </a:xfrm>
          <a:prstGeom prst="roundRect">
            <a:avLst>
              <a:gd name="adj" fmla="val 7692"/>
            </a:avLst>
          </a:prstGeom>
          <a:solidFill>
            <a:srgbClr val="FBE6E2"/>
          </a:solidFill>
          <a:ln w="9525">
            <a:solidFill>
              <a:srgbClr val="C8452F"/>
            </a:solidFill>
          </a:ln>
        </p:spPr>
        <p:txBody>
          <a:bodyPr wrap="square" lIns="12700" tIns="63500" rIns="63500" bIns="1270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Pesaing</a:t>
            </a:r>
            <a:endParaRPr lang="en-US" sz="900" dirty="0"/>
          </a:p>
          <a:p>
            <a:pPr algn="l" indent="0" marL="0">
              <a:buNone/>
            </a:pPr>
            <a:r>
              <a:rPr lang="en-US" sz="7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B/C lebih murah bila PKS punya modal</a:t>
            </a:r>
            <a:endParaRPr lang="en-US" sz="900" dirty="0"/>
          </a:p>
        </p:txBody>
      </p:sp>
      <p:sp>
        <p:nvSpPr>
          <p:cNvPr id="52" name="kotak-563"/>
          <p:cNvSpPr txBox="1"/>
          <p:nvPr/>
        </p:nvSpPr>
        <p:spPr>
          <a:xfrm>
            <a:off x="7269480" y="5047488"/>
            <a:ext cx="2221992" cy="475488"/>
          </a:xfrm>
          <a:prstGeom prst="roundRect">
            <a:avLst>
              <a:gd name="adj" fmla="val 7692"/>
            </a:avLst>
          </a:prstGeom>
          <a:solidFill>
            <a:srgbClr val="FBE6E2"/>
          </a:solidFill>
          <a:ln w="9525">
            <a:solidFill>
              <a:srgbClr val="C8452F"/>
            </a:solidFill>
          </a:ln>
        </p:spPr>
        <p:txBody>
          <a:bodyPr wrap="square" lIns="12700" tIns="63500" rIns="63500" bIns="1270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Eksekusi</a:t>
            </a:r>
            <a:endParaRPr lang="en-US" sz="900" dirty="0"/>
          </a:p>
          <a:p>
            <a:pPr algn="l" indent="0" marL="0">
              <a:buNone/>
            </a:pPr>
            <a:r>
              <a:rPr lang="en-US" sz="7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 jual listrik dan tarif belum pasti</a:t>
            </a:r>
            <a:endParaRPr lang="en-US" sz="900" dirty="0"/>
          </a:p>
        </p:txBody>
      </p:sp>
      <p:sp>
        <p:nvSpPr>
          <p:cNvPr id="53" name="kotak-564"/>
          <p:cNvSpPr txBox="1"/>
          <p:nvPr/>
        </p:nvSpPr>
        <p:spPr>
          <a:xfrm>
            <a:off x="9555480" y="5047488"/>
            <a:ext cx="2221992" cy="475488"/>
          </a:xfrm>
          <a:prstGeom prst="roundRect">
            <a:avLst>
              <a:gd name="adj" fmla="val 7692"/>
            </a:avLst>
          </a:prstGeom>
          <a:solidFill>
            <a:srgbClr val="FBE6E2"/>
          </a:solidFill>
          <a:ln w="9525">
            <a:solidFill>
              <a:srgbClr val="C8452F"/>
            </a:solidFill>
          </a:ln>
        </p:spPr>
        <p:txBody>
          <a:bodyPr wrap="square" lIns="12700" tIns="63500" rIns="63500" bIns="1270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Keberlanjutan</a:t>
            </a:r>
            <a:endParaRPr lang="en-US" sz="900" dirty="0"/>
          </a:p>
          <a:p>
            <a:pPr algn="l" indent="0" marL="0">
              <a:buNone/>
            </a:pPr>
            <a:r>
              <a:rPr lang="en-US" sz="7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MCF efluen 0,3 belum diukur</a:t>
            </a:r>
            <a:endParaRPr lang="en-US" sz="900" dirty="0"/>
          </a:p>
        </p:txBody>
      </p:sp>
      <p:sp>
        <p:nvSpPr>
          <p:cNvPr id="54" name="kotak-565"/>
          <p:cNvSpPr txBox="1"/>
          <p:nvPr/>
        </p:nvSpPr>
        <p:spPr>
          <a:xfrm>
            <a:off x="411480" y="5577840"/>
            <a:ext cx="1138428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C2464"/>
            </a:solidFill>
          </a:ln>
        </p:spPr>
        <p:txBody>
          <a:bodyPr wrap="square" lIns="12700" tIns="101600" rIns="101600" bIns="127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B9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Penutup  </a:t>
            </a:r>
            <a:pPr algn="l"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Metana POME sudah dapat ditangkap; yang belum ada adalah cara PKS membayarnya tanpa menanggung risiko. Satu set 60 t TBS/jam menghindari ≈ 32 ribu tCO₂e per tahun. Kami hanya membangun setelah data PKS, kuotasi, dan izin membuktikannya.</a:t>
            </a:r>
            <a:endParaRPr lang="en-US" sz="950" dirty="0"/>
          </a:p>
        </p:txBody>
      </p:sp>
      <p:sp>
        <p:nvSpPr>
          <p:cNvPr id="55" name="teks-566"/>
          <p:cNvSpPr txBox="1"/>
          <p:nvPr/>
        </p:nvSpPr>
        <p:spPr>
          <a:xfrm>
            <a:off x="411480" y="6336792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Singkatan: TRL tingkat kesiapan teknologi; OLR laju beban organik; FEED desain rekayasa awal; FID keputusan investasi akhir; MCF faktor koreksi metana; PJBL perjanjian jual beli listrik; IUPTLS izin usaha penyediaan tenaga listrik untuk kepentingan sendiri.</a:t>
            </a:r>
            <a:endParaRPr lang="en-US" sz="560" dirty="0"/>
          </a:p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ringkasan slide 2–9 (fin_core.py v4; BG_Model_Keuangan.xlsx); skor kartu adalah penilaian tim atas bukti pada slide terkait.</a:t>
            </a:r>
            <a:endParaRPr lang="en-US" sz="5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IC 2026 Malataxtax">
  <a:themeElements>
    <a:clrScheme name="EIC 2026 Malataxtax">
      <a:dk1>
        <a:srgbClr val="14213D"/>
      </a:dk1>
      <a:lt1>
        <a:srgbClr val="FFFFFF"/>
      </a:lt1>
      <a:dk2>
        <a:srgbClr val="0C2464"/>
      </a:dk2>
      <a:lt2>
        <a:srgbClr val="EAF4FB"/>
      </a:lt2>
      <a:accent1>
        <a:srgbClr val="1F4E9E"/>
      </a:accent1>
      <a:accent2>
        <a:srgbClr val="3E8E41"/>
      </a:accent2>
      <a:accent3>
        <a:srgbClr val="2B9FC8"/>
      </a:accent3>
      <a:accent4>
        <a:srgbClr val="8CC63F"/>
      </a:accent4>
      <a:accent5>
        <a:srgbClr val="6898C8"/>
      </a:accent5>
      <a:accent6>
        <a:srgbClr val="5B6B7F"/>
      </a:accent6>
      <a:hlink>
        <a:srgbClr val="1F4E9E"/>
      </a:hlink>
      <a:folHlink>
        <a:srgbClr val="0C2464"/>
      </a:folHlink>
    </a:clrScheme>
    <a:fontScheme name="EIC 2026 Malataxtax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Malataxtax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Biogas sebagai Layanan: Pengolah POME Termofilik Modular untuk PKS</dc:title>
  <dc:subject>EIC 2026 - Energy Business Plan Competition, Subtema 3</dc:subject>
  <dc:creator>Tim Malataxtax</dc:creator>
  <cp:lastModifiedBy>Tim Malataxtax</cp:lastModifiedBy>
  <cp:revision>1</cp:revision>
  <dcterms:created xsi:type="dcterms:W3CDTF">2026-10-16T14:34:19Z</dcterms:created>
  <dcterms:modified xsi:type="dcterms:W3CDTF">2026-10-16T14:34:19Z</dcterms:modified>
</cp:coreProperties>
</file>