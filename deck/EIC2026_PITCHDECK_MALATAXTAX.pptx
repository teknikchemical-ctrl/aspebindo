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ampul" id="{02ec5aaa-56da-dc2b-519a-c2a6b0be016e}">
          <p14:sldIdLst>
            <p14:sldId id="256"/>
          </p14:sldIdLst>
        </p14:section>
        <p14:section name="Latar belakang dan masalah" id="{2b4321fd-3378-d9bc-c20e-b5a69a99acad}">
          <p14:sldIdLst>
            <p14:sldId id="257"/>
          </p14:sldIdLst>
        </p14:section>
        <p14:section name="Solusi: konsep" id="{09c2dc42-7e93-f582-3e62-31515ae8facd}">
          <p14:sldIdLst>
            <p14:sldId id="258"/>
          </p14:sldIdLst>
        </p14:section>
        <p14:section name="Solusi: validitas teknis" id="{2d4f22e3-d6e8-03f0-eaaa-e8d4f5533dab}">
          <p14:sldIdLst>
            <p14:sldId id="259"/>
          </p14:sldIdLst>
        </p14:section>
        <p14:section name="Solusi: desain produk" id="{64f15148-4a3d-db35-12ab-b02407c0aad5}">
          <p14:sldIdLst>
            <p14:sldId id="260"/>
          </p14:sldIdLst>
        </p14:section>
        <p14:section name="Analisis pesaing" id="{665296ce-7391-dc86-7bb3-9d90d78ff5ec}">
          <p14:sldIdLst>
            <p14:sldId id="261"/>
          </p14:sldIdLst>
        </p14:section>
        <p14:section name="Model keuangan" id="{aef5b297-9aa0-e9ff-7aaa-a2be3ec1f6e4}">
          <p14:sldIdLst>
            <p14:sldId id="262"/>
          </p14:sldIdLst>
        </p14:section>
        <p14:section name="Rencana implementasi" id="{635ab783-7af9-5f91-68a0-c8e5cf5c555e}">
          <p14:sldIdLst>
            <p14:sldId id="263"/>
          </p14:sldIdLst>
        </p14:section>
        <p14:section name="Peluang bisnis dan dampak" id="{155799b3-e53b-6d57-92f0-61b8d5c9ae54}">
          <p14:sldIdLst>
            <p14:sldId id="264"/>
          </p14:sldIdLst>
        </p14:section>
        <p14:section name="Kesimpulan" id="{31aacf6b-0929-4366-5460-e12985f366a5}">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Peringkat 1 (%)</c:v>
                </c:pt>
              </c:strCache>
            </c:strRef>
          </c:tx>
          <c:spPr>
            <a:solidFill>
              <a:srgbClr val="6898C8"/>
            </a:solidFill>
            <a:effectLst/>
          </c:spPr>
          <c:invertIfNegative val="0"/>
          <c:dLbls>
            <c:numFmt formatCode="[$-421]#,##0" sourceLinked="0"/>
            <c:txPr>
              <a:bodyPr/>
              <a:lstStyle/>
              <a:p>
                <a:pPr>
                  <a:defRPr b="0" i="0" strike="noStrike" sz="7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6898C8"/>
              </a:solidFill>
              <a:effectLst/>
            </c:spPr>
          </c:dPt>
          <c:dPt>
            <c:idx val="1"/>
            <c:invertIfNegative val="0"/>
            <c:bubble3D val="0"/>
            <c:spPr>
              <a:solidFill>
                <a:srgbClr val="6898C8"/>
              </a:solidFill>
              <a:effectLst/>
            </c:spPr>
          </c:dPt>
          <c:dPt>
            <c:idx val="2"/>
            <c:invertIfNegative val="0"/>
            <c:bubble3D val="0"/>
            <c:spPr>
              <a:solidFill>
                <a:srgbClr val="6898C8"/>
              </a:solidFill>
              <a:effectLst/>
            </c:spPr>
          </c:dPt>
          <c:dPt>
            <c:idx val="3"/>
            <c:invertIfNegative val="0"/>
            <c:bubble3D val="0"/>
            <c:spPr>
              <a:solidFill>
                <a:srgbClr val="6898C8"/>
              </a:solidFill>
              <a:effectLst/>
            </c:spPr>
          </c:dPt>
          <c:dPt>
            <c:idx val="4"/>
            <c:invertIfNegative val="0"/>
            <c:bubble3D val="0"/>
            <c:spPr>
              <a:solidFill>
                <a:srgbClr val="6898C8"/>
              </a:solidFill>
              <a:effectLst/>
            </c:spPr>
          </c:dPt>
          <c:dPt>
            <c:idx val="5"/>
            <c:invertIfNegative val="0"/>
            <c:bubble3D val="0"/>
            <c:spPr>
              <a:solidFill>
                <a:srgbClr val="6898C8"/>
              </a:solidFill>
              <a:effectLst/>
            </c:spPr>
          </c:dPt>
          <c:dPt>
            <c:idx val="6"/>
            <c:invertIfNegative val="0"/>
            <c:bubble3D val="0"/>
            <c:spPr>
              <a:solidFill>
                <a:srgbClr val="3E8E41"/>
              </a:solidFill>
              <a:effectLst/>
            </c:spPr>
          </c:dPt>
          <c:cat>
            <c:multiLvlStrRef>
              <c:f>Sheet1!$A$2:$A$8</c:f>
              <c:multiLvlStrCache>
                <c:ptCount val="7"/>
                <c:lvl>
                  <c:pt idx="0">
                    <c:v>A</c:v>
                  </c:pt>
                  <c:pt idx="1">
                    <c:v>B</c:v>
                  </c:pt>
                  <c:pt idx="2">
                    <c:v>C</c:v>
                  </c:pt>
                  <c:pt idx="3">
                    <c:v>D</c:v>
                  </c:pt>
                  <c:pt idx="4">
                    <c:v>E</c:v>
                  </c:pt>
                  <c:pt idx="5">
                    <c:v>F</c:v>
                  </c:pt>
                  <c:pt idx="6">
                    <c:v>G</c:v>
                  </c:pt>
                </c:lvl>
              </c:multiLvlStrCache>
            </c:multiLvlStrRef>
          </c:cat>
          <c:val>
            <c:numRef>
              <c:f>Sheet1!$B$2:$B$8</c:f>
              <c:numCache>
                <c:formatCode>General</c:formatCode>
                <c:ptCount val="7"/>
                <c:pt idx="0">
                  <c:v>3.82</c:v>
                </c:pt>
                <c:pt idx="1">
                  <c:v>0</c:v>
                </c:pt>
                <c:pt idx="2">
                  <c:v>1.56</c:v>
                </c:pt>
                <c:pt idx="3">
                  <c:v>16.64</c:v>
                </c:pt>
                <c:pt idx="4">
                  <c:v>0</c:v>
                </c:pt>
                <c:pt idx="5">
                  <c:v>0</c:v>
                </c:pt>
                <c:pt idx="6">
                  <c:v>77.98</c:v>
                </c:pt>
              </c:numCache>
            </c:numRef>
          </c:val>
        </c:ser>
        <c:dLbls>
          <c:numFmt formatCode="[$-421]#,##0" sourceLinked="0"/>
          <c:txPr>
            <a:bodyPr/>
            <a:lstStyle/>
            <a:p>
              <a:pPr>
                <a:defRPr b="0" i="0" strike="noStrike" sz="7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kW</c:v>
                </c:pt>
              </c:strCache>
            </c:strRef>
          </c:tx>
          <c:spPr>
            <a:solidFill>
              <a:srgbClr val="244C9C"/>
            </a:solidFill>
            <a:effectLst/>
          </c:spPr>
          <c:invertIfNegative val="0"/>
          <c:dLbls>
            <c:numFmt formatCode="[$-421]#,##0.0" sourceLinked="0"/>
            <c:txPr>
              <a:bodyPr/>
              <a:lstStyle/>
              <a:p>
                <a:pPr>
                  <a:defRPr b="0" i="0" strike="noStrike" sz="650" u="none">
                    <a:solidFill>
                      <a:srgbClr val="00000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Bantu genset</c:v>
                  </c:pt>
                  <c:pt idx="1">
                    <c:v>Pencampur jet</c:v>
                  </c:pt>
                  <c:pt idx="2">
                    <c:v>Menara pendingin</c:v>
                  </c:pt>
                  <c:pt idx="3">
                    <c:v>Screw press</c:v>
                  </c:pt>
                  <c:pt idx="4">
                    <c:v>Blower gas</c:v>
                  </c:pt>
                  <c:pt idx="5">
                    <c:v>Praolah</c:v>
                  </c:pt>
                  <c:pt idx="6">
                    <c:v>Pendingin gas</c:v>
                  </c:pt>
                  <c:pt idx="7">
                    <c:v>Pompa umpan</c:v>
                  </c:pt>
                  <c:pt idx="8">
                    <c:v>Degasser</c:v>
                  </c:pt>
                </c:lvl>
              </c:multiLvlStrCache>
            </c:multiLvlStrRef>
          </c:cat>
          <c:val>
            <c:numRef>
              <c:f>Sheet1!$B$2:$B$10</c:f>
              <c:numCache>
                <c:formatCode>General</c:formatCode>
                <c:ptCount val="9"/>
                <c:pt idx="0">
                  <c:v>36.050661416921336</c:v>
                </c:pt>
                <c:pt idx="1">
                  <c:v>23.51765221541902</c:v>
                </c:pt>
                <c:pt idx="2">
                  <c:v>12.706138000009279</c:v>
                </c:pt>
                <c:pt idx="3">
                  <c:v>6.577199990928996</c:v>
                </c:pt>
                <c:pt idx="4">
                  <c:v>5.433468925990342</c:v>
                </c:pt>
                <c:pt idx="5">
                  <c:v>5.202239891493056</c:v>
                </c:pt>
                <c:pt idx="6">
                  <c:v>4.390071088728916</c:v>
                </c:pt>
                <c:pt idx="7">
                  <c:v>2.7527998643663194</c:v>
                </c:pt>
                <c:pt idx="8">
                  <c:v>2.9625000000000004</c:v>
                </c:pt>
              </c:numCache>
            </c:numRef>
          </c:val>
        </c:ser>
        <c:dLbls>
          <c:numFmt formatCode="[$-421]#,##0.0" sourceLinked="0"/>
          <c:txPr>
            <a:bodyPr/>
            <a:lstStyle/>
            <a:p>
              <a:pPr>
                <a:defRPr b="0" i="0" strike="noStrike" sz="65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ρ</c:v>
                </c:pt>
              </c:strCache>
            </c:strRef>
          </c:tx>
          <c:spPr>
            <a:solidFill>
              <a:srgbClr val="6898C8"/>
            </a:solidFill>
            <a:effectLst/>
          </c:spPr>
          <c:invertIfNegative val="0"/>
          <c:dLbls>
            <c:numFmt formatCode="[$-421]#,##0.00" sourceLinked="0"/>
            <c:txPr>
              <a:bodyPr/>
              <a:lstStyle/>
              <a:p>
                <a:pPr>
                  <a:defRPr b="0" i="0" strike="noStrike" sz="65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6898C8"/>
              </a:solidFill>
              <a:effectLst/>
            </c:spPr>
          </c:dPt>
          <c:dPt>
            <c:idx val="1"/>
            <c:invertIfNegative val="0"/>
            <c:bubble3D val="0"/>
            <c:spPr>
              <a:solidFill>
                <a:srgbClr val="6898C8"/>
              </a:solidFill>
              <a:effectLst/>
            </c:spPr>
          </c:dPt>
          <c:dPt>
            <c:idx val="2"/>
            <c:invertIfNegative val="0"/>
            <c:bubble3D val="0"/>
            <c:spPr>
              <a:solidFill>
                <a:srgbClr val="6898C8"/>
              </a:solidFill>
              <a:effectLst/>
            </c:spPr>
          </c:dPt>
          <c:dPt>
            <c:idx val="3"/>
            <c:invertIfNegative val="0"/>
            <c:bubble3D val="0"/>
            <c:spPr>
              <a:solidFill>
                <a:srgbClr val="C8452F"/>
              </a:solidFill>
              <a:effectLst/>
            </c:spPr>
          </c:dPt>
          <c:dPt>
            <c:idx val="4"/>
            <c:invertIfNegative val="0"/>
            <c:bubble3D val="0"/>
            <c:spPr>
              <a:solidFill>
                <a:srgbClr val="C8452F"/>
              </a:solidFill>
              <a:effectLst/>
            </c:spPr>
          </c:dPt>
          <c:dPt>
            <c:idx val="5"/>
            <c:invertIfNegative val="0"/>
            <c:bubble3D val="0"/>
            <c:spPr>
              <a:solidFill>
                <a:srgbClr val="C8452F"/>
              </a:solidFill>
              <a:effectLst/>
            </c:spPr>
          </c:dPt>
          <c:cat>
            <c:multiLvlStrRef>
              <c:f>Sheet1!$A$2:$A$7</c:f>
              <c:multiLvlStrCache>
                <c:ptCount val="6"/>
                <c:lvl>
                  <c:pt idx="0">
                    <c:v>COD POME</c:v>
                  </c:pt>
                  <c:pt idx="1">
                    <c:v>Beban PKS</c:v>
                  </c:pt>
                  <c:pt idx="2">
                    <c:v>Volume POME</c:v>
                  </c:pt>
                  <c:pt idx="3">
                    <c:v>Kation POME</c:v>
                  </c:pt>
                  <c:pt idx="4">
                    <c:v>kLa</c:v>
                  </c:pt>
                  <c:pt idx="5">
                    <c:v>Hambat H₂S</c:v>
                  </c:pt>
                </c:lvl>
              </c:multiLvlStrCache>
            </c:multiLvlStrRef>
          </c:cat>
          <c:val>
            <c:numRef>
              <c:f>Sheet1!$B$2:$B$7</c:f>
              <c:numCache>
                <c:formatCode>General</c:formatCode>
                <c:ptCount val="6"/>
                <c:pt idx="0">
                  <c:v>0.5553465959162244</c:v>
                </c:pt>
                <c:pt idx="1">
                  <c:v>0.5421249507809424</c:v>
                </c:pt>
                <c:pt idx="2">
                  <c:v>0.13125138282114263</c:v>
                </c:pt>
                <c:pt idx="3">
                  <c:v>-0.08481615510096938</c:v>
                </c:pt>
                <c:pt idx="4">
                  <c:v>-0.07179832373952337</c:v>
                </c:pt>
                <c:pt idx="5">
                  <c:v>-0.06532634578966119</c:v>
                </c:pt>
              </c:numCache>
            </c:numRef>
          </c:val>
        </c:ser>
        <c:dLbls>
          <c:numFmt formatCode="[$-421]#,##0.00" sourceLinked="0"/>
          <c:txPr>
            <a:bodyPr/>
            <a:lstStyle/>
            <a:p>
              <a:pPr>
                <a:defRPr b="0" i="0" strike="noStrike" sz="65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65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Intensitas</c:v>
                </c:pt>
              </c:strCache>
            </c:strRef>
          </c:tx>
          <c:spPr>
            <a:solidFill>
              <a:srgbClr val="244C9C"/>
            </a:solidFill>
            <a:effectLst/>
          </c:spPr>
          <c:invertIfNegative val="0"/>
          <c:dLbls>
            <c:numFmt formatCode="[$-421]#,##0.0" sourceLinked="0"/>
            <c:txPr>
              <a:bodyPr/>
              <a:lstStyle/>
              <a:p>
                <a:pPr>
                  <a:defRPr b="0" i="0" strike="noStrike" sz="65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Pemasok</c:v>
                  </c:pt>
                  <c:pt idx="1">
                    <c:v>Pembeli</c:v>
                  </c:pt>
                  <c:pt idx="2">
                    <c:v>Pendatang baru</c:v>
                  </c:pt>
                  <c:pt idx="3">
                    <c:v>Persaingan</c:v>
                  </c:pt>
                  <c:pt idx="4">
                    <c:v>Produk substitusi</c:v>
                  </c:pt>
                </c:lvl>
              </c:multiLvlStrCache>
            </c:multiLvlStrRef>
          </c:cat>
          <c:val>
            <c:numRef>
              <c:f>Sheet1!$B$2:$B$6</c:f>
              <c:numCache>
                <c:formatCode>General</c:formatCode>
                <c:ptCount val="5"/>
                <c:pt idx="0">
                  <c:v>2.533333333333333</c:v>
                </c:pt>
                <c:pt idx="1">
                  <c:v>3.8333333333333335</c:v>
                </c:pt>
                <c:pt idx="2">
                  <c:v>2.8000000000000003</c:v>
                </c:pt>
                <c:pt idx="3">
                  <c:v>3.4666666666666663</c:v>
                </c:pt>
                <c:pt idx="4">
                  <c:v>3.1999999999999997</c:v>
                </c:pt>
              </c:numCache>
            </c:numRef>
          </c:val>
        </c:ser>
        <c:dLbls>
          <c:numFmt formatCode="[$-421]#,##0.0" sourceLinked="0"/>
          <c:txPr>
            <a:bodyPr/>
            <a:lstStyle/>
            <a:p>
              <a:pPr>
                <a:defRPr b="0" i="0" strike="noStrike" sz="65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65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Posisi</c:v>
                </c:pt>
              </c:strCache>
            </c:strRef>
          </c:tx>
          <c:spPr>
            <a:solidFill>
              <a:srgbClr val="244C9C"/>
            </a:solidFill>
            <a:ln>
              <a:noFill/>
            </a:ln>
            <a:effectLst/>
          </c:spPr>
          <c:marker>
            <c:symbol val="circle"/>
            <c:size val="9"/>
            <c:spPr>
              <a:solidFill>
                <a:srgbClr val="244C9C"/>
              </a:solidFill>
              <a:ln w="9525" cap="flat">
                <a:solidFill>
                  <a:srgbClr val="244C9C"/>
                </a:solidFill>
                <a:prstDash val="solid"/>
                <a:round/>
              </a:ln>
              <a:effectLst/>
            </c:spPr>
          </c:marker>
          <c:xVal>
            <c:numRef>
              <c:f>Sheet1!$A$2:$A$7</c:f>
              <c:numCache>
                <c:formatCode>General</c:formatCode>
                <c:ptCount val="6"/>
                <c:pt idx="0">
                  <c:v>1.7</c:v>
                </c:pt>
                <c:pt idx="1">
                  <c:v>2.6</c:v>
                </c:pt>
                <c:pt idx="2">
                  <c:v>4</c:v>
                </c:pt>
                <c:pt idx="3">
                  <c:v>2.75</c:v>
                </c:pt>
                <c:pt idx="4">
                  <c:v>5</c:v>
                </c:pt>
                <c:pt idx="5">
                  <c:v>3.6</c:v>
                </c:pt>
              </c:numCache>
            </c:numRef>
          </c:xVal>
          <c:yVal>
            <c:numRef>
              <c:f>Sheet1!$B$2:$B$7</c:f>
              <c:numCache>
                <c:formatCode>General</c:formatCode>
                <c:ptCount val="6"/>
                <c:pt idx="0">
                  <c:v>9</c:v>
                </c:pt>
                <c:pt idx="1">
                  <c:v>9</c:v>
                </c:pt>
                <c:pt idx="2">
                  <c:v>8</c:v>
                </c:pt>
                <c:pt idx="3">
                  <c:v>6</c:v>
                </c:pt>
                <c:pt idx="4">
                  <c:v>5</c:v>
                </c:pt>
                <c:pt idx="5">
                  <c:v>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5"/>
          <c:min val="1"/>
        </c:scaling>
        <c:delete val="0"/>
        <c:axPos val="b"/>
        <c:majorGridlines>
          <c:spPr>
            <a:ln w="12700" cap="flat">
              <a:solidFill>
                <a:srgbClr val="D9D9D9"/>
              </a:solidFill>
              <a:prstDash val="solid"/>
              <a:round/>
            </a:ln>
          </c:spPr>
        </c:majorGridlines>
        <c:title>
          <c:tx>
            <c:rich>
              <a:bodyPr/>
              <a:lstStyle/>
              <a:p>
                <a:pPr>
                  <a:defRPr sz="650" b="0" i="0" u="none" strike="noStrike">
                    <a:solidFill>
                      <a:srgbClr val="000000"/>
                    </a:solidFill>
                    <a:latin typeface="Arial"/>
                  </a:defRPr>
                </a:pPr>
                <a:r>
                  <a:rPr sz="650" b="0" i="0" u="none" strike="noStrike">
                    <a:solidFill>
                      <a:srgbClr val="000000"/>
                    </a:solidFill>
                    <a:latin typeface="Arial"/>
                  </a:rPr>
                  <a:t>CAPEX (USD juta/MWe)</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650" b="0" i="0" u="none" strike="noStrike">
                <a:solidFill>
                  <a:srgbClr val="000000"/>
                </a:solidFill>
                <a:latin typeface="Arial"/>
              </a:defRPr>
            </a:pPr>
            <a:endParaRPr lang="en-US"/>
          </a:p>
        </c:txPr>
        <c:crossAx val="2094734552"/>
        <c:crosses val="autoZero"/>
        <c:auto val="1"/>
        <c:lblAlgn val="ctr"/>
        <c:noMultiLvlLbl val="1"/>
      </c:valAx>
      <c:valAx>
        <c:axId val="2094734552"/>
        <c:scaling>
          <c:orientation val="minMax"/>
          <c:max val="10"/>
          <c:min val="3"/>
        </c:scaling>
        <c:delete val="0"/>
        <c:axPos val="l"/>
        <c:majorGridlines>
          <c:spPr>
            <a:ln w="12700" cap="flat">
              <a:solidFill>
                <a:srgbClr val="D9D9D9"/>
              </a:solidFill>
              <a:prstDash val="solid"/>
              <a:round/>
            </a:ln>
          </c:spPr>
        </c:majorGridlines>
        <c:title>
          <c:tx>
            <c:rich>
              <a:bodyPr/>
              <a:lstStyle/>
              <a:p>
                <a:pPr>
                  <a:defRPr sz="650" b="0" i="0" u="none" strike="noStrike">
                    <a:solidFill>
                      <a:srgbClr val="000000"/>
                    </a:solidFill>
                    <a:latin typeface="Arial"/>
                  </a:defRPr>
                </a:pPr>
                <a:r>
                  <a:rPr sz="650" b="0" i="0" u="none" strike="noStrike">
                    <a:solidFill>
                      <a:srgbClr val="000000"/>
                    </a:solidFill>
                    <a:latin typeface="Arial"/>
                  </a:rPr>
                  <a:t>TRL</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650" b="0" i="0" u="none" strike="noStrike">
                <a:solidFill>
                  <a:srgbClr val="000000"/>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FCFF</c:v>
                </c:pt>
              </c:strCache>
            </c:strRef>
          </c:tx>
          <c:spPr>
            <a:solidFill>
              <a:srgbClr val="244C9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Sheet1!$A$2:$A$22</c:f>
              <c:multiLvlStrCache>
                <c:ptCount val="21"/>
                <c:lvl>
                  <c:pt idx="0">
                    <c:v>2027</c:v>
                  </c:pt>
                  <c:pt idx="1">
                    <c:v>2028</c:v>
                  </c:pt>
                  <c:pt idx="2">
                    <c:v>2029</c:v>
                  </c:pt>
                  <c:pt idx="3">
                    <c:v>2030</c:v>
                  </c:pt>
                  <c:pt idx="4">
                    <c:v>2031</c:v>
                  </c:pt>
                  <c:pt idx="5">
                    <c:v>2032</c:v>
                  </c:pt>
                  <c:pt idx="6">
                    <c:v>2033</c:v>
                  </c:pt>
                  <c:pt idx="7">
                    <c:v>2034</c:v>
                  </c:pt>
                  <c:pt idx="8">
                    <c:v>2035</c:v>
                  </c:pt>
                  <c:pt idx="9">
                    <c:v>2036</c:v>
                  </c:pt>
                  <c:pt idx="10">
                    <c:v>2037</c:v>
                  </c:pt>
                  <c:pt idx="11">
                    <c:v>2038</c:v>
                  </c:pt>
                  <c:pt idx="12">
                    <c:v>2039</c:v>
                  </c:pt>
                  <c:pt idx="13">
                    <c:v>2040</c:v>
                  </c:pt>
                  <c:pt idx="14">
                    <c:v>2041</c:v>
                  </c:pt>
                  <c:pt idx="15">
                    <c:v>2042</c:v>
                  </c:pt>
                  <c:pt idx="16">
                    <c:v>2043</c:v>
                  </c:pt>
                  <c:pt idx="17">
                    <c:v>2044</c:v>
                  </c:pt>
                  <c:pt idx="18">
                    <c:v>2045</c:v>
                  </c:pt>
                  <c:pt idx="19">
                    <c:v>2046</c:v>
                  </c:pt>
                  <c:pt idx="20">
                    <c:v>2047</c:v>
                  </c:pt>
                </c:lvl>
              </c:multiLvlStrCache>
            </c:multiLvlStrRef>
          </c:cat>
          <c:val>
            <c:numRef>
              <c:f>Sheet1!$B$2:$B$22</c:f>
              <c:numCache>
                <c:formatCode>General</c:formatCode>
                <c:ptCount val="21"/>
                <c:pt idx="0">
                  <c:v>-6.498362809856808</c:v>
                </c:pt>
                <c:pt idx="1">
                  <c:v>0.40869089709281</c:v>
                </c:pt>
                <c:pt idx="2">
                  <c:v>1.4454023402865188</c:v>
                </c:pt>
                <c:pt idx="3">
                  <c:v>0.8982251772004253</c:v>
                </c:pt>
                <c:pt idx="4">
                  <c:v>0.9107873146957477</c:v>
                </c:pt>
                <c:pt idx="5">
                  <c:v>0.916299058347455</c:v>
                </c:pt>
                <c:pt idx="6">
                  <c:v>0.9219210368721965</c:v>
                </c:pt>
                <c:pt idx="7">
                  <c:v>0.9276554549674326</c:v>
                </c:pt>
                <c:pt idx="8">
                  <c:v>0.6466823449552188</c:v>
                </c:pt>
                <c:pt idx="9">
                  <c:v>0.9065760343725503</c:v>
                </c:pt>
                <c:pt idx="10">
                  <c:v>0.7450251381854234</c:v>
                </c:pt>
                <c:pt idx="11">
                  <c:v>0.6293105310113826</c:v>
                </c:pt>
                <c:pt idx="12">
                  <c:v>0.3977192115077146</c:v>
                </c:pt>
                <c:pt idx="13">
                  <c:v>0.5097397555654641</c:v>
                </c:pt>
                <c:pt idx="14">
                  <c:v>0.5151157368514732</c:v>
                </c:pt>
                <c:pt idx="15">
                  <c:v>0.5205992377632024</c:v>
                </c:pt>
                <c:pt idx="16">
                  <c:v>0.19148845050074703</c:v>
                </c:pt>
                <c:pt idx="17">
                  <c:v>0.5332514254554922</c:v>
                </c:pt>
                <c:pt idx="18">
                  <c:v>0.5390705604910266</c:v>
                </c:pt>
                <c:pt idx="19">
                  <c:v>0.5450060782272715</c:v>
                </c:pt>
                <c:pt idx="20">
                  <c:v>0.7093237433093691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lineChart>
        <c:varyColors val="0"/>
        <c:ser>
          <c:idx val="1"/>
          <c:order val="1"/>
          <c:tx>
            <c:strRef>
              <c:f>Sheet1!$C$1</c:f>
              <c:strCache>
                <c:ptCount val="1"/>
                <c:pt idx="0">
                  <c:v>Kumulatif</c:v>
                </c:pt>
              </c:strCache>
            </c:strRef>
          </c:tx>
          <c:spPr>
            <a:solidFill>
              <a:srgbClr val="3E8E41"/>
            </a:solidFill>
            <a:ln w="25400" cap="flat">
              <a:solidFill>
                <a:srgbClr val="3E8E4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3E8E41"/>
              </a:solidFill>
              <a:ln w="9525" cap="flat">
                <a:solidFill>
                  <a:srgbClr val="3E8E41"/>
                </a:solidFill>
                <a:prstDash val="solid"/>
                <a:round/>
              </a:ln>
              <a:effectLst/>
            </c:spPr>
          </c:marker>
          <c:cat>
            <c:multiLvlStrRef>
              <c:f>Sheet1!$A$2:$A$22</c:f>
              <c:multiLvlStrCache>
                <c:ptCount val="21"/>
                <c:lvl>
                  <c:pt idx="0">
                    <c:v>2027</c:v>
                  </c:pt>
                  <c:pt idx="1">
                    <c:v>2028</c:v>
                  </c:pt>
                  <c:pt idx="2">
                    <c:v>2029</c:v>
                  </c:pt>
                  <c:pt idx="3">
                    <c:v>2030</c:v>
                  </c:pt>
                  <c:pt idx="4">
                    <c:v>2031</c:v>
                  </c:pt>
                  <c:pt idx="5">
                    <c:v>2032</c:v>
                  </c:pt>
                  <c:pt idx="6">
                    <c:v>2033</c:v>
                  </c:pt>
                  <c:pt idx="7">
                    <c:v>2034</c:v>
                  </c:pt>
                  <c:pt idx="8">
                    <c:v>2035</c:v>
                  </c:pt>
                  <c:pt idx="9">
                    <c:v>2036</c:v>
                  </c:pt>
                  <c:pt idx="10">
                    <c:v>2037</c:v>
                  </c:pt>
                  <c:pt idx="11">
                    <c:v>2038</c:v>
                  </c:pt>
                  <c:pt idx="12">
                    <c:v>2039</c:v>
                  </c:pt>
                  <c:pt idx="13">
                    <c:v>2040</c:v>
                  </c:pt>
                  <c:pt idx="14">
                    <c:v>2041</c:v>
                  </c:pt>
                  <c:pt idx="15">
                    <c:v>2042</c:v>
                  </c:pt>
                  <c:pt idx="16">
                    <c:v>2043</c:v>
                  </c:pt>
                  <c:pt idx="17">
                    <c:v>2044</c:v>
                  </c:pt>
                  <c:pt idx="18">
                    <c:v>2045</c:v>
                  </c:pt>
                  <c:pt idx="19">
                    <c:v>2046</c:v>
                  </c:pt>
                  <c:pt idx="20">
                    <c:v>2047</c:v>
                  </c:pt>
                </c:lvl>
              </c:multiLvlStrCache>
            </c:multiLvlStrRef>
          </c:cat>
          <c:val>
            <c:numRef>
              <c:f>Sheet1!$C$2:$C$22</c:f>
              <c:numCache>
                <c:formatCode>General</c:formatCode>
                <c:ptCount val="21"/>
                <c:pt idx="0">
                  <c:v>-6.498362809856808</c:v>
                </c:pt>
                <c:pt idx="1">
                  <c:v>-6.089671912763998</c:v>
                </c:pt>
                <c:pt idx="2">
                  <c:v>-4.644269572477478</c:v>
                </c:pt>
                <c:pt idx="3">
                  <c:v>-3.7460443952770532</c:v>
                </c:pt>
                <c:pt idx="4">
                  <c:v>-2.8352570805813055</c:v>
                </c:pt>
                <c:pt idx="5">
                  <c:v>-1.9189580222338505</c:v>
                </c:pt>
                <c:pt idx="6">
                  <c:v>-0.9970369853616541</c:v>
                </c:pt>
                <c:pt idx="7">
                  <c:v>-0.06938153039422143</c:v>
                </c:pt>
                <c:pt idx="8">
                  <c:v>0.5773008145609975</c:v>
                </c:pt>
                <c:pt idx="9">
                  <c:v>1.4838768489335477</c:v>
                </c:pt>
                <c:pt idx="10">
                  <c:v>2.228901987118971</c:v>
                </c:pt>
                <c:pt idx="11">
                  <c:v>2.8582125181303537</c:v>
                </c:pt>
                <c:pt idx="12">
                  <c:v>3.255931729638068</c:v>
                </c:pt>
                <c:pt idx="13">
                  <c:v>3.7656714852035322</c:v>
                </c:pt>
                <c:pt idx="14">
                  <c:v>4.280787222055005</c:v>
                </c:pt>
                <c:pt idx="15">
                  <c:v>4.801386459818207</c:v>
                </c:pt>
                <c:pt idx="16">
                  <c:v>4.992874910318955</c:v>
                </c:pt>
                <c:pt idx="17">
                  <c:v>5.526126335774447</c:v>
                </c:pt>
                <c:pt idx="18">
                  <c:v>6.065196896265474</c:v>
                </c:pt>
                <c:pt idx="19">
                  <c:v>6.610202974492744</c:v>
                </c:pt>
                <c:pt idx="20">
                  <c:v>7.3195267178021135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421]#,##0.0"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00000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65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Buruk</c:v>
                </c:pt>
              </c:strCache>
            </c:strRef>
          </c:tx>
          <c:spPr>
            <a:solidFill>
              <a:srgbClr val="C8452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Beban TBS PKS (util)</c:v>
                  </c:pt>
                  <c:pt idx="1">
                    <c:v>CAPEX (x)</c:v>
                  </c:pt>
                  <c:pt idx="2">
                    <c:v>Solar PKS (L/t TBS)</c:v>
                  </c:pt>
                  <c:pt idx="3">
                    <c:v>Jasa pengolahan (USD/t TBS)</c:v>
                  </c:pt>
                  <c:pt idx="4">
                    <c:v>Harga listrik ke PKS (USD/kWh)</c:v>
                  </c:pt>
                  <c:pt idx="5">
                    <c:v>OPEX (x)</c:v>
                  </c:pt>
                  <c:pt idx="6">
                    <c:v>Tarif ekspor PLN (USc/kWh)</c:v>
                  </c:pt>
                  <c:pt idx="7">
                    <c:v>Harga karbon (USD/t)</c:v>
                  </c:pt>
                </c:lvl>
              </c:multiLvlStrCache>
            </c:multiLvlStrRef>
          </c:cat>
          <c:val>
            <c:numRef>
              <c:f>Sheet1!$B$2:$B$9</c:f>
              <c:numCache>
                <c:formatCode>General</c:formatCode>
                <c:ptCount val="8"/>
                <c:pt idx="0">
                  <c:v>-1.3992806363909613</c:v>
                </c:pt>
                <c:pt idx="1">
                  <c:v>-2.0608315175312306</c:v>
                </c:pt>
                <c:pt idx="2">
                  <c:v>-0.663516954305687</c:v>
                </c:pt>
                <c:pt idx="3">
                  <c:v>-1.0007983122092343</c:v>
                </c:pt>
                <c:pt idx="4">
                  <c:v>-0.3720837416881721</c:v>
                </c:pt>
                <c:pt idx="5">
                  <c:v>-0.5085388400312015</c:v>
                </c:pt>
                <c:pt idx="6">
                  <c:v>-0.45958501924146994</c:v>
                </c:pt>
                <c:pt idx="7">
                  <c:v>-0.14119664429918527</c:v>
                </c:pt>
              </c:numCache>
            </c:numRef>
          </c:val>
        </c:ser>
        <c:ser>
          <c:idx val="1"/>
          <c:order val="1"/>
          <c:tx>
            <c:strRef>
              <c:f>Sheet1!$C$1</c:f>
              <c:strCache>
                <c:ptCount val="1"/>
                <c:pt idx="0">
                  <c:v>Baik</c:v>
                </c:pt>
              </c:strCache>
            </c:strRef>
          </c:tx>
          <c:spPr>
            <a:solidFill>
              <a:srgbClr val="3E8E4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Beban TBS PKS (util)</c:v>
                  </c:pt>
                  <c:pt idx="1">
                    <c:v>CAPEX (x)</c:v>
                  </c:pt>
                  <c:pt idx="2">
                    <c:v>Solar PKS (L/t TBS)</c:v>
                  </c:pt>
                  <c:pt idx="3">
                    <c:v>Jasa pengolahan (USD/t TBS)</c:v>
                  </c:pt>
                  <c:pt idx="4">
                    <c:v>Harga listrik ke PKS (USD/kWh)</c:v>
                  </c:pt>
                  <c:pt idx="5">
                    <c:v>OPEX (x)</c:v>
                  </c:pt>
                  <c:pt idx="6">
                    <c:v>Tarif ekspor PLN (USc/kWh)</c:v>
                  </c:pt>
                  <c:pt idx="7">
                    <c:v>Harga karbon (USD/t)</c:v>
                  </c:pt>
                </c:lvl>
              </c:multiLvlStrCache>
            </c:multiLvlStrRef>
          </c:cat>
          <c:val>
            <c:numRef>
              <c:f>Sheet1!$C$2:$C$9</c:f>
              <c:numCache>
                <c:formatCode>General</c:formatCode>
                <c:ptCount val="8"/>
                <c:pt idx="0">
                  <c:v>1.5496050695851673</c:v>
                </c:pt>
                <c:pt idx="1">
                  <c:v>0.7377817781897936</c:v>
                </c:pt>
                <c:pt idx="2">
                  <c:v>0.8619687203711972</c:v>
                </c:pt>
                <c:pt idx="3">
                  <c:v>0.12902065011374952</c:v>
                </c:pt>
                <c:pt idx="4">
                  <c:v>0.6262204004434498</c:v>
                </c:pt>
                <c:pt idx="5">
                  <c:v>0.44517373245820074</c:v>
                </c:pt>
                <c:pt idx="6">
                  <c:v>0.4694649375926732</c:v>
                </c:pt>
                <c:pt idx="7">
                  <c:v>0.5704164072170704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888888"/>
              </a:solidFill>
              <a:prstDash val="solid"/>
              <a:round/>
            </a:ln>
          </c:spPr>
        </c:majorGridlines>
        <c:numFmt formatCode="[$-421]#,##0.0" sourceLinked="0"/>
        <c:majorTickMark val="out"/>
        <c:minorTickMark val="none"/>
        <c:tickLblPos val="low"/>
        <c:spPr>
          <a:ln w="12700" cap="flat">
            <a:solidFill>
              <a:srgbClr val="888888"/>
            </a:solidFill>
            <a:prstDash val="solid"/>
            <a:round/>
          </a:ln>
        </c:spPr>
        <c:txPr>
          <a:bodyPr/>
          <a:lstStyle/>
          <a:p>
            <a:pPr>
              <a:defRPr sz="600" b="0" i="0" u="none" strike="noStrike">
                <a:solidFill>
                  <a:srgbClr val="00000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65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P(NPV&gt;0) %</c:v>
                </c:pt>
              </c:strCache>
            </c:strRef>
          </c:tx>
          <c:spPr>
            <a:solidFill>
              <a:srgbClr val="6898C8"/>
            </a:solidFill>
            <a:effectLst/>
          </c:spPr>
          <c:invertIfNegative val="0"/>
          <c:dLbls>
            <c:numFmt formatCode="[$-421]#,##0" sourceLinked="0"/>
            <c:txPr>
              <a:bodyPr/>
              <a:lstStyle/>
              <a:p>
                <a:pPr>
                  <a:defRPr b="0" i="0" strike="noStrike" sz="7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6898C8"/>
              </a:solidFill>
              <a:effectLst/>
            </c:spPr>
          </c:dPt>
          <c:dPt>
            <c:idx val="1"/>
            <c:invertIfNegative val="0"/>
            <c:bubble3D val="0"/>
            <c:spPr>
              <a:solidFill>
                <a:srgbClr val="6898C8"/>
              </a:solidFill>
              <a:effectLst/>
            </c:spPr>
          </c:dPt>
          <c:dPt>
            <c:idx val="2"/>
            <c:invertIfNegative val="0"/>
            <c:bubble3D val="0"/>
            <c:spPr>
              <a:solidFill>
                <a:srgbClr val="244C9C"/>
              </a:solidFill>
              <a:effectLst/>
            </c:spPr>
          </c:dPt>
          <c:dPt>
            <c:idx val="3"/>
            <c:invertIfNegative val="0"/>
            <c:bubble3D val="0"/>
            <c:spPr>
              <a:solidFill>
                <a:srgbClr val="244C9C"/>
              </a:solidFill>
              <a:effectLst/>
            </c:spPr>
          </c:dPt>
          <c:dPt>
            <c:idx val="4"/>
            <c:invertIfNegative val="0"/>
            <c:bubble3D val="0"/>
            <c:spPr>
              <a:solidFill>
                <a:srgbClr val="3E8E41"/>
              </a:solidFill>
              <a:effectLst/>
            </c:spPr>
          </c:dPt>
          <c:cat>
            <c:multiLvlStrRef>
              <c:f>Sheet1!$A$2:$A$6</c:f>
              <c:multiLvlStrCache>
                <c:ptCount val="5"/>
                <c:lvl>
                  <c:pt idx="0">
                    <c:v>Kini</c:v>
                  </c:pt>
                  <c:pt idx="1">
                    <c:v>G0</c:v>
                  </c:pt>
                  <c:pt idx="2">
                    <c:v>G1</c:v>
                  </c:pt>
                  <c:pt idx="3">
                    <c:v>G2</c:v>
                  </c:pt>
                  <c:pt idx="4">
                    <c:v>G3</c:v>
                  </c:pt>
                </c:lvl>
              </c:multiLvlStrCache>
            </c:multiLvlStrRef>
          </c:cat>
          <c:val>
            <c:numRef>
              <c:f>Sheet1!$B$2:$B$6</c:f>
              <c:numCache>
                <c:formatCode>General</c:formatCode>
                <c:ptCount val="5"/>
                <c:pt idx="0">
                  <c:v>25.2</c:v>
                </c:pt>
                <c:pt idx="1">
                  <c:v>24.2</c:v>
                </c:pt>
                <c:pt idx="2">
                  <c:v>34.8</c:v>
                </c:pt>
                <c:pt idx="3">
                  <c:v>46.050000000000004</c:v>
                </c:pt>
                <c:pt idx="4">
                  <c:v>45.45</c:v>
                </c:pt>
              </c:numCache>
            </c:numRef>
          </c:val>
        </c:ser>
        <c:dLbls>
          <c:numFmt formatCode="[$-421]#,##0" sourceLinked="0"/>
          <c:txPr>
            <a:bodyPr/>
            <a:lstStyle/>
            <a:p>
              <a:pPr>
                <a:defRPr b="0" i="0" strike="noStrike" sz="70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USD ribu</c:v>
                </c:pt>
              </c:strCache>
            </c:strRef>
          </c:tx>
          <c:spPr>
            <a:solidFill>
              <a:schemeClr val="accent1"/>
            </a:solidFill>
            <a:ln w="9525" cap="flat">
              <a:solidFill>
                <a:srgbClr val="F9F9F9"/>
              </a:solidFill>
              <a:prstDash val="solid"/>
              <a:round/>
            </a:ln>
            <a:effectLst/>
          </c:spPr>
          <c:dPt>
            <c:idx val="0"/>
            <c:bubble3D val="0"/>
            <c:spPr>
              <a:solidFill>
                <a:srgbClr val="3E8E41"/>
              </a:solidFill>
              <a:effectLst/>
            </c:spPr>
          </c:dPt>
          <c:dPt>
            <c:idx val="1"/>
            <c:bubble3D val="0"/>
            <c:spPr>
              <a:solidFill>
                <a:srgbClr val="244C9C"/>
              </a:solidFill>
              <a:effectLst/>
            </c:spPr>
          </c:dPt>
          <c:dPt>
            <c:idx val="2"/>
            <c:bubble3D val="0"/>
            <c:spPr>
              <a:solidFill>
                <a:srgbClr val="6898C8"/>
              </a:solidFill>
              <a:effectLst/>
            </c:spPr>
          </c:dPt>
          <c:dPt>
            <c:idx val="3"/>
            <c:bubble3D val="0"/>
            <c:spPr>
              <a:solidFill>
                <a:srgbClr val="54B4CC"/>
              </a:solidFill>
              <a:effectLst/>
            </c:spPr>
          </c:dPt>
          <c:dPt>
            <c:idx val="4"/>
            <c:bubble3D val="0"/>
            <c:spPr>
              <a:solidFill>
                <a:srgbClr val="587888"/>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Uji lab dan pilot 480</c:v>
                </c:pt>
                <c:pt idx="1">
                  <c:v>FEED/HAZOP 220</c:v>
                </c:pt>
                <c:pt idx="2">
                  <c:v>Izin dan hukum 130</c:v>
                </c:pt>
                <c:pt idx="3">
                  <c:v>Kuotasi dan MRV 160</c:v>
                </c:pt>
                <c:pt idx="4">
                  <c:v>Tim 310</c:v>
                </c:pt>
              </c:strCache>
            </c:strRef>
          </c:cat>
          <c:val>
            <c:numRef>
              <c:f>Sheet1!$B$2:$B$6</c:f>
              <c:numCache>
                <c:ptCount val="5"/>
                <c:pt idx="0">
                  <c:v>480</c:v>
                </c:pt>
                <c:pt idx="1">
                  <c:v>220</c:v>
                </c:pt>
                <c:pt idx="2">
                  <c:v>130</c:v>
                </c:pt>
                <c:pt idx="3">
                  <c:v>160</c:v>
                </c:pt>
                <c:pt idx="4">
                  <c:v>310</c:v>
                </c:pt>
              </c:numCache>
            </c:numRef>
          </c:val>
        </c:ser>
        <c:firstSliceAng val="0"/>
        <c:holeSize val="50"/>
      </c:doughnutChart>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tCO₂e/tahun</c:v>
                </c:pt>
              </c:strCache>
            </c:strRef>
          </c:tx>
          <c:spPr>
            <a:solidFill>
              <a:srgbClr val="3E8E41"/>
            </a:solidFill>
            <a:effectLst/>
          </c:spPr>
          <c:invertIfNegative val="0"/>
          <c:dLbls>
            <c:numFmt formatCode="[$-421]#,##0" sourceLinked="0"/>
            <c:txPr>
              <a:bodyPr/>
              <a:lstStyle/>
              <a:p>
                <a:pPr>
                  <a:defRPr b="0" i="0" strike="noStrike" sz="65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3E8E41"/>
              </a:solidFill>
              <a:effectLst/>
            </c:spPr>
          </c:dPt>
          <c:dPt>
            <c:idx val="1"/>
            <c:invertIfNegative val="0"/>
            <c:bubble3D val="0"/>
            <c:spPr>
              <a:solidFill>
                <a:srgbClr val="C8452F"/>
              </a:solidFill>
              <a:effectLst/>
            </c:spPr>
          </c:dPt>
          <c:dPt>
            <c:idx val="2"/>
            <c:invertIfNegative val="0"/>
            <c:bubble3D val="0"/>
            <c:spPr>
              <a:solidFill>
                <a:srgbClr val="C8452F"/>
              </a:solidFill>
              <a:effectLst/>
            </c:spPr>
          </c:dPt>
          <c:dPt>
            <c:idx val="3"/>
            <c:invertIfNegative val="0"/>
            <c:bubble3D val="0"/>
            <c:spPr>
              <a:solidFill>
                <a:srgbClr val="C8452F"/>
              </a:solidFill>
              <a:effectLst/>
            </c:spPr>
          </c:dPt>
          <c:dPt>
            <c:idx val="4"/>
            <c:invertIfNegative val="0"/>
            <c:bubble3D val="0"/>
            <c:spPr>
              <a:solidFill>
                <a:srgbClr val="C8452F"/>
              </a:solidFill>
              <a:effectLst/>
            </c:spPr>
          </c:dPt>
          <c:dPt>
            <c:idx val="5"/>
            <c:invertIfNegative val="0"/>
            <c:bubble3D val="0"/>
            <c:spPr>
              <a:solidFill>
                <a:srgbClr val="C8452F"/>
              </a:solidFill>
              <a:effectLst/>
            </c:spPr>
          </c:dPt>
          <c:cat>
            <c:multiLvlStrRef>
              <c:f>Sheet1!$A$2:$A$7</c:f>
              <c:multiLvlStrCache>
                <c:ptCount val="6"/>
                <c:lvl>
                  <c:pt idx="0">
                    <c:v>Baseline kolam</c:v>
                  </c:pt>
                  <c:pt idx="1">
                    <c:v>Bocor 1%</c:v>
                  </c:pt>
                  <c:pt idx="2">
                    <c:v>Slip genset</c:v>
                  </c:pt>
                  <c:pt idx="3">
                    <c:v>CH₄ terlarut</c:v>
                  </c:pt>
                  <c:pt idx="4">
                    <c:v>Efluen di kolam polishing</c:v>
                  </c:pt>
                  <c:pt idx="5">
                    <c:v>Baja (20 th)</c:v>
                  </c:pt>
                </c:lvl>
              </c:multiLvlStrCache>
            </c:multiLvlStrRef>
          </c:cat>
          <c:val>
            <c:numRef>
              <c:f>Sheet1!$B$2:$B$7</c:f>
              <c:numCache>
                <c:formatCode>General</c:formatCode>
                <c:ptCount val="6"/>
                <c:pt idx="0">
                  <c:v>33456.969</c:v>
                </c:pt>
                <c:pt idx="1">
                  <c:v>-415.96378356631476</c:v>
                </c:pt>
                <c:pt idx="2">
                  <c:v>-207.98189178315738</c:v>
                </c:pt>
                <c:pt idx="3">
                  <c:v>-22.530613826429658</c:v>
                </c:pt>
                <c:pt idx="4">
                  <c:v>-777.4334378216871</c:v>
                </c:pt>
                <c:pt idx="5">
                  <c:v>-32.160750167747466</c:v>
                </c:pt>
              </c:numCache>
            </c:numRef>
          </c:val>
        </c:ser>
        <c:dLbls>
          <c:numFmt formatCode="[$-421]#,##0" sourceLinked="0"/>
          <c:txPr>
            <a:bodyPr/>
            <a:lstStyle/>
            <a:p>
              <a:pPr>
                <a:defRPr b="0" i="0" strike="noStrike" sz="650" u="none">
                  <a:solidFill>
                    <a:srgbClr val="000000"/>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65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Set beroperasi</c:v>
                </c:pt>
              </c:strCache>
            </c:strRef>
          </c:tx>
          <c:spPr>
            <a:solidFill>
              <a:srgbClr val="244C9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Sheet1!$A$2:$A$30</c:f>
              <c:multiLvlStrCache>
                <c:ptCount val="29"/>
                <c:lvl>
                  <c:pt idx="0">
                    <c:v>2026</c:v>
                  </c:pt>
                  <c:pt idx="1">
                    <c:v>2027</c:v>
                  </c:pt>
                  <c:pt idx="2">
                    <c:v>2028</c:v>
                  </c:pt>
                  <c:pt idx="3">
                    <c:v>2029</c:v>
                  </c:pt>
                  <c:pt idx="4">
                    <c:v>2030</c:v>
                  </c:pt>
                  <c:pt idx="5">
                    <c:v>2031</c:v>
                  </c:pt>
                  <c:pt idx="6">
                    <c:v>2032</c:v>
                  </c:pt>
                  <c:pt idx="7">
                    <c:v>2033</c:v>
                  </c:pt>
                  <c:pt idx="8">
                    <c:v>2034</c:v>
                  </c:pt>
                  <c:pt idx="9">
                    <c:v>2035</c:v>
                  </c:pt>
                  <c:pt idx="10">
                    <c:v>2036</c:v>
                  </c:pt>
                  <c:pt idx="11">
                    <c:v>2037</c:v>
                  </c:pt>
                  <c:pt idx="12">
                    <c:v>2038</c:v>
                  </c:pt>
                  <c:pt idx="13">
                    <c:v>2039</c:v>
                  </c:pt>
                  <c:pt idx="14">
                    <c:v>2040</c:v>
                  </c:pt>
                  <c:pt idx="15">
                    <c:v>2041</c:v>
                  </c:pt>
                  <c:pt idx="16">
                    <c:v>2042</c:v>
                  </c:pt>
                  <c:pt idx="17">
                    <c:v>2043</c:v>
                  </c:pt>
                  <c:pt idx="18">
                    <c:v>2044</c:v>
                  </c:pt>
                  <c:pt idx="19">
                    <c:v>2045</c:v>
                  </c:pt>
                  <c:pt idx="20">
                    <c:v>2046</c:v>
                  </c:pt>
                  <c:pt idx="21">
                    <c:v>2047</c:v>
                  </c:pt>
                  <c:pt idx="22">
                    <c:v>2048</c:v>
                  </c:pt>
                  <c:pt idx="23">
                    <c:v>2049</c:v>
                  </c:pt>
                  <c:pt idx="24">
                    <c:v>2050</c:v>
                  </c:pt>
                  <c:pt idx="25">
                    <c:v>2051</c:v>
                  </c:pt>
                  <c:pt idx="26">
                    <c:v>2052</c:v>
                  </c:pt>
                  <c:pt idx="27">
                    <c:v>2053</c:v>
                  </c:pt>
                  <c:pt idx="28">
                    <c:v>2054</c:v>
                  </c:pt>
                </c:lvl>
              </c:multiLvlStrCache>
            </c:multiLvlStrRef>
          </c:cat>
          <c:val>
            <c:numRef>
              <c:f>Sheet1!$B$2:$B$30</c:f>
              <c:numCache>
                <c:formatCode>General</c:formatCode>
                <c:ptCount val="29"/>
                <c:pt idx="0">
                  <c:v>0</c:v>
                </c:pt>
                <c:pt idx="1">
                  <c:v>0</c:v>
                </c:pt>
                <c:pt idx="2">
                  <c:v>1</c:v>
                </c:pt>
                <c:pt idx="3">
                  <c:v>2</c:v>
                </c:pt>
                <c:pt idx="4">
                  <c:v>3</c:v>
                </c:pt>
                <c:pt idx="5">
                  <c:v>4</c:v>
                </c:pt>
                <c:pt idx="6">
                  <c:v>5</c:v>
                </c:pt>
                <c:pt idx="7">
                  <c:v>6</c:v>
                </c:pt>
                <c:pt idx="8">
                  <c:v>8</c:v>
                </c:pt>
                <c:pt idx="9">
                  <c:v>10</c:v>
                </c:pt>
                <c:pt idx="10">
                  <c:v>10</c:v>
                </c:pt>
                <c:pt idx="11">
                  <c:v>10</c:v>
                </c:pt>
                <c:pt idx="12">
                  <c:v>10</c:v>
                </c:pt>
                <c:pt idx="13">
                  <c:v>10</c:v>
                </c:pt>
                <c:pt idx="14">
                  <c:v>10</c:v>
                </c:pt>
                <c:pt idx="15">
                  <c:v>10</c:v>
                </c:pt>
                <c:pt idx="16">
                  <c:v>10</c:v>
                </c:pt>
                <c:pt idx="17">
                  <c:v>10</c:v>
                </c:pt>
                <c:pt idx="18">
                  <c:v>10</c:v>
                </c:pt>
                <c:pt idx="19">
                  <c:v>10</c:v>
                </c:pt>
                <c:pt idx="20">
                  <c:v>10</c:v>
                </c:pt>
                <c:pt idx="21">
                  <c:v>10</c:v>
                </c:pt>
                <c:pt idx="22">
                  <c:v>9</c:v>
                </c:pt>
                <c:pt idx="23">
                  <c:v>8</c:v>
                </c:pt>
                <c:pt idx="24">
                  <c:v>7</c:v>
                </c:pt>
                <c:pt idx="25">
                  <c:v>6</c:v>
                </c:pt>
                <c:pt idx="26">
                  <c:v>5</c:v>
                </c:pt>
                <c:pt idx="27">
                  <c:v>4</c:v>
                </c:pt>
                <c:pt idx="28">
                  <c:v>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888888"/>
              </a:solidFill>
              <a:prstDash val="solid"/>
              <a:round/>
            </a:ln>
          </c:spPr>
        </c:majorGridlines>
        <c:numFmt formatCode="[$-421]#,##0"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00000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Sampul. Satu klaim terukur: satu set 60 t TBS/jam menghindari ≈ 32.001 tCO2e per tahun (−96% dari kolam terbuka, AMS-III.H, UF 0,89, GWP 28) tanpa modal dari pabrik. Gambar 3D adalah modul acuan 45 t TBS/jam; angka keuangan memakai 60 t TBS/jam dengan tangki ekualisasi (lihat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Masalah. Akar masalah (5 Mengapa) adalah cara teknologi dijual: proyek rekayasa sekali jadi dengan modal dan risiko kinerja di PKS. Matriks keputusan: skor K1 dari model; K2–K7 penilaian tim, jadi diuji dengan 20.000 variasi bobot (Dirichlet di sekitar bobot dasar) dan uji ±50% satu bobot. Skor G tertinggi karena modal PKS nol, risiko dibawa operator, dan dapat dipindah; titik lemahnya kematangan (belum ada referensi di Indonesia).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Konsep. Urutan: POME 85 °C dari fat pit → praolah → reaktor kontak 55 °C → degasser dan settler (lumpur kembali) → pemurnian biogas → penampung → genset → listrik ke PKS dan PLN. Tabel skala menunjukkan bahwa modul 30 dan 45 t/jam belum layak pada asumsi dasar; 60 t/jam layak tipis.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Validitas teknis. Klaim terkuat: neraca massa dan unsur menutup. Klaim terlemah: OLR 9,9 kg COD/m³·hari melebihi rekomendasi 8 dan belum ada operasi skala penuh termofilik POME di atas OLR 10; TRL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KONTE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ONT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41248" y="411480"/>
            <a:ext cx="10972800" cy="566928"/>
          </a:xfrm>
          <a:prstGeom prst="rect">
            <a:avLst/>
          </a:prstGeom>
          <a:noFill/>
          <a:ln/>
        </p:spPr>
        <p:txBody>
          <a:bodyPr wrap="square" rtlCol="0"/>
          <a:lstStyle>
            <a:lvl1pPr algn="l" indent="0" marL="0">
              <a:buNone/>
              <a:defRPr lang="en-US" sz="1600" b="1" dirty="0">
                <a:solidFill>
                  <a:srgbClr val="0C2464"/>
                </a:solidFill>
                <a:latin typeface="Arial" pitchFamily="34" charset="0"/>
                <a:ea typeface="Arial" pitchFamily="34" charset="-122"/>
                <a:cs typeface="Arial" pitchFamily="34" charset="-120"/>
              </a:defRPr>
            </a:lvl1pPr>
          </a:lstStyle>
          <a:p>
            <a:pPr algn="l" indent="0" marL="0">
              <a:buNone/>
            </a:pPr>
            <a:endParaRPr lang="en-US" sz="1600" dirty="0"/>
          </a:p>
        </p:txBody>
      </p:sp>
      <p:sp>
        <p:nvSpPr>
          <p:cNvPr id="3" name="Text 0"/>
          <p:cNvSpPr/>
          <p:nvPr/>
        </p:nvSpPr>
        <p:spPr>
          <a:xfrm>
            <a:off x="365760" y="6675120"/>
            <a:ext cx="8229600" cy="128016"/>
          </a:xfrm>
          <a:prstGeom prst="rect">
            <a:avLst/>
          </a:prstGeom>
          <a:noFill/>
          <a:ln/>
        </p:spPr>
        <p:txBody>
          <a:bodyPr wrap="square" lIns="0" tIns="0" rIns="0" bIns="0" rtlCol="0" anchor="ctr"/>
          <a:lstStyle/>
          <a:p>
            <a:pPr indent="0" marL="0">
              <a:buNone/>
            </a:pPr>
            <a:r>
              <a:rPr lang="en-US" sz="650" dirty="0">
                <a:solidFill>
                  <a:srgbClr val="587888"/>
                </a:solidFill>
                <a:latin typeface="Calibri" pitchFamily="34" charset="0"/>
                <a:ea typeface="Calibri" pitchFamily="34" charset="-122"/>
                <a:cs typeface="Calibri" pitchFamily="34" charset="-120"/>
              </a:rPr>
              <a:t>Malataxtax  |  Energy Business Plan Competition, EIC 2026  |  Subtema 3: Ekonomi Sirkular</a:t>
            </a:r>
            <a:endParaRPr lang="en-US" sz="65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ks-1"/>
          <p:cNvSpPr txBox="1"/>
          <p:nvPr/>
        </p:nvSpPr>
        <p:spPr>
          <a:xfrm>
            <a:off x="502920" y="384048"/>
            <a:ext cx="4480560" cy="182880"/>
          </a:xfrm>
          <a:prstGeom prst="rect">
            <a:avLst/>
          </a:prstGeom>
          <a:noFill/>
          <a:ln/>
        </p:spPr>
        <p:txBody>
          <a:bodyPr wrap="square" lIns="0" tIns="0" rIns="0" bIns="0" rtlCol="0" anchor="ctr"/>
          <a:lstStyle/>
          <a:p>
            <a:pPr indent="0" marL="0">
              <a:buNone/>
            </a:pPr>
            <a:r>
              <a:rPr lang="en-US" sz="900" b="1" dirty="0">
                <a:solidFill>
                  <a:srgbClr val="3E8E41"/>
                </a:solidFill>
                <a:latin typeface="Arial" pitchFamily="34" charset="0"/>
                <a:ea typeface="Arial" pitchFamily="34" charset="-122"/>
                <a:cs typeface="Arial" pitchFamily="34" charset="-120"/>
              </a:rPr>
              <a:t>ENERGY INNOVATION STRATEGY COMPETITION 2026</a:t>
            </a:r>
            <a:endParaRPr lang="en-US" sz="900" dirty="0"/>
          </a:p>
        </p:txBody>
      </p:sp>
      <p:sp>
        <p:nvSpPr>
          <p:cNvPr id="3" name="teks-2"/>
          <p:cNvSpPr txBox="1"/>
          <p:nvPr/>
        </p:nvSpPr>
        <p:spPr>
          <a:xfrm>
            <a:off x="502920" y="585216"/>
            <a:ext cx="4343400" cy="310896"/>
          </a:xfrm>
          <a:prstGeom prst="rect">
            <a:avLst/>
          </a:prstGeom>
          <a:noFill/>
          <a:ln/>
        </p:spPr>
        <p:txBody>
          <a:bodyPr wrap="square" lIns="0" tIns="0" rIns="0" bIns="0" rtlCol="0" anchor="t"/>
          <a:lstStyle/>
          <a:p>
            <a:pPr indent="0" marL="0">
              <a:buNone/>
            </a:pPr>
            <a:r>
              <a:rPr lang="en-US" sz="850" dirty="0">
                <a:solidFill>
                  <a:srgbClr val="587888"/>
                </a:solidFill>
                <a:latin typeface="Calibri" pitchFamily="34" charset="0"/>
                <a:ea typeface="Calibri" pitchFamily="34" charset="-122"/>
                <a:cs typeface="Calibri" pitchFamily="34" charset="-120"/>
              </a:rPr>
              <a:t>Energy Business Plan Competition  ·  Subtema 3: Ekonomi Sirkular dan Solusi Lingkungan untuk Transisi Energi</a:t>
            </a:r>
            <a:endParaRPr lang="en-US" sz="850" dirty="0"/>
          </a:p>
        </p:txBody>
      </p:sp>
      <p:sp>
        <p:nvSpPr>
          <p:cNvPr id="4" name="teks-3"/>
          <p:cNvSpPr txBox="1"/>
          <p:nvPr/>
        </p:nvSpPr>
        <p:spPr>
          <a:xfrm>
            <a:off x="502920" y="960120"/>
            <a:ext cx="4343400" cy="1874520"/>
          </a:xfrm>
          <a:prstGeom prst="rect">
            <a:avLst/>
          </a:prstGeom>
          <a:noFill/>
          <a:ln/>
        </p:spPr>
        <p:txBody>
          <a:bodyPr wrap="square" lIns="0" tIns="0" rIns="0" bIns="0" rtlCol="0" anchor="t"/>
          <a:lstStyle/>
          <a:p>
            <a:pPr indent="0" marL="0">
              <a:buNone/>
            </a:pPr>
            <a:r>
              <a:rPr lang="en-US" sz="2600" b="1" dirty="0">
                <a:solidFill>
                  <a:srgbClr val="0C2464"/>
                </a:solidFill>
                <a:latin typeface="Arial" pitchFamily="34" charset="0"/>
                <a:ea typeface="Arial" pitchFamily="34" charset="-122"/>
                <a:cs typeface="Arial" pitchFamily="34" charset="-120"/>
              </a:rPr>
              <a:t>Biogas sebagai Layanan: Pengolah POME Termofilik Modular untuk Pabrik Kelapa Sawit</a:t>
            </a:r>
            <a:endParaRPr lang="en-US" sz="2600" dirty="0"/>
          </a:p>
        </p:txBody>
      </p:sp>
      <p:sp>
        <p:nvSpPr>
          <p:cNvPr id="5" name="teks-4"/>
          <p:cNvSpPr txBox="1"/>
          <p:nvPr/>
        </p:nvSpPr>
        <p:spPr>
          <a:xfrm>
            <a:off x="502920" y="2926080"/>
            <a:ext cx="4343400" cy="1051560"/>
          </a:xfrm>
          <a:prstGeom prst="rect">
            <a:avLst/>
          </a:prstGeom>
          <a:noFill/>
          <a:ln/>
        </p:spPr>
        <p:txBody>
          <a:bodyPr wrap="square" lIns="0" tIns="0" rIns="0" bIns="0" rtlCol="0" anchor="t"/>
          <a:lstStyle/>
          <a:p>
            <a:pPr indent="0" marL="0">
              <a:buNone/>
            </a:pPr>
            <a:r>
              <a:rPr lang="en-US" sz="1050" dirty="0">
                <a:solidFill>
                  <a:srgbClr val="14213D"/>
                </a:solidFill>
                <a:latin typeface="Calibri" pitchFamily="34" charset="0"/>
                <a:ea typeface="Calibri" pitchFamily="34" charset="-122"/>
                <a:cs typeface="Calibri" pitchFamily="34" charset="-120"/>
              </a:rPr>
              <a:t>Mengubah air limbah pabrik kelapa sawit (palm oil mill effluent, POME) menjadi listrik pengganti solar, listrik jaringan, dan kredit karbon. Pabrik membayar per ton tandan buah segar (TBS) dan tidak mengeluarkan modal: set dibangun, dimiliki, dan dioperasikan oleh kami (BOO) serta dapat dipindahkan.</a:t>
            </a:r>
            <a:endParaRPr lang="en-US" sz="1050" dirty="0"/>
          </a:p>
        </p:txBody>
      </p:sp>
      <p:sp>
        <p:nvSpPr>
          <p:cNvPr id="6" name="kotak-5"/>
          <p:cNvSpPr/>
          <p:nvPr/>
        </p:nvSpPr>
        <p:spPr>
          <a:xfrm>
            <a:off x="502920" y="4114800"/>
            <a:ext cx="4343400" cy="1417320"/>
          </a:xfrm>
          <a:prstGeom prst="roundRect">
            <a:avLst>
              <a:gd name="adj" fmla="val 3871"/>
            </a:avLst>
          </a:prstGeom>
          <a:solidFill>
            <a:srgbClr val="FFFFFF"/>
          </a:solidFill>
          <a:ln w="9525">
            <a:solidFill>
              <a:srgbClr val="C3D3E8"/>
            </a:solidFill>
            <a:prstDash val="solid"/>
          </a:ln>
        </p:spPr>
      </p:sp>
      <p:sp>
        <p:nvSpPr>
          <p:cNvPr id="7" name="teks-6"/>
          <p:cNvSpPr txBox="1"/>
          <p:nvPr/>
        </p:nvSpPr>
        <p:spPr>
          <a:xfrm>
            <a:off x="640080" y="4160520"/>
            <a:ext cx="1737360" cy="731520"/>
          </a:xfrm>
          <a:prstGeom prst="rect">
            <a:avLst/>
          </a:prstGeom>
          <a:noFill/>
          <a:ln/>
        </p:spPr>
        <p:txBody>
          <a:bodyPr wrap="square" lIns="0" tIns="0" rIns="0" bIns="0" rtlCol="0" anchor="ctr"/>
          <a:lstStyle/>
          <a:p>
            <a:pPr indent="0" marL="0">
              <a:buNone/>
            </a:pPr>
            <a:r>
              <a:rPr lang="en-US" sz="3800" b="1" dirty="0">
                <a:solidFill>
                  <a:srgbClr val="3E8E41"/>
                </a:solidFill>
                <a:latin typeface="Arial" pitchFamily="34" charset="0"/>
                <a:ea typeface="Arial" pitchFamily="34" charset="-122"/>
                <a:cs typeface="Arial" pitchFamily="34" charset="-120"/>
              </a:rPr>
              <a:t>−96%</a:t>
            </a:r>
            <a:endParaRPr lang="en-US" sz="3800" dirty="0"/>
          </a:p>
        </p:txBody>
      </p:sp>
      <p:sp>
        <p:nvSpPr>
          <p:cNvPr id="8" name="teks-7"/>
          <p:cNvSpPr txBox="1"/>
          <p:nvPr/>
        </p:nvSpPr>
        <p:spPr>
          <a:xfrm>
            <a:off x="2423160" y="4206240"/>
            <a:ext cx="2331720" cy="685800"/>
          </a:xfrm>
          <a:prstGeom prst="rect">
            <a:avLst/>
          </a:prstGeom>
          <a:noFill/>
          <a:ln/>
        </p:spPr>
        <p:txBody>
          <a:bodyPr wrap="square" lIns="0" tIns="0" rIns="0" bIns="0" rtlCol="0" anchor="ctr"/>
          <a:lstStyle/>
          <a:p>
            <a:pPr indent="0" marL="0">
              <a:buNone/>
            </a:pPr>
            <a:r>
              <a:rPr lang="en-US" sz="950" b="1" dirty="0">
                <a:solidFill>
                  <a:srgbClr val="0C2464"/>
                </a:solidFill>
                <a:latin typeface="Calibri" pitchFamily="34" charset="0"/>
                <a:ea typeface="Calibri" pitchFamily="34" charset="-122"/>
                <a:cs typeface="Calibri" pitchFamily="34" charset="-120"/>
              </a:rPr>
              <a:t>emisi metana kolam POME dihindari: ≈ 32 ribu tCO₂e per tahun untuk satu set 60 t TBS/jam</a:t>
            </a:r>
            <a:endParaRPr lang="en-US" sz="950" dirty="0"/>
          </a:p>
        </p:txBody>
      </p:sp>
      <p:sp>
        <p:nvSpPr>
          <p:cNvPr id="9" name="garis-8"/>
          <p:cNvSpPr/>
          <p:nvPr/>
        </p:nvSpPr>
        <p:spPr>
          <a:xfrm>
            <a:off x="640080" y="4956048"/>
            <a:ext cx="4069080" cy="0"/>
          </a:xfrm>
          <a:prstGeom prst="line">
            <a:avLst/>
          </a:prstGeom>
          <a:noFill/>
          <a:ln w="9525">
            <a:solidFill>
              <a:srgbClr val="C3D3E8"/>
            </a:solidFill>
            <a:prstDash val="solid"/>
          </a:ln>
        </p:spPr>
      </p:sp>
      <p:sp>
        <p:nvSpPr>
          <p:cNvPr id="10" name="teks-9"/>
          <p:cNvSpPr txBox="1"/>
          <p:nvPr/>
        </p:nvSpPr>
        <p:spPr>
          <a:xfrm>
            <a:off x="640080" y="5029200"/>
            <a:ext cx="1920240" cy="457200"/>
          </a:xfrm>
          <a:prstGeom prst="rect">
            <a:avLst/>
          </a:prstGeom>
          <a:noFill/>
          <a:ln/>
        </p:spPr>
        <p:txBody>
          <a:bodyPr wrap="square" lIns="0" tIns="0" rIns="0" bIns="0" rtlCol="0" anchor="t"/>
          <a:lstStyle/>
          <a:p>
            <a:pPr indent="0" marL="0">
              <a:buNone/>
            </a:pPr>
            <a:r>
              <a:rPr lang="en-US" sz="1300" b="1" dirty="0">
                <a:solidFill>
                  <a:srgbClr val="244C9C"/>
                </a:solidFill>
                <a:latin typeface="Arial" pitchFamily="34" charset="0"/>
                <a:ea typeface="Arial" pitchFamily="34" charset="-122"/>
                <a:cs typeface="Arial" pitchFamily="34" charset="-120"/>
              </a:rPr>
              <a:t>USD 0</a:t>
            </a:r>
            <a:endParaRPr lang="en-US" sz="1000" dirty="0"/>
          </a:p>
          <a:p>
            <a:pPr indent="0" marL="0">
              <a:buNone/>
            </a:pPr>
            <a:r>
              <a:rPr lang="en-US" sz="800" dirty="0">
                <a:solidFill>
                  <a:srgbClr val="587888"/>
                </a:solidFill>
                <a:latin typeface="Calibri" pitchFamily="34" charset="0"/>
                <a:ea typeface="Calibri" pitchFamily="34" charset="-122"/>
                <a:cs typeface="Calibri" pitchFamily="34" charset="-120"/>
              </a:rPr>
              <a:t>modal dari pabrik (skema BOO)</a:t>
            </a:r>
            <a:endParaRPr lang="en-US" sz="1000" dirty="0"/>
          </a:p>
        </p:txBody>
      </p:sp>
      <p:sp>
        <p:nvSpPr>
          <p:cNvPr id="11" name="teks-10"/>
          <p:cNvSpPr txBox="1"/>
          <p:nvPr/>
        </p:nvSpPr>
        <p:spPr>
          <a:xfrm>
            <a:off x="2606040" y="5029200"/>
            <a:ext cx="2194560" cy="457200"/>
          </a:xfrm>
          <a:prstGeom prst="rect">
            <a:avLst/>
          </a:prstGeom>
          <a:noFill/>
          <a:ln/>
        </p:spPr>
        <p:txBody>
          <a:bodyPr wrap="square" lIns="0" tIns="0" rIns="0" bIns="0" rtlCol="0" anchor="t"/>
          <a:lstStyle/>
          <a:p>
            <a:pPr indent="0" marL="0">
              <a:buNone/>
            </a:pPr>
            <a:r>
              <a:rPr lang="en-US" sz="1300" b="1" dirty="0">
                <a:solidFill>
                  <a:srgbClr val="244C9C"/>
                </a:solidFill>
                <a:latin typeface="Arial" pitchFamily="34" charset="0"/>
                <a:ea typeface="Arial" pitchFamily="34" charset="-122"/>
                <a:cs typeface="Arial" pitchFamily="34" charset="-120"/>
              </a:rPr>
              <a:t>6,5 GWh</a:t>
            </a:r>
            <a:endParaRPr lang="en-US" sz="1000" dirty="0"/>
          </a:p>
          <a:p>
            <a:pPr indent="0" marL="0">
              <a:buNone/>
            </a:pPr>
            <a:r>
              <a:rPr lang="en-US" sz="800" dirty="0">
                <a:solidFill>
                  <a:srgbClr val="587888"/>
                </a:solidFill>
                <a:latin typeface="Calibri" pitchFamily="34" charset="0"/>
                <a:ea typeface="Calibri" pitchFamily="34" charset="-122"/>
                <a:cs typeface="Calibri" pitchFamily="34" charset="-120"/>
              </a:rPr>
              <a:t>listrik neto per tahun per set</a:t>
            </a:r>
            <a:endParaRPr lang="en-US" sz="1000" dirty="0"/>
          </a:p>
        </p:txBody>
      </p:sp>
      <p:sp>
        <p:nvSpPr>
          <p:cNvPr id="12" name="teks-11"/>
          <p:cNvSpPr txBox="1"/>
          <p:nvPr/>
        </p:nvSpPr>
        <p:spPr>
          <a:xfrm>
            <a:off x="502920" y="5760720"/>
            <a:ext cx="4343400" cy="274320"/>
          </a:xfrm>
          <a:prstGeom prst="rect">
            <a:avLst/>
          </a:prstGeom>
          <a:noFill/>
          <a:ln/>
        </p:spPr>
        <p:txBody>
          <a:bodyPr wrap="square" lIns="0" tIns="0" rIns="0" bIns="0" rtlCol="0" anchor="ctr"/>
          <a:lstStyle/>
          <a:p>
            <a:pPr indent="0" marL="0">
              <a:buNone/>
            </a:pPr>
            <a:r>
              <a:rPr lang="en-US" sz="1500" b="1" dirty="0">
                <a:solidFill>
                  <a:srgbClr val="0C2464"/>
                </a:solidFill>
                <a:latin typeface="Arial" pitchFamily="34" charset="0"/>
                <a:ea typeface="Arial" pitchFamily="34" charset="-122"/>
                <a:cs typeface="Arial" pitchFamily="34" charset="-120"/>
              </a:rPr>
              <a:t>TIM MALATAXTAX</a:t>
            </a:r>
            <a:endParaRPr lang="en-US" sz="1500" dirty="0"/>
          </a:p>
        </p:txBody>
      </p:sp>
      <p:sp>
        <p:nvSpPr>
          <p:cNvPr id="13" name="teks-12"/>
          <p:cNvSpPr txBox="1"/>
          <p:nvPr/>
        </p:nvSpPr>
        <p:spPr>
          <a:xfrm>
            <a:off x="502920" y="6053328"/>
            <a:ext cx="4343400" cy="182880"/>
          </a:xfrm>
          <a:prstGeom prst="rect">
            <a:avLst/>
          </a:prstGeom>
          <a:noFill/>
          <a:ln/>
        </p:spPr>
        <p:txBody>
          <a:bodyPr wrap="square" lIns="0" tIns="0" rIns="0" bIns="0" rtlCol="0" anchor="ctr"/>
          <a:lstStyle/>
          <a:p>
            <a:pPr indent="0" marL="0">
              <a:buNone/>
            </a:pPr>
            <a:r>
              <a:rPr lang="en-US" sz="850" dirty="0">
                <a:solidFill>
                  <a:srgbClr val="14213D"/>
                </a:solidFill>
                <a:latin typeface="Calibri" pitchFamily="34" charset="0"/>
                <a:ea typeface="Calibri" pitchFamily="34" charset="-122"/>
                <a:cs typeface="Calibri" pitchFamily="34" charset="-120"/>
              </a:rPr>
              <a:t>Anggota: [Nama lengkap 1]  ·  [Nama lengkap 2]  ·  [Nama lengkap 3]</a:t>
            </a:r>
            <a:endParaRPr lang="en-US" sz="850" dirty="0"/>
          </a:p>
        </p:txBody>
      </p:sp>
      <p:sp>
        <p:nvSpPr>
          <p:cNvPr id="14" name="teks-13"/>
          <p:cNvSpPr txBox="1"/>
          <p:nvPr/>
        </p:nvSpPr>
        <p:spPr>
          <a:xfrm>
            <a:off x="502920" y="6236208"/>
            <a:ext cx="4343400" cy="182880"/>
          </a:xfrm>
          <a:prstGeom prst="rect">
            <a:avLst/>
          </a:prstGeom>
          <a:noFill/>
          <a:ln/>
        </p:spPr>
        <p:txBody>
          <a:bodyPr wrap="square" lIns="0" tIns="0" rIns="0" bIns="0" rtlCol="0" anchor="ctr"/>
          <a:lstStyle/>
          <a:p>
            <a:pPr indent="0" marL="0">
              <a:buNone/>
            </a:pPr>
            <a:r>
              <a:rPr lang="en-US" sz="850" dirty="0">
                <a:solidFill>
                  <a:srgbClr val="14213D"/>
                </a:solidFill>
                <a:latin typeface="Calibri" pitchFamily="34" charset="0"/>
                <a:ea typeface="Calibri" pitchFamily="34" charset="-122"/>
                <a:cs typeface="Calibri" pitchFamily="34" charset="-120"/>
              </a:rPr>
              <a:t>Perguruan tinggi: [Nama perguruan tinggi]</a:t>
            </a:r>
            <a:endParaRPr lang="en-US" sz="850" dirty="0"/>
          </a:p>
        </p:txBody>
      </p:sp>
      <p:sp>
        <p:nvSpPr>
          <p:cNvPr id="15" name="teks-14"/>
          <p:cNvSpPr txBox="1"/>
          <p:nvPr/>
        </p:nvSpPr>
        <p:spPr>
          <a:xfrm>
            <a:off x="502920" y="6437376"/>
            <a:ext cx="4343400" cy="164592"/>
          </a:xfrm>
          <a:prstGeom prst="rect">
            <a:avLst/>
          </a:prstGeom>
          <a:noFill/>
          <a:ln/>
        </p:spPr>
        <p:txBody>
          <a:bodyPr wrap="square" lIns="0" tIns="0" rIns="0" bIns="0" rtlCol="0" anchor="ctr"/>
          <a:lstStyle/>
          <a:p>
            <a:pPr indent="0" marL="0">
              <a:buNone/>
            </a:pPr>
            <a:r>
              <a:rPr lang="en-US" sz="650" i="1" dirty="0">
                <a:solidFill>
                  <a:srgbClr val="587888"/>
                </a:solidFill>
                <a:latin typeface="Calibri" pitchFamily="34" charset="0"/>
                <a:ea typeface="Calibri" pitchFamily="34" charset="-122"/>
                <a:cs typeface="Calibri" pitchFamily="34" charset="-120"/>
              </a:rPr>
              <a:t>Identitas dalam tanda kurung siku wajib diisi sesuai buku panduan sebelum pengumpulan.</a:t>
            </a:r>
            <a:endParaRPr lang="en-US" sz="650" dirty="0"/>
          </a:p>
        </p:txBody>
      </p:sp>
      <p:sp>
        <p:nvSpPr>
          <p:cNvPr id="16" name="kotak-15"/>
          <p:cNvSpPr/>
          <p:nvPr/>
        </p:nvSpPr>
        <p:spPr>
          <a:xfrm>
            <a:off x="5038344" y="374904"/>
            <a:ext cx="6839712" cy="3879342"/>
          </a:xfrm>
          <a:prstGeom prst="roundRect">
            <a:avLst>
              <a:gd name="adj" fmla="val 943"/>
            </a:avLst>
          </a:prstGeom>
          <a:solidFill>
            <a:srgbClr val="FFFFFF"/>
          </a:solidFill>
          <a:ln w="9525">
            <a:solidFill>
              <a:srgbClr val="C3D3E8"/>
            </a:solidFill>
            <a:prstDash val="solid"/>
          </a:ln>
        </p:spPr>
      </p:sp>
      <p:pic>
        <p:nvPicPr>
          <p:cNvPr id="17" name="gambar-16" descr="/home/user/aspebindo/cad/out/render/DIORAMA_lokasi.png">    </p:cNvPr>
          <p:cNvPicPr>
            <a:picLocks noChangeAspect="1"/>
          </p:cNvPicPr>
          <p:nvPr/>
        </p:nvPicPr>
        <p:blipFill>
          <a:blip r:embed="rId1"/>
          <a:stretch>
            <a:fillRect/>
          </a:stretch>
        </p:blipFill>
        <p:spPr>
          <a:xfrm>
            <a:off x="5074920" y="411480"/>
            <a:ext cx="6766560" cy="3806190"/>
          </a:xfrm>
          <a:prstGeom prst="rect">
            <a:avLst/>
          </a:prstGeom>
        </p:spPr>
      </p:pic>
      <p:sp>
        <p:nvSpPr>
          <p:cNvPr id="18" name="kotak-17"/>
          <p:cNvSpPr txBox="1"/>
          <p:nvPr/>
        </p:nvSpPr>
        <p:spPr>
          <a:xfrm>
            <a:off x="8348472" y="1374886"/>
            <a:ext cx="219456" cy="219456"/>
          </a:xfrm>
          <a:prstGeom prst="roundRect">
            <a:avLst>
              <a:gd name="adj" fmla="val 50000"/>
            </a:avLst>
          </a:prstGeom>
          <a:solidFill>
            <a:srgbClr val="244C9C"/>
          </a:solidFill>
          <a:ln w="15875">
            <a:solidFill>
              <a:srgbClr val="FFFFFF"/>
            </a:solid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1</a:t>
            </a:r>
            <a:endParaRPr lang="en-US" sz="850" dirty="0"/>
          </a:p>
        </p:txBody>
      </p:sp>
      <p:sp>
        <p:nvSpPr>
          <p:cNvPr id="19" name="kotak-18"/>
          <p:cNvSpPr txBox="1"/>
          <p:nvPr/>
        </p:nvSpPr>
        <p:spPr>
          <a:xfrm>
            <a:off x="8200454" y="2099120"/>
            <a:ext cx="219456" cy="219456"/>
          </a:xfrm>
          <a:prstGeom prst="roundRect">
            <a:avLst>
              <a:gd name="adj" fmla="val 50000"/>
            </a:avLst>
          </a:prstGeom>
          <a:solidFill>
            <a:srgbClr val="244C9C"/>
          </a:solidFill>
          <a:ln w="15875">
            <a:solidFill>
              <a:srgbClr val="FFFFFF"/>
            </a:solid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2</a:t>
            </a:r>
            <a:endParaRPr lang="en-US" sz="850" dirty="0"/>
          </a:p>
        </p:txBody>
      </p:sp>
      <p:sp>
        <p:nvSpPr>
          <p:cNvPr id="20" name="kotak-19"/>
          <p:cNvSpPr txBox="1"/>
          <p:nvPr/>
        </p:nvSpPr>
        <p:spPr>
          <a:xfrm>
            <a:off x="7888557" y="1306163"/>
            <a:ext cx="219456" cy="219456"/>
          </a:xfrm>
          <a:prstGeom prst="roundRect">
            <a:avLst>
              <a:gd name="adj" fmla="val 50000"/>
            </a:avLst>
          </a:prstGeom>
          <a:solidFill>
            <a:srgbClr val="244C9C"/>
          </a:solidFill>
          <a:ln w="15875">
            <a:solidFill>
              <a:srgbClr val="FFFFFF"/>
            </a:solid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a:t>
            </a:r>
            <a:endParaRPr lang="en-US" sz="850" dirty="0"/>
          </a:p>
        </p:txBody>
      </p:sp>
      <p:sp>
        <p:nvSpPr>
          <p:cNvPr id="21" name="kotak-20"/>
          <p:cNvSpPr txBox="1"/>
          <p:nvPr/>
        </p:nvSpPr>
        <p:spPr>
          <a:xfrm>
            <a:off x="10066544" y="1818942"/>
            <a:ext cx="219456" cy="219456"/>
          </a:xfrm>
          <a:prstGeom prst="roundRect">
            <a:avLst>
              <a:gd name="adj" fmla="val 50000"/>
            </a:avLst>
          </a:prstGeom>
          <a:solidFill>
            <a:srgbClr val="244C9C"/>
          </a:solidFill>
          <a:ln w="15875">
            <a:solidFill>
              <a:srgbClr val="FFFFFF"/>
            </a:solid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4</a:t>
            </a:r>
            <a:endParaRPr lang="en-US" sz="850" dirty="0"/>
          </a:p>
        </p:txBody>
      </p:sp>
      <p:sp>
        <p:nvSpPr>
          <p:cNvPr id="22" name="kotak-21"/>
          <p:cNvSpPr txBox="1"/>
          <p:nvPr/>
        </p:nvSpPr>
        <p:spPr>
          <a:xfrm>
            <a:off x="9379315" y="2109692"/>
            <a:ext cx="219456" cy="219456"/>
          </a:xfrm>
          <a:prstGeom prst="roundRect">
            <a:avLst>
              <a:gd name="adj" fmla="val 50000"/>
            </a:avLst>
          </a:prstGeom>
          <a:solidFill>
            <a:srgbClr val="244C9C"/>
          </a:solidFill>
          <a:ln w="15875">
            <a:solidFill>
              <a:srgbClr val="FFFFFF"/>
            </a:solid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5</a:t>
            </a:r>
            <a:endParaRPr lang="en-US" sz="850" dirty="0"/>
          </a:p>
        </p:txBody>
      </p:sp>
      <p:sp>
        <p:nvSpPr>
          <p:cNvPr id="23" name="kotak-22"/>
          <p:cNvSpPr/>
          <p:nvPr/>
        </p:nvSpPr>
        <p:spPr>
          <a:xfrm>
            <a:off x="8193024" y="4363974"/>
            <a:ext cx="3685032" cy="2104835"/>
          </a:xfrm>
          <a:prstGeom prst="roundRect">
            <a:avLst>
              <a:gd name="adj" fmla="val 1738"/>
            </a:avLst>
          </a:prstGeom>
          <a:solidFill>
            <a:srgbClr val="FFFFFF"/>
          </a:solidFill>
          <a:ln w="9525">
            <a:solidFill>
              <a:srgbClr val="C3D3E8"/>
            </a:solidFill>
            <a:prstDash val="solid"/>
          </a:ln>
        </p:spPr>
      </p:sp>
      <p:pic>
        <p:nvPicPr>
          <p:cNvPr id="24" name="gambar-23" descr="/home/user/aspebindo/cad/out/render/DIORAMA_produk.png">    </p:cNvPr>
          <p:cNvPicPr>
            <a:picLocks noChangeAspect="1"/>
          </p:cNvPicPr>
          <p:nvPr/>
        </p:nvPicPr>
        <p:blipFill>
          <a:blip r:embed="rId2"/>
          <a:stretch>
            <a:fillRect/>
          </a:stretch>
        </p:blipFill>
        <p:spPr>
          <a:xfrm>
            <a:off x="8229600" y="4400550"/>
            <a:ext cx="3611880" cy="2031683"/>
          </a:xfrm>
          <a:prstGeom prst="rect">
            <a:avLst/>
          </a:prstGeom>
        </p:spPr>
      </p:pic>
      <p:sp>
        <p:nvSpPr>
          <p:cNvPr id="25" name="teks-24"/>
          <p:cNvSpPr txBox="1"/>
          <p:nvPr/>
        </p:nvSpPr>
        <p:spPr>
          <a:xfrm>
            <a:off x="8229600" y="6505385"/>
            <a:ext cx="3611880" cy="182880"/>
          </a:xfrm>
          <a:prstGeom prst="rect">
            <a:avLst/>
          </a:prstGeom>
          <a:noFill/>
          <a:ln/>
        </p:spPr>
        <p:txBody>
          <a:bodyPr wrap="square" lIns="0" tIns="0" rIns="0" bIns="0" rtlCol="0" anchor="t"/>
          <a:lstStyle/>
          <a:p>
            <a:pPr indent="0" marL="0">
              <a:buNone/>
            </a:pPr>
            <a:r>
              <a:rPr lang="en-US" sz="650" i="1" dirty="0">
                <a:solidFill>
                  <a:srgbClr val="587888"/>
                </a:solidFill>
                <a:latin typeface="Calibri" pitchFamily="34" charset="0"/>
                <a:ea typeface="Calibri" pitchFamily="34" charset="-122"/>
                <a:cs typeface="Calibri" pitchFamily="34" charset="-120"/>
              </a:rPr>
              <a:t>Set biogas dari dekat: 3 tangki GFS, degasser + settler, genset, penampung gas, flare</a:t>
            </a:r>
            <a:endParaRPr lang="en-US" sz="650" dirty="0"/>
          </a:p>
        </p:txBody>
      </p:sp>
      <p:sp>
        <p:nvSpPr>
          <p:cNvPr id="26" name="teks-25"/>
          <p:cNvSpPr txBox="1"/>
          <p:nvPr/>
        </p:nvSpPr>
        <p:spPr>
          <a:xfrm>
            <a:off x="5074920" y="4373118"/>
            <a:ext cx="30632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Titik integrasi dengan PKS (angka pada gambar)</a:t>
            </a:r>
            <a:endParaRPr lang="en-US" sz="850" dirty="0"/>
          </a:p>
        </p:txBody>
      </p:sp>
      <p:sp>
        <p:nvSpPr>
          <p:cNvPr id="27" name="kotak-26"/>
          <p:cNvSpPr txBox="1"/>
          <p:nvPr/>
        </p:nvSpPr>
        <p:spPr>
          <a:xfrm>
            <a:off x="5074920" y="4647438"/>
            <a:ext cx="182880" cy="182880"/>
          </a:xfrm>
          <a:prstGeom prst="roundRect">
            <a:avLst>
              <a:gd name="adj" fmla="val 50000"/>
            </a:avLst>
          </a:prstGeom>
          <a:solidFill>
            <a:srgbClr val="244C9C"/>
          </a:solidFill>
          <a:ln w="9525">
            <a:solidFill>
              <a:srgbClr val="244C9C"/>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1</a:t>
            </a:r>
            <a:endParaRPr lang="en-US" sz="750" dirty="0"/>
          </a:p>
        </p:txBody>
      </p:sp>
      <p:sp>
        <p:nvSpPr>
          <p:cNvPr id="28" name="teks-27"/>
          <p:cNvSpPr txBox="1"/>
          <p:nvPr/>
        </p:nvSpPr>
        <p:spPr>
          <a:xfrm>
            <a:off x="5349240" y="4629150"/>
            <a:ext cx="2788920" cy="329184"/>
          </a:xfrm>
          <a:prstGeom prst="rect">
            <a:avLst/>
          </a:prstGeom>
          <a:noFill/>
          <a:ln/>
        </p:spPr>
        <p:txBody>
          <a:bodyPr wrap="square" lIns="0" tIns="0" rIns="0" bIns="0" rtlCol="0" anchor="t"/>
          <a:lstStyle/>
          <a:p>
            <a:pPr indent="0" marL="0">
              <a:buNone/>
            </a:pPr>
            <a:r>
              <a:rPr lang="en-US" sz="750" dirty="0">
                <a:solidFill>
                  <a:srgbClr val="14213D"/>
                </a:solidFill>
                <a:latin typeface="Calibri" pitchFamily="34" charset="0"/>
                <a:ea typeface="Calibri" pitchFamily="34" charset="-122"/>
                <a:cs typeface="Calibri" pitchFamily="34" charset="-120"/>
              </a:rPr>
              <a:t>POME panas 85 °C dari fat pit masuk praolah (pipa DN150)</a:t>
            </a:r>
            <a:endParaRPr lang="en-US" sz="750" dirty="0"/>
          </a:p>
        </p:txBody>
      </p:sp>
      <p:sp>
        <p:nvSpPr>
          <p:cNvPr id="29" name="kotak-28"/>
          <p:cNvSpPr txBox="1"/>
          <p:nvPr/>
        </p:nvSpPr>
        <p:spPr>
          <a:xfrm>
            <a:off x="5074920" y="4985766"/>
            <a:ext cx="182880" cy="182880"/>
          </a:xfrm>
          <a:prstGeom prst="roundRect">
            <a:avLst>
              <a:gd name="adj" fmla="val 50000"/>
            </a:avLst>
          </a:prstGeom>
          <a:solidFill>
            <a:srgbClr val="244C9C"/>
          </a:solidFill>
          <a:ln w="9525">
            <a:solidFill>
              <a:srgbClr val="244C9C"/>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2</a:t>
            </a:r>
            <a:endParaRPr lang="en-US" sz="750" dirty="0"/>
          </a:p>
        </p:txBody>
      </p:sp>
      <p:sp>
        <p:nvSpPr>
          <p:cNvPr id="30" name="teks-29"/>
          <p:cNvSpPr txBox="1"/>
          <p:nvPr/>
        </p:nvSpPr>
        <p:spPr>
          <a:xfrm>
            <a:off x="5349240" y="4967478"/>
            <a:ext cx="2788920" cy="329184"/>
          </a:xfrm>
          <a:prstGeom prst="rect">
            <a:avLst/>
          </a:prstGeom>
          <a:noFill/>
          <a:ln/>
        </p:spPr>
        <p:txBody>
          <a:bodyPr wrap="square" lIns="0" tIns="0" rIns="0" bIns="0" rtlCol="0" anchor="t"/>
          <a:lstStyle/>
          <a:p>
            <a:pPr indent="0" marL="0">
              <a:buNone/>
            </a:pPr>
            <a:r>
              <a:rPr lang="en-US" sz="750" dirty="0">
                <a:solidFill>
                  <a:srgbClr val="14213D"/>
                </a:solidFill>
                <a:latin typeface="Calibri" pitchFamily="34" charset="0"/>
                <a:ea typeface="Calibri" pitchFamily="34" charset="-122"/>
                <a:cs typeface="Calibri" pitchFamily="34" charset="-120"/>
              </a:rPr>
              <a:t>Set biogas di lahan bekas kolam, 0,38 ha (modul acuan 45 t TBS/jam)</a:t>
            </a:r>
            <a:endParaRPr lang="en-US" sz="750" dirty="0"/>
          </a:p>
        </p:txBody>
      </p:sp>
      <p:sp>
        <p:nvSpPr>
          <p:cNvPr id="31" name="kotak-30"/>
          <p:cNvSpPr txBox="1"/>
          <p:nvPr/>
        </p:nvSpPr>
        <p:spPr>
          <a:xfrm>
            <a:off x="5074920" y="5324094"/>
            <a:ext cx="182880" cy="182880"/>
          </a:xfrm>
          <a:prstGeom prst="roundRect">
            <a:avLst>
              <a:gd name="adj" fmla="val 50000"/>
            </a:avLst>
          </a:prstGeom>
          <a:solidFill>
            <a:srgbClr val="244C9C"/>
          </a:solidFill>
          <a:ln w="9525">
            <a:solidFill>
              <a:srgbClr val="244C9C"/>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3</a:t>
            </a:r>
            <a:endParaRPr lang="en-US" sz="750" dirty="0"/>
          </a:p>
        </p:txBody>
      </p:sp>
      <p:sp>
        <p:nvSpPr>
          <p:cNvPr id="32" name="teks-31"/>
          <p:cNvSpPr txBox="1"/>
          <p:nvPr/>
        </p:nvSpPr>
        <p:spPr>
          <a:xfrm>
            <a:off x="5349240" y="5305806"/>
            <a:ext cx="2788920" cy="329184"/>
          </a:xfrm>
          <a:prstGeom prst="rect">
            <a:avLst/>
          </a:prstGeom>
          <a:noFill/>
          <a:ln/>
        </p:spPr>
        <p:txBody>
          <a:bodyPr wrap="square" lIns="0" tIns="0" rIns="0" bIns="0" rtlCol="0" anchor="t"/>
          <a:lstStyle/>
          <a:p>
            <a:pPr indent="0" marL="0">
              <a:buNone/>
            </a:pPr>
            <a:r>
              <a:rPr lang="en-US" sz="750" dirty="0">
                <a:solidFill>
                  <a:srgbClr val="14213D"/>
                </a:solidFill>
                <a:latin typeface="Calibri" pitchFamily="34" charset="0"/>
                <a:ea typeface="Calibri" pitchFamily="34" charset="-122"/>
                <a:cs typeface="Calibri" pitchFamily="34" charset="-120"/>
              </a:rPr>
              <a:t>Listrik 400 V/20 kV ke rumah mesin PKS (menggantikan solar) dan ke jaringan PLN</a:t>
            </a:r>
            <a:endParaRPr lang="en-US" sz="750" dirty="0"/>
          </a:p>
        </p:txBody>
      </p:sp>
      <p:sp>
        <p:nvSpPr>
          <p:cNvPr id="33" name="kotak-32"/>
          <p:cNvSpPr txBox="1"/>
          <p:nvPr/>
        </p:nvSpPr>
        <p:spPr>
          <a:xfrm>
            <a:off x="5074920" y="5662422"/>
            <a:ext cx="182880" cy="182880"/>
          </a:xfrm>
          <a:prstGeom prst="roundRect">
            <a:avLst>
              <a:gd name="adj" fmla="val 50000"/>
            </a:avLst>
          </a:prstGeom>
          <a:solidFill>
            <a:srgbClr val="244C9C"/>
          </a:solidFill>
          <a:ln w="9525">
            <a:solidFill>
              <a:srgbClr val="244C9C"/>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4</a:t>
            </a:r>
            <a:endParaRPr lang="en-US" sz="750" dirty="0"/>
          </a:p>
        </p:txBody>
      </p:sp>
      <p:sp>
        <p:nvSpPr>
          <p:cNvPr id="34" name="teks-33"/>
          <p:cNvSpPr txBox="1"/>
          <p:nvPr/>
        </p:nvSpPr>
        <p:spPr>
          <a:xfrm>
            <a:off x="5349240" y="5644134"/>
            <a:ext cx="2788920" cy="329184"/>
          </a:xfrm>
          <a:prstGeom prst="rect">
            <a:avLst/>
          </a:prstGeom>
          <a:noFill/>
          <a:ln/>
        </p:spPr>
        <p:txBody>
          <a:bodyPr wrap="square" lIns="0" tIns="0" rIns="0" bIns="0" rtlCol="0" anchor="t"/>
          <a:lstStyle/>
          <a:p>
            <a:pPr indent="0" marL="0">
              <a:buNone/>
            </a:pPr>
            <a:r>
              <a:rPr lang="en-US" sz="750" dirty="0">
                <a:solidFill>
                  <a:srgbClr val="14213D"/>
                </a:solidFill>
                <a:latin typeface="Calibri" pitchFamily="34" charset="0"/>
                <a:ea typeface="Calibri" pitchFamily="34" charset="-122"/>
                <a:cs typeface="Calibri" pitchFamily="34" charset="-120"/>
              </a:rPr>
              <a:t>Efluen settler ke kolam polishing yang sudah ada, lalu aplikasi lahan</a:t>
            </a:r>
            <a:endParaRPr lang="en-US" sz="750" dirty="0"/>
          </a:p>
        </p:txBody>
      </p:sp>
      <p:sp>
        <p:nvSpPr>
          <p:cNvPr id="35" name="kotak-34"/>
          <p:cNvSpPr txBox="1"/>
          <p:nvPr/>
        </p:nvSpPr>
        <p:spPr>
          <a:xfrm>
            <a:off x="5074920" y="6000750"/>
            <a:ext cx="182880" cy="182880"/>
          </a:xfrm>
          <a:prstGeom prst="roundRect">
            <a:avLst>
              <a:gd name="adj" fmla="val 50000"/>
            </a:avLst>
          </a:prstGeom>
          <a:solidFill>
            <a:srgbClr val="244C9C"/>
          </a:solidFill>
          <a:ln w="9525">
            <a:solidFill>
              <a:srgbClr val="244C9C"/>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5</a:t>
            </a:r>
            <a:endParaRPr lang="en-US" sz="750" dirty="0"/>
          </a:p>
        </p:txBody>
      </p:sp>
      <p:sp>
        <p:nvSpPr>
          <p:cNvPr id="36" name="teks-35"/>
          <p:cNvSpPr txBox="1"/>
          <p:nvPr/>
        </p:nvSpPr>
        <p:spPr>
          <a:xfrm>
            <a:off x="5349240" y="5982462"/>
            <a:ext cx="2788920" cy="329184"/>
          </a:xfrm>
          <a:prstGeom prst="rect">
            <a:avLst/>
          </a:prstGeom>
          <a:noFill/>
          <a:ln/>
        </p:spPr>
        <p:txBody>
          <a:bodyPr wrap="square" lIns="0" tIns="0" rIns="0" bIns="0" rtlCol="0" anchor="t"/>
          <a:lstStyle/>
          <a:p>
            <a:pPr indent="0" marL="0">
              <a:buNone/>
            </a:pPr>
            <a:r>
              <a:rPr lang="en-US" sz="750" dirty="0">
                <a:solidFill>
                  <a:srgbClr val="14213D"/>
                </a:solidFill>
                <a:latin typeface="Calibri" pitchFamily="34" charset="0"/>
                <a:ea typeface="Calibri" pitchFamily="34" charset="-122"/>
                <a:cs typeface="Calibri" pitchFamily="34" charset="-120"/>
              </a:rPr>
              <a:t>Kolam anaerobik lama (±1,1 ha) dibebaskan; kue lumpur ke kebun</a:t>
            </a:r>
            <a:endParaRPr lang="en-US" sz="750" dirty="0"/>
          </a:p>
        </p:txBody>
      </p:sp>
      <p:sp>
        <p:nvSpPr>
          <p:cNvPr id="37" name="teks-36"/>
          <p:cNvSpPr txBox="1"/>
          <p:nvPr/>
        </p:nvSpPr>
        <p:spPr>
          <a:xfrm>
            <a:off x="5074920" y="6473952"/>
            <a:ext cx="3063240" cy="274320"/>
          </a:xfrm>
          <a:prstGeom prst="rect">
            <a:avLst/>
          </a:prstGeom>
          <a:noFill/>
          <a:ln/>
        </p:spPr>
        <p:txBody>
          <a:bodyPr wrap="square" lIns="0" tIns="0" rIns="0" bIns="0" rtlCol="0" anchor="t"/>
          <a:lstStyle/>
          <a:p>
            <a:pPr indent="0" marL="0">
              <a:buNone/>
            </a:pPr>
            <a:r>
              <a:rPr lang="en-US" sz="630" dirty="0">
                <a:solidFill>
                  <a:srgbClr val="587888"/>
                </a:solidFill>
                <a:latin typeface="Calibri" pitchFamily="34" charset="0"/>
                <a:ea typeface="Calibri" pitchFamily="34" charset="-122"/>
                <a:cs typeface="Calibri" pitchFamily="34" charset="-120"/>
              </a:rPr>
              <a:t>Model 3D (CadQuery, three.js) dibangun dari neraca proses dan model lokasi tim. Modul acuan 45 t TBS/jam; konfigurasi komersial 60 t TBS/jam menambah satu modul identik.</a:t>
            </a:r>
            <a:endParaRPr lang="en-US" sz="63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nomor-37"/>
          <p:cNvSpPr txBox="1"/>
          <p:nvPr/>
        </p:nvSpPr>
        <p:spPr>
          <a:xfrm>
            <a:off x="365760" y="246888"/>
            <a:ext cx="384048" cy="384048"/>
          </a:xfrm>
          <a:prstGeom prst="rect">
            <a:avLst/>
          </a:prstGeom>
          <a:solidFill>
            <a:srgbClr val="0C2464"/>
          </a:solid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02</a:t>
            </a:r>
            <a:endParaRPr lang="en-US" sz="1300" dirty="0"/>
          </a:p>
        </p:txBody>
      </p:sp>
      <p:sp>
        <p:nvSpPr>
          <p:cNvPr id="3" name="kicker-38"/>
          <p:cNvSpPr txBox="1"/>
          <p:nvPr/>
        </p:nvSpPr>
        <p:spPr>
          <a:xfrm>
            <a:off x="841248" y="228600"/>
            <a:ext cx="8686800" cy="182880"/>
          </a:xfrm>
          <a:prstGeom prst="rect">
            <a:avLst/>
          </a:prstGeom>
          <a:noFill/>
          <a:ln/>
        </p:spPr>
        <p:txBody>
          <a:bodyPr wrap="square" lIns="0" tIns="0" rIns="0" bIns="0" rtlCol="0" anchor="ctr"/>
          <a:lstStyle/>
          <a:p>
            <a:pPr indent="0" marL="0">
              <a:buNone/>
            </a:pPr>
            <a:r>
              <a:rPr lang="en-US" sz="850" b="1" dirty="0">
                <a:solidFill>
                  <a:srgbClr val="3E8E41"/>
                </a:solidFill>
                <a:latin typeface="Arial" pitchFamily="34" charset="0"/>
                <a:ea typeface="Arial" pitchFamily="34" charset="-122"/>
                <a:cs typeface="Arial" pitchFamily="34" charset="-120"/>
              </a:rPr>
              <a:t>LATAR BELAKANG DAN MASALAH</a:t>
            </a:r>
            <a:endParaRPr lang="en-US" sz="850" dirty="0"/>
          </a:p>
        </p:txBody>
      </p:sp>
      <p:sp>
        <p:nvSpPr>
          <p:cNvPr id="4" name="Text 0"/>
          <p:cNvSpPr/>
          <p:nvPr>
            <p:ph idx="100" type="title" hasCustomPrompt="1"/>
          </p:nvPr>
        </p:nvSpPr>
        <p:spPr>
          <a:xfrm>
            <a:off x="841248" y="411480"/>
            <a:ext cx="10972800" cy="566928"/>
          </a:xfrm>
          <a:prstGeom prst="rect">
            <a:avLst/>
          </a:prstGeom>
          <a:noFill/>
          <a:ln/>
        </p:spPr>
        <p:txBody>
          <a:bodyPr wrap="square" lIns="0" tIns="0" rIns="0" bIns="0" rtlCol="0" anchor="t"/>
          <a:lstStyle/>
          <a:p>
            <a:pPr algn="l" indent="0" marL="0">
              <a:buNone/>
            </a:pPr>
            <a:r>
              <a:rPr lang="en-US" sz="1600" b="1" dirty="0">
                <a:solidFill>
                  <a:srgbClr val="0C2464"/>
                </a:solidFill>
                <a:latin typeface="Arial" pitchFamily="34" charset="0"/>
                <a:ea typeface="Arial" pitchFamily="34" charset="-122"/>
                <a:cs typeface="Arial" pitchFamily="34" charset="-120"/>
              </a:rPr>
              <a:t>Masalah: ±1.150 PKS melepas metana POME karena modal dan risiko kinerja, bukan karena teknologinya belum ada; layanan BOO modular menjadi alternatif terpilih dari tujuh opsi</a:t>
            </a:r>
            <a:endParaRPr lang="en-US" sz="1600" dirty="0"/>
          </a:p>
        </p:txBody>
      </p:sp>
      <p:sp>
        <p:nvSpPr>
          <p:cNvPr id="5" name="teks-39"/>
          <p:cNvSpPr txBox="1"/>
          <p:nvPr/>
        </p:nvSpPr>
        <p:spPr>
          <a:xfrm>
            <a:off x="365760" y="1078992"/>
            <a:ext cx="30175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SCQA: dari situasi ke jawaban</a:t>
            </a:r>
            <a:endParaRPr lang="en-US" sz="850" dirty="0"/>
          </a:p>
        </p:txBody>
      </p:sp>
      <p:sp>
        <p:nvSpPr>
          <p:cNvPr id="6" name="garis-40"/>
          <p:cNvSpPr/>
          <p:nvPr/>
        </p:nvSpPr>
        <p:spPr>
          <a:xfrm>
            <a:off x="365760" y="1271016"/>
            <a:ext cx="3017520" cy="0"/>
          </a:xfrm>
          <a:prstGeom prst="line">
            <a:avLst/>
          </a:prstGeom>
          <a:noFill/>
          <a:ln w="15875">
            <a:solidFill>
              <a:srgbClr val="64BC54"/>
            </a:solidFill>
            <a:prstDash val="solid"/>
          </a:ln>
        </p:spPr>
      </p:sp>
      <p:sp>
        <p:nvSpPr>
          <p:cNvPr id="7" name="kotak-41"/>
          <p:cNvSpPr txBox="1"/>
          <p:nvPr/>
        </p:nvSpPr>
        <p:spPr>
          <a:xfrm>
            <a:off x="365760" y="1325880"/>
            <a:ext cx="201168" cy="347472"/>
          </a:xfrm>
          <a:prstGeom prst="roundRect">
            <a:avLst>
              <a:gd name="adj" fmla="val 18182"/>
            </a:avLst>
          </a:prstGeom>
          <a:solidFill>
            <a:srgbClr val="0C2464"/>
          </a:solidFill>
          <a:ln>
            <a:solidFill>
              <a:srgbClr val="0C2464"/>
            </a:solid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S</a:t>
            </a:r>
            <a:endParaRPr lang="en-US" sz="900" dirty="0"/>
          </a:p>
        </p:txBody>
      </p:sp>
      <p:sp>
        <p:nvSpPr>
          <p:cNvPr id="8" name="teks-42"/>
          <p:cNvSpPr txBox="1"/>
          <p:nvPr/>
        </p:nvSpPr>
        <p:spPr>
          <a:xfrm>
            <a:off x="612648" y="1316736"/>
            <a:ext cx="2770632" cy="384048"/>
          </a:xfrm>
          <a:prstGeom prst="rect">
            <a:avLst/>
          </a:prstGeom>
          <a:noFill/>
          <a:ln/>
        </p:spPr>
        <p:txBody>
          <a:bodyPr wrap="square" lIns="0" tIns="0" rIns="0" bIns="0" rtlCol="0" anchor="t"/>
          <a:lstStyle/>
          <a:p>
            <a:pPr indent="0" marL="0">
              <a:buNone/>
            </a:pPr>
            <a:r>
              <a:rPr lang="en-US" sz="730" b="1" dirty="0">
                <a:solidFill>
                  <a:srgbClr val="0C2464"/>
                </a:solidFill>
                <a:latin typeface="Calibri" pitchFamily="34" charset="0"/>
                <a:ea typeface="Calibri" pitchFamily="34" charset="-122"/>
                <a:cs typeface="Calibri" pitchFamily="34" charset="-120"/>
              </a:rPr>
              <a:t>Situasi: </a:t>
            </a:r>
            <a:pPr indent="0" marL="0">
              <a:buNone/>
            </a:pPr>
            <a:r>
              <a:rPr lang="en-US" sz="730" dirty="0">
                <a:solidFill>
                  <a:srgbClr val="14213D"/>
                </a:solidFill>
                <a:latin typeface="Calibri" pitchFamily="34" charset="0"/>
                <a:ea typeface="Calibri" pitchFamily="34" charset="-122"/>
                <a:cs typeface="Calibri" pitchFamily="34" charset="-120"/>
              </a:rPr>
              <a:t>±1.300 PKS menghasilkan ±150 juta m³ POME per tahun; hanya ±11% PKS yang menangkap metana (Malaysia ±38%).</a:t>
            </a:r>
            <a:endParaRPr lang="en-US" sz="730" dirty="0"/>
          </a:p>
        </p:txBody>
      </p:sp>
      <p:sp>
        <p:nvSpPr>
          <p:cNvPr id="9" name="kotak-43"/>
          <p:cNvSpPr txBox="1"/>
          <p:nvPr/>
        </p:nvSpPr>
        <p:spPr>
          <a:xfrm>
            <a:off x="365760" y="1719072"/>
            <a:ext cx="201168" cy="347472"/>
          </a:xfrm>
          <a:prstGeom prst="roundRect">
            <a:avLst>
              <a:gd name="adj" fmla="val 18182"/>
            </a:avLst>
          </a:prstGeom>
          <a:solidFill>
            <a:srgbClr val="0C2464"/>
          </a:solidFill>
          <a:ln>
            <a:solidFill>
              <a:srgbClr val="0C2464"/>
            </a:solid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K</a:t>
            </a:r>
            <a:endParaRPr lang="en-US" sz="900" dirty="0"/>
          </a:p>
        </p:txBody>
      </p:sp>
      <p:sp>
        <p:nvSpPr>
          <p:cNvPr id="10" name="teks-44"/>
          <p:cNvSpPr txBox="1"/>
          <p:nvPr/>
        </p:nvSpPr>
        <p:spPr>
          <a:xfrm>
            <a:off x="612648" y="1709928"/>
            <a:ext cx="2770632" cy="384048"/>
          </a:xfrm>
          <a:prstGeom prst="rect">
            <a:avLst/>
          </a:prstGeom>
          <a:noFill/>
          <a:ln/>
        </p:spPr>
        <p:txBody>
          <a:bodyPr wrap="square" lIns="0" tIns="0" rIns="0" bIns="0" rtlCol="0" anchor="t"/>
          <a:lstStyle/>
          <a:p>
            <a:pPr indent="0" marL="0">
              <a:buNone/>
            </a:pPr>
            <a:r>
              <a:rPr lang="en-US" sz="730" b="1" dirty="0">
                <a:solidFill>
                  <a:srgbClr val="0C2464"/>
                </a:solidFill>
                <a:latin typeface="Calibri" pitchFamily="34" charset="0"/>
                <a:ea typeface="Calibri" pitchFamily="34" charset="-122"/>
                <a:cs typeface="Calibri" pitchFamily="34" charset="-120"/>
              </a:rPr>
              <a:t>Komplikasi: </a:t>
            </a:r>
            <a:pPr indent="0" marL="0">
              <a:buNone/>
            </a:pPr>
            <a:r>
              <a:rPr lang="en-US" sz="730" dirty="0">
                <a:solidFill>
                  <a:srgbClr val="14213D"/>
                </a:solidFill>
                <a:latin typeface="Calibri" pitchFamily="34" charset="0"/>
                <a:ea typeface="Calibri" pitchFamily="34" charset="-122"/>
                <a:cs typeface="Calibri" pitchFamily="34" charset="-120"/>
              </a:rPr>
              <a:t>Kolam terbuka melepas ±26 juta tCO₂e/tahun. Biogas milik sendiri butuh USD 3,5–4,0 juta per set, berisiko, dan terkunci pada satu lokasi.</a:t>
            </a:r>
            <a:endParaRPr lang="en-US" sz="730" dirty="0"/>
          </a:p>
        </p:txBody>
      </p:sp>
      <p:sp>
        <p:nvSpPr>
          <p:cNvPr id="11" name="kotak-45"/>
          <p:cNvSpPr txBox="1"/>
          <p:nvPr/>
        </p:nvSpPr>
        <p:spPr>
          <a:xfrm>
            <a:off x="365760" y="2112264"/>
            <a:ext cx="201168" cy="347472"/>
          </a:xfrm>
          <a:prstGeom prst="roundRect">
            <a:avLst>
              <a:gd name="adj" fmla="val 18182"/>
            </a:avLst>
          </a:prstGeom>
          <a:solidFill>
            <a:srgbClr val="0C2464"/>
          </a:solidFill>
          <a:ln>
            <a:solidFill>
              <a:srgbClr val="0C2464"/>
            </a:solid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P</a:t>
            </a:r>
            <a:endParaRPr lang="en-US" sz="900" dirty="0"/>
          </a:p>
        </p:txBody>
      </p:sp>
      <p:sp>
        <p:nvSpPr>
          <p:cNvPr id="12" name="teks-46"/>
          <p:cNvSpPr txBox="1"/>
          <p:nvPr/>
        </p:nvSpPr>
        <p:spPr>
          <a:xfrm>
            <a:off x="612648" y="2103120"/>
            <a:ext cx="2770632" cy="384048"/>
          </a:xfrm>
          <a:prstGeom prst="rect">
            <a:avLst/>
          </a:prstGeom>
          <a:noFill/>
          <a:ln/>
        </p:spPr>
        <p:txBody>
          <a:bodyPr wrap="square" lIns="0" tIns="0" rIns="0" bIns="0" rtlCol="0" anchor="t"/>
          <a:lstStyle/>
          <a:p>
            <a:pPr indent="0" marL="0">
              <a:buNone/>
            </a:pPr>
            <a:r>
              <a:rPr lang="en-US" sz="730" b="1" dirty="0">
                <a:solidFill>
                  <a:srgbClr val="0C2464"/>
                </a:solidFill>
                <a:latin typeface="Calibri" pitchFamily="34" charset="0"/>
                <a:ea typeface="Calibri" pitchFamily="34" charset="-122"/>
                <a:cs typeface="Calibri" pitchFamily="34" charset="-120"/>
              </a:rPr>
              <a:t>Pertanyaan: </a:t>
            </a:r>
            <a:pPr indent="0" marL="0">
              <a:buNone/>
            </a:pPr>
            <a:r>
              <a:rPr lang="en-US" sz="730" dirty="0">
                <a:solidFill>
                  <a:srgbClr val="14213D"/>
                </a:solidFill>
                <a:latin typeface="Calibri" pitchFamily="34" charset="0"/>
                <a:ea typeface="Calibri" pitchFamily="34" charset="-122"/>
                <a:cs typeface="Calibri" pitchFamily="34" charset="-120"/>
              </a:rPr>
              <a:t>Bagaimana PKS menangkap metana tanpa modal dan tanpa menanggung risiko kinerja, dengan biaya tidak melebihi kolam?</a:t>
            </a:r>
            <a:endParaRPr lang="en-US" sz="730" dirty="0"/>
          </a:p>
        </p:txBody>
      </p:sp>
      <p:sp>
        <p:nvSpPr>
          <p:cNvPr id="13" name="kotak-47"/>
          <p:cNvSpPr txBox="1"/>
          <p:nvPr/>
        </p:nvSpPr>
        <p:spPr>
          <a:xfrm>
            <a:off x="365760" y="2505456"/>
            <a:ext cx="201168" cy="347472"/>
          </a:xfrm>
          <a:prstGeom prst="roundRect">
            <a:avLst>
              <a:gd name="adj" fmla="val 18182"/>
            </a:avLst>
          </a:prstGeom>
          <a:solidFill>
            <a:srgbClr val="3E8E41"/>
          </a:solidFill>
          <a:ln>
            <a:solidFill>
              <a:srgbClr val="3E8E41"/>
            </a:solid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J</a:t>
            </a:r>
            <a:endParaRPr lang="en-US" sz="900" dirty="0"/>
          </a:p>
        </p:txBody>
      </p:sp>
      <p:sp>
        <p:nvSpPr>
          <p:cNvPr id="14" name="teks-48"/>
          <p:cNvSpPr txBox="1"/>
          <p:nvPr/>
        </p:nvSpPr>
        <p:spPr>
          <a:xfrm>
            <a:off x="612648" y="2496312"/>
            <a:ext cx="2770632" cy="384048"/>
          </a:xfrm>
          <a:prstGeom prst="rect">
            <a:avLst/>
          </a:prstGeom>
          <a:noFill/>
          <a:ln/>
        </p:spPr>
        <p:txBody>
          <a:bodyPr wrap="square" lIns="0" tIns="0" rIns="0" bIns="0" rtlCol="0" anchor="t"/>
          <a:lstStyle/>
          <a:p>
            <a:pPr indent="0" marL="0">
              <a:buNone/>
            </a:pPr>
            <a:r>
              <a:rPr lang="en-US" sz="730" b="1" dirty="0">
                <a:solidFill>
                  <a:srgbClr val="0C2464"/>
                </a:solidFill>
                <a:latin typeface="Calibri" pitchFamily="34" charset="0"/>
                <a:ea typeface="Calibri" pitchFamily="34" charset="-122"/>
                <a:cs typeface="Calibri" pitchFamily="34" charset="-120"/>
              </a:rPr>
              <a:t>Jawaban: </a:t>
            </a:r>
            <a:pPr indent="0" marL="0">
              <a:buNone/>
            </a:pPr>
            <a:r>
              <a:rPr lang="en-US" sz="730" dirty="0">
                <a:solidFill>
                  <a:srgbClr val="14213D"/>
                </a:solidFill>
                <a:latin typeface="Calibri" pitchFamily="34" charset="0"/>
                <a:ea typeface="Calibri" pitchFamily="34" charset="-122"/>
                <a:cs typeface="Calibri" pitchFamily="34" charset="-120"/>
              </a:rPr>
              <a:t>Layanan BOO: set biogas termofilik modular, dipasang dengan baut, dapat dipindah, dibayar per t TBS dan per kWh.</a:t>
            </a:r>
            <a:endParaRPr lang="en-US" sz="730" dirty="0"/>
          </a:p>
        </p:txBody>
      </p:sp>
      <p:sp>
        <p:nvSpPr>
          <p:cNvPr id="15" name="teks-49"/>
          <p:cNvSpPr txBox="1"/>
          <p:nvPr/>
        </p:nvSpPr>
        <p:spPr>
          <a:xfrm>
            <a:off x="365760" y="2926080"/>
            <a:ext cx="30175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Besaran masalah</a:t>
            </a:r>
            <a:endParaRPr lang="en-US" sz="850" dirty="0"/>
          </a:p>
        </p:txBody>
      </p:sp>
      <p:sp>
        <p:nvSpPr>
          <p:cNvPr id="16" name="garis-50"/>
          <p:cNvSpPr/>
          <p:nvPr/>
        </p:nvSpPr>
        <p:spPr>
          <a:xfrm>
            <a:off x="365760" y="3118104"/>
            <a:ext cx="3017520" cy="0"/>
          </a:xfrm>
          <a:prstGeom prst="line">
            <a:avLst/>
          </a:prstGeom>
          <a:noFill/>
          <a:ln w="15875">
            <a:solidFill>
              <a:srgbClr val="64BC54"/>
            </a:solidFill>
            <a:prstDash val="solid"/>
          </a:ln>
        </p:spPr>
      </p:sp>
      <p:sp>
        <p:nvSpPr>
          <p:cNvPr id="17" name="kotak-51"/>
          <p:cNvSpPr/>
          <p:nvPr/>
        </p:nvSpPr>
        <p:spPr>
          <a:xfrm>
            <a:off x="365760" y="3154680"/>
            <a:ext cx="1490472" cy="484632"/>
          </a:xfrm>
          <a:prstGeom prst="roundRect">
            <a:avLst>
              <a:gd name="adj" fmla="val 7547"/>
            </a:avLst>
          </a:prstGeom>
          <a:solidFill>
            <a:srgbClr val="FFFFFF"/>
          </a:solidFill>
          <a:ln w="9525">
            <a:solidFill>
              <a:srgbClr val="C3D3E8"/>
            </a:solidFill>
            <a:prstDash val="solid"/>
          </a:ln>
        </p:spPr>
      </p:sp>
      <p:sp>
        <p:nvSpPr>
          <p:cNvPr id="18" name="teks-52"/>
          <p:cNvSpPr txBox="1"/>
          <p:nvPr/>
        </p:nvSpPr>
        <p:spPr>
          <a:xfrm>
            <a:off x="420624" y="3172968"/>
            <a:ext cx="1389888" cy="182880"/>
          </a:xfrm>
          <a:prstGeom prst="rect">
            <a:avLst/>
          </a:prstGeom>
          <a:noFill/>
          <a:ln/>
        </p:spPr>
        <p:txBody>
          <a:bodyPr wrap="square" lIns="0" tIns="0" rIns="0" bIns="0" rtlCol="0" anchor="ctr"/>
          <a:lstStyle/>
          <a:p>
            <a:pPr indent="0" marL="0">
              <a:buNone/>
            </a:pPr>
            <a:r>
              <a:rPr lang="en-US" sz="1050" b="1" dirty="0">
                <a:solidFill>
                  <a:srgbClr val="244C9C"/>
                </a:solidFill>
                <a:latin typeface="Arial" pitchFamily="34" charset="0"/>
                <a:ea typeface="Arial" pitchFamily="34" charset="-122"/>
                <a:cs typeface="Arial" pitchFamily="34" charset="-120"/>
              </a:rPr>
              <a:t>±1.150</a:t>
            </a:r>
            <a:endParaRPr lang="en-US" sz="1050" dirty="0"/>
          </a:p>
        </p:txBody>
      </p:sp>
      <p:sp>
        <p:nvSpPr>
          <p:cNvPr id="19" name="teks-53"/>
          <p:cNvSpPr txBox="1"/>
          <p:nvPr/>
        </p:nvSpPr>
        <p:spPr>
          <a:xfrm>
            <a:off x="420624" y="3355848"/>
            <a:ext cx="1389888" cy="27432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PKS tanpa penangkapan metana (±88,5% dari ±1.300)</a:t>
            </a:r>
            <a:endParaRPr lang="en-US" sz="630" dirty="0"/>
          </a:p>
        </p:txBody>
      </p:sp>
      <p:sp>
        <p:nvSpPr>
          <p:cNvPr id="20" name="kotak-54"/>
          <p:cNvSpPr/>
          <p:nvPr/>
        </p:nvSpPr>
        <p:spPr>
          <a:xfrm>
            <a:off x="1892808" y="3154680"/>
            <a:ext cx="1490472" cy="484632"/>
          </a:xfrm>
          <a:prstGeom prst="roundRect">
            <a:avLst>
              <a:gd name="adj" fmla="val 7547"/>
            </a:avLst>
          </a:prstGeom>
          <a:solidFill>
            <a:srgbClr val="FFFFFF"/>
          </a:solidFill>
          <a:ln w="9525">
            <a:solidFill>
              <a:srgbClr val="C3D3E8"/>
            </a:solidFill>
            <a:prstDash val="solid"/>
          </a:ln>
        </p:spPr>
      </p:sp>
      <p:sp>
        <p:nvSpPr>
          <p:cNvPr id="21" name="teks-55"/>
          <p:cNvSpPr txBox="1"/>
          <p:nvPr/>
        </p:nvSpPr>
        <p:spPr>
          <a:xfrm>
            <a:off x="1947672" y="3172968"/>
            <a:ext cx="1389888" cy="182880"/>
          </a:xfrm>
          <a:prstGeom prst="rect">
            <a:avLst/>
          </a:prstGeom>
          <a:noFill/>
          <a:ln/>
        </p:spPr>
        <p:txBody>
          <a:bodyPr wrap="square" lIns="0" tIns="0" rIns="0" bIns="0" rtlCol="0" anchor="ctr"/>
          <a:lstStyle/>
          <a:p>
            <a:pPr indent="0" marL="0">
              <a:buNone/>
            </a:pPr>
            <a:r>
              <a:rPr lang="en-US" sz="1050" b="1" dirty="0">
                <a:solidFill>
                  <a:srgbClr val="244C9C"/>
                </a:solidFill>
                <a:latin typeface="Arial" pitchFamily="34" charset="0"/>
                <a:ea typeface="Arial" pitchFamily="34" charset="-122"/>
                <a:cs typeface="Arial" pitchFamily="34" charset="-120"/>
              </a:rPr>
              <a:t>≈ 26 juta</a:t>
            </a:r>
            <a:endParaRPr lang="en-US" sz="1050" dirty="0"/>
          </a:p>
        </p:txBody>
      </p:sp>
      <p:sp>
        <p:nvSpPr>
          <p:cNvPr id="22" name="teks-56"/>
          <p:cNvSpPr txBox="1"/>
          <p:nvPr/>
        </p:nvSpPr>
        <p:spPr>
          <a:xfrm>
            <a:off x="1947672" y="3355848"/>
            <a:ext cx="1389888" cy="27432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tCO₂e/tahun metana kolam nasional (0,119 tCO₂e/t TBS × ±250 juta t TBS)</a:t>
            </a:r>
            <a:endParaRPr lang="en-US" sz="630" dirty="0"/>
          </a:p>
        </p:txBody>
      </p:sp>
      <p:sp>
        <p:nvSpPr>
          <p:cNvPr id="23" name="kotak-57"/>
          <p:cNvSpPr/>
          <p:nvPr/>
        </p:nvSpPr>
        <p:spPr>
          <a:xfrm>
            <a:off x="365760" y="3675888"/>
            <a:ext cx="1490472" cy="484632"/>
          </a:xfrm>
          <a:prstGeom prst="roundRect">
            <a:avLst>
              <a:gd name="adj" fmla="val 7547"/>
            </a:avLst>
          </a:prstGeom>
          <a:solidFill>
            <a:srgbClr val="FFFFFF"/>
          </a:solidFill>
          <a:ln w="9525">
            <a:solidFill>
              <a:srgbClr val="C3D3E8"/>
            </a:solidFill>
            <a:prstDash val="solid"/>
          </a:ln>
        </p:spPr>
      </p:sp>
      <p:sp>
        <p:nvSpPr>
          <p:cNvPr id="24" name="teks-58"/>
          <p:cNvSpPr txBox="1"/>
          <p:nvPr/>
        </p:nvSpPr>
        <p:spPr>
          <a:xfrm>
            <a:off x="420624" y="3694176"/>
            <a:ext cx="1389888" cy="182880"/>
          </a:xfrm>
          <a:prstGeom prst="rect">
            <a:avLst/>
          </a:prstGeom>
          <a:noFill/>
          <a:ln/>
        </p:spPr>
        <p:txBody>
          <a:bodyPr wrap="square" lIns="0" tIns="0" rIns="0" bIns="0" rtlCol="0" anchor="ctr"/>
          <a:lstStyle/>
          <a:p>
            <a:pPr indent="0" marL="0">
              <a:buNone/>
            </a:pPr>
            <a:r>
              <a:rPr lang="en-US" sz="1050" b="1" dirty="0">
                <a:solidFill>
                  <a:srgbClr val="244C9C"/>
                </a:solidFill>
                <a:latin typeface="Arial" pitchFamily="34" charset="0"/>
                <a:ea typeface="Arial" pitchFamily="34" charset="-122"/>
                <a:cs typeface="Arial" pitchFamily="34" charset="-120"/>
              </a:rPr>
              <a:t>33.457</a:t>
            </a:r>
            <a:endParaRPr lang="en-US" sz="1050" dirty="0"/>
          </a:p>
        </p:txBody>
      </p:sp>
      <p:sp>
        <p:nvSpPr>
          <p:cNvPr id="25" name="teks-59"/>
          <p:cNvSpPr txBox="1"/>
          <p:nvPr/>
        </p:nvSpPr>
        <p:spPr>
          <a:xfrm>
            <a:off x="420624" y="3877056"/>
            <a:ext cx="1389888" cy="27432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tCO₂e/tahun per PKS 60 t TBS/jam (AMS-III.H, UF 0,89)</a:t>
            </a:r>
            <a:endParaRPr lang="en-US" sz="630" dirty="0"/>
          </a:p>
        </p:txBody>
      </p:sp>
      <p:sp>
        <p:nvSpPr>
          <p:cNvPr id="26" name="kotak-60"/>
          <p:cNvSpPr/>
          <p:nvPr/>
        </p:nvSpPr>
        <p:spPr>
          <a:xfrm>
            <a:off x="1892808" y="3675888"/>
            <a:ext cx="1490472" cy="484632"/>
          </a:xfrm>
          <a:prstGeom prst="roundRect">
            <a:avLst>
              <a:gd name="adj" fmla="val 7547"/>
            </a:avLst>
          </a:prstGeom>
          <a:solidFill>
            <a:srgbClr val="FFFFFF"/>
          </a:solidFill>
          <a:ln w="9525">
            <a:solidFill>
              <a:srgbClr val="C3D3E8"/>
            </a:solidFill>
            <a:prstDash val="solid"/>
          </a:ln>
        </p:spPr>
      </p:sp>
      <p:sp>
        <p:nvSpPr>
          <p:cNvPr id="27" name="teks-61"/>
          <p:cNvSpPr txBox="1"/>
          <p:nvPr/>
        </p:nvSpPr>
        <p:spPr>
          <a:xfrm>
            <a:off x="1947672" y="3694176"/>
            <a:ext cx="1389888" cy="182880"/>
          </a:xfrm>
          <a:prstGeom prst="rect">
            <a:avLst/>
          </a:prstGeom>
          <a:noFill/>
          <a:ln/>
        </p:spPr>
        <p:txBody>
          <a:bodyPr wrap="square" lIns="0" tIns="0" rIns="0" bIns="0" rtlCol="0" anchor="ctr"/>
          <a:lstStyle/>
          <a:p>
            <a:pPr indent="0" marL="0">
              <a:buNone/>
            </a:pPr>
            <a:r>
              <a:rPr lang="en-US" sz="1050" b="1" dirty="0">
                <a:solidFill>
                  <a:srgbClr val="244C9C"/>
                </a:solidFill>
                <a:latin typeface="Arial" pitchFamily="34" charset="0"/>
                <a:ea typeface="Arial" pitchFamily="34" charset="-122"/>
                <a:cs typeface="Arial" pitchFamily="34" charset="-120"/>
              </a:rPr>
              <a:t>USD 0,67 juta</a:t>
            </a:r>
            <a:endParaRPr lang="en-US" sz="1050" dirty="0"/>
          </a:p>
        </p:txBody>
      </p:sp>
      <p:sp>
        <p:nvSpPr>
          <p:cNvPr id="28" name="teks-62"/>
          <p:cNvSpPr txBox="1"/>
          <p:nvPr/>
        </p:nvSpPr>
        <p:spPr>
          <a:xfrm>
            <a:off x="1947672" y="3877056"/>
            <a:ext cx="1389888" cy="27432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per tahun untuk listrik solar yang dapat digantikan (2,0 L/t TBS)</a:t>
            </a:r>
            <a:endParaRPr lang="en-US" sz="630" dirty="0"/>
          </a:p>
        </p:txBody>
      </p:sp>
      <p:sp>
        <p:nvSpPr>
          <p:cNvPr id="29" name="teks-63"/>
          <p:cNvSpPr txBox="1"/>
          <p:nvPr/>
        </p:nvSpPr>
        <p:spPr>
          <a:xfrm>
            <a:off x="365760" y="4224528"/>
            <a:ext cx="30175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Pemangku kepentingan dan insentif</a:t>
            </a:r>
            <a:endParaRPr lang="en-US" sz="850" dirty="0"/>
          </a:p>
        </p:txBody>
      </p:sp>
      <p:sp>
        <p:nvSpPr>
          <p:cNvPr id="30" name="garis-64"/>
          <p:cNvSpPr/>
          <p:nvPr/>
        </p:nvSpPr>
        <p:spPr>
          <a:xfrm>
            <a:off x="365760" y="4416552"/>
            <a:ext cx="3017520" cy="0"/>
          </a:xfrm>
          <a:prstGeom prst="line">
            <a:avLst/>
          </a:prstGeom>
          <a:noFill/>
          <a:ln w="15875">
            <a:solidFill>
              <a:srgbClr val="64BC54"/>
            </a:solidFill>
            <a:prstDash val="solid"/>
          </a:ln>
        </p:spPr>
      </p:sp>
      <p:graphicFrame>
        <p:nvGraphicFramePr>
          <p:cNvPr id="3" name="tabel-65"/>
          <p:cNvGraphicFramePr>
            <a:graphicFrameLocks noGrp="1"/>
          </p:cNvGraphicFramePr>
          <p:nvPr>
            <p:extLst>
              <p:ext uri="{D42A27DB-BD31-4B8C-83A1-F6EECF244321}">
                <p14:modId xmlns:p14="http://schemas.microsoft.com/office/powerpoint/2010/main" val="1579011935"/>
              </p:ext>
            </p:extLst>
          </p:nvPr>
        </p:nvGraphicFramePr>
        <p:xfrm>
          <a:off x="365760" y="4453128"/>
          <a:ext cx="3017520" cy="914400"/>
        </p:xfrm>
        <a:graphic>
          <a:graphicData uri="http://schemas.openxmlformats.org/drawingml/2006/table">
            <a:tbl>
              <a:tblPr/>
              <a:tblGrid>
                <a:gridCol w="822960"/>
                <a:gridCol w="1143000"/>
                <a:gridCol w="1051560"/>
              </a:tblGrid>
              <a:tr h="182880">
                <a:tc>
                  <a:txBody>
                    <a:bodyPr/>
                    <a:lstStyle/>
                    <a:p>
                      <a:pPr algn="ctr" indent="0" marL="0">
                        <a:buNone/>
                      </a:pPr>
                      <a:r>
                        <a:rPr lang="en-US" sz="650" b="1" dirty="0">
                          <a:solidFill>
                            <a:srgbClr val="FFFFFF"/>
                          </a:solidFill>
                          <a:latin typeface="Calibri" pitchFamily="34" charset="0"/>
                          <a:ea typeface="Calibri" pitchFamily="34" charset="-122"/>
                          <a:cs typeface="Calibri" pitchFamily="34" charset="-120"/>
                        </a:rPr>
                        <a:t>Pihak</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50" b="1" dirty="0">
                          <a:solidFill>
                            <a:srgbClr val="FFFFFF"/>
                          </a:solidFill>
                          <a:latin typeface="Calibri" pitchFamily="34" charset="0"/>
                          <a:ea typeface="Calibri" pitchFamily="34" charset="-122"/>
                          <a:cs typeface="Calibri" pitchFamily="34" charset="-120"/>
                        </a:rPr>
                        <a:t>Insentif</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50" b="1" dirty="0">
                          <a:solidFill>
                            <a:srgbClr val="FFFFFF"/>
                          </a:solidFill>
                          <a:latin typeface="Calibri" pitchFamily="34" charset="0"/>
                          <a:ea typeface="Calibri" pitchFamily="34" charset="-122"/>
                          <a:cs typeface="Calibri" pitchFamily="34" charset="-120"/>
                        </a:rPr>
                        <a:t>Kekhawatiran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Operator PKS</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biaya ≤ kolam, izin aman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kinerja, kontrak 20 tahun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Pemodal dan bank</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DSCR ≥ 1,30, agunan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teknologi baru, nilai sisa</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PLN (pembeli)</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listrik EBT ≤ 3 MW</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plafon harga, PJBL</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Regulator</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emisi NDC, efluen patuh</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izin, pemantauan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Pemasok teknologi</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volume proyek, referensi</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garansi kinerja</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Masyarakat sekitar</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bau, air, kerja lokal</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gas, kebocoran efluen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32" name="teks-66"/>
          <p:cNvSpPr txBox="1"/>
          <p:nvPr/>
        </p:nvSpPr>
        <p:spPr>
          <a:xfrm>
            <a:off x="3520440" y="1078992"/>
            <a:ext cx="48006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Pohon isu (MECE): mengapa metana tidak ditangkap?</a:t>
            </a:r>
            <a:endParaRPr lang="en-US" sz="850" dirty="0"/>
          </a:p>
        </p:txBody>
      </p:sp>
      <p:sp>
        <p:nvSpPr>
          <p:cNvPr id="33" name="garis-67"/>
          <p:cNvSpPr/>
          <p:nvPr/>
        </p:nvSpPr>
        <p:spPr>
          <a:xfrm>
            <a:off x="3520440" y="1271016"/>
            <a:ext cx="4800600" cy="0"/>
          </a:xfrm>
          <a:prstGeom prst="line">
            <a:avLst/>
          </a:prstGeom>
          <a:noFill/>
          <a:ln w="15875">
            <a:solidFill>
              <a:srgbClr val="64BC54"/>
            </a:solidFill>
            <a:prstDash val="solid"/>
          </a:ln>
        </p:spPr>
      </p:sp>
      <p:sp>
        <p:nvSpPr>
          <p:cNvPr id="34" name="kotak-68"/>
          <p:cNvSpPr txBox="1"/>
          <p:nvPr/>
        </p:nvSpPr>
        <p:spPr>
          <a:xfrm>
            <a:off x="3520440" y="1874520"/>
            <a:ext cx="960120" cy="1005840"/>
          </a:xfrm>
          <a:prstGeom prst="roundRect">
            <a:avLst>
              <a:gd name="adj" fmla="val 4762"/>
            </a:avLst>
          </a:prstGeom>
          <a:solidFill>
            <a:srgbClr val="0C2464"/>
          </a:solidFill>
          <a:ln>
            <a:solidFill>
              <a:srgbClr val="0C2464"/>
            </a:solidFill>
          </a:ln>
        </p:spPr>
        <p:txBody>
          <a:bodyPr wrap="square" lIns="12700" tIns="38100" rIns="38100" bIns="1270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Metana POME terlepas dan solar tetap dibakar di ±1.150 PKS</a:t>
            </a:r>
            <a:endParaRPr lang="en-US" sz="750" dirty="0"/>
          </a:p>
        </p:txBody>
      </p:sp>
      <p:sp>
        <p:nvSpPr>
          <p:cNvPr id="35" name="kotak-69"/>
          <p:cNvSpPr txBox="1"/>
          <p:nvPr/>
        </p:nvSpPr>
        <p:spPr>
          <a:xfrm>
            <a:off x="4663440" y="1467612"/>
            <a:ext cx="960120" cy="310896"/>
          </a:xfrm>
          <a:prstGeom prst="roundRect">
            <a:avLst>
              <a:gd name="adj" fmla="val 14706"/>
            </a:avLst>
          </a:prstGeom>
          <a:solidFill>
            <a:srgbClr val="D8E8F8"/>
          </a:solidFill>
          <a:ln w="9525">
            <a:solidFill>
              <a:srgbClr val="6898C8"/>
            </a:solidFill>
          </a:ln>
        </p:spPr>
        <p:txBody>
          <a:bodyPr wrap="square" lIns="12700" tIns="38100" rIns="38100" bIns="12700" rtlCol="0" anchor="ctr"/>
          <a:lstStyle/>
          <a:p>
            <a:pPr algn="ctr" indent="0" marL="0">
              <a:buNone/>
            </a:pPr>
            <a:r>
              <a:rPr lang="en-US" sz="750" b="1" dirty="0">
                <a:solidFill>
                  <a:srgbClr val="0C2464"/>
                </a:solidFill>
                <a:latin typeface="Calibri" pitchFamily="34" charset="0"/>
                <a:ea typeface="Calibri" pitchFamily="34" charset="-122"/>
                <a:cs typeface="Calibri" pitchFamily="34" charset="-120"/>
              </a:rPr>
              <a:t>Teknologi</a:t>
            </a:r>
            <a:endParaRPr lang="en-US" sz="750" dirty="0"/>
          </a:p>
        </p:txBody>
      </p:sp>
      <p:sp>
        <p:nvSpPr>
          <p:cNvPr id="36" name="garis-70"/>
          <p:cNvSpPr/>
          <p:nvPr/>
        </p:nvSpPr>
        <p:spPr>
          <a:xfrm>
            <a:off x="4480560" y="2377440"/>
            <a:ext cx="91440" cy="0"/>
          </a:xfrm>
          <a:prstGeom prst="line">
            <a:avLst/>
          </a:prstGeom>
          <a:noFill/>
          <a:ln w="12700">
            <a:solidFill>
              <a:srgbClr val="587888"/>
            </a:solidFill>
            <a:prstDash val="solid"/>
          </a:ln>
        </p:spPr>
      </p:sp>
      <p:sp>
        <p:nvSpPr>
          <p:cNvPr id="37" name="garis-71"/>
          <p:cNvSpPr/>
          <p:nvPr/>
        </p:nvSpPr>
        <p:spPr>
          <a:xfrm>
            <a:off x="4572000" y="1623060"/>
            <a:ext cx="0" cy="754380"/>
          </a:xfrm>
          <a:prstGeom prst="line">
            <a:avLst/>
          </a:prstGeom>
          <a:noFill/>
          <a:ln w="12700">
            <a:solidFill>
              <a:srgbClr val="587888"/>
            </a:solidFill>
            <a:prstDash val="solid"/>
          </a:ln>
        </p:spPr>
      </p:sp>
      <p:sp>
        <p:nvSpPr>
          <p:cNvPr id="38" name="garis-72"/>
          <p:cNvSpPr/>
          <p:nvPr/>
        </p:nvSpPr>
        <p:spPr>
          <a:xfrm>
            <a:off x="4572000" y="1623060"/>
            <a:ext cx="91440" cy="0"/>
          </a:xfrm>
          <a:prstGeom prst="line">
            <a:avLst/>
          </a:prstGeom>
          <a:noFill/>
          <a:ln w="12700">
            <a:solidFill>
              <a:srgbClr val="587888"/>
            </a:solidFill>
            <a:prstDash val="solid"/>
          </a:ln>
        </p:spPr>
      </p:sp>
      <p:sp>
        <p:nvSpPr>
          <p:cNvPr id="39" name="kotak-73"/>
          <p:cNvSpPr txBox="1"/>
          <p:nvPr/>
        </p:nvSpPr>
        <p:spPr>
          <a:xfrm>
            <a:off x="5806440" y="1371600"/>
            <a:ext cx="2514600" cy="239573"/>
          </a:xfrm>
          <a:prstGeom prst="roundRect">
            <a:avLst>
              <a:gd name="adj" fmla="val 15267"/>
            </a:avLst>
          </a:prstGeom>
          <a:solidFill>
            <a:srgbClr val="FFFFFF"/>
          </a:solidFill>
          <a:ln w="9525">
            <a:solidFill>
              <a:srgbClr val="6898C8"/>
            </a:solidFill>
          </a:ln>
        </p:spPr>
        <p:txBody>
          <a:bodyPr wrap="square" lIns="0" tIns="50800" rIns="50800" bIns="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Kolam terbuka: 33.457 tCO₂e/tahun per PKS 60 t/jam lepas ke udara</a:t>
            </a:r>
            <a:endParaRPr lang="en-US" sz="660" dirty="0"/>
          </a:p>
        </p:txBody>
      </p:sp>
      <p:sp>
        <p:nvSpPr>
          <p:cNvPr id="40" name="garis-74"/>
          <p:cNvSpPr/>
          <p:nvPr/>
        </p:nvSpPr>
        <p:spPr>
          <a:xfrm>
            <a:off x="5623560" y="1623060"/>
            <a:ext cx="91440" cy="0"/>
          </a:xfrm>
          <a:prstGeom prst="line">
            <a:avLst/>
          </a:prstGeom>
          <a:noFill/>
          <a:ln w="12700">
            <a:solidFill>
              <a:srgbClr val="587888"/>
            </a:solidFill>
            <a:prstDash val="solid"/>
          </a:ln>
        </p:spPr>
      </p:sp>
      <p:sp>
        <p:nvSpPr>
          <p:cNvPr id="41" name="garis-75"/>
          <p:cNvSpPr/>
          <p:nvPr/>
        </p:nvSpPr>
        <p:spPr>
          <a:xfrm>
            <a:off x="5715000" y="1491386"/>
            <a:ext cx="0" cy="131674"/>
          </a:xfrm>
          <a:prstGeom prst="line">
            <a:avLst/>
          </a:prstGeom>
          <a:noFill/>
          <a:ln w="12700">
            <a:solidFill>
              <a:srgbClr val="587888"/>
            </a:solidFill>
            <a:prstDash val="solid"/>
          </a:ln>
        </p:spPr>
      </p:sp>
      <p:sp>
        <p:nvSpPr>
          <p:cNvPr id="42" name="garis-76"/>
          <p:cNvSpPr/>
          <p:nvPr/>
        </p:nvSpPr>
        <p:spPr>
          <a:xfrm>
            <a:off x="5715000" y="1491386"/>
            <a:ext cx="91440" cy="0"/>
          </a:xfrm>
          <a:prstGeom prst="line">
            <a:avLst/>
          </a:prstGeom>
          <a:noFill/>
          <a:ln w="12700">
            <a:solidFill>
              <a:srgbClr val="587888"/>
            </a:solidFill>
            <a:prstDash val="solid"/>
          </a:ln>
        </p:spPr>
      </p:sp>
      <p:sp>
        <p:nvSpPr>
          <p:cNvPr id="43" name="kotak-77"/>
          <p:cNvSpPr txBox="1"/>
          <p:nvPr/>
        </p:nvSpPr>
        <p:spPr>
          <a:xfrm>
            <a:off x="5806440" y="1623060"/>
            <a:ext cx="2514600" cy="239573"/>
          </a:xfrm>
          <a:prstGeom prst="roundRect">
            <a:avLst>
              <a:gd name="adj" fmla="val 15267"/>
            </a:avLst>
          </a:prstGeom>
          <a:solidFill>
            <a:srgbClr val="0C2464"/>
          </a:solidFill>
          <a:ln w="9525">
            <a:solidFill>
              <a:srgbClr val="0C2464"/>
            </a:solidFill>
          </a:ln>
        </p:spPr>
        <p:txBody>
          <a:bodyPr wrap="square" lIns="0" tIns="50800" rIns="50800" bIns="0" rtlCol="0" anchor="ctr"/>
          <a:lstStyle/>
          <a:p>
            <a:pPr algn="l" indent="0" marL="0">
              <a:buNone/>
            </a:pPr>
            <a:r>
              <a:rPr lang="en-US" sz="660" dirty="0">
                <a:solidFill>
                  <a:srgbClr val="FFFFFF"/>
                </a:solidFill>
                <a:latin typeface="Calibri" pitchFamily="34" charset="0"/>
                <a:ea typeface="Calibri" pitchFamily="34" charset="-122"/>
                <a:cs typeface="Calibri" pitchFamily="34" charset="-120"/>
              </a:rPr>
              <a:t>Reaktor konvensional: HRT 25–40 hari, lahan luas, H₂S 2.900 ppm</a:t>
            </a:r>
            <a:endParaRPr lang="en-US" sz="660" dirty="0"/>
          </a:p>
        </p:txBody>
      </p:sp>
      <p:sp>
        <p:nvSpPr>
          <p:cNvPr id="44" name="garis-78"/>
          <p:cNvSpPr/>
          <p:nvPr/>
        </p:nvSpPr>
        <p:spPr>
          <a:xfrm>
            <a:off x="5623560" y="1623060"/>
            <a:ext cx="91440" cy="0"/>
          </a:xfrm>
          <a:prstGeom prst="line">
            <a:avLst/>
          </a:prstGeom>
          <a:noFill/>
          <a:ln w="12700">
            <a:solidFill>
              <a:srgbClr val="587888"/>
            </a:solidFill>
            <a:prstDash val="solid"/>
          </a:ln>
        </p:spPr>
      </p:sp>
      <p:sp>
        <p:nvSpPr>
          <p:cNvPr id="45" name="garis-79"/>
          <p:cNvSpPr/>
          <p:nvPr/>
        </p:nvSpPr>
        <p:spPr>
          <a:xfrm>
            <a:off x="5715000" y="1623060"/>
            <a:ext cx="0" cy="119786"/>
          </a:xfrm>
          <a:prstGeom prst="line">
            <a:avLst/>
          </a:prstGeom>
          <a:noFill/>
          <a:ln w="12700">
            <a:solidFill>
              <a:srgbClr val="587888"/>
            </a:solidFill>
            <a:prstDash val="solid"/>
          </a:ln>
        </p:spPr>
      </p:sp>
      <p:sp>
        <p:nvSpPr>
          <p:cNvPr id="46" name="garis-80"/>
          <p:cNvSpPr/>
          <p:nvPr/>
        </p:nvSpPr>
        <p:spPr>
          <a:xfrm>
            <a:off x="5715000" y="1742846"/>
            <a:ext cx="91440" cy="0"/>
          </a:xfrm>
          <a:prstGeom prst="line">
            <a:avLst/>
          </a:prstGeom>
          <a:noFill/>
          <a:ln w="12700">
            <a:solidFill>
              <a:srgbClr val="587888"/>
            </a:solidFill>
            <a:prstDash val="solid"/>
          </a:ln>
        </p:spPr>
      </p:sp>
      <p:sp>
        <p:nvSpPr>
          <p:cNvPr id="47" name="kotak-81"/>
          <p:cNvSpPr txBox="1"/>
          <p:nvPr/>
        </p:nvSpPr>
        <p:spPr>
          <a:xfrm>
            <a:off x="4663440" y="1970532"/>
            <a:ext cx="960120" cy="310896"/>
          </a:xfrm>
          <a:prstGeom prst="roundRect">
            <a:avLst>
              <a:gd name="adj" fmla="val 14706"/>
            </a:avLst>
          </a:prstGeom>
          <a:solidFill>
            <a:srgbClr val="D8E8F8"/>
          </a:solidFill>
          <a:ln w="9525">
            <a:solidFill>
              <a:srgbClr val="6898C8"/>
            </a:solidFill>
          </a:ln>
        </p:spPr>
        <p:txBody>
          <a:bodyPr wrap="square" lIns="12700" tIns="38100" rIns="38100" bIns="12700" rtlCol="0" anchor="ctr"/>
          <a:lstStyle/>
          <a:p>
            <a:pPr algn="ctr" indent="0" marL="0">
              <a:buNone/>
            </a:pPr>
            <a:r>
              <a:rPr lang="en-US" sz="750" b="1" dirty="0">
                <a:solidFill>
                  <a:srgbClr val="0C2464"/>
                </a:solidFill>
                <a:latin typeface="Calibri" pitchFamily="34" charset="0"/>
                <a:ea typeface="Calibri" pitchFamily="34" charset="-122"/>
                <a:cs typeface="Calibri" pitchFamily="34" charset="-120"/>
              </a:rPr>
              <a:t>Ekonomi</a:t>
            </a:r>
            <a:endParaRPr lang="en-US" sz="750" dirty="0"/>
          </a:p>
        </p:txBody>
      </p:sp>
      <p:sp>
        <p:nvSpPr>
          <p:cNvPr id="48" name="garis-82"/>
          <p:cNvSpPr/>
          <p:nvPr/>
        </p:nvSpPr>
        <p:spPr>
          <a:xfrm>
            <a:off x="4480560" y="2377440"/>
            <a:ext cx="91440" cy="0"/>
          </a:xfrm>
          <a:prstGeom prst="line">
            <a:avLst/>
          </a:prstGeom>
          <a:noFill/>
          <a:ln w="12700">
            <a:solidFill>
              <a:srgbClr val="587888"/>
            </a:solidFill>
            <a:prstDash val="solid"/>
          </a:ln>
        </p:spPr>
      </p:sp>
      <p:sp>
        <p:nvSpPr>
          <p:cNvPr id="49" name="garis-83"/>
          <p:cNvSpPr/>
          <p:nvPr/>
        </p:nvSpPr>
        <p:spPr>
          <a:xfrm>
            <a:off x="4572000" y="2125980"/>
            <a:ext cx="0" cy="251460"/>
          </a:xfrm>
          <a:prstGeom prst="line">
            <a:avLst/>
          </a:prstGeom>
          <a:noFill/>
          <a:ln w="12700">
            <a:solidFill>
              <a:srgbClr val="587888"/>
            </a:solidFill>
            <a:prstDash val="solid"/>
          </a:ln>
        </p:spPr>
      </p:sp>
      <p:sp>
        <p:nvSpPr>
          <p:cNvPr id="50" name="garis-84"/>
          <p:cNvSpPr/>
          <p:nvPr/>
        </p:nvSpPr>
        <p:spPr>
          <a:xfrm>
            <a:off x="4572000" y="2125980"/>
            <a:ext cx="91440" cy="0"/>
          </a:xfrm>
          <a:prstGeom prst="line">
            <a:avLst/>
          </a:prstGeom>
          <a:noFill/>
          <a:ln w="12700">
            <a:solidFill>
              <a:srgbClr val="587888"/>
            </a:solidFill>
            <a:prstDash val="solid"/>
          </a:ln>
        </p:spPr>
      </p:sp>
      <p:sp>
        <p:nvSpPr>
          <p:cNvPr id="51" name="kotak-85"/>
          <p:cNvSpPr txBox="1"/>
          <p:nvPr/>
        </p:nvSpPr>
        <p:spPr>
          <a:xfrm>
            <a:off x="5806440" y="1874520"/>
            <a:ext cx="2514600" cy="239573"/>
          </a:xfrm>
          <a:prstGeom prst="roundRect">
            <a:avLst>
              <a:gd name="adj" fmla="val 15267"/>
            </a:avLst>
          </a:prstGeom>
          <a:solidFill>
            <a:srgbClr val="0C2464"/>
          </a:solidFill>
          <a:ln w="9525">
            <a:solidFill>
              <a:srgbClr val="0C2464"/>
            </a:solidFill>
          </a:ln>
        </p:spPr>
        <p:txBody>
          <a:bodyPr wrap="square" lIns="0" tIns="50800" rIns="50800" bIns="0" rtlCol="0" anchor="ctr"/>
          <a:lstStyle/>
          <a:p>
            <a:pPr algn="l" indent="0" marL="0">
              <a:buNone/>
            </a:pPr>
            <a:r>
              <a:rPr lang="en-US" sz="660" dirty="0">
                <a:solidFill>
                  <a:srgbClr val="FFFFFF"/>
                </a:solidFill>
                <a:latin typeface="Calibri" pitchFamily="34" charset="0"/>
                <a:ea typeface="Calibri" pitchFamily="34" charset="-122"/>
                <a:cs typeface="Calibri" pitchFamily="34" charset="-120"/>
              </a:rPr>
              <a:t>Modal USD 3,5–4,0 juta per set milik sendiri; kinerja tak dijamin</a:t>
            </a:r>
            <a:endParaRPr lang="en-US" sz="660" dirty="0"/>
          </a:p>
        </p:txBody>
      </p:sp>
      <p:sp>
        <p:nvSpPr>
          <p:cNvPr id="52" name="garis-86"/>
          <p:cNvSpPr/>
          <p:nvPr/>
        </p:nvSpPr>
        <p:spPr>
          <a:xfrm>
            <a:off x="5623560" y="2125980"/>
            <a:ext cx="91440" cy="0"/>
          </a:xfrm>
          <a:prstGeom prst="line">
            <a:avLst/>
          </a:prstGeom>
          <a:noFill/>
          <a:ln w="12700">
            <a:solidFill>
              <a:srgbClr val="587888"/>
            </a:solidFill>
            <a:prstDash val="solid"/>
          </a:ln>
        </p:spPr>
      </p:sp>
      <p:sp>
        <p:nvSpPr>
          <p:cNvPr id="53" name="garis-87"/>
          <p:cNvSpPr/>
          <p:nvPr/>
        </p:nvSpPr>
        <p:spPr>
          <a:xfrm>
            <a:off x="5715000" y="1994306"/>
            <a:ext cx="0" cy="131674"/>
          </a:xfrm>
          <a:prstGeom prst="line">
            <a:avLst/>
          </a:prstGeom>
          <a:noFill/>
          <a:ln w="12700">
            <a:solidFill>
              <a:srgbClr val="587888"/>
            </a:solidFill>
            <a:prstDash val="solid"/>
          </a:ln>
        </p:spPr>
      </p:sp>
      <p:sp>
        <p:nvSpPr>
          <p:cNvPr id="54" name="garis-88"/>
          <p:cNvSpPr/>
          <p:nvPr/>
        </p:nvSpPr>
        <p:spPr>
          <a:xfrm>
            <a:off x="5715000" y="1994306"/>
            <a:ext cx="91440" cy="0"/>
          </a:xfrm>
          <a:prstGeom prst="line">
            <a:avLst/>
          </a:prstGeom>
          <a:noFill/>
          <a:ln w="12700">
            <a:solidFill>
              <a:srgbClr val="587888"/>
            </a:solidFill>
            <a:prstDash val="solid"/>
          </a:ln>
        </p:spPr>
      </p:sp>
      <p:sp>
        <p:nvSpPr>
          <p:cNvPr id="55" name="kotak-89"/>
          <p:cNvSpPr txBox="1"/>
          <p:nvPr/>
        </p:nvSpPr>
        <p:spPr>
          <a:xfrm>
            <a:off x="5806440" y="2125980"/>
            <a:ext cx="2514600" cy="239573"/>
          </a:xfrm>
          <a:prstGeom prst="roundRect">
            <a:avLst>
              <a:gd name="adj" fmla="val 15267"/>
            </a:avLst>
          </a:prstGeom>
          <a:solidFill>
            <a:srgbClr val="0C2464"/>
          </a:solidFill>
          <a:ln w="9525">
            <a:solidFill>
              <a:srgbClr val="0C2464"/>
            </a:solidFill>
          </a:ln>
        </p:spPr>
        <p:txBody>
          <a:bodyPr wrap="square" lIns="0" tIns="50800" rIns="50800" bIns="0" rtlCol="0" anchor="ctr"/>
          <a:lstStyle/>
          <a:p>
            <a:pPr algn="l" indent="0" marL="0">
              <a:buNone/>
            </a:pPr>
            <a:r>
              <a:rPr lang="en-US" sz="660" dirty="0">
                <a:solidFill>
                  <a:srgbClr val="FFFFFF"/>
                </a:solidFill>
                <a:latin typeface="Calibri" pitchFamily="34" charset="0"/>
                <a:ea typeface="Calibri" pitchFamily="34" charset="-122"/>
                <a:cs typeface="Calibri" pitchFamily="34" charset="-120"/>
              </a:rPr>
              <a:t>Pendapatan kecil: tarif PLN 9,81 USc/kWh; karbon USD 3–5/t</a:t>
            </a:r>
            <a:endParaRPr lang="en-US" sz="660" dirty="0"/>
          </a:p>
        </p:txBody>
      </p:sp>
      <p:sp>
        <p:nvSpPr>
          <p:cNvPr id="56" name="garis-90"/>
          <p:cNvSpPr/>
          <p:nvPr/>
        </p:nvSpPr>
        <p:spPr>
          <a:xfrm>
            <a:off x="5623560" y="2125980"/>
            <a:ext cx="91440" cy="0"/>
          </a:xfrm>
          <a:prstGeom prst="line">
            <a:avLst/>
          </a:prstGeom>
          <a:noFill/>
          <a:ln w="12700">
            <a:solidFill>
              <a:srgbClr val="587888"/>
            </a:solidFill>
            <a:prstDash val="solid"/>
          </a:ln>
        </p:spPr>
      </p:sp>
      <p:sp>
        <p:nvSpPr>
          <p:cNvPr id="57" name="garis-91"/>
          <p:cNvSpPr/>
          <p:nvPr/>
        </p:nvSpPr>
        <p:spPr>
          <a:xfrm>
            <a:off x="5715000" y="2125980"/>
            <a:ext cx="0" cy="119786"/>
          </a:xfrm>
          <a:prstGeom prst="line">
            <a:avLst/>
          </a:prstGeom>
          <a:noFill/>
          <a:ln w="12700">
            <a:solidFill>
              <a:srgbClr val="587888"/>
            </a:solidFill>
            <a:prstDash val="solid"/>
          </a:ln>
        </p:spPr>
      </p:sp>
      <p:sp>
        <p:nvSpPr>
          <p:cNvPr id="58" name="garis-92"/>
          <p:cNvSpPr/>
          <p:nvPr/>
        </p:nvSpPr>
        <p:spPr>
          <a:xfrm>
            <a:off x="5715000" y="2245766"/>
            <a:ext cx="91440" cy="0"/>
          </a:xfrm>
          <a:prstGeom prst="line">
            <a:avLst/>
          </a:prstGeom>
          <a:noFill/>
          <a:ln w="12700">
            <a:solidFill>
              <a:srgbClr val="587888"/>
            </a:solidFill>
            <a:prstDash val="solid"/>
          </a:ln>
        </p:spPr>
      </p:sp>
      <p:sp>
        <p:nvSpPr>
          <p:cNvPr id="59" name="kotak-93"/>
          <p:cNvSpPr txBox="1"/>
          <p:nvPr/>
        </p:nvSpPr>
        <p:spPr>
          <a:xfrm>
            <a:off x="4663440" y="2473452"/>
            <a:ext cx="960120" cy="310896"/>
          </a:xfrm>
          <a:prstGeom prst="roundRect">
            <a:avLst>
              <a:gd name="adj" fmla="val 14706"/>
            </a:avLst>
          </a:prstGeom>
          <a:solidFill>
            <a:srgbClr val="D8E8F8"/>
          </a:solidFill>
          <a:ln w="9525">
            <a:solidFill>
              <a:srgbClr val="6898C8"/>
            </a:solidFill>
          </a:ln>
        </p:spPr>
        <p:txBody>
          <a:bodyPr wrap="square" lIns="12700" tIns="38100" rIns="38100" bIns="12700" rtlCol="0" anchor="ctr"/>
          <a:lstStyle/>
          <a:p>
            <a:pPr algn="ctr" indent="0" marL="0">
              <a:buNone/>
            </a:pPr>
            <a:r>
              <a:rPr lang="en-US" sz="750" b="1" dirty="0">
                <a:solidFill>
                  <a:srgbClr val="0C2464"/>
                </a:solidFill>
                <a:latin typeface="Calibri" pitchFamily="34" charset="0"/>
                <a:ea typeface="Calibri" pitchFamily="34" charset="-122"/>
                <a:cs typeface="Calibri" pitchFamily="34" charset="-120"/>
              </a:rPr>
              <a:t>Regulasi</a:t>
            </a:r>
            <a:endParaRPr lang="en-US" sz="750" dirty="0"/>
          </a:p>
        </p:txBody>
      </p:sp>
      <p:sp>
        <p:nvSpPr>
          <p:cNvPr id="60" name="garis-94"/>
          <p:cNvSpPr/>
          <p:nvPr/>
        </p:nvSpPr>
        <p:spPr>
          <a:xfrm>
            <a:off x="4480560" y="2377440"/>
            <a:ext cx="91440" cy="0"/>
          </a:xfrm>
          <a:prstGeom prst="line">
            <a:avLst/>
          </a:prstGeom>
          <a:noFill/>
          <a:ln w="12700">
            <a:solidFill>
              <a:srgbClr val="587888"/>
            </a:solidFill>
            <a:prstDash val="solid"/>
          </a:ln>
        </p:spPr>
      </p:sp>
      <p:sp>
        <p:nvSpPr>
          <p:cNvPr id="61" name="garis-95"/>
          <p:cNvSpPr/>
          <p:nvPr/>
        </p:nvSpPr>
        <p:spPr>
          <a:xfrm>
            <a:off x="4572000" y="2377440"/>
            <a:ext cx="0" cy="251460"/>
          </a:xfrm>
          <a:prstGeom prst="line">
            <a:avLst/>
          </a:prstGeom>
          <a:noFill/>
          <a:ln w="12700">
            <a:solidFill>
              <a:srgbClr val="587888"/>
            </a:solidFill>
            <a:prstDash val="solid"/>
          </a:ln>
        </p:spPr>
      </p:sp>
      <p:sp>
        <p:nvSpPr>
          <p:cNvPr id="62" name="garis-96"/>
          <p:cNvSpPr/>
          <p:nvPr/>
        </p:nvSpPr>
        <p:spPr>
          <a:xfrm>
            <a:off x="4572000" y="2628900"/>
            <a:ext cx="91440" cy="0"/>
          </a:xfrm>
          <a:prstGeom prst="line">
            <a:avLst/>
          </a:prstGeom>
          <a:noFill/>
          <a:ln w="12700">
            <a:solidFill>
              <a:srgbClr val="587888"/>
            </a:solidFill>
            <a:prstDash val="solid"/>
          </a:ln>
        </p:spPr>
      </p:sp>
      <p:sp>
        <p:nvSpPr>
          <p:cNvPr id="63" name="kotak-97"/>
          <p:cNvSpPr txBox="1"/>
          <p:nvPr/>
        </p:nvSpPr>
        <p:spPr>
          <a:xfrm>
            <a:off x="5806440" y="2377440"/>
            <a:ext cx="2514600" cy="239573"/>
          </a:xfrm>
          <a:prstGeom prst="roundRect">
            <a:avLst>
              <a:gd name="adj" fmla="val 15267"/>
            </a:avLst>
          </a:prstGeom>
          <a:solidFill>
            <a:srgbClr val="0C2464"/>
          </a:solidFill>
          <a:ln w="9525">
            <a:solidFill>
              <a:srgbClr val="0C2464"/>
            </a:solidFill>
          </a:ln>
        </p:spPr>
        <p:txBody>
          <a:bodyPr wrap="square" lIns="0" tIns="50800" rIns="50800" bIns="0" rtlCol="0" anchor="ctr"/>
          <a:lstStyle/>
          <a:p>
            <a:pPr algn="l" indent="0" marL="0">
              <a:buNone/>
            </a:pPr>
            <a:r>
              <a:rPr lang="en-US" sz="660" dirty="0">
                <a:solidFill>
                  <a:srgbClr val="FFFFFF"/>
                </a:solidFill>
                <a:latin typeface="Calibri" pitchFamily="34" charset="0"/>
                <a:ea typeface="Calibri" pitchFamily="34" charset="-122"/>
                <a:cs typeface="Calibri" pitchFamily="34" charset="-120"/>
              </a:rPr>
              <a:t>Belum ada mandat penangkapan metana (ISPO bioenergi 2027)</a:t>
            </a:r>
            <a:endParaRPr lang="en-US" sz="660" dirty="0"/>
          </a:p>
        </p:txBody>
      </p:sp>
      <p:sp>
        <p:nvSpPr>
          <p:cNvPr id="64" name="garis-98"/>
          <p:cNvSpPr/>
          <p:nvPr/>
        </p:nvSpPr>
        <p:spPr>
          <a:xfrm>
            <a:off x="5623560" y="2628900"/>
            <a:ext cx="91440" cy="0"/>
          </a:xfrm>
          <a:prstGeom prst="line">
            <a:avLst/>
          </a:prstGeom>
          <a:noFill/>
          <a:ln w="12700">
            <a:solidFill>
              <a:srgbClr val="587888"/>
            </a:solidFill>
            <a:prstDash val="solid"/>
          </a:ln>
        </p:spPr>
      </p:sp>
      <p:sp>
        <p:nvSpPr>
          <p:cNvPr id="65" name="garis-99"/>
          <p:cNvSpPr/>
          <p:nvPr/>
        </p:nvSpPr>
        <p:spPr>
          <a:xfrm>
            <a:off x="5715000" y="2497226"/>
            <a:ext cx="0" cy="131674"/>
          </a:xfrm>
          <a:prstGeom prst="line">
            <a:avLst/>
          </a:prstGeom>
          <a:noFill/>
          <a:ln w="12700">
            <a:solidFill>
              <a:srgbClr val="587888"/>
            </a:solidFill>
            <a:prstDash val="solid"/>
          </a:ln>
        </p:spPr>
      </p:sp>
      <p:sp>
        <p:nvSpPr>
          <p:cNvPr id="66" name="garis-100"/>
          <p:cNvSpPr/>
          <p:nvPr/>
        </p:nvSpPr>
        <p:spPr>
          <a:xfrm>
            <a:off x="5715000" y="2497226"/>
            <a:ext cx="91440" cy="0"/>
          </a:xfrm>
          <a:prstGeom prst="line">
            <a:avLst/>
          </a:prstGeom>
          <a:noFill/>
          <a:ln w="12700">
            <a:solidFill>
              <a:srgbClr val="587888"/>
            </a:solidFill>
            <a:prstDash val="solid"/>
          </a:ln>
        </p:spPr>
      </p:sp>
      <p:sp>
        <p:nvSpPr>
          <p:cNvPr id="67" name="kotak-101"/>
          <p:cNvSpPr txBox="1"/>
          <p:nvPr/>
        </p:nvSpPr>
        <p:spPr>
          <a:xfrm>
            <a:off x="5806440" y="2628900"/>
            <a:ext cx="2514600" cy="239573"/>
          </a:xfrm>
          <a:prstGeom prst="roundRect">
            <a:avLst>
              <a:gd name="adj" fmla="val 15267"/>
            </a:avLst>
          </a:prstGeom>
          <a:solidFill>
            <a:srgbClr val="D8E8F8"/>
          </a:solidFill>
          <a:ln w="9525">
            <a:solidFill>
              <a:srgbClr val="6898C8"/>
            </a:solidFill>
          </a:ln>
        </p:spPr>
        <p:txBody>
          <a:bodyPr wrap="square" lIns="0" tIns="50800" rIns="50800" bIns="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Izin jual listrik dan PJBL lambat; struktur BOO belum pasti</a:t>
            </a:r>
            <a:endParaRPr lang="en-US" sz="660" dirty="0"/>
          </a:p>
        </p:txBody>
      </p:sp>
      <p:sp>
        <p:nvSpPr>
          <p:cNvPr id="68" name="garis-102"/>
          <p:cNvSpPr/>
          <p:nvPr/>
        </p:nvSpPr>
        <p:spPr>
          <a:xfrm>
            <a:off x="5623560" y="2628900"/>
            <a:ext cx="91440" cy="0"/>
          </a:xfrm>
          <a:prstGeom prst="line">
            <a:avLst/>
          </a:prstGeom>
          <a:noFill/>
          <a:ln w="12700">
            <a:solidFill>
              <a:srgbClr val="587888"/>
            </a:solidFill>
            <a:prstDash val="solid"/>
          </a:ln>
        </p:spPr>
      </p:sp>
      <p:sp>
        <p:nvSpPr>
          <p:cNvPr id="69" name="garis-103"/>
          <p:cNvSpPr/>
          <p:nvPr/>
        </p:nvSpPr>
        <p:spPr>
          <a:xfrm>
            <a:off x="5715000" y="2628900"/>
            <a:ext cx="0" cy="119786"/>
          </a:xfrm>
          <a:prstGeom prst="line">
            <a:avLst/>
          </a:prstGeom>
          <a:noFill/>
          <a:ln w="12700">
            <a:solidFill>
              <a:srgbClr val="587888"/>
            </a:solidFill>
            <a:prstDash val="solid"/>
          </a:ln>
        </p:spPr>
      </p:sp>
      <p:sp>
        <p:nvSpPr>
          <p:cNvPr id="70" name="garis-104"/>
          <p:cNvSpPr/>
          <p:nvPr/>
        </p:nvSpPr>
        <p:spPr>
          <a:xfrm>
            <a:off x="5715000" y="2748686"/>
            <a:ext cx="91440" cy="0"/>
          </a:xfrm>
          <a:prstGeom prst="line">
            <a:avLst/>
          </a:prstGeom>
          <a:noFill/>
          <a:ln w="12700">
            <a:solidFill>
              <a:srgbClr val="587888"/>
            </a:solidFill>
            <a:prstDash val="solid"/>
          </a:ln>
        </p:spPr>
      </p:sp>
      <p:sp>
        <p:nvSpPr>
          <p:cNvPr id="71" name="kotak-105"/>
          <p:cNvSpPr txBox="1"/>
          <p:nvPr/>
        </p:nvSpPr>
        <p:spPr>
          <a:xfrm>
            <a:off x="4663440" y="2976372"/>
            <a:ext cx="960120" cy="310896"/>
          </a:xfrm>
          <a:prstGeom prst="roundRect">
            <a:avLst>
              <a:gd name="adj" fmla="val 14706"/>
            </a:avLst>
          </a:prstGeom>
          <a:solidFill>
            <a:srgbClr val="D8E8F8"/>
          </a:solidFill>
          <a:ln w="9525">
            <a:solidFill>
              <a:srgbClr val="6898C8"/>
            </a:solidFill>
          </a:ln>
        </p:spPr>
        <p:txBody>
          <a:bodyPr wrap="square" lIns="12700" tIns="38100" rIns="38100" bIns="12700" rtlCol="0" anchor="ctr"/>
          <a:lstStyle/>
          <a:p>
            <a:pPr algn="ctr" indent="0" marL="0">
              <a:buNone/>
            </a:pPr>
            <a:r>
              <a:rPr lang="en-US" sz="750" b="1" dirty="0">
                <a:solidFill>
                  <a:srgbClr val="0C2464"/>
                </a:solidFill>
                <a:latin typeface="Calibri" pitchFamily="34" charset="0"/>
                <a:ea typeface="Calibri" pitchFamily="34" charset="-122"/>
                <a:cs typeface="Calibri" pitchFamily="34" charset="-120"/>
              </a:rPr>
              <a:t>Perilaku dan organisasi</a:t>
            </a:r>
            <a:endParaRPr lang="en-US" sz="750" dirty="0"/>
          </a:p>
        </p:txBody>
      </p:sp>
      <p:sp>
        <p:nvSpPr>
          <p:cNvPr id="72" name="garis-106"/>
          <p:cNvSpPr/>
          <p:nvPr/>
        </p:nvSpPr>
        <p:spPr>
          <a:xfrm>
            <a:off x="4480560" y="2377440"/>
            <a:ext cx="91440" cy="0"/>
          </a:xfrm>
          <a:prstGeom prst="line">
            <a:avLst/>
          </a:prstGeom>
          <a:noFill/>
          <a:ln w="12700">
            <a:solidFill>
              <a:srgbClr val="587888"/>
            </a:solidFill>
            <a:prstDash val="solid"/>
          </a:ln>
        </p:spPr>
      </p:sp>
      <p:sp>
        <p:nvSpPr>
          <p:cNvPr id="73" name="garis-107"/>
          <p:cNvSpPr/>
          <p:nvPr/>
        </p:nvSpPr>
        <p:spPr>
          <a:xfrm>
            <a:off x="4572000" y="2377440"/>
            <a:ext cx="0" cy="754380"/>
          </a:xfrm>
          <a:prstGeom prst="line">
            <a:avLst/>
          </a:prstGeom>
          <a:noFill/>
          <a:ln w="12700">
            <a:solidFill>
              <a:srgbClr val="587888"/>
            </a:solidFill>
            <a:prstDash val="solid"/>
          </a:ln>
        </p:spPr>
      </p:sp>
      <p:sp>
        <p:nvSpPr>
          <p:cNvPr id="74" name="garis-108"/>
          <p:cNvSpPr/>
          <p:nvPr/>
        </p:nvSpPr>
        <p:spPr>
          <a:xfrm>
            <a:off x="4572000" y="3131820"/>
            <a:ext cx="91440" cy="0"/>
          </a:xfrm>
          <a:prstGeom prst="line">
            <a:avLst/>
          </a:prstGeom>
          <a:noFill/>
          <a:ln w="12700">
            <a:solidFill>
              <a:srgbClr val="587888"/>
            </a:solidFill>
            <a:prstDash val="solid"/>
          </a:ln>
        </p:spPr>
      </p:sp>
      <p:sp>
        <p:nvSpPr>
          <p:cNvPr id="75" name="kotak-109"/>
          <p:cNvSpPr txBox="1"/>
          <p:nvPr/>
        </p:nvSpPr>
        <p:spPr>
          <a:xfrm>
            <a:off x="5806440" y="2880360"/>
            <a:ext cx="2514600" cy="239573"/>
          </a:xfrm>
          <a:prstGeom prst="roundRect">
            <a:avLst>
              <a:gd name="adj" fmla="val 15267"/>
            </a:avLst>
          </a:prstGeom>
          <a:solidFill>
            <a:srgbClr val="FFFFFF"/>
          </a:solidFill>
          <a:ln w="9525">
            <a:solidFill>
              <a:srgbClr val="6898C8"/>
            </a:solidFill>
          </a:ln>
        </p:spPr>
        <p:txBody>
          <a:bodyPr wrap="square" lIns="0" tIns="50800" rIns="50800" bIns="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POME dianggap limbah; solar dan POME tidak terukur per PKS</a:t>
            </a:r>
            <a:endParaRPr lang="en-US" sz="660" dirty="0"/>
          </a:p>
        </p:txBody>
      </p:sp>
      <p:sp>
        <p:nvSpPr>
          <p:cNvPr id="76" name="garis-110"/>
          <p:cNvSpPr/>
          <p:nvPr/>
        </p:nvSpPr>
        <p:spPr>
          <a:xfrm>
            <a:off x="5623560" y="3131820"/>
            <a:ext cx="91440" cy="0"/>
          </a:xfrm>
          <a:prstGeom prst="line">
            <a:avLst/>
          </a:prstGeom>
          <a:noFill/>
          <a:ln w="12700">
            <a:solidFill>
              <a:srgbClr val="587888"/>
            </a:solidFill>
            <a:prstDash val="solid"/>
          </a:ln>
        </p:spPr>
      </p:sp>
      <p:sp>
        <p:nvSpPr>
          <p:cNvPr id="77" name="garis-111"/>
          <p:cNvSpPr/>
          <p:nvPr/>
        </p:nvSpPr>
        <p:spPr>
          <a:xfrm>
            <a:off x="5715000" y="3000146"/>
            <a:ext cx="0" cy="131674"/>
          </a:xfrm>
          <a:prstGeom prst="line">
            <a:avLst/>
          </a:prstGeom>
          <a:noFill/>
          <a:ln w="12700">
            <a:solidFill>
              <a:srgbClr val="587888"/>
            </a:solidFill>
            <a:prstDash val="solid"/>
          </a:ln>
        </p:spPr>
      </p:sp>
      <p:sp>
        <p:nvSpPr>
          <p:cNvPr id="78" name="garis-112"/>
          <p:cNvSpPr/>
          <p:nvPr/>
        </p:nvSpPr>
        <p:spPr>
          <a:xfrm>
            <a:off x="5715000" y="3000146"/>
            <a:ext cx="91440" cy="0"/>
          </a:xfrm>
          <a:prstGeom prst="line">
            <a:avLst/>
          </a:prstGeom>
          <a:noFill/>
          <a:ln w="12700">
            <a:solidFill>
              <a:srgbClr val="587888"/>
            </a:solidFill>
            <a:prstDash val="solid"/>
          </a:ln>
        </p:spPr>
      </p:sp>
      <p:sp>
        <p:nvSpPr>
          <p:cNvPr id="79" name="kotak-113"/>
          <p:cNvSpPr txBox="1"/>
          <p:nvPr/>
        </p:nvSpPr>
        <p:spPr>
          <a:xfrm>
            <a:off x="5806440" y="3131820"/>
            <a:ext cx="2514600" cy="239573"/>
          </a:xfrm>
          <a:prstGeom prst="roundRect">
            <a:avLst>
              <a:gd name="adj" fmla="val 15267"/>
            </a:avLst>
          </a:prstGeom>
          <a:solidFill>
            <a:srgbClr val="0C2464"/>
          </a:solidFill>
          <a:ln w="9525">
            <a:solidFill>
              <a:srgbClr val="0C2464"/>
            </a:solidFill>
          </a:ln>
        </p:spPr>
        <p:txBody>
          <a:bodyPr wrap="square" lIns="0" tIns="50800" rIns="50800" bIns="0" rtlCol="0" anchor="ctr"/>
          <a:lstStyle/>
          <a:p>
            <a:pPr algn="l" indent="0" marL="0">
              <a:buNone/>
            </a:pPr>
            <a:r>
              <a:rPr lang="en-US" sz="660" dirty="0">
                <a:solidFill>
                  <a:srgbClr val="FFFFFF"/>
                </a:solidFill>
                <a:latin typeface="Calibri" pitchFamily="34" charset="0"/>
                <a:ea typeface="Calibri" pitchFamily="34" charset="-122"/>
                <a:cs typeface="Calibri" pitchFamily="34" charset="-120"/>
              </a:rPr>
              <a:t>Keahlian biogas terbatas di ±442 PKS tanpa kebun</a:t>
            </a:r>
            <a:endParaRPr lang="en-US" sz="660" dirty="0"/>
          </a:p>
        </p:txBody>
      </p:sp>
      <p:sp>
        <p:nvSpPr>
          <p:cNvPr id="80" name="garis-114"/>
          <p:cNvSpPr/>
          <p:nvPr/>
        </p:nvSpPr>
        <p:spPr>
          <a:xfrm>
            <a:off x="5623560" y="3131820"/>
            <a:ext cx="91440" cy="0"/>
          </a:xfrm>
          <a:prstGeom prst="line">
            <a:avLst/>
          </a:prstGeom>
          <a:noFill/>
          <a:ln w="12700">
            <a:solidFill>
              <a:srgbClr val="587888"/>
            </a:solidFill>
            <a:prstDash val="solid"/>
          </a:ln>
        </p:spPr>
      </p:sp>
      <p:sp>
        <p:nvSpPr>
          <p:cNvPr id="81" name="garis-115"/>
          <p:cNvSpPr/>
          <p:nvPr/>
        </p:nvSpPr>
        <p:spPr>
          <a:xfrm>
            <a:off x="5715000" y="3131820"/>
            <a:ext cx="0" cy="119786"/>
          </a:xfrm>
          <a:prstGeom prst="line">
            <a:avLst/>
          </a:prstGeom>
          <a:noFill/>
          <a:ln w="12700">
            <a:solidFill>
              <a:srgbClr val="587888"/>
            </a:solidFill>
            <a:prstDash val="solid"/>
          </a:ln>
        </p:spPr>
      </p:sp>
      <p:sp>
        <p:nvSpPr>
          <p:cNvPr id="82" name="garis-116"/>
          <p:cNvSpPr/>
          <p:nvPr/>
        </p:nvSpPr>
        <p:spPr>
          <a:xfrm>
            <a:off x="5715000" y="3251606"/>
            <a:ext cx="91440" cy="0"/>
          </a:xfrm>
          <a:prstGeom prst="line">
            <a:avLst/>
          </a:prstGeom>
          <a:noFill/>
          <a:ln w="12700">
            <a:solidFill>
              <a:srgbClr val="587888"/>
            </a:solidFill>
            <a:prstDash val="solid"/>
          </a:ln>
        </p:spPr>
      </p:sp>
      <p:sp>
        <p:nvSpPr>
          <p:cNvPr id="83" name="kotak-117"/>
          <p:cNvSpPr txBox="1"/>
          <p:nvPr/>
        </p:nvSpPr>
        <p:spPr>
          <a:xfrm>
            <a:off x="5806440" y="3383280"/>
            <a:ext cx="804672" cy="146304"/>
          </a:xfrm>
          <a:prstGeom prst="roundRect">
            <a:avLst>
              <a:gd name="adj" fmla="val 18750"/>
            </a:avLst>
          </a:prstGeom>
          <a:solidFill>
            <a:srgbClr val="0C2464"/>
          </a:solidFill>
          <a:ln w="9525">
            <a:solidFill>
              <a:srgbClr val="6898C8"/>
            </a:solidFill>
          </a:ln>
        </p:spPr>
        <p:txBody>
          <a:bodyPr wrap="square" lIns="0" tIns="0" rIns="0" bIns="0" rtlCol="0" anchor="ctr"/>
          <a:lstStyle/>
          <a:p>
            <a:pPr algn="ctr" indent="0" marL="0">
              <a:buNone/>
            </a:pPr>
            <a:r>
              <a:rPr lang="en-US" sz="620" dirty="0">
                <a:solidFill>
                  <a:srgbClr val="FFFFFF"/>
                </a:solidFill>
                <a:latin typeface="Calibri" pitchFamily="34" charset="0"/>
                <a:ea typeface="Calibri" pitchFamily="34" charset="-122"/>
                <a:cs typeface="Calibri" pitchFamily="34" charset="-120"/>
              </a:rPr>
              <a:t>Akar masalah</a:t>
            </a:r>
            <a:endParaRPr lang="en-US" sz="620" dirty="0"/>
          </a:p>
        </p:txBody>
      </p:sp>
      <p:sp>
        <p:nvSpPr>
          <p:cNvPr id="84" name="kotak-118"/>
          <p:cNvSpPr txBox="1"/>
          <p:nvPr/>
        </p:nvSpPr>
        <p:spPr>
          <a:xfrm>
            <a:off x="6656832" y="3383280"/>
            <a:ext cx="804672" cy="146304"/>
          </a:xfrm>
          <a:prstGeom prst="roundRect">
            <a:avLst>
              <a:gd name="adj" fmla="val 18750"/>
            </a:avLst>
          </a:prstGeom>
          <a:solidFill>
            <a:srgbClr val="D8E8F8"/>
          </a:solidFill>
          <a:ln w="9525">
            <a:solidFill>
              <a:srgbClr val="6898C8"/>
            </a:solidFill>
          </a:ln>
        </p:spPr>
        <p:txBody>
          <a:bodyPr wrap="square" lIns="0" tIns="0" rIns="0" bIns="0" rtlCol="0" anchor="ctr"/>
          <a:lstStyle/>
          <a:p>
            <a:pPr algn="ctr" indent="0" marL="0">
              <a:buNone/>
            </a:pPr>
            <a:r>
              <a:rPr lang="en-US" sz="620" dirty="0">
                <a:solidFill>
                  <a:srgbClr val="14213D"/>
                </a:solidFill>
                <a:latin typeface="Calibri" pitchFamily="34" charset="0"/>
                <a:ea typeface="Calibri" pitchFamily="34" charset="-122"/>
                <a:cs typeface="Calibri" pitchFamily="34" charset="-120"/>
              </a:rPr>
              <a:t>Kendala</a:t>
            </a:r>
            <a:endParaRPr lang="en-US" sz="620" dirty="0"/>
          </a:p>
        </p:txBody>
      </p:sp>
      <p:sp>
        <p:nvSpPr>
          <p:cNvPr id="85" name="kotak-119"/>
          <p:cNvSpPr txBox="1"/>
          <p:nvPr/>
        </p:nvSpPr>
        <p:spPr>
          <a:xfrm>
            <a:off x="7507224" y="3383280"/>
            <a:ext cx="804672" cy="146304"/>
          </a:xfrm>
          <a:prstGeom prst="roundRect">
            <a:avLst>
              <a:gd name="adj" fmla="val 18750"/>
            </a:avLst>
          </a:prstGeom>
          <a:solidFill>
            <a:srgbClr val="FFFFFF"/>
          </a:solidFill>
          <a:ln w="9525">
            <a:solidFill>
              <a:srgbClr val="6898C8"/>
            </a:solidFill>
          </a:ln>
        </p:spPr>
        <p:txBody>
          <a:bodyPr wrap="square" lIns="0" tIns="0" rIns="0" bIns="0" rtlCol="0" anchor="ctr"/>
          <a:lstStyle/>
          <a:p>
            <a:pPr algn="ctr" indent="0" marL="0">
              <a:buNone/>
            </a:pPr>
            <a:r>
              <a:rPr lang="en-US" sz="620" dirty="0">
                <a:solidFill>
                  <a:srgbClr val="14213D"/>
                </a:solidFill>
                <a:latin typeface="Calibri" pitchFamily="34" charset="0"/>
                <a:ea typeface="Calibri" pitchFamily="34" charset="-122"/>
                <a:cs typeface="Calibri" pitchFamily="34" charset="-120"/>
              </a:rPr>
              <a:t>Gejala / akibat</a:t>
            </a:r>
            <a:endParaRPr lang="en-US" sz="620" dirty="0"/>
          </a:p>
        </p:txBody>
      </p:sp>
      <p:sp>
        <p:nvSpPr>
          <p:cNvPr id="86" name="teks-120"/>
          <p:cNvSpPr txBox="1"/>
          <p:nvPr/>
        </p:nvSpPr>
        <p:spPr>
          <a:xfrm>
            <a:off x="3520440" y="3630168"/>
            <a:ext cx="21031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5 Mengapa (akar masalah)</a:t>
            </a:r>
            <a:endParaRPr lang="en-US" sz="850" dirty="0"/>
          </a:p>
        </p:txBody>
      </p:sp>
      <p:sp>
        <p:nvSpPr>
          <p:cNvPr id="87" name="garis-121"/>
          <p:cNvSpPr/>
          <p:nvPr/>
        </p:nvSpPr>
        <p:spPr>
          <a:xfrm>
            <a:off x="3520440" y="3822192"/>
            <a:ext cx="2103120" cy="0"/>
          </a:xfrm>
          <a:prstGeom prst="line">
            <a:avLst/>
          </a:prstGeom>
          <a:noFill/>
          <a:ln w="15875">
            <a:solidFill>
              <a:srgbClr val="64BC54"/>
            </a:solidFill>
            <a:prstDash val="solid"/>
          </a:ln>
        </p:spPr>
      </p:sp>
      <p:sp>
        <p:nvSpPr>
          <p:cNvPr id="88" name="kotak-122"/>
          <p:cNvSpPr txBox="1"/>
          <p:nvPr/>
        </p:nvSpPr>
        <p:spPr>
          <a:xfrm>
            <a:off x="3520440" y="3858768"/>
            <a:ext cx="219456" cy="274320"/>
          </a:xfrm>
          <a:prstGeom prst="roundRect">
            <a:avLst>
              <a:gd name="adj" fmla="val 16667"/>
            </a:avLst>
          </a:prstGeom>
          <a:solidFill>
            <a:srgbClr val="C8452F"/>
          </a:solidFill>
          <a:ln>
            <a:solidFill>
              <a:srgbClr val="C8452F"/>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M</a:t>
            </a:r>
            <a:endParaRPr lang="en-US" sz="750" dirty="0"/>
          </a:p>
        </p:txBody>
      </p:sp>
      <p:sp>
        <p:nvSpPr>
          <p:cNvPr id="89" name="kotak-123"/>
          <p:cNvSpPr txBox="1"/>
          <p:nvPr/>
        </p:nvSpPr>
        <p:spPr>
          <a:xfrm>
            <a:off x="3767328" y="3858768"/>
            <a:ext cx="1856232" cy="274320"/>
          </a:xfrm>
          <a:prstGeom prst="roundRect">
            <a:avLst>
              <a:gd name="adj" fmla="val 13333"/>
            </a:avLst>
          </a:prstGeom>
          <a:solidFill>
            <a:srgbClr val="FFFFFF"/>
          </a:solidFill>
          <a:ln w="9525">
            <a:solidFill>
              <a:srgbClr val="C3D3E8"/>
            </a:solidFill>
          </a:ln>
        </p:spPr>
        <p:txBody>
          <a:bodyPr wrap="square" lIns="0" tIns="50800" rIns="50800" bIns="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Metana POME PKS independen tidak ditangkap</a:t>
            </a:r>
            <a:endParaRPr lang="en-US" sz="660" dirty="0"/>
          </a:p>
        </p:txBody>
      </p:sp>
      <p:sp>
        <p:nvSpPr>
          <p:cNvPr id="90" name="garis-124"/>
          <p:cNvSpPr/>
          <p:nvPr/>
        </p:nvSpPr>
        <p:spPr>
          <a:xfrm>
            <a:off x="3630168" y="4133088"/>
            <a:ext cx="0" cy="32004"/>
          </a:xfrm>
          <a:prstGeom prst="line">
            <a:avLst/>
          </a:prstGeom>
          <a:noFill/>
          <a:ln w="9525">
            <a:solidFill>
              <a:srgbClr val="587888"/>
            </a:solidFill>
            <a:prstDash val="solid"/>
            <a:tailEnd type="triangle"/>
          </a:ln>
        </p:spPr>
      </p:sp>
      <p:sp>
        <p:nvSpPr>
          <p:cNvPr id="91" name="kotak-125"/>
          <p:cNvSpPr txBox="1"/>
          <p:nvPr/>
        </p:nvSpPr>
        <p:spPr>
          <a:xfrm>
            <a:off x="3520440" y="4165092"/>
            <a:ext cx="219456" cy="274320"/>
          </a:xfrm>
          <a:prstGeom prst="roundRect">
            <a:avLst>
              <a:gd name="adj" fmla="val 16667"/>
            </a:avLst>
          </a:prstGeom>
          <a:solidFill>
            <a:srgbClr val="0C2464"/>
          </a:solidFill>
          <a:ln>
            <a:solidFill>
              <a:srgbClr val="0C2464"/>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1</a:t>
            </a:r>
            <a:endParaRPr lang="en-US" sz="750" dirty="0"/>
          </a:p>
        </p:txBody>
      </p:sp>
      <p:sp>
        <p:nvSpPr>
          <p:cNvPr id="92" name="kotak-126"/>
          <p:cNvSpPr txBox="1"/>
          <p:nvPr/>
        </p:nvSpPr>
        <p:spPr>
          <a:xfrm>
            <a:off x="3767328" y="4165092"/>
            <a:ext cx="1856232" cy="274320"/>
          </a:xfrm>
          <a:prstGeom prst="roundRect">
            <a:avLst>
              <a:gd name="adj" fmla="val 13333"/>
            </a:avLst>
          </a:prstGeom>
          <a:solidFill>
            <a:srgbClr val="FFFFFF"/>
          </a:solidFill>
          <a:ln w="9525">
            <a:solidFill>
              <a:srgbClr val="C3D3E8"/>
            </a:solidFill>
          </a:ln>
        </p:spPr>
        <p:txBody>
          <a:bodyPr wrap="square" lIns="0" tIns="50800" rIns="50800" bIns="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Tidak ada reaktor biogas di PKS.</a:t>
            </a:r>
            <a:endParaRPr lang="en-US" sz="660" dirty="0"/>
          </a:p>
        </p:txBody>
      </p:sp>
      <p:sp>
        <p:nvSpPr>
          <p:cNvPr id="93" name="garis-127"/>
          <p:cNvSpPr/>
          <p:nvPr/>
        </p:nvSpPr>
        <p:spPr>
          <a:xfrm>
            <a:off x="3630168" y="4439412"/>
            <a:ext cx="0" cy="32004"/>
          </a:xfrm>
          <a:prstGeom prst="line">
            <a:avLst/>
          </a:prstGeom>
          <a:noFill/>
          <a:ln w="9525">
            <a:solidFill>
              <a:srgbClr val="587888"/>
            </a:solidFill>
            <a:prstDash val="solid"/>
            <a:tailEnd type="triangle"/>
          </a:ln>
        </p:spPr>
      </p:sp>
      <p:sp>
        <p:nvSpPr>
          <p:cNvPr id="94" name="kotak-128"/>
          <p:cNvSpPr txBox="1"/>
          <p:nvPr/>
        </p:nvSpPr>
        <p:spPr>
          <a:xfrm>
            <a:off x="3520440" y="4471416"/>
            <a:ext cx="219456" cy="274320"/>
          </a:xfrm>
          <a:prstGeom prst="roundRect">
            <a:avLst>
              <a:gd name="adj" fmla="val 16667"/>
            </a:avLst>
          </a:prstGeom>
          <a:solidFill>
            <a:srgbClr val="0C2464"/>
          </a:solidFill>
          <a:ln>
            <a:solidFill>
              <a:srgbClr val="0C2464"/>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2</a:t>
            </a:r>
            <a:endParaRPr lang="en-US" sz="750" dirty="0"/>
          </a:p>
        </p:txBody>
      </p:sp>
      <p:sp>
        <p:nvSpPr>
          <p:cNvPr id="95" name="kotak-129"/>
          <p:cNvSpPr txBox="1"/>
          <p:nvPr/>
        </p:nvSpPr>
        <p:spPr>
          <a:xfrm>
            <a:off x="3767328" y="4471416"/>
            <a:ext cx="1856232" cy="274320"/>
          </a:xfrm>
          <a:prstGeom prst="roundRect">
            <a:avLst>
              <a:gd name="adj" fmla="val 13333"/>
            </a:avLst>
          </a:prstGeom>
          <a:solidFill>
            <a:srgbClr val="FFFFFF"/>
          </a:solidFill>
          <a:ln w="9525">
            <a:solidFill>
              <a:srgbClr val="C3D3E8"/>
            </a:solidFill>
          </a:ln>
        </p:spPr>
        <p:txBody>
          <a:bodyPr wrap="square" lIns="0" tIns="50800" rIns="50800" bIns="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Modal USD 3,5–4,0 juta per set tidak sepadan dengan imbal hasil.</a:t>
            </a:r>
            <a:endParaRPr lang="en-US" sz="660" dirty="0"/>
          </a:p>
        </p:txBody>
      </p:sp>
      <p:sp>
        <p:nvSpPr>
          <p:cNvPr id="96" name="garis-130"/>
          <p:cNvSpPr/>
          <p:nvPr/>
        </p:nvSpPr>
        <p:spPr>
          <a:xfrm>
            <a:off x="3630168" y="4745736"/>
            <a:ext cx="0" cy="32004"/>
          </a:xfrm>
          <a:prstGeom prst="line">
            <a:avLst/>
          </a:prstGeom>
          <a:noFill/>
          <a:ln w="9525">
            <a:solidFill>
              <a:srgbClr val="587888"/>
            </a:solidFill>
            <a:prstDash val="solid"/>
            <a:tailEnd type="triangle"/>
          </a:ln>
        </p:spPr>
      </p:sp>
      <p:sp>
        <p:nvSpPr>
          <p:cNvPr id="97" name="kotak-131"/>
          <p:cNvSpPr txBox="1"/>
          <p:nvPr/>
        </p:nvSpPr>
        <p:spPr>
          <a:xfrm>
            <a:off x="3520440" y="4777740"/>
            <a:ext cx="219456" cy="274320"/>
          </a:xfrm>
          <a:prstGeom prst="roundRect">
            <a:avLst>
              <a:gd name="adj" fmla="val 16667"/>
            </a:avLst>
          </a:prstGeom>
          <a:solidFill>
            <a:srgbClr val="0C2464"/>
          </a:solidFill>
          <a:ln>
            <a:solidFill>
              <a:srgbClr val="0C2464"/>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3</a:t>
            </a:r>
            <a:endParaRPr lang="en-US" sz="750" dirty="0"/>
          </a:p>
        </p:txBody>
      </p:sp>
      <p:sp>
        <p:nvSpPr>
          <p:cNvPr id="98" name="kotak-132"/>
          <p:cNvSpPr txBox="1"/>
          <p:nvPr/>
        </p:nvSpPr>
        <p:spPr>
          <a:xfrm>
            <a:off x="3767328" y="4777740"/>
            <a:ext cx="1856232" cy="274320"/>
          </a:xfrm>
          <a:prstGeom prst="roundRect">
            <a:avLst>
              <a:gd name="adj" fmla="val 13333"/>
            </a:avLst>
          </a:prstGeom>
          <a:solidFill>
            <a:srgbClr val="FFFFFF"/>
          </a:solidFill>
          <a:ln w="9525">
            <a:solidFill>
              <a:srgbClr val="C3D3E8"/>
            </a:solidFill>
          </a:ln>
        </p:spPr>
        <p:txBody>
          <a:bodyPr wrap="square" lIns="0" tIns="50800" rIns="50800" bIns="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Pendapatan listrik dan karbon kecil; risiko kinerja ada di PKS.</a:t>
            </a:r>
            <a:endParaRPr lang="en-US" sz="660" dirty="0"/>
          </a:p>
        </p:txBody>
      </p:sp>
      <p:sp>
        <p:nvSpPr>
          <p:cNvPr id="99" name="garis-133"/>
          <p:cNvSpPr/>
          <p:nvPr/>
        </p:nvSpPr>
        <p:spPr>
          <a:xfrm>
            <a:off x="3630168" y="5052060"/>
            <a:ext cx="0" cy="32004"/>
          </a:xfrm>
          <a:prstGeom prst="line">
            <a:avLst/>
          </a:prstGeom>
          <a:noFill/>
          <a:ln w="9525">
            <a:solidFill>
              <a:srgbClr val="587888"/>
            </a:solidFill>
            <a:prstDash val="solid"/>
            <a:tailEnd type="triangle"/>
          </a:ln>
        </p:spPr>
      </p:sp>
      <p:sp>
        <p:nvSpPr>
          <p:cNvPr id="100" name="kotak-134"/>
          <p:cNvSpPr txBox="1"/>
          <p:nvPr/>
        </p:nvSpPr>
        <p:spPr>
          <a:xfrm>
            <a:off x="3520440" y="5084064"/>
            <a:ext cx="219456" cy="274320"/>
          </a:xfrm>
          <a:prstGeom prst="roundRect">
            <a:avLst>
              <a:gd name="adj" fmla="val 16667"/>
            </a:avLst>
          </a:prstGeom>
          <a:solidFill>
            <a:srgbClr val="0C2464"/>
          </a:solidFill>
          <a:ln>
            <a:solidFill>
              <a:srgbClr val="0C2464"/>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4</a:t>
            </a:r>
            <a:endParaRPr lang="en-US" sz="750" dirty="0"/>
          </a:p>
        </p:txBody>
      </p:sp>
      <p:sp>
        <p:nvSpPr>
          <p:cNvPr id="101" name="kotak-135"/>
          <p:cNvSpPr txBox="1"/>
          <p:nvPr/>
        </p:nvSpPr>
        <p:spPr>
          <a:xfrm>
            <a:off x="3767328" y="5084064"/>
            <a:ext cx="1856232" cy="274320"/>
          </a:xfrm>
          <a:prstGeom prst="roundRect">
            <a:avLst>
              <a:gd name="adj" fmla="val 13333"/>
            </a:avLst>
          </a:prstGeom>
          <a:solidFill>
            <a:srgbClr val="FFFFFF"/>
          </a:solidFill>
          <a:ln w="9525">
            <a:solidFill>
              <a:srgbClr val="C3D3E8"/>
            </a:solidFill>
          </a:ln>
        </p:spPr>
        <p:txBody>
          <a:bodyPr wrap="square" lIns="0" tIns="50800" rIns="50800" bIns="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PKS bukan operator biogas dan tidak ada penjamin kinerja.</a:t>
            </a:r>
            <a:endParaRPr lang="en-US" sz="660" dirty="0"/>
          </a:p>
        </p:txBody>
      </p:sp>
      <p:sp>
        <p:nvSpPr>
          <p:cNvPr id="102" name="garis-136"/>
          <p:cNvSpPr/>
          <p:nvPr/>
        </p:nvSpPr>
        <p:spPr>
          <a:xfrm>
            <a:off x="3630168" y="5358384"/>
            <a:ext cx="0" cy="32004"/>
          </a:xfrm>
          <a:prstGeom prst="line">
            <a:avLst/>
          </a:prstGeom>
          <a:noFill/>
          <a:ln w="9525">
            <a:solidFill>
              <a:srgbClr val="587888"/>
            </a:solidFill>
            <a:prstDash val="solid"/>
            <a:tailEnd type="triangle"/>
          </a:ln>
        </p:spPr>
      </p:sp>
      <p:sp>
        <p:nvSpPr>
          <p:cNvPr id="103" name="kotak-137"/>
          <p:cNvSpPr txBox="1"/>
          <p:nvPr/>
        </p:nvSpPr>
        <p:spPr>
          <a:xfrm>
            <a:off x="3520440" y="5390388"/>
            <a:ext cx="219456" cy="274320"/>
          </a:xfrm>
          <a:prstGeom prst="roundRect">
            <a:avLst>
              <a:gd name="adj" fmla="val 16667"/>
            </a:avLst>
          </a:prstGeom>
          <a:solidFill>
            <a:srgbClr val="3E8E41"/>
          </a:solidFill>
          <a:ln>
            <a:solidFill>
              <a:srgbClr val="3E8E41"/>
            </a:solid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5</a:t>
            </a:r>
            <a:endParaRPr lang="en-US" sz="750" dirty="0"/>
          </a:p>
        </p:txBody>
      </p:sp>
      <p:sp>
        <p:nvSpPr>
          <p:cNvPr id="104" name="kotak-138"/>
          <p:cNvSpPr txBox="1"/>
          <p:nvPr/>
        </p:nvSpPr>
        <p:spPr>
          <a:xfrm>
            <a:off x="3767328" y="5390388"/>
            <a:ext cx="1856232" cy="274320"/>
          </a:xfrm>
          <a:prstGeom prst="roundRect">
            <a:avLst>
              <a:gd name="adj" fmla="val 13333"/>
            </a:avLst>
          </a:prstGeom>
          <a:solidFill>
            <a:srgbClr val="E7F4E2"/>
          </a:solidFill>
          <a:ln w="9525">
            <a:solidFill>
              <a:srgbClr val="3E8E41"/>
            </a:solidFill>
          </a:ln>
        </p:spPr>
        <p:txBody>
          <a:bodyPr wrap="square" lIns="0" tIns="50800" rIns="50800" bIns="0" rtlCol="0" anchor="ctr"/>
          <a:lstStyle/>
          <a:p>
            <a:pPr algn="l" indent="0" marL="0">
              <a:buNone/>
            </a:pPr>
            <a:r>
              <a:rPr lang="en-US" sz="660" b="1" dirty="0">
                <a:solidFill>
                  <a:srgbClr val="14213D"/>
                </a:solidFill>
                <a:latin typeface="Calibri" pitchFamily="34" charset="0"/>
                <a:ea typeface="Calibri" pitchFamily="34" charset="-122"/>
                <a:cs typeface="Calibri" pitchFamily="34" charset="-120"/>
              </a:rPr>
              <a:t>Teknologi dijual sebagai proyek sekali jadi, bukan layanan modular yang dijamin operator.</a:t>
            </a:r>
            <a:endParaRPr lang="en-US" sz="660" dirty="0"/>
          </a:p>
        </p:txBody>
      </p:sp>
      <p:sp>
        <p:nvSpPr>
          <p:cNvPr id="105" name="teks-139"/>
          <p:cNvSpPr txBox="1"/>
          <p:nvPr/>
        </p:nvSpPr>
        <p:spPr>
          <a:xfrm>
            <a:off x="5760720" y="3630168"/>
            <a:ext cx="25603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Diagram Ishikawa</a:t>
            </a:r>
            <a:endParaRPr lang="en-US" sz="850" dirty="0"/>
          </a:p>
        </p:txBody>
      </p:sp>
      <p:sp>
        <p:nvSpPr>
          <p:cNvPr id="106" name="garis-140"/>
          <p:cNvSpPr/>
          <p:nvPr/>
        </p:nvSpPr>
        <p:spPr>
          <a:xfrm>
            <a:off x="5760720" y="3822192"/>
            <a:ext cx="2560320" cy="0"/>
          </a:xfrm>
          <a:prstGeom prst="line">
            <a:avLst/>
          </a:prstGeom>
          <a:noFill/>
          <a:ln w="15875">
            <a:solidFill>
              <a:srgbClr val="64BC54"/>
            </a:solidFill>
            <a:prstDash val="solid"/>
          </a:ln>
        </p:spPr>
      </p:sp>
      <p:sp>
        <p:nvSpPr>
          <p:cNvPr id="107" name="garis-141"/>
          <p:cNvSpPr/>
          <p:nvPr/>
        </p:nvSpPr>
        <p:spPr>
          <a:xfrm>
            <a:off x="5806440" y="4828032"/>
            <a:ext cx="2011680" cy="0"/>
          </a:xfrm>
          <a:prstGeom prst="line">
            <a:avLst/>
          </a:prstGeom>
          <a:noFill/>
          <a:ln w="25400">
            <a:solidFill>
              <a:srgbClr val="0C2464"/>
            </a:solidFill>
            <a:prstDash val="solid"/>
            <a:tailEnd type="triangle"/>
          </a:ln>
        </p:spPr>
      </p:sp>
      <p:sp>
        <p:nvSpPr>
          <p:cNvPr id="108" name="kotak-142"/>
          <p:cNvSpPr txBox="1"/>
          <p:nvPr/>
        </p:nvSpPr>
        <p:spPr>
          <a:xfrm>
            <a:off x="7818120" y="4535424"/>
            <a:ext cx="502920" cy="585216"/>
          </a:xfrm>
          <a:prstGeom prst="roundRect">
            <a:avLst>
              <a:gd name="adj" fmla="val 7273"/>
            </a:avLst>
          </a:prstGeom>
          <a:solidFill>
            <a:srgbClr val="C8452F"/>
          </a:solidFill>
          <a:ln>
            <a:solidFill>
              <a:srgbClr val="C8452F"/>
            </a:solidFill>
          </a:ln>
        </p:spPr>
        <p:txBody>
          <a:bodyPr wrap="square" lIns="12700" tIns="12700" rIns="12700" bIns="12700" rtlCol="0" anchor="ctr"/>
          <a:lstStyle/>
          <a:p>
            <a:pPr algn="ctr" indent="0" marL="0">
              <a:buNone/>
            </a:pPr>
            <a:r>
              <a:rPr lang="en-US" sz="630" b="1" dirty="0">
                <a:solidFill>
                  <a:srgbClr val="FFFFFF"/>
                </a:solidFill>
                <a:latin typeface="Calibri" pitchFamily="34" charset="0"/>
                <a:ea typeface="Calibri" pitchFamily="34" charset="-122"/>
                <a:cs typeface="Calibri" pitchFamily="34" charset="-120"/>
              </a:rPr>
              <a:t>Metana POME tidak tertangkap</a:t>
            </a:r>
            <a:endParaRPr lang="en-US" sz="630" dirty="0"/>
          </a:p>
        </p:txBody>
      </p:sp>
      <p:sp>
        <p:nvSpPr>
          <p:cNvPr id="109" name="garis-143"/>
          <p:cNvSpPr/>
          <p:nvPr/>
        </p:nvSpPr>
        <p:spPr>
          <a:xfrm>
            <a:off x="5943600" y="4114800"/>
            <a:ext cx="274320" cy="713232"/>
          </a:xfrm>
          <a:prstGeom prst="line">
            <a:avLst/>
          </a:prstGeom>
          <a:noFill/>
          <a:ln w="15875">
            <a:solidFill>
              <a:srgbClr val="6898C8"/>
            </a:solidFill>
            <a:prstDash val="solid"/>
          </a:ln>
        </p:spPr>
      </p:sp>
      <p:sp>
        <p:nvSpPr>
          <p:cNvPr id="110" name="kotak-144"/>
          <p:cNvSpPr txBox="1"/>
          <p:nvPr/>
        </p:nvSpPr>
        <p:spPr>
          <a:xfrm>
            <a:off x="5660136" y="3858768"/>
            <a:ext cx="566928" cy="155448"/>
          </a:xfrm>
          <a:prstGeom prst="roundRect">
            <a:avLst>
              <a:gd name="adj" fmla="val 17647"/>
            </a:avLst>
          </a:prstGeom>
          <a:solidFill>
            <a:srgbClr val="D8E8F8"/>
          </a:solidFill>
          <a:ln w="9525">
            <a:solidFill>
              <a:srgbClr val="6898C8"/>
            </a:solidFill>
          </a:ln>
        </p:spPr>
        <p:txBody>
          <a:bodyPr wrap="square" lIns="0" tIns="0" rIns="0" bIns="0" rtlCol="0" anchor="ctr"/>
          <a:lstStyle/>
          <a:p>
            <a:pPr algn="ctr" indent="0" marL="0">
              <a:buNone/>
            </a:pPr>
            <a:r>
              <a:rPr lang="en-US" sz="620" b="1" dirty="0">
                <a:solidFill>
                  <a:srgbClr val="0C2464"/>
                </a:solidFill>
                <a:latin typeface="Calibri" pitchFamily="34" charset="0"/>
                <a:ea typeface="Calibri" pitchFamily="34" charset="-122"/>
                <a:cs typeface="Calibri" pitchFamily="34" charset="-120"/>
              </a:rPr>
              <a:t>Teknologi</a:t>
            </a:r>
            <a:endParaRPr lang="en-US" sz="620" dirty="0"/>
          </a:p>
        </p:txBody>
      </p:sp>
      <p:sp>
        <p:nvSpPr>
          <p:cNvPr id="111" name="teks-145"/>
          <p:cNvSpPr txBox="1"/>
          <p:nvPr/>
        </p:nvSpPr>
        <p:spPr>
          <a:xfrm>
            <a:off x="6006905" y="4160520"/>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HRT panjang</a:t>
            </a:r>
            <a:endParaRPr lang="en-US" sz="560" dirty="0"/>
          </a:p>
        </p:txBody>
      </p:sp>
      <p:sp>
        <p:nvSpPr>
          <p:cNvPr id="112" name="teks-146"/>
          <p:cNvSpPr txBox="1"/>
          <p:nvPr/>
        </p:nvSpPr>
        <p:spPr>
          <a:xfrm>
            <a:off x="6105378" y="4416552"/>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H₂S, pasir, minyak</a:t>
            </a:r>
            <a:endParaRPr lang="en-US" sz="560" dirty="0"/>
          </a:p>
        </p:txBody>
      </p:sp>
      <p:sp>
        <p:nvSpPr>
          <p:cNvPr id="113" name="garis-147"/>
          <p:cNvSpPr/>
          <p:nvPr/>
        </p:nvSpPr>
        <p:spPr>
          <a:xfrm>
            <a:off x="6492240" y="4114800"/>
            <a:ext cx="274320" cy="713232"/>
          </a:xfrm>
          <a:prstGeom prst="line">
            <a:avLst/>
          </a:prstGeom>
          <a:noFill/>
          <a:ln w="15875">
            <a:solidFill>
              <a:srgbClr val="6898C8"/>
            </a:solidFill>
            <a:prstDash val="solid"/>
          </a:ln>
        </p:spPr>
      </p:sp>
      <p:sp>
        <p:nvSpPr>
          <p:cNvPr id="114" name="kotak-148"/>
          <p:cNvSpPr txBox="1"/>
          <p:nvPr/>
        </p:nvSpPr>
        <p:spPr>
          <a:xfrm>
            <a:off x="6208776" y="3858768"/>
            <a:ext cx="566928" cy="155448"/>
          </a:xfrm>
          <a:prstGeom prst="roundRect">
            <a:avLst>
              <a:gd name="adj" fmla="val 17647"/>
            </a:avLst>
          </a:prstGeom>
          <a:solidFill>
            <a:srgbClr val="D8E8F8"/>
          </a:solidFill>
          <a:ln w="9525">
            <a:solidFill>
              <a:srgbClr val="6898C8"/>
            </a:solidFill>
          </a:ln>
        </p:spPr>
        <p:txBody>
          <a:bodyPr wrap="square" lIns="0" tIns="0" rIns="0" bIns="0" rtlCol="0" anchor="ctr"/>
          <a:lstStyle/>
          <a:p>
            <a:pPr algn="ctr" indent="0" marL="0">
              <a:buNone/>
            </a:pPr>
            <a:r>
              <a:rPr lang="en-US" sz="620" b="1" dirty="0">
                <a:solidFill>
                  <a:srgbClr val="0C2464"/>
                </a:solidFill>
                <a:latin typeface="Calibri" pitchFamily="34" charset="0"/>
                <a:ea typeface="Calibri" pitchFamily="34" charset="-122"/>
                <a:cs typeface="Calibri" pitchFamily="34" charset="-120"/>
              </a:rPr>
              <a:t>Ekonomi</a:t>
            </a:r>
            <a:endParaRPr lang="en-US" sz="620" dirty="0"/>
          </a:p>
        </p:txBody>
      </p:sp>
      <p:sp>
        <p:nvSpPr>
          <p:cNvPr id="115" name="teks-149"/>
          <p:cNvSpPr txBox="1"/>
          <p:nvPr/>
        </p:nvSpPr>
        <p:spPr>
          <a:xfrm>
            <a:off x="6555545" y="4160520"/>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CAPEX tinggi</a:t>
            </a:r>
            <a:endParaRPr lang="en-US" sz="560" dirty="0"/>
          </a:p>
        </p:txBody>
      </p:sp>
      <p:sp>
        <p:nvSpPr>
          <p:cNvPr id="116" name="teks-150"/>
          <p:cNvSpPr txBox="1"/>
          <p:nvPr/>
        </p:nvSpPr>
        <p:spPr>
          <a:xfrm>
            <a:off x="6654018" y="4416552"/>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tarif, karbon rendah</a:t>
            </a:r>
            <a:endParaRPr lang="en-US" sz="560" dirty="0"/>
          </a:p>
        </p:txBody>
      </p:sp>
      <p:sp>
        <p:nvSpPr>
          <p:cNvPr id="117" name="garis-151"/>
          <p:cNvSpPr/>
          <p:nvPr/>
        </p:nvSpPr>
        <p:spPr>
          <a:xfrm>
            <a:off x="7040880" y="4114800"/>
            <a:ext cx="274320" cy="713232"/>
          </a:xfrm>
          <a:prstGeom prst="line">
            <a:avLst/>
          </a:prstGeom>
          <a:noFill/>
          <a:ln w="15875">
            <a:solidFill>
              <a:srgbClr val="6898C8"/>
            </a:solidFill>
            <a:prstDash val="solid"/>
          </a:ln>
        </p:spPr>
      </p:sp>
      <p:sp>
        <p:nvSpPr>
          <p:cNvPr id="118" name="kotak-152"/>
          <p:cNvSpPr txBox="1"/>
          <p:nvPr/>
        </p:nvSpPr>
        <p:spPr>
          <a:xfrm>
            <a:off x="6757416" y="3858768"/>
            <a:ext cx="566928" cy="155448"/>
          </a:xfrm>
          <a:prstGeom prst="roundRect">
            <a:avLst>
              <a:gd name="adj" fmla="val 17647"/>
            </a:avLst>
          </a:prstGeom>
          <a:solidFill>
            <a:srgbClr val="D8E8F8"/>
          </a:solidFill>
          <a:ln w="9525">
            <a:solidFill>
              <a:srgbClr val="6898C8"/>
            </a:solidFill>
          </a:ln>
        </p:spPr>
        <p:txBody>
          <a:bodyPr wrap="square" lIns="0" tIns="0" rIns="0" bIns="0" rtlCol="0" anchor="ctr"/>
          <a:lstStyle/>
          <a:p>
            <a:pPr algn="ctr" indent="0" marL="0">
              <a:buNone/>
            </a:pPr>
            <a:r>
              <a:rPr lang="en-US" sz="620" b="1" dirty="0">
                <a:solidFill>
                  <a:srgbClr val="0C2464"/>
                </a:solidFill>
                <a:latin typeface="Calibri" pitchFamily="34" charset="0"/>
                <a:ea typeface="Calibri" pitchFamily="34" charset="-122"/>
                <a:cs typeface="Calibri" pitchFamily="34" charset="-120"/>
              </a:rPr>
              <a:t>Regulasi</a:t>
            </a:r>
            <a:endParaRPr lang="en-US" sz="620" dirty="0"/>
          </a:p>
        </p:txBody>
      </p:sp>
      <p:sp>
        <p:nvSpPr>
          <p:cNvPr id="119" name="teks-153"/>
          <p:cNvSpPr txBox="1"/>
          <p:nvPr/>
        </p:nvSpPr>
        <p:spPr>
          <a:xfrm>
            <a:off x="7104185" y="4160520"/>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tanpa mandat</a:t>
            </a:r>
            <a:endParaRPr lang="en-US" sz="560" dirty="0"/>
          </a:p>
        </p:txBody>
      </p:sp>
      <p:sp>
        <p:nvSpPr>
          <p:cNvPr id="120" name="teks-154"/>
          <p:cNvSpPr txBox="1"/>
          <p:nvPr/>
        </p:nvSpPr>
        <p:spPr>
          <a:xfrm>
            <a:off x="7202658" y="4416552"/>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izin jual listrik</a:t>
            </a:r>
            <a:endParaRPr lang="en-US" sz="560" dirty="0"/>
          </a:p>
        </p:txBody>
      </p:sp>
      <p:sp>
        <p:nvSpPr>
          <p:cNvPr id="121" name="garis-155"/>
          <p:cNvSpPr/>
          <p:nvPr/>
        </p:nvSpPr>
        <p:spPr>
          <a:xfrm flipV="1">
            <a:off x="5943600" y="4828032"/>
            <a:ext cx="274320" cy="704088"/>
          </a:xfrm>
          <a:prstGeom prst="line">
            <a:avLst/>
          </a:prstGeom>
          <a:noFill/>
          <a:ln w="15875">
            <a:solidFill>
              <a:srgbClr val="6898C8"/>
            </a:solidFill>
            <a:prstDash val="solid"/>
          </a:ln>
        </p:spPr>
      </p:sp>
      <p:sp>
        <p:nvSpPr>
          <p:cNvPr id="122" name="kotak-156"/>
          <p:cNvSpPr txBox="1"/>
          <p:nvPr/>
        </p:nvSpPr>
        <p:spPr>
          <a:xfrm>
            <a:off x="5660136" y="5550408"/>
            <a:ext cx="566928" cy="155448"/>
          </a:xfrm>
          <a:prstGeom prst="roundRect">
            <a:avLst>
              <a:gd name="adj" fmla="val 17647"/>
            </a:avLst>
          </a:prstGeom>
          <a:solidFill>
            <a:srgbClr val="D8E8F8"/>
          </a:solidFill>
          <a:ln w="9525">
            <a:solidFill>
              <a:srgbClr val="6898C8"/>
            </a:solidFill>
          </a:ln>
        </p:spPr>
        <p:txBody>
          <a:bodyPr wrap="square" lIns="0" tIns="0" rIns="0" bIns="0" rtlCol="0" anchor="ctr"/>
          <a:lstStyle/>
          <a:p>
            <a:pPr algn="ctr" indent="0" marL="0">
              <a:buNone/>
            </a:pPr>
            <a:r>
              <a:rPr lang="en-US" sz="620" b="1" dirty="0">
                <a:solidFill>
                  <a:srgbClr val="0C2464"/>
                </a:solidFill>
                <a:latin typeface="Calibri" pitchFamily="34" charset="0"/>
                <a:ea typeface="Calibri" pitchFamily="34" charset="-122"/>
                <a:cs typeface="Calibri" pitchFamily="34" charset="-120"/>
              </a:rPr>
              <a:t>Infrastruktur</a:t>
            </a:r>
            <a:endParaRPr lang="en-US" sz="620" dirty="0"/>
          </a:p>
        </p:txBody>
      </p:sp>
      <p:sp>
        <p:nvSpPr>
          <p:cNvPr id="123" name="teks-157"/>
          <p:cNvSpPr txBox="1"/>
          <p:nvPr/>
        </p:nvSpPr>
        <p:spPr>
          <a:xfrm>
            <a:off x="6185263" y="5029200"/>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jaringan 20 kV jauh</a:t>
            </a:r>
            <a:endParaRPr lang="en-US" sz="560" dirty="0"/>
          </a:p>
        </p:txBody>
      </p:sp>
      <p:sp>
        <p:nvSpPr>
          <p:cNvPr id="124" name="teks-158"/>
          <p:cNvSpPr txBox="1"/>
          <p:nvPr/>
        </p:nvSpPr>
        <p:spPr>
          <a:xfrm>
            <a:off x="6085510" y="5285232"/>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lahan terbatas</a:t>
            </a:r>
            <a:endParaRPr lang="en-US" sz="560" dirty="0"/>
          </a:p>
        </p:txBody>
      </p:sp>
      <p:sp>
        <p:nvSpPr>
          <p:cNvPr id="125" name="garis-159"/>
          <p:cNvSpPr/>
          <p:nvPr/>
        </p:nvSpPr>
        <p:spPr>
          <a:xfrm flipV="1">
            <a:off x="6492240" y="4828032"/>
            <a:ext cx="274320" cy="704088"/>
          </a:xfrm>
          <a:prstGeom prst="line">
            <a:avLst/>
          </a:prstGeom>
          <a:noFill/>
          <a:ln w="15875">
            <a:solidFill>
              <a:srgbClr val="6898C8"/>
            </a:solidFill>
            <a:prstDash val="solid"/>
          </a:ln>
        </p:spPr>
      </p:sp>
      <p:sp>
        <p:nvSpPr>
          <p:cNvPr id="126" name="kotak-160"/>
          <p:cNvSpPr txBox="1"/>
          <p:nvPr/>
        </p:nvSpPr>
        <p:spPr>
          <a:xfrm>
            <a:off x="6208776" y="5550408"/>
            <a:ext cx="566928" cy="155448"/>
          </a:xfrm>
          <a:prstGeom prst="roundRect">
            <a:avLst>
              <a:gd name="adj" fmla="val 17647"/>
            </a:avLst>
          </a:prstGeom>
          <a:solidFill>
            <a:srgbClr val="D8E8F8"/>
          </a:solidFill>
          <a:ln w="9525">
            <a:solidFill>
              <a:srgbClr val="6898C8"/>
            </a:solidFill>
          </a:ln>
        </p:spPr>
        <p:txBody>
          <a:bodyPr wrap="square" lIns="0" tIns="0" rIns="0" bIns="0" rtlCol="0" anchor="ctr"/>
          <a:lstStyle/>
          <a:p>
            <a:pPr algn="ctr" indent="0" marL="0">
              <a:buNone/>
            </a:pPr>
            <a:r>
              <a:rPr lang="en-US" sz="620" b="1" dirty="0">
                <a:solidFill>
                  <a:srgbClr val="0C2464"/>
                </a:solidFill>
                <a:latin typeface="Calibri" pitchFamily="34" charset="0"/>
                <a:ea typeface="Calibri" pitchFamily="34" charset="-122"/>
                <a:cs typeface="Calibri" pitchFamily="34" charset="-120"/>
              </a:rPr>
              <a:t>Operasional</a:t>
            </a:r>
            <a:endParaRPr lang="en-US" sz="620" dirty="0"/>
          </a:p>
        </p:txBody>
      </p:sp>
      <p:sp>
        <p:nvSpPr>
          <p:cNvPr id="127" name="teks-161"/>
          <p:cNvSpPr txBox="1"/>
          <p:nvPr/>
        </p:nvSpPr>
        <p:spPr>
          <a:xfrm>
            <a:off x="6733903" y="5029200"/>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beban TBS 50–80%</a:t>
            </a:r>
            <a:endParaRPr lang="en-US" sz="560" dirty="0"/>
          </a:p>
        </p:txBody>
      </p:sp>
      <p:sp>
        <p:nvSpPr>
          <p:cNvPr id="128" name="teks-162"/>
          <p:cNvSpPr txBox="1"/>
          <p:nvPr/>
        </p:nvSpPr>
        <p:spPr>
          <a:xfrm>
            <a:off x="6634150" y="5285232"/>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musiman ±25%</a:t>
            </a:r>
            <a:endParaRPr lang="en-US" sz="560" dirty="0"/>
          </a:p>
        </p:txBody>
      </p:sp>
      <p:sp>
        <p:nvSpPr>
          <p:cNvPr id="129" name="garis-163"/>
          <p:cNvSpPr/>
          <p:nvPr/>
        </p:nvSpPr>
        <p:spPr>
          <a:xfrm flipV="1">
            <a:off x="7040880" y="4828032"/>
            <a:ext cx="274320" cy="704088"/>
          </a:xfrm>
          <a:prstGeom prst="line">
            <a:avLst/>
          </a:prstGeom>
          <a:noFill/>
          <a:ln w="15875">
            <a:solidFill>
              <a:srgbClr val="6898C8"/>
            </a:solidFill>
            <a:prstDash val="solid"/>
          </a:ln>
        </p:spPr>
      </p:sp>
      <p:sp>
        <p:nvSpPr>
          <p:cNvPr id="130" name="kotak-164"/>
          <p:cNvSpPr txBox="1"/>
          <p:nvPr/>
        </p:nvSpPr>
        <p:spPr>
          <a:xfrm>
            <a:off x="6757416" y="5550408"/>
            <a:ext cx="566928" cy="155448"/>
          </a:xfrm>
          <a:prstGeom prst="roundRect">
            <a:avLst>
              <a:gd name="adj" fmla="val 17647"/>
            </a:avLst>
          </a:prstGeom>
          <a:solidFill>
            <a:srgbClr val="D8E8F8"/>
          </a:solidFill>
          <a:ln w="9525">
            <a:solidFill>
              <a:srgbClr val="6898C8"/>
            </a:solidFill>
          </a:ln>
        </p:spPr>
        <p:txBody>
          <a:bodyPr wrap="square" lIns="0" tIns="0" rIns="0" bIns="0" rtlCol="0" anchor="ctr"/>
          <a:lstStyle/>
          <a:p>
            <a:pPr algn="ctr" indent="0" marL="0">
              <a:buNone/>
            </a:pPr>
            <a:r>
              <a:rPr lang="en-US" sz="620" b="1" dirty="0">
                <a:solidFill>
                  <a:srgbClr val="0C2464"/>
                </a:solidFill>
                <a:latin typeface="Calibri" pitchFamily="34" charset="0"/>
                <a:ea typeface="Calibri" pitchFamily="34" charset="-122"/>
                <a:cs typeface="Calibri" pitchFamily="34" charset="-120"/>
              </a:rPr>
              <a:t>Perilaku</a:t>
            </a:r>
            <a:endParaRPr lang="en-US" sz="620" dirty="0"/>
          </a:p>
        </p:txBody>
      </p:sp>
      <p:sp>
        <p:nvSpPr>
          <p:cNvPr id="131" name="teks-165"/>
          <p:cNvSpPr txBox="1"/>
          <p:nvPr/>
        </p:nvSpPr>
        <p:spPr>
          <a:xfrm>
            <a:off x="7282543" y="5029200"/>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POME = limbah</a:t>
            </a:r>
            <a:endParaRPr lang="en-US" sz="560" dirty="0"/>
          </a:p>
        </p:txBody>
      </p:sp>
      <p:sp>
        <p:nvSpPr>
          <p:cNvPr id="132" name="teks-166"/>
          <p:cNvSpPr txBox="1"/>
          <p:nvPr/>
        </p:nvSpPr>
        <p:spPr>
          <a:xfrm>
            <a:off x="7182790" y="5285232"/>
            <a:ext cx="530352" cy="237744"/>
          </a:xfrm>
          <a:prstGeom prst="rect">
            <a:avLst/>
          </a:prstGeom>
          <a:noFill/>
          <a:ln/>
        </p:spPr>
        <p:txBody>
          <a:bodyPr wrap="square" lIns="0" tIns="0" rIns="0" bIns="0" rtlCol="0" anchor="t"/>
          <a:lstStyle/>
          <a:p>
            <a:pPr indent="0" marL="0">
              <a:buNone/>
            </a:pPr>
            <a:r>
              <a:rPr lang="en-US" sz="560" dirty="0">
                <a:solidFill>
                  <a:srgbClr val="14213D"/>
                </a:solidFill>
                <a:latin typeface="Calibri" pitchFamily="34" charset="0"/>
                <a:ea typeface="Calibri" pitchFamily="34" charset="-122"/>
                <a:cs typeface="Calibri" pitchFamily="34" charset="-120"/>
              </a:rPr>
              <a:t>tanpa data terukur</a:t>
            </a:r>
            <a:endParaRPr lang="en-US" sz="560" dirty="0"/>
          </a:p>
        </p:txBody>
      </p:sp>
      <p:sp>
        <p:nvSpPr>
          <p:cNvPr id="133" name="teks-167"/>
          <p:cNvSpPr txBox="1"/>
          <p:nvPr/>
        </p:nvSpPr>
        <p:spPr>
          <a:xfrm>
            <a:off x="8458200" y="1078992"/>
            <a:ext cx="338328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Pohon solusi dan alternatif (A–G)</a:t>
            </a:r>
            <a:endParaRPr lang="en-US" sz="850" dirty="0"/>
          </a:p>
        </p:txBody>
      </p:sp>
      <p:sp>
        <p:nvSpPr>
          <p:cNvPr id="134" name="garis-168"/>
          <p:cNvSpPr/>
          <p:nvPr/>
        </p:nvSpPr>
        <p:spPr>
          <a:xfrm>
            <a:off x="8458200" y="1271016"/>
            <a:ext cx="3383280" cy="0"/>
          </a:xfrm>
          <a:prstGeom prst="line">
            <a:avLst/>
          </a:prstGeom>
          <a:noFill/>
          <a:ln w="15875">
            <a:solidFill>
              <a:srgbClr val="64BC54"/>
            </a:solidFill>
            <a:prstDash val="solid"/>
          </a:ln>
        </p:spPr>
      </p:sp>
      <p:sp>
        <p:nvSpPr>
          <p:cNvPr id="135" name="kotak-169"/>
          <p:cNvSpPr txBox="1"/>
          <p:nvPr/>
        </p:nvSpPr>
        <p:spPr>
          <a:xfrm>
            <a:off x="8458200" y="1417320"/>
            <a:ext cx="713232" cy="457200"/>
          </a:xfrm>
          <a:prstGeom prst="roundRect">
            <a:avLst>
              <a:gd name="adj" fmla="val 8000"/>
            </a:avLst>
          </a:prstGeom>
          <a:solidFill>
            <a:srgbClr val="0C2464"/>
          </a:solidFill>
          <a:ln>
            <a:solidFill>
              <a:srgbClr val="0C2464"/>
            </a:solidFill>
          </a:ln>
        </p:spPr>
        <p:txBody>
          <a:bodyPr wrap="square" lIns="12700" tIns="38100" rIns="38100" bIns="12700" rtlCol="0" anchor="ctr"/>
          <a:lstStyle/>
          <a:p>
            <a:pPr algn="ctr" indent="0" marL="0">
              <a:buNone/>
            </a:pPr>
            <a:r>
              <a:rPr lang="en-US" sz="680" b="1" dirty="0">
                <a:solidFill>
                  <a:srgbClr val="FFFFFF"/>
                </a:solidFill>
                <a:latin typeface="Calibri" pitchFamily="34" charset="0"/>
                <a:ea typeface="Calibri" pitchFamily="34" charset="-122"/>
                <a:cs typeface="Calibri" pitchFamily="34" charset="-120"/>
              </a:rPr>
              <a:t>Tangkap metana POME</a:t>
            </a:r>
            <a:endParaRPr lang="en-US" sz="680" dirty="0"/>
          </a:p>
        </p:txBody>
      </p:sp>
      <p:sp>
        <p:nvSpPr>
          <p:cNvPr id="136" name="kotak-170"/>
          <p:cNvSpPr txBox="1"/>
          <p:nvPr/>
        </p:nvSpPr>
        <p:spPr>
          <a:xfrm>
            <a:off x="9326880" y="1325880"/>
            <a:ext cx="566928" cy="201168"/>
          </a:xfrm>
          <a:prstGeom prst="roundRect">
            <a:avLst>
              <a:gd name="adj" fmla="val 13636"/>
            </a:avLst>
          </a:prstGeom>
          <a:solidFill>
            <a:srgbClr val="D8E8F8"/>
          </a:solidFill>
          <a:ln w="9525">
            <a:solidFill>
              <a:srgbClr val="6898C8"/>
            </a:solidFill>
          </a:ln>
        </p:spPr>
        <p:txBody>
          <a:bodyPr wrap="square" lIns="0" tIns="0" rIns="0" bIns="0" rtlCol="0" anchor="ctr"/>
          <a:lstStyle/>
          <a:p>
            <a:pPr algn="ctr" indent="0" marL="0">
              <a:buNone/>
            </a:pPr>
            <a:r>
              <a:rPr lang="en-US" sz="680" b="1" dirty="0">
                <a:solidFill>
                  <a:srgbClr val="0C2464"/>
                </a:solidFill>
                <a:latin typeface="Calibri" pitchFamily="34" charset="0"/>
                <a:ea typeface="Calibri" pitchFamily="34" charset="-122"/>
                <a:cs typeface="Calibri" pitchFamily="34" charset="-120"/>
              </a:rPr>
              <a:t>Teknologi</a:t>
            </a:r>
            <a:endParaRPr lang="en-US" sz="680" dirty="0"/>
          </a:p>
        </p:txBody>
      </p:sp>
      <p:sp>
        <p:nvSpPr>
          <p:cNvPr id="137" name="kotak-171"/>
          <p:cNvSpPr txBox="1"/>
          <p:nvPr/>
        </p:nvSpPr>
        <p:spPr>
          <a:xfrm>
            <a:off x="9326880" y="1783080"/>
            <a:ext cx="566928" cy="201168"/>
          </a:xfrm>
          <a:prstGeom prst="roundRect">
            <a:avLst>
              <a:gd name="adj" fmla="val 13636"/>
            </a:avLst>
          </a:prstGeom>
          <a:solidFill>
            <a:srgbClr val="D8E8F8"/>
          </a:solidFill>
          <a:ln w="9525">
            <a:solidFill>
              <a:srgbClr val="6898C8"/>
            </a:solidFill>
          </a:ln>
        </p:spPr>
        <p:txBody>
          <a:bodyPr wrap="square" lIns="0" tIns="0" rIns="0" bIns="0" rtlCol="0" anchor="ctr"/>
          <a:lstStyle/>
          <a:p>
            <a:pPr algn="ctr" indent="0" marL="0">
              <a:buNone/>
            </a:pPr>
            <a:r>
              <a:rPr lang="en-US" sz="650" b="1" dirty="0">
                <a:solidFill>
                  <a:srgbClr val="0C2464"/>
                </a:solidFill>
                <a:latin typeface="Calibri" pitchFamily="34" charset="0"/>
                <a:ea typeface="Calibri" pitchFamily="34" charset="-122"/>
                <a:cs typeface="Calibri" pitchFamily="34" charset="-120"/>
              </a:rPr>
              <a:t>Penyampaian</a:t>
            </a:r>
            <a:endParaRPr lang="en-US" sz="650" dirty="0"/>
          </a:p>
        </p:txBody>
      </p:sp>
      <p:sp>
        <p:nvSpPr>
          <p:cNvPr id="138" name="garis-172"/>
          <p:cNvSpPr/>
          <p:nvPr/>
        </p:nvSpPr>
        <p:spPr>
          <a:xfrm>
            <a:off x="9171432" y="1645920"/>
            <a:ext cx="73152" cy="0"/>
          </a:xfrm>
          <a:prstGeom prst="line">
            <a:avLst/>
          </a:prstGeom>
          <a:noFill/>
          <a:ln w="12700">
            <a:solidFill>
              <a:srgbClr val="587888"/>
            </a:solidFill>
            <a:prstDash val="solid"/>
          </a:ln>
        </p:spPr>
      </p:sp>
      <p:sp>
        <p:nvSpPr>
          <p:cNvPr id="139" name="garis-173"/>
          <p:cNvSpPr/>
          <p:nvPr/>
        </p:nvSpPr>
        <p:spPr>
          <a:xfrm>
            <a:off x="9244584" y="1426464"/>
            <a:ext cx="0" cy="219456"/>
          </a:xfrm>
          <a:prstGeom prst="line">
            <a:avLst/>
          </a:prstGeom>
          <a:noFill/>
          <a:ln w="12700">
            <a:solidFill>
              <a:srgbClr val="587888"/>
            </a:solidFill>
            <a:prstDash val="solid"/>
          </a:ln>
        </p:spPr>
      </p:sp>
      <p:sp>
        <p:nvSpPr>
          <p:cNvPr id="140" name="garis-174"/>
          <p:cNvSpPr/>
          <p:nvPr/>
        </p:nvSpPr>
        <p:spPr>
          <a:xfrm>
            <a:off x="9244584" y="1426464"/>
            <a:ext cx="82296" cy="0"/>
          </a:xfrm>
          <a:prstGeom prst="line">
            <a:avLst/>
          </a:prstGeom>
          <a:noFill/>
          <a:ln w="12700">
            <a:solidFill>
              <a:srgbClr val="587888"/>
            </a:solidFill>
            <a:prstDash val="solid"/>
          </a:ln>
        </p:spPr>
      </p:sp>
      <p:sp>
        <p:nvSpPr>
          <p:cNvPr id="141" name="garis-175"/>
          <p:cNvSpPr/>
          <p:nvPr/>
        </p:nvSpPr>
        <p:spPr>
          <a:xfrm>
            <a:off x="9171432" y="1645920"/>
            <a:ext cx="73152" cy="0"/>
          </a:xfrm>
          <a:prstGeom prst="line">
            <a:avLst/>
          </a:prstGeom>
          <a:noFill/>
          <a:ln w="12700">
            <a:solidFill>
              <a:srgbClr val="587888"/>
            </a:solidFill>
            <a:prstDash val="solid"/>
          </a:ln>
        </p:spPr>
      </p:sp>
      <p:sp>
        <p:nvSpPr>
          <p:cNvPr id="142" name="garis-176"/>
          <p:cNvSpPr/>
          <p:nvPr/>
        </p:nvSpPr>
        <p:spPr>
          <a:xfrm>
            <a:off x="9244584" y="1645920"/>
            <a:ext cx="0" cy="237744"/>
          </a:xfrm>
          <a:prstGeom prst="line">
            <a:avLst/>
          </a:prstGeom>
          <a:noFill/>
          <a:ln w="12700">
            <a:solidFill>
              <a:srgbClr val="587888"/>
            </a:solidFill>
            <a:prstDash val="solid"/>
          </a:ln>
        </p:spPr>
      </p:sp>
      <p:sp>
        <p:nvSpPr>
          <p:cNvPr id="143" name="garis-177"/>
          <p:cNvSpPr/>
          <p:nvPr/>
        </p:nvSpPr>
        <p:spPr>
          <a:xfrm>
            <a:off x="9244584" y="1883664"/>
            <a:ext cx="82296" cy="0"/>
          </a:xfrm>
          <a:prstGeom prst="line">
            <a:avLst/>
          </a:prstGeom>
          <a:noFill/>
          <a:ln w="12700">
            <a:solidFill>
              <a:srgbClr val="587888"/>
            </a:solidFill>
            <a:prstDash val="solid"/>
          </a:ln>
        </p:spPr>
      </p:sp>
      <p:sp>
        <p:nvSpPr>
          <p:cNvPr id="144" name="kotak-178"/>
          <p:cNvSpPr txBox="1"/>
          <p:nvPr/>
        </p:nvSpPr>
        <p:spPr>
          <a:xfrm>
            <a:off x="10012680" y="1243584"/>
            <a:ext cx="594360" cy="201168"/>
          </a:xfrm>
          <a:prstGeom prst="roundRect">
            <a:avLst>
              <a:gd name="adj" fmla="val 13636"/>
            </a:avLst>
          </a:prstGeom>
          <a:solidFill>
            <a:srgbClr val="FFFFFF"/>
          </a:solidFill>
          <a:ln w="9525">
            <a:solidFill>
              <a:srgbClr val="6898C8"/>
            </a:solidFill>
          </a:ln>
        </p:spPr>
        <p:txBody>
          <a:bodyPr wrap="square" lIns="0" tIns="0" rIns="0" bIns="0" rtlCol="0" anchor="ctr"/>
          <a:lstStyle/>
          <a:p>
            <a:pPr algn="ctr" indent="0" marL="0">
              <a:buNone/>
            </a:pPr>
            <a:r>
              <a:rPr lang="en-US" sz="570" dirty="0">
                <a:solidFill>
                  <a:srgbClr val="14213D"/>
                </a:solidFill>
                <a:latin typeface="Calibri" pitchFamily="34" charset="0"/>
                <a:ea typeface="Calibri" pitchFamily="34" charset="-122"/>
                <a:cs typeface="Calibri" pitchFamily="34" charset="-120"/>
              </a:rPr>
              <a:t>A Status quo</a:t>
            </a:r>
            <a:endParaRPr lang="en-US" sz="570" dirty="0"/>
          </a:p>
        </p:txBody>
      </p:sp>
      <p:sp>
        <p:nvSpPr>
          <p:cNvPr id="145" name="kotak-179"/>
          <p:cNvSpPr txBox="1"/>
          <p:nvPr/>
        </p:nvSpPr>
        <p:spPr>
          <a:xfrm>
            <a:off x="10625328" y="1243584"/>
            <a:ext cx="594360" cy="201168"/>
          </a:xfrm>
          <a:prstGeom prst="roundRect">
            <a:avLst>
              <a:gd name="adj" fmla="val 13636"/>
            </a:avLst>
          </a:prstGeom>
          <a:solidFill>
            <a:srgbClr val="FFFFFF"/>
          </a:solidFill>
          <a:ln w="9525">
            <a:solidFill>
              <a:srgbClr val="6898C8"/>
            </a:solidFill>
          </a:ln>
        </p:spPr>
        <p:txBody>
          <a:bodyPr wrap="square" lIns="0" tIns="0" rIns="0" bIns="0" rtlCol="0" anchor="ctr"/>
          <a:lstStyle/>
          <a:p>
            <a:pPr algn="ctr" indent="0" marL="0">
              <a:buNone/>
            </a:pPr>
            <a:r>
              <a:rPr lang="en-US" sz="570" dirty="0">
                <a:solidFill>
                  <a:srgbClr val="14213D"/>
                </a:solidFill>
                <a:latin typeface="Calibri" pitchFamily="34" charset="0"/>
                <a:ea typeface="Calibri" pitchFamily="34" charset="-122"/>
                <a:cs typeface="Calibri" pitchFamily="34" charset="-120"/>
              </a:rPr>
              <a:t>B Lagun tertutup</a:t>
            </a:r>
            <a:endParaRPr lang="en-US" sz="570" dirty="0"/>
          </a:p>
        </p:txBody>
      </p:sp>
      <p:sp>
        <p:nvSpPr>
          <p:cNvPr id="146" name="kotak-180"/>
          <p:cNvSpPr txBox="1"/>
          <p:nvPr/>
        </p:nvSpPr>
        <p:spPr>
          <a:xfrm>
            <a:off x="11237976" y="1243584"/>
            <a:ext cx="594360" cy="201168"/>
          </a:xfrm>
          <a:prstGeom prst="roundRect">
            <a:avLst>
              <a:gd name="adj" fmla="val 13636"/>
            </a:avLst>
          </a:prstGeom>
          <a:solidFill>
            <a:srgbClr val="FFFFFF"/>
          </a:solidFill>
          <a:ln w="9525">
            <a:solidFill>
              <a:srgbClr val="6898C8"/>
            </a:solidFill>
          </a:ln>
        </p:spPr>
        <p:txBody>
          <a:bodyPr wrap="square" lIns="0" tIns="0" rIns="0" bIns="0" rtlCol="0" anchor="ctr"/>
          <a:lstStyle/>
          <a:p>
            <a:pPr algn="ctr" indent="0" marL="0">
              <a:buNone/>
            </a:pPr>
            <a:r>
              <a:rPr lang="en-US" sz="570" dirty="0">
                <a:solidFill>
                  <a:srgbClr val="14213D"/>
                </a:solidFill>
                <a:latin typeface="Calibri" pitchFamily="34" charset="0"/>
                <a:ea typeface="Calibri" pitchFamily="34" charset="-122"/>
                <a:cs typeface="Calibri" pitchFamily="34" charset="-120"/>
              </a:rPr>
              <a:t>C CSTR mesofilik</a:t>
            </a:r>
            <a:endParaRPr lang="en-US" sz="570" dirty="0"/>
          </a:p>
        </p:txBody>
      </p:sp>
      <p:sp>
        <p:nvSpPr>
          <p:cNvPr id="147" name="kotak-181"/>
          <p:cNvSpPr txBox="1"/>
          <p:nvPr/>
        </p:nvSpPr>
        <p:spPr>
          <a:xfrm>
            <a:off x="10012680" y="1463040"/>
            <a:ext cx="594360" cy="201168"/>
          </a:xfrm>
          <a:prstGeom prst="roundRect">
            <a:avLst>
              <a:gd name="adj" fmla="val 13636"/>
            </a:avLst>
          </a:prstGeom>
          <a:solidFill>
            <a:srgbClr val="FFFFFF"/>
          </a:solidFill>
          <a:ln w="9525">
            <a:solidFill>
              <a:srgbClr val="6898C8"/>
            </a:solidFill>
          </a:ln>
        </p:spPr>
        <p:txBody>
          <a:bodyPr wrap="square" lIns="0" tIns="0" rIns="0" bIns="0" rtlCol="0" anchor="ctr"/>
          <a:lstStyle/>
          <a:p>
            <a:pPr algn="ctr" indent="0" marL="0">
              <a:buNone/>
            </a:pPr>
            <a:r>
              <a:rPr lang="en-US" sz="570" dirty="0">
                <a:solidFill>
                  <a:srgbClr val="14213D"/>
                </a:solidFill>
                <a:latin typeface="Calibri" pitchFamily="34" charset="0"/>
                <a:ea typeface="Calibri" pitchFamily="34" charset="-122"/>
                <a:cs typeface="Calibri" pitchFamily="34" charset="-120"/>
              </a:rPr>
              <a:t>E UASB/IC</a:t>
            </a:r>
            <a:endParaRPr lang="en-US" sz="570" dirty="0"/>
          </a:p>
        </p:txBody>
      </p:sp>
      <p:sp>
        <p:nvSpPr>
          <p:cNvPr id="148" name="kotak-182"/>
          <p:cNvSpPr txBox="1"/>
          <p:nvPr/>
        </p:nvSpPr>
        <p:spPr>
          <a:xfrm>
            <a:off x="10625328" y="1463040"/>
            <a:ext cx="594360" cy="201168"/>
          </a:xfrm>
          <a:prstGeom prst="roundRect">
            <a:avLst>
              <a:gd name="adj" fmla="val 13636"/>
            </a:avLst>
          </a:prstGeom>
          <a:solidFill>
            <a:srgbClr val="FFFFFF"/>
          </a:solidFill>
          <a:ln w="9525">
            <a:solidFill>
              <a:srgbClr val="6898C8"/>
            </a:solidFill>
          </a:ln>
        </p:spPr>
        <p:txBody>
          <a:bodyPr wrap="square" lIns="0" tIns="0" rIns="0" bIns="0" rtlCol="0" anchor="ctr"/>
          <a:lstStyle/>
          <a:p>
            <a:pPr algn="ctr" indent="0" marL="0">
              <a:buNone/>
            </a:pPr>
            <a:r>
              <a:rPr lang="en-US" sz="570" dirty="0">
                <a:solidFill>
                  <a:srgbClr val="14213D"/>
                </a:solidFill>
                <a:latin typeface="Calibri" pitchFamily="34" charset="0"/>
                <a:ea typeface="Calibri" pitchFamily="34" charset="-122"/>
                <a:cs typeface="Calibri" pitchFamily="34" charset="-120"/>
              </a:rPr>
              <a:t>F AnMBR</a:t>
            </a:r>
            <a:endParaRPr lang="en-US" sz="570" dirty="0"/>
          </a:p>
        </p:txBody>
      </p:sp>
      <p:sp>
        <p:nvSpPr>
          <p:cNvPr id="149" name="kotak-183"/>
          <p:cNvSpPr txBox="1"/>
          <p:nvPr/>
        </p:nvSpPr>
        <p:spPr>
          <a:xfrm>
            <a:off x="11237976" y="1463040"/>
            <a:ext cx="594360" cy="201168"/>
          </a:xfrm>
          <a:prstGeom prst="roundRect">
            <a:avLst>
              <a:gd name="adj" fmla="val 13636"/>
            </a:avLst>
          </a:prstGeom>
          <a:solidFill>
            <a:srgbClr val="3E8E41"/>
          </a:solidFill>
          <a:ln w="9525">
            <a:solidFill>
              <a:srgbClr val="3E8E41"/>
            </a:solidFill>
          </a:ln>
        </p:spPr>
        <p:txBody>
          <a:bodyPr wrap="square" lIns="0" tIns="0" rIns="0" bIns="0" rtlCol="0" anchor="ctr"/>
          <a:lstStyle/>
          <a:p>
            <a:pPr algn="ctr" indent="0" marL="0">
              <a:buNone/>
            </a:pPr>
            <a:r>
              <a:rPr lang="en-US" sz="570" b="1" dirty="0">
                <a:solidFill>
                  <a:srgbClr val="FFFFFF"/>
                </a:solidFill>
                <a:latin typeface="Calibri" pitchFamily="34" charset="0"/>
                <a:ea typeface="Calibri" pitchFamily="34" charset="-122"/>
                <a:cs typeface="Calibri" pitchFamily="34" charset="-120"/>
              </a:rPr>
              <a:t>G Kontak termofilik</a:t>
            </a:r>
            <a:endParaRPr lang="en-US" sz="570" dirty="0"/>
          </a:p>
        </p:txBody>
      </p:sp>
      <p:sp>
        <p:nvSpPr>
          <p:cNvPr id="150" name="kotak-184"/>
          <p:cNvSpPr txBox="1"/>
          <p:nvPr/>
        </p:nvSpPr>
        <p:spPr>
          <a:xfrm>
            <a:off x="10012680" y="1737360"/>
            <a:ext cx="594360" cy="274320"/>
          </a:xfrm>
          <a:prstGeom prst="roundRect">
            <a:avLst>
              <a:gd name="adj" fmla="val 10000"/>
            </a:avLst>
          </a:prstGeom>
          <a:solidFill>
            <a:srgbClr val="FFFFFF"/>
          </a:solidFill>
          <a:ln w="9525">
            <a:solidFill>
              <a:srgbClr val="6898C8"/>
            </a:solidFill>
          </a:ln>
        </p:spPr>
        <p:txBody>
          <a:bodyPr wrap="square" lIns="0" tIns="0" rIns="0" bIns="0" rtlCol="0" anchor="ctr"/>
          <a:lstStyle/>
          <a:p>
            <a:pPr algn="ctr" indent="0" marL="0">
              <a:buNone/>
            </a:pPr>
            <a:r>
              <a:rPr lang="en-US" sz="570" dirty="0">
                <a:solidFill>
                  <a:srgbClr val="14213D"/>
                </a:solidFill>
                <a:latin typeface="Calibri" pitchFamily="34" charset="0"/>
                <a:ea typeface="Calibri" pitchFamily="34" charset="-122"/>
                <a:cs typeface="Calibri" pitchFamily="34" charset="-120"/>
              </a:rPr>
              <a:t>Milik PKS (EPC): B, C, E, F</a:t>
            </a:r>
            <a:endParaRPr lang="en-US" sz="570" dirty="0"/>
          </a:p>
        </p:txBody>
      </p:sp>
      <p:sp>
        <p:nvSpPr>
          <p:cNvPr id="151" name="kotak-185"/>
          <p:cNvSpPr txBox="1"/>
          <p:nvPr/>
        </p:nvSpPr>
        <p:spPr>
          <a:xfrm>
            <a:off x="10625328" y="1737360"/>
            <a:ext cx="594360" cy="274320"/>
          </a:xfrm>
          <a:prstGeom prst="roundRect">
            <a:avLst>
              <a:gd name="adj" fmla="val 10000"/>
            </a:avLst>
          </a:prstGeom>
          <a:solidFill>
            <a:srgbClr val="3E8E41"/>
          </a:solidFill>
          <a:ln w="9525">
            <a:solidFill>
              <a:srgbClr val="3E8E41"/>
            </a:solidFill>
          </a:ln>
        </p:spPr>
        <p:txBody>
          <a:bodyPr wrap="square" lIns="0" tIns="0" rIns="0" bIns="0" rtlCol="0" anchor="ctr"/>
          <a:lstStyle/>
          <a:p>
            <a:pPr algn="ctr" indent="0" marL="0">
              <a:buNone/>
            </a:pPr>
            <a:r>
              <a:rPr lang="en-US" sz="570" b="1" dirty="0">
                <a:solidFill>
                  <a:srgbClr val="FFFFFF"/>
                </a:solidFill>
                <a:latin typeface="Calibri" pitchFamily="34" charset="0"/>
                <a:ea typeface="Calibri" pitchFamily="34" charset="-122"/>
                <a:cs typeface="Calibri" pitchFamily="34" charset="-120"/>
              </a:rPr>
              <a:t>Layanan BOO: G</a:t>
            </a:r>
            <a:endParaRPr lang="en-US" sz="570" dirty="0"/>
          </a:p>
        </p:txBody>
      </p:sp>
      <p:sp>
        <p:nvSpPr>
          <p:cNvPr id="152" name="kotak-186"/>
          <p:cNvSpPr txBox="1"/>
          <p:nvPr/>
        </p:nvSpPr>
        <p:spPr>
          <a:xfrm>
            <a:off x="11237976" y="1737360"/>
            <a:ext cx="594360" cy="274320"/>
          </a:xfrm>
          <a:prstGeom prst="roundRect">
            <a:avLst>
              <a:gd name="adj" fmla="val 10000"/>
            </a:avLst>
          </a:prstGeom>
          <a:solidFill>
            <a:srgbClr val="FFFFFF"/>
          </a:solidFill>
          <a:ln w="9525">
            <a:solidFill>
              <a:srgbClr val="6898C8"/>
            </a:solidFill>
          </a:ln>
        </p:spPr>
        <p:txBody>
          <a:bodyPr wrap="square" lIns="0" tIns="0" rIns="0" bIns="0" rtlCol="0" anchor="ctr"/>
          <a:lstStyle/>
          <a:p>
            <a:pPr algn="ctr" indent="0" marL="0">
              <a:buNone/>
            </a:pPr>
            <a:r>
              <a:rPr lang="en-US" sz="570" dirty="0">
                <a:solidFill>
                  <a:srgbClr val="14213D"/>
                </a:solidFill>
                <a:latin typeface="Calibri" pitchFamily="34" charset="0"/>
                <a:ea typeface="Calibri" pitchFamily="34" charset="-122"/>
                <a:cs typeface="Calibri" pitchFamily="34" charset="-120"/>
              </a:rPr>
              <a:t>BOOT biometana klaster: D</a:t>
            </a:r>
            <a:endParaRPr lang="en-US" sz="570" dirty="0"/>
          </a:p>
        </p:txBody>
      </p:sp>
      <p:sp>
        <p:nvSpPr>
          <p:cNvPr id="153" name="garis-187"/>
          <p:cNvSpPr/>
          <p:nvPr/>
        </p:nvSpPr>
        <p:spPr>
          <a:xfrm>
            <a:off x="9893808" y="1426464"/>
            <a:ext cx="118872" cy="0"/>
          </a:xfrm>
          <a:prstGeom prst="line">
            <a:avLst/>
          </a:prstGeom>
          <a:noFill/>
          <a:ln w="12700">
            <a:solidFill>
              <a:srgbClr val="587888"/>
            </a:solidFill>
            <a:prstDash val="solid"/>
          </a:ln>
        </p:spPr>
      </p:sp>
      <p:sp>
        <p:nvSpPr>
          <p:cNvPr id="154" name="garis-188"/>
          <p:cNvSpPr/>
          <p:nvPr/>
        </p:nvSpPr>
        <p:spPr>
          <a:xfrm>
            <a:off x="9893808" y="1883664"/>
            <a:ext cx="118872" cy="0"/>
          </a:xfrm>
          <a:prstGeom prst="line">
            <a:avLst/>
          </a:prstGeom>
          <a:noFill/>
          <a:ln w="12700">
            <a:solidFill>
              <a:srgbClr val="587888"/>
            </a:solidFill>
            <a:prstDash val="solid"/>
          </a:ln>
        </p:spPr>
      </p:sp>
      <p:sp>
        <p:nvSpPr>
          <p:cNvPr id="155" name="teks-189"/>
          <p:cNvSpPr txBox="1"/>
          <p:nvPr/>
        </p:nvSpPr>
        <p:spPr>
          <a:xfrm>
            <a:off x="8458200" y="2075688"/>
            <a:ext cx="338328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Matriks keputusan berbobot (skor 1–5)</a:t>
            </a:r>
            <a:endParaRPr lang="en-US" sz="850" dirty="0"/>
          </a:p>
        </p:txBody>
      </p:sp>
      <p:sp>
        <p:nvSpPr>
          <p:cNvPr id="156" name="garis-190"/>
          <p:cNvSpPr/>
          <p:nvPr/>
        </p:nvSpPr>
        <p:spPr>
          <a:xfrm>
            <a:off x="8458200" y="2267712"/>
            <a:ext cx="3383280" cy="0"/>
          </a:xfrm>
          <a:prstGeom prst="line">
            <a:avLst/>
          </a:prstGeom>
          <a:noFill/>
          <a:ln w="15875">
            <a:solidFill>
              <a:srgbClr val="64BC54"/>
            </a:solidFill>
            <a:prstDash val="solid"/>
          </a:ln>
        </p:spPr>
      </p:sp>
      <p:graphicFrame>
        <p:nvGraphicFramePr>
          <p:cNvPr id="5" name="tabel-191"/>
          <p:cNvGraphicFramePr>
            <a:graphicFrameLocks noGrp="1"/>
          </p:cNvGraphicFramePr>
          <p:nvPr>
            <p:extLst>
              <p:ext uri="{D42A27DB-BD31-4B8C-83A1-F6EECF244321}">
                <p14:modId xmlns:p14="http://schemas.microsoft.com/office/powerpoint/2010/main" val="1579011935"/>
              </p:ext>
            </p:extLst>
          </p:nvPr>
        </p:nvGraphicFramePr>
        <p:xfrm>
          <a:off x="8458200" y="2304288"/>
          <a:ext cx="3383280" cy="914400"/>
        </p:xfrm>
        <a:graphic>
          <a:graphicData uri="http://schemas.openxmlformats.org/drawingml/2006/table">
            <a:tbl>
              <a:tblPr/>
              <a:tblGrid>
                <a:gridCol w="1069848"/>
                <a:gridCol w="283464"/>
                <a:gridCol w="283464"/>
                <a:gridCol w="283464"/>
                <a:gridCol w="283464"/>
                <a:gridCol w="283464"/>
                <a:gridCol w="283464"/>
                <a:gridCol w="283464"/>
                <a:gridCol w="329184"/>
              </a:tblGrid>
              <a:tr h="274320">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Alternatif</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K1</a:t>
                      </a:r>
                      <a:endParaRPr lang="en-US" sz="620" dirty="0">
                        <a:latin typeface="Calibri" charset="0"/>
                        <a:ea typeface="Calibri" charset="0"/>
                        <a:cs typeface="Calibri" charset="0"/>
                      </a:endParaRPr>
                    </a:p>
                    <a:p>
                      <a:pPr algn="ctr" indent="0" marL="0">
                        <a:buNone/>
                      </a:pPr>
                      <a:r>
                        <a:rPr lang="en-US" sz="620" b="1" dirty="0">
                          <a:solidFill>
                            <a:srgbClr val="FFFFFF"/>
                          </a:solidFill>
                          <a:latin typeface="Calibri" pitchFamily="34" charset="0"/>
                          <a:ea typeface="Calibri" pitchFamily="34" charset="-122"/>
                          <a:cs typeface="Calibri" pitchFamily="34" charset="-120"/>
                        </a:rPr>
                        <a:t>25%</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K2</a:t>
                      </a:r>
                      <a:endParaRPr lang="en-US" sz="620" dirty="0">
                        <a:latin typeface="Calibri" charset="0"/>
                        <a:ea typeface="Calibri" charset="0"/>
                        <a:cs typeface="Calibri" charset="0"/>
                      </a:endParaRPr>
                    </a:p>
                    <a:p>
                      <a:pPr algn="ctr" indent="0" marL="0">
                        <a:buNone/>
                      </a:pPr>
                      <a:r>
                        <a:rPr lang="en-US" sz="620" b="1" dirty="0">
                          <a:solidFill>
                            <a:srgbClr val="FFFFFF"/>
                          </a:solidFill>
                          <a:latin typeface="Calibri" pitchFamily="34" charset="0"/>
                          <a:ea typeface="Calibri" pitchFamily="34" charset="-122"/>
                          <a:cs typeface="Calibri" pitchFamily="34" charset="-120"/>
                        </a:rPr>
                        <a:t>20%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K3</a:t>
                      </a:r>
                      <a:endParaRPr lang="en-US" sz="620" dirty="0">
                        <a:latin typeface="Calibri" charset="0"/>
                        <a:ea typeface="Calibri" charset="0"/>
                        <a:cs typeface="Calibri" charset="0"/>
                      </a:endParaRPr>
                    </a:p>
                    <a:p>
                      <a:pPr algn="ctr" indent="0" marL="0">
                        <a:buNone/>
                      </a:pPr>
                      <a:r>
                        <a:rPr lang="en-US" sz="620" b="1" dirty="0">
                          <a:solidFill>
                            <a:srgbClr val="FFFFFF"/>
                          </a:solidFill>
                          <a:latin typeface="Calibri" pitchFamily="34" charset="0"/>
                          <a:ea typeface="Calibri" pitchFamily="34" charset="-122"/>
                          <a:cs typeface="Calibri" pitchFamily="34" charset="-120"/>
                        </a:rPr>
                        <a:t>15%</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K4</a:t>
                      </a:r>
                      <a:endParaRPr lang="en-US" sz="620" dirty="0">
                        <a:latin typeface="Calibri" charset="0"/>
                        <a:ea typeface="Calibri" charset="0"/>
                        <a:cs typeface="Calibri" charset="0"/>
                      </a:endParaRPr>
                    </a:p>
                    <a:p>
                      <a:pPr algn="ctr" indent="0" marL="0">
                        <a:buNone/>
                      </a:pPr>
                      <a:r>
                        <a:rPr lang="en-US" sz="620" b="1" dirty="0">
                          <a:solidFill>
                            <a:srgbClr val="FFFFFF"/>
                          </a:solidFill>
                          <a:latin typeface="Calibri" pitchFamily="34" charset="0"/>
                          <a:ea typeface="Calibri" pitchFamily="34" charset="-122"/>
                          <a:cs typeface="Calibri" pitchFamily="34" charset="-120"/>
                        </a:rPr>
                        <a:t>15%</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K5</a:t>
                      </a:r>
                      <a:endParaRPr lang="en-US" sz="620" dirty="0">
                        <a:latin typeface="Calibri" charset="0"/>
                        <a:ea typeface="Calibri" charset="0"/>
                        <a:cs typeface="Calibri" charset="0"/>
                      </a:endParaRPr>
                    </a:p>
                    <a:p>
                      <a:pPr algn="ctr" indent="0" marL="0">
                        <a:buNone/>
                      </a:pPr>
                      <a:r>
                        <a:rPr lang="en-US" sz="620" b="1" dirty="0">
                          <a:solidFill>
                            <a:srgbClr val="FFFFFF"/>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K6</a:t>
                      </a:r>
                      <a:endParaRPr lang="en-US" sz="620" dirty="0">
                        <a:latin typeface="Calibri" charset="0"/>
                        <a:ea typeface="Calibri" charset="0"/>
                        <a:cs typeface="Calibri" charset="0"/>
                      </a:endParaRPr>
                    </a:p>
                    <a:p>
                      <a:pPr algn="ctr" indent="0" marL="0">
                        <a:buNone/>
                      </a:pPr>
                      <a:r>
                        <a:rPr lang="en-US" sz="620" b="1" dirty="0">
                          <a:solidFill>
                            <a:srgbClr val="FFFFFF"/>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K7</a:t>
                      </a:r>
                      <a:endParaRPr lang="en-US" sz="620" dirty="0">
                        <a:latin typeface="Calibri" charset="0"/>
                        <a:ea typeface="Calibri" charset="0"/>
                        <a:cs typeface="Calibri" charset="0"/>
                      </a:endParaRPr>
                    </a:p>
                    <a:p>
                      <a:pPr algn="ctr" indent="0" marL="0">
                        <a:buNone/>
                      </a:pPr>
                      <a:r>
                        <a:rPr lang="en-US" sz="620" b="1" dirty="0">
                          <a:solidFill>
                            <a:srgbClr val="FFFFFF"/>
                          </a:solidFill>
                          <a:latin typeface="Calibri" pitchFamily="34" charset="0"/>
                          <a:ea typeface="Calibri" pitchFamily="34" charset="-122"/>
                          <a:cs typeface="Calibri" pitchFamily="34" charset="-120"/>
                        </a:rPr>
                        <a:t>5%</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Skor</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18745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A Status quo kolam</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3,0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1C2"/>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5,0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B9E2AA"/>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3,0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1C2"/>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5,0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B9E2AA"/>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2,0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8DDB8"/>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3,29</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B Lagun tertutup (PKS)</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4,4</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2,0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8DDB8"/>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2,0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8DDB8"/>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3,0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1C2"/>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3,0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1C2"/>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3,04</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C CSTR mesofilik (PKS)</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4,8</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B9E2AA"/>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2,0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8DDB8"/>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3,0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1C2"/>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3,04</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D Biometana BOOT klaster</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3,5</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5,0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B9E2AA"/>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3,0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1C2"/>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3,0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1C2"/>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3,68</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E UASB/IC</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2,5</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1C2"/>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2,0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8DDB8"/>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2,13</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F AnMBR</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1,5</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8DDB8"/>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2,0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8DDB8"/>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5,0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B9E2AA"/>
                    </a:solidFill>
                  </a:tcPr>
                </a:tc>
                <a:tc>
                  <a:txBody>
                    <a:bodyPr/>
                    <a:lstStyle/>
                    <a:p>
                      <a:pPr algn="ctr" indent="0" marL="0">
                        <a:buNone/>
                      </a:pPr>
                      <a:r>
                        <a:rPr lang="en-US" sz="620" dirty="0">
                          <a:solidFill>
                            <a:srgbClr val="14213D"/>
                          </a:solidFill>
                          <a:latin typeface="Calibri" pitchFamily="34" charset="0"/>
                          <a:ea typeface="Calibri" pitchFamily="34" charset="-122"/>
                          <a:cs typeface="Calibri" pitchFamily="34" charset="-120"/>
                        </a:rPr>
                        <a:t>1,0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2C4BC"/>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1,98</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20" b="1" dirty="0">
                          <a:solidFill>
                            <a:srgbClr val="14213D"/>
                          </a:solidFill>
                          <a:latin typeface="Calibri" pitchFamily="34" charset="0"/>
                          <a:ea typeface="Calibri" pitchFamily="34" charset="-122"/>
                          <a:cs typeface="Calibri" pitchFamily="34" charset="-120"/>
                        </a:rPr>
                        <a:t>G Kontak termofilik BOO</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3,1</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1C2"/>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5,0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B9E2AA"/>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2,0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8DDB8"/>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4,0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DCEEC6"/>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5,0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B9E2AA"/>
                    </a:solidFill>
                  </a:tcPr>
                </a:tc>
                <a:tc>
                  <a:txBody>
                    <a:bodyPr/>
                    <a:lstStyle/>
                    <a:p>
                      <a:pPr algn="ctr" indent="0" marL="0">
                        <a:buNone/>
                      </a:pPr>
                      <a:r>
                        <a:rPr lang="en-US" sz="620" b="1" dirty="0">
                          <a:solidFill>
                            <a:srgbClr val="14213D"/>
                          </a:solidFill>
                          <a:latin typeface="Calibri" pitchFamily="34" charset="0"/>
                          <a:ea typeface="Calibri" pitchFamily="34" charset="-122"/>
                          <a:cs typeface="Calibri" pitchFamily="34" charset="-120"/>
                        </a:rPr>
                        <a:t>5,0</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B9E2AA"/>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3,83</a:t>
                      </a:r>
                      <a:endParaRPr lang="en-US" sz="620" dirty="0">
                        <a:latin typeface="Calibri" charset="0"/>
                        <a:ea typeface="Calibri" charset="0"/>
                        <a:cs typeface="Calibri" charset="0"/>
                      </a:endParaRPr>
                    </a:p>
                  </a:txBody>
                  <a:tcPr marL="25400" marR="254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3E8E41"/>
                    </a:solidFill>
                  </a:tcPr>
                </a:tc>
              </a:tr>
            </a:tbl>
          </a:graphicData>
        </a:graphic>
      </p:graphicFrame>
      <p:sp>
        <p:nvSpPr>
          <p:cNvPr id="158" name="teks-192"/>
          <p:cNvSpPr txBox="1"/>
          <p:nvPr/>
        </p:nvSpPr>
        <p:spPr>
          <a:xfrm>
            <a:off x="8458200" y="4133088"/>
            <a:ext cx="3383280" cy="457200"/>
          </a:xfrm>
          <a:prstGeom prst="rect">
            <a:avLst/>
          </a:prstGeom>
          <a:noFill/>
          <a:ln/>
        </p:spPr>
        <p:txBody>
          <a:bodyPr wrap="square" lIns="0" tIns="0" rIns="0" bIns="0" rtlCol="0" anchor="t"/>
          <a:lstStyle/>
          <a:p>
            <a:pPr indent="0" marL="0">
              <a:buNone/>
            </a:pPr>
            <a:r>
              <a:rPr lang="en-US" sz="580" dirty="0">
                <a:solidFill>
                  <a:srgbClr val="587888"/>
                </a:solidFill>
                <a:latin typeface="Calibri" pitchFamily="34" charset="0"/>
                <a:ea typeface="Calibri" pitchFamily="34" charset="-122"/>
                <a:cs typeface="Calibri" pitchFamily="34" charset="-120"/>
              </a:rPr>
              <a:t>K1 biaya POME bagi PKS (USD/t TBS; dari model, 3,14 untuk A dan 3,00 untuk G) · K2 modal PKS · K3 risiko kinerja ditanggung PKS · K4 kematangan dan referensi di Indonesia · K5 lahan dan waktu bangun · K6 penangkapan metana dan bau · K7 dapat dipindah. Skor K2–K7: penilaian tim dari R3/R6 (subjektif).</a:t>
            </a:r>
            <a:endParaRPr lang="en-US" sz="580" dirty="0"/>
          </a:p>
        </p:txBody>
      </p:sp>
      <p:sp>
        <p:nvSpPr>
          <p:cNvPr id="159" name="teks-193"/>
          <p:cNvSpPr txBox="1"/>
          <p:nvPr/>
        </p:nvSpPr>
        <p:spPr>
          <a:xfrm>
            <a:off x="8458200" y="4590288"/>
            <a:ext cx="338328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Uji sensitivitas bobot (20.000 variasi)</a:t>
            </a:r>
            <a:endParaRPr lang="en-US" sz="850" dirty="0"/>
          </a:p>
        </p:txBody>
      </p:sp>
      <p:sp>
        <p:nvSpPr>
          <p:cNvPr id="160" name="garis-194"/>
          <p:cNvSpPr/>
          <p:nvPr/>
        </p:nvSpPr>
        <p:spPr>
          <a:xfrm>
            <a:off x="8458200" y="4782312"/>
            <a:ext cx="3383280" cy="0"/>
          </a:xfrm>
          <a:prstGeom prst="line">
            <a:avLst/>
          </a:prstGeom>
          <a:noFill/>
          <a:ln w="15875">
            <a:solidFill>
              <a:srgbClr val="64BC54"/>
            </a:solidFill>
            <a:prstDash val="solid"/>
          </a:ln>
        </p:spPr>
      </p:sp>
      <p:graphicFrame>
        <p:nvGraphicFramePr>
          <p:cNvPr id="161" name="grafik-bobot" descr=""/>
          <p:cNvGraphicFramePr/>
          <p:nvPr/>
        </p:nvGraphicFramePr>
        <p:xfrm>
          <a:off x="8412480" y="4800600"/>
          <a:ext cx="2011680" cy="1005840"/>
        </p:xfrm>
        <a:graphic xmlns:a="http://schemas.openxmlformats.org/drawingml/2006/main">
          <a:graphicData uri="http://schemas.openxmlformats.org/drawingml/2006/chart">
            <c:chart xmlns:c="http://schemas.openxmlformats.org/drawingml/2006/chart" r:id="rId1"/>
          </a:graphicData>
        </a:graphic>
      </p:graphicFrame>
      <p:sp>
        <p:nvSpPr>
          <p:cNvPr id="162" name="teks-195"/>
          <p:cNvSpPr txBox="1"/>
          <p:nvPr/>
        </p:nvSpPr>
        <p:spPr>
          <a:xfrm>
            <a:off x="10424160" y="4846320"/>
            <a:ext cx="1417320" cy="960120"/>
          </a:xfrm>
          <a:prstGeom prst="rect">
            <a:avLst/>
          </a:prstGeom>
          <a:noFill/>
          <a:ln/>
        </p:spPr>
        <p:txBody>
          <a:bodyPr wrap="square" lIns="0" tIns="0" rIns="0" bIns="0" rtlCol="0" anchor="t"/>
          <a:lstStyle/>
          <a:p>
            <a:pPr indent="0" marL="0">
              <a:buNone/>
            </a:pPr>
            <a:r>
              <a:rPr lang="en-US" sz="660" b="1" dirty="0">
                <a:solidFill>
                  <a:srgbClr val="3E8E41"/>
                </a:solidFill>
                <a:latin typeface="Calibri" pitchFamily="34" charset="0"/>
                <a:ea typeface="Calibri" pitchFamily="34" charset="-122"/>
                <a:cs typeface="Calibri" pitchFamily="34" charset="-120"/>
              </a:rPr>
              <a:t>G peringkat 1 pada 78% variasi bobot</a:t>
            </a:r>
            <a:endParaRPr lang="en-US" sz="660" dirty="0"/>
          </a:p>
          <a:p>
            <a:pPr indent="0" marL="0">
              <a:buNone/>
            </a:pPr>
            <a:r>
              <a:rPr lang="en-US" sz="660" dirty="0">
                <a:solidFill>
                  <a:srgbClr val="14213D"/>
                </a:solidFill>
                <a:latin typeface="Calibri" pitchFamily="34" charset="0"/>
                <a:ea typeface="Calibri" pitchFamily="34" charset="-122"/>
                <a:cs typeface="Calibri" pitchFamily="34" charset="-120"/>
              </a:rPr>
              <a:t>dan pada 7 dari 7 uji ±50% satu bobot. Pesaing terdekat: D biometana (17%), yang menuntut klaster PKS dan offtake gas.</a:t>
            </a:r>
            <a:endParaRPr lang="en-US" sz="660" dirty="0"/>
          </a:p>
        </p:txBody>
      </p:sp>
      <p:sp>
        <p:nvSpPr>
          <p:cNvPr id="163" name="kotak-196"/>
          <p:cNvSpPr txBox="1"/>
          <p:nvPr/>
        </p:nvSpPr>
        <p:spPr>
          <a:xfrm>
            <a:off x="365760" y="5870448"/>
            <a:ext cx="1417320" cy="530352"/>
          </a:xfrm>
          <a:prstGeom prst="roundRect">
            <a:avLst>
              <a:gd name="adj" fmla="val 6897"/>
            </a:avLst>
          </a:prstGeom>
          <a:solidFill>
            <a:srgbClr val="0C2464"/>
          </a:solidFill>
          <a:ln>
            <a:solidFill>
              <a:srgbClr val="0C2464"/>
            </a:solidFill>
          </a:ln>
        </p:spPr>
        <p:txBody>
          <a:bodyPr wrap="square" lIns="12700" tIns="38100" rIns="38100" bIns="1270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RUMUSAN MASALAH TERUKUR</a:t>
            </a:r>
            <a:endParaRPr lang="en-US" sz="800" dirty="0"/>
          </a:p>
        </p:txBody>
      </p:sp>
      <p:sp>
        <p:nvSpPr>
          <p:cNvPr id="164" name="kotak-197"/>
          <p:cNvSpPr txBox="1"/>
          <p:nvPr/>
        </p:nvSpPr>
        <p:spPr>
          <a:xfrm>
            <a:off x="1783080" y="5870448"/>
            <a:ext cx="10058400" cy="530352"/>
          </a:xfrm>
          <a:prstGeom prst="roundRect">
            <a:avLst>
              <a:gd name="adj" fmla="val 6897"/>
            </a:avLst>
          </a:prstGeom>
          <a:solidFill>
            <a:srgbClr val="FFFFFF"/>
          </a:solidFill>
          <a:ln w="12700">
            <a:solidFill>
              <a:srgbClr val="0C2464"/>
            </a:solidFill>
          </a:ln>
        </p:spPr>
        <p:txBody>
          <a:bodyPr wrap="square" lIns="25400" tIns="101600" rIns="101600" bIns="25400" rtlCol="0" anchor="ctr"/>
          <a:lstStyle/>
          <a:p>
            <a:pPr algn="l" indent="0" marL="0">
              <a:buNone/>
            </a:pPr>
            <a:r>
              <a:rPr lang="en-US" sz="900" dirty="0">
                <a:solidFill>
                  <a:srgbClr val="14213D"/>
                </a:solidFill>
                <a:latin typeface="Calibri" pitchFamily="34" charset="0"/>
                <a:ea typeface="Calibri" pitchFamily="34" charset="-122"/>
                <a:cs typeface="Calibri" pitchFamily="34" charset="-120"/>
              </a:rPr>
              <a:t>Menurunkan emisi metana POME ≥ 90% (≈ 32 ribu tCO₂e/tahun per PKS 60 t TBS/jam), tanpa modal PKS dan dengan biaya POME PKS tidak lebih tinggi daripada kolam (USD 3,14/t TBS), pada DSCR proyek ≥ 1,30. </a:t>
            </a:r>
            <a:pPr algn="l" indent="0" marL="0">
              <a:buNone/>
            </a:pPr>
            <a:r>
              <a:rPr lang="en-US" sz="900" b="1" dirty="0">
                <a:solidFill>
                  <a:srgbClr val="3E8E41"/>
                </a:solidFill>
                <a:latin typeface="Calibri" pitchFamily="34" charset="0"/>
                <a:ea typeface="Calibri" pitchFamily="34" charset="-122"/>
                <a:cs typeface="Calibri" pitchFamily="34" charset="-120"/>
              </a:rPr>
              <a:t>Jawaban: slide 3–7.</a:t>
            </a:r>
            <a:endParaRPr lang="en-US" sz="900" dirty="0"/>
          </a:p>
        </p:txBody>
      </p:sp>
      <p:sp>
        <p:nvSpPr>
          <p:cNvPr id="165" name="teks-198"/>
          <p:cNvSpPr txBox="1"/>
          <p:nvPr/>
        </p:nvSpPr>
        <p:spPr>
          <a:xfrm>
            <a:off x="365760" y="6419088"/>
            <a:ext cx="11109960" cy="246888"/>
          </a:xfrm>
          <a:prstGeom prst="rect">
            <a:avLst/>
          </a:prstGeom>
          <a:noFill/>
          <a:ln/>
        </p:spPr>
        <p:txBody>
          <a:bodyPr wrap="square" lIns="0" tIns="0" rIns="0" bIns="0" rtlCol="0" anchor="ctr"/>
          <a:lstStyle/>
          <a:p>
            <a:pPr indent="0" marL="0">
              <a:buNone/>
            </a:pPr>
            <a:r>
              <a:rPr lang="en-US" sz="590" dirty="0">
                <a:solidFill>
                  <a:srgbClr val="587888"/>
                </a:solidFill>
                <a:latin typeface="Calibri" pitchFamily="34" charset="0"/>
                <a:ea typeface="Calibri" pitchFamily="34" charset="-122"/>
                <a:cs typeface="Calibri" pitchFamily="34" charset="-120"/>
              </a:rPr>
              <a:t>Singkatan: PKS pabrik kelapa sawit; POME air limbah PKS; TBS tandan buah segar; BOO bangun-miliki-operasikan; BOOT bangun-miliki-operasikan-alihkan; HRT waktu tinggal hidraulik; PJBL perjanjian jual beli listrik; DSCR rasio cakupan layanan utang; MECE saling lepas dan menyeluruh; UASB/IC reaktor lumpur aktif aliran ke atas; AnMBR reaktor membran anaerob; CSTR tangki berpengaduk.</a:t>
            </a:r>
            <a:endParaRPr lang="en-US" sz="590" dirty="0"/>
          </a:p>
          <a:p>
            <a:pPr indent="0" marL="0">
              <a:buNone/>
            </a:pPr>
            <a:r>
              <a:rPr lang="en-US" sz="590" dirty="0">
                <a:solidFill>
                  <a:srgbClr val="587888"/>
                </a:solidFill>
                <a:latin typeface="Calibri" pitchFamily="34" charset="0"/>
                <a:ea typeface="Calibri" pitchFamily="34" charset="-122"/>
                <a:cs typeface="Calibri" pitchFamily="34" charset="-120"/>
              </a:rPr>
              <a:t>Sumber: Trase/SEI-PCS 2024 (±1.300 PKS); IOP/Environ. Res. Lett. dan GAPKI 2026 (penangkapan metana); RTM Berita 2024 (Malaysia); PASPI/BRIN (POME); Perpres 16/2025 (ISPO); Perpres 112/2022 (tarif); model tim: neraca proses Rev 2, Model Keputusan PKS (research/R1–R6).</a:t>
            </a:r>
            <a:endParaRPr lang="en-US" sz="59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nomor-199"/>
          <p:cNvSpPr txBox="1"/>
          <p:nvPr/>
        </p:nvSpPr>
        <p:spPr>
          <a:xfrm>
            <a:off x="365760" y="246888"/>
            <a:ext cx="384048" cy="384048"/>
          </a:xfrm>
          <a:prstGeom prst="rect">
            <a:avLst/>
          </a:prstGeom>
          <a:solidFill>
            <a:srgbClr val="0C2464"/>
          </a:solid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03</a:t>
            </a:r>
            <a:endParaRPr lang="en-US" sz="1300" dirty="0"/>
          </a:p>
        </p:txBody>
      </p:sp>
      <p:sp>
        <p:nvSpPr>
          <p:cNvPr id="3" name="kicker-200"/>
          <p:cNvSpPr txBox="1"/>
          <p:nvPr/>
        </p:nvSpPr>
        <p:spPr>
          <a:xfrm>
            <a:off x="841248" y="228600"/>
            <a:ext cx="8686800" cy="182880"/>
          </a:xfrm>
          <a:prstGeom prst="rect">
            <a:avLst/>
          </a:prstGeom>
          <a:noFill/>
          <a:ln/>
        </p:spPr>
        <p:txBody>
          <a:bodyPr wrap="square" lIns="0" tIns="0" rIns="0" bIns="0" rtlCol="0" anchor="ctr"/>
          <a:lstStyle/>
          <a:p>
            <a:pPr indent="0" marL="0">
              <a:buNone/>
            </a:pPr>
            <a:r>
              <a:rPr lang="en-US" sz="850" b="1" dirty="0">
                <a:solidFill>
                  <a:srgbClr val="3E8E41"/>
                </a:solidFill>
                <a:latin typeface="Arial" pitchFamily="34" charset="0"/>
                <a:ea typeface="Arial" pitchFamily="34" charset="-122"/>
                <a:cs typeface="Arial" pitchFamily="34" charset="-120"/>
              </a:rPr>
              <a:t>SOLUSI: KONSEP UTAMA</a:t>
            </a:r>
            <a:endParaRPr lang="en-US" sz="850" dirty="0"/>
          </a:p>
        </p:txBody>
      </p:sp>
      <p:sp>
        <p:nvSpPr>
          <p:cNvPr id="4" name="Text 0"/>
          <p:cNvSpPr/>
          <p:nvPr>
            <p:ph idx="100" type="title" hasCustomPrompt="1"/>
          </p:nvPr>
        </p:nvSpPr>
        <p:spPr>
          <a:xfrm>
            <a:off x="841248" y="411480"/>
            <a:ext cx="10972800" cy="566928"/>
          </a:xfrm>
          <a:prstGeom prst="rect">
            <a:avLst/>
          </a:prstGeom>
          <a:noFill/>
          <a:ln/>
        </p:spPr>
        <p:txBody>
          <a:bodyPr wrap="square" lIns="0" tIns="0" rIns="0" bIns="0" rtlCol="0" anchor="t"/>
          <a:lstStyle/>
          <a:p>
            <a:pPr algn="l" indent="0" marL="0">
              <a:buNone/>
            </a:pPr>
            <a:r>
              <a:rPr lang="en-US" sz="1600" b="1" dirty="0">
                <a:solidFill>
                  <a:srgbClr val="0C2464"/>
                </a:solidFill>
                <a:latin typeface="Arial" pitchFamily="34" charset="0"/>
                <a:ea typeface="Arial" pitchFamily="34" charset="-122"/>
                <a:cs typeface="Arial" pitchFamily="34" charset="-120"/>
              </a:rPr>
              <a:t>Solusi: set biogas termofilik 55 °C mengolah POME dalam lima hari, menjual ≈ 6,5 GWh listrik neto per tahun, dan dapat dibongkar-pasang antar-PKS</a:t>
            </a:r>
            <a:endParaRPr lang="en-US" sz="1600" dirty="0"/>
          </a:p>
        </p:txBody>
      </p:sp>
      <p:sp>
        <p:nvSpPr>
          <p:cNvPr id="5" name="kotak-201"/>
          <p:cNvSpPr/>
          <p:nvPr/>
        </p:nvSpPr>
        <p:spPr>
          <a:xfrm>
            <a:off x="329184" y="1060704"/>
            <a:ext cx="5193792" cy="2953512"/>
          </a:xfrm>
          <a:prstGeom prst="roundRect">
            <a:avLst>
              <a:gd name="adj" fmla="val 1238"/>
            </a:avLst>
          </a:prstGeom>
          <a:solidFill>
            <a:srgbClr val="FFFFFF"/>
          </a:solidFill>
          <a:ln w="9525">
            <a:solidFill>
              <a:srgbClr val="C3D3E8"/>
            </a:solidFill>
            <a:prstDash val="solid"/>
          </a:ln>
        </p:spPr>
      </p:sp>
      <p:pic>
        <p:nvPicPr>
          <p:cNvPr id="6" name="gambar-202" descr="/home/user/aspebindo/cad/out/render/DIORAMA_produk.png">    </p:cNvPr>
          <p:cNvPicPr>
            <a:picLocks noChangeAspect="1"/>
          </p:cNvPicPr>
          <p:nvPr/>
        </p:nvPicPr>
        <p:blipFill>
          <a:blip r:embed="rId1"/>
          <a:stretch>
            <a:fillRect/>
          </a:stretch>
        </p:blipFill>
        <p:spPr>
          <a:xfrm>
            <a:off x="365760" y="1097280"/>
            <a:ext cx="5120640" cy="2880360"/>
          </a:xfrm>
          <a:prstGeom prst="rect">
            <a:avLst/>
          </a:prstGeom>
        </p:spPr>
      </p:pic>
      <p:sp>
        <p:nvSpPr>
          <p:cNvPr id="7" name="teks-203"/>
          <p:cNvSpPr txBox="1"/>
          <p:nvPr/>
        </p:nvSpPr>
        <p:spPr>
          <a:xfrm>
            <a:off x="365760" y="4032504"/>
            <a:ext cx="5120640" cy="164592"/>
          </a:xfrm>
          <a:prstGeom prst="rect">
            <a:avLst/>
          </a:prstGeom>
          <a:noFill/>
          <a:ln/>
        </p:spPr>
        <p:txBody>
          <a:bodyPr wrap="square" lIns="0" tIns="0" rIns="0" bIns="0" rtlCol="0" anchor="t"/>
          <a:lstStyle/>
          <a:p>
            <a:pPr indent="0" marL="0">
              <a:buNone/>
            </a:pPr>
            <a:r>
              <a:rPr lang="en-US" sz="650" i="1" dirty="0">
                <a:solidFill>
                  <a:srgbClr val="587888"/>
                </a:solidFill>
                <a:latin typeface="Calibri" pitchFamily="34" charset="0"/>
                <a:ea typeface="Calibri" pitchFamily="34" charset="-122"/>
                <a:cs typeface="Calibri" pitchFamily="34" charset="-120"/>
              </a:rPr>
              <a:t>Model 3D set biogas (modul acuan 45 t TBS/jam; konfigurasi 60 t/jam menambah satu tangki)</a:t>
            </a:r>
            <a:endParaRPr lang="en-US" sz="650" dirty="0"/>
          </a:p>
        </p:txBody>
      </p:sp>
      <p:sp>
        <p:nvSpPr>
          <p:cNvPr id="8" name="teks-204"/>
          <p:cNvSpPr txBox="1"/>
          <p:nvPr/>
        </p:nvSpPr>
        <p:spPr>
          <a:xfrm>
            <a:off x="365760" y="4251960"/>
            <a:ext cx="51206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Modular dan portabel: bukti terukur</a:t>
            </a:r>
            <a:endParaRPr lang="en-US" sz="850" dirty="0"/>
          </a:p>
        </p:txBody>
      </p:sp>
      <p:sp>
        <p:nvSpPr>
          <p:cNvPr id="9" name="garis-205"/>
          <p:cNvSpPr/>
          <p:nvPr/>
        </p:nvSpPr>
        <p:spPr>
          <a:xfrm>
            <a:off x="365760" y="4443984"/>
            <a:ext cx="5120640" cy="0"/>
          </a:xfrm>
          <a:prstGeom prst="line">
            <a:avLst/>
          </a:prstGeom>
          <a:noFill/>
          <a:ln w="15875">
            <a:solidFill>
              <a:srgbClr val="64BC54"/>
            </a:solidFill>
            <a:prstDash val="solid"/>
          </a:ln>
        </p:spPr>
      </p:sp>
      <p:sp>
        <p:nvSpPr>
          <p:cNvPr id="10" name="kotak-206"/>
          <p:cNvSpPr/>
          <p:nvPr/>
        </p:nvSpPr>
        <p:spPr>
          <a:xfrm>
            <a:off x="365760" y="4498848"/>
            <a:ext cx="1234440" cy="566928"/>
          </a:xfrm>
          <a:prstGeom prst="roundRect">
            <a:avLst>
              <a:gd name="adj" fmla="val 6452"/>
            </a:avLst>
          </a:prstGeom>
          <a:solidFill>
            <a:srgbClr val="FFFFFF"/>
          </a:solidFill>
          <a:ln w="9525">
            <a:solidFill>
              <a:srgbClr val="C3D3E8"/>
            </a:solidFill>
            <a:prstDash val="solid"/>
          </a:ln>
        </p:spPr>
      </p:sp>
      <p:sp>
        <p:nvSpPr>
          <p:cNvPr id="11" name="teks-207"/>
          <p:cNvSpPr txBox="1"/>
          <p:nvPr/>
        </p:nvSpPr>
        <p:spPr>
          <a:xfrm>
            <a:off x="420624" y="4517136"/>
            <a:ext cx="1143000" cy="201168"/>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21</a:t>
            </a:r>
            <a:endParaRPr lang="en-US" sz="1100" dirty="0"/>
          </a:p>
        </p:txBody>
      </p:sp>
      <p:sp>
        <p:nvSpPr>
          <p:cNvPr id="12" name="teks-208"/>
          <p:cNvSpPr txBox="1"/>
          <p:nvPr/>
        </p:nvSpPr>
        <p:spPr>
          <a:xfrm>
            <a:off x="420624" y="4718304"/>
            <a:ext cx="1143000" cy="347472"/>
          </a:xfrm>
          <a:prstGeom prst="rect">
            <a:avLst/>
          </a:prstGeom>
          <a:noFill/>
          <a:ln/>
        </p:spPr>
        <p:txBody>
          <a:bodyPr wrap="square" lIns="0" tIns="0" rIns="0" bIns="0" rtlCol="0" anchor="t"/>
          <a:lstStyle/>
          <a:p>
            <a:pPr indent="0" marL="0">
              <a:buNone/>
            </a:pPr>
            <a:r>
              <a:rPr lang="en-US" sz="580" dirty="0">
                <a:solidFill>
                  <a:srgbClr val="14213D"/>
                </a:solidFill>
                <a:latin typeface="Calibri" pitchFamily="34" charset="0"/>
                <a:ea typeface="Calibri" pitchFamily="34" charset="-122"/>
                <a:cs typeface="Calibri" pitchFamily="34" charset="-120"/>
              </a:rPr>
              <a:t>muatan kontainer/skid 40 ft per modul acuan (21)</a:t>
            </a:r>
            <a:endParaRPr lang="en-US" sz="580" dirty="0"/>
          </a:p>
        </p:txBody>
      </p:sp>
      <p:sp>
        <p:nvSpPr>
          <p:cNvPr id="13" name="kotak-209"/>
          <p:cNvSpPr/>
          <p:nvPr/>
        </p:nvSpPr>
        <p:spPr>
          <a:xfrm>
            <a:off x="1645920" y="4498848"/>
            <a:ext cx="1234440" cy="566928"/>
          </a:xfrm>
          <a:prstGeom prst="roundRect">
            <a:avLst>
              <a:gd name="adj" fmla="val 6452"/>
            </a:avLst>
          </a:prstGeom>
          <a:solidFill>
            <a:srgbClr val="FFFFFF"/>
          </a:solidFill>
          <a:ln w="9525">
            <a:solidFill>
              <a:srgbClr val="C3D3E8"/>
            </a:solidFill>
            <a:prstDash val="solid"/>
          </a:ln>
        </p:spPr>
      </p:sp>
      <p:sp>
        <p:nvSpPr>
          <p:cNvPr id="14" name="teks-210"/>
          <p:cNvSpPr txBox="1"/>
          <p:nvPr/>
        </p:nvSpPr>
        <p:spPr>
          <a:xfrm>
            <a:off x="1700784" y="4517136"/>
            <a:ext cx="1143000" cy="201168"/>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980 m³</a:t>
            </a:r>
            <a:endParaRPr lang="en-US" sz="1100" dirty="0"/>
          </a:p>
        </p:txBody>
      </p:sp>
      <p:sp>
        <p:nvSpPr>
          <p:cNvPr id="15" name="teks-211"/>
          <p:cNvSpPr txBox="1"/>
          <p:nvPr/>
        </p:nvSpPr>
        <p:spPr>
          <a:xfrm>
            <a:off x="1700784" y="4718304"/>
            <a:ext cx="1143000" cy="347472"/>
          </a:xfrm>
          <a:prstGeom prst="rect">
            <a:avLst/>
          </a:prstGeom>
          <a:noFill/>
          <a:ln/>
        </p:spPr>
        <p:txBody>
          <a:bodyPr wrap="square" lIns="0" tIns="0" rIns="0" bIns="0" rtlCol="0" anchor="t"/>
          <a:lstStyle/>
          <a:p>
            <a:pPr indent="0" marL="0">
              <a:buNone/>
            </a:pPr>
            <a:r>
              <a:rPr lang="en-US" sz="580" dirty="0">
                <a:solidFill>
                  <a:srgbClr val="14213D"/>
                </a:solidFill>
                <a:latin typeface="Calibri" pitchFamily="34" charset="0"/>
                <a:ea typeface="Calibri" pitchFamily="34" charset="-122"/>
                <a:cs typeface="Calibri" pitchFamily="34" charset="-120"/>
              </a:rPr>
              <a:t>tangki GFS dibaut identik; 2, 3, atau 4 tangki</a:t>
            </a:r>
            <a:endParaRPr lang="en-US" sz="580" dirty="0"/>
          </a:p>
        </p:txBody>
      </p:sp>
      <p:sp>
        <p:nvSpPr>
          <p:cNvPr id="16" name="kotak-212"/>
          <p:cNvSpPr/>
          <p:nvPr/>
        </p:nvSpPr>
        <p:spPr>
          <a:xfrm>
            <a:off x="2926080" y="4498848"/>
            <a:ext cx="1234440" cy="566928"/>
          </a:xfrm>
          <a:prstGeom prst="roundRect">
            <a:avLst>
              <a:gd name="adj" fmla="val 6452"/>
            </a:avLst>
          </a:prstGeom>
          <a:solidFill>
            <a:srgbClr val="FFFFFF"/>
          </a:solidFill>
          <a:ln w="9525">
            <a:solidFill>
              <a:srgbClr val="C3D3E8"/>
            </a:solidFill>
            <a:prstDash val="solid"/>
          </a:ln>
        </p:spPr>
      </p:sp>
      <p:sp>
        <p:nvSpPr>
          <p:cNvPr id="17" name="teks-213"/>
          <p:cNvSpPr txBox="1"/>
          <p:nvPr/>
        </p:nvSpPr>
        <p:spPr>
          <a:xfrm>
            <a:off x="2980944" y="4517136"/>
            <a:ext cx="1143000" cy="201168"/>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±6 bulan</a:t>
            </a:r>
            <a:endParaRPr lang="en-US" sz="1100" dirty="0"/>
          </a:p>
        </p:txBody>
      </p:sp>
      <p:sp>
        <p:nvSpPr>
          <p:cNvPr id="18" name="teks-214"/>
          <p:cNvSpPr txBox="1"/>
          <p:nvPr/>
        </p:nvSpPr>
        <p:spPr>
          <a:xfrm>
            <a:off x="2980944" y="4718304"/>
            <a:ext cx="1143000" cy="347472"/>
          </a:xfrm>
          <a:prstGeom prst="rect">
            <a:avLst/>
          </a:prstGeom>
          <a:noFill/>
          <a:ln/>
        </p:spPr>
        <p:txBody>
          <a:bodyPr wrap="square" lIns="0" tIns="0" rIns="0" bIns="0" rtlCol="0" anchor="t"/>
          <a:lstStyle/>
          <a:p>
            <a:pPr indent="0" marL="0">
              <a:buNone/>
            </a:pPr>
            <a:r>
              <a:rPr lang="en-US" sz="580" dirty="0">
                <a:solidFill>
                  <a:srgbClr val="14213D"/>
                </a:solidFill>
                <a:latin typeface="Calibri" pitchFamily="34" charset="0"/>
                <a:ea typeface="Calibri" pitchFamily="34" charset="-122"/>
                <a:cs typeface="Calibri" pitchFamily="34" charset="-120"/>
              </a:rPr>
              <a:t>bongkar-pasang; biaya 15% FCI</a:t>
            </a:r>
            <a:endParaRPr lang="en-US" sz="580" dirty="0"/>
          </a:p>
        </p:txBody>
      </p:sp>
      <p:sp>
        <p:nvSpPr>
          <p:cNvPr id="19" name="kotak-215"/>
          <p:cNvSpPr/>
          <p:nvPr/>
        </p:nvSpPr>
        <p:spPr>
          <a:xfrm>
            <a:off x="4206240" y="4498848"/>
            <a:ext cx="1234440" cy="566928"/>
          </a:xfrm>
          <a:prstGeom prst="roundRect">
            <a:avLst>
              <a:gd name="adj" fmla="val 6452"/>
            </a:avLst>
          </a:prstGeom>
          <a:solidFill>
            <a:srgbClr val="FFFFFF"/>
          </a:solidFill>
          <a:ln w="9525">
            <a:solidFill>
              <a:srgbClr val="C3D3E8"/>
            </a:solidFill>
            <a:prstDash val="solid"/>
          </a:ln>
        </p:spPr>
      </p:sp>
      <p:sp>
        <p:nvSpPr>
          <p:cNvPr id="20" name="teks-216"/>
          <p:cNvSpPr txBox="1"/>
          <p:nvPr/>
        </p:nvSpPr>
        <p:spPr>
          <a:xfrm>
            <a:off x="4261104" y="4517136"/>
            <a:ext cx="1143000" cy="201168"/>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USD 1,18 jt</a:t>
            </a:r>
            <a:endParaRPr lang="en-US" sz="1100" dirty="0"/>
          </a:p>
        </p:txBody>
      </p:sp>
      <p:sp>
        <p:nvSpPr>
          <p:cNvPr id="21" name="teks-217"/>
          <p:cNvSpPr txBox="1"/>
          <p:nvPr/>
        </p:nvSpPr>
        <p:spPr>
          <a:xfrm>
            <a:off x="4261104" y="4718304"/>
            <a:ext cx="1143000" cy="347472"/>
          </a:xfrm>
          <a:prstGeom prst="rect">
            <a:avLst/>
          </a:prstGeom>
          <a:noFill/>
          <a:ln/>
        </p:spPr>
        <p:txBody>
          <a:bodyPr wrap="square" lIns="0" tIns="0" rIns="0" bIns="0" rtlCol="0" anchor="t"/>
          <a:lstStyle/>
          <a:p>
            <a:pPr indent="0" marL="0">
              <a:buNone/>
            </a:pPr>
            <a:r>
              <a:rPr lang="en-US" sz="580" dirty="0">
                <a:solidFill>
                  <a:srgbClr val="14213D"/>
                </a:solidFill>
                <a:latin typeface="Calibri" pitchFamily="34" charset="0"/>
                <a:ea typeface="Calibri" pitchFamily="34" charset="-122"/>
                <a:cs typeface="Calibri" pitchFamily="34" charset="-120"/>
              </a:rPr>
              <a:t>kerugian dihindari bila PKS tutup tahun 8 dan set dipindah (NPV −0,57 vs −1,75 juta bila terdampar)</a:t>
            </a:r>
            <a:endParaRPr lang="en-US" sz="580" dirty="0"/>
          </a:p>
        </p:txBody>
      </p:sp>
      <p:sp>
        <p:nvSpPr>
          <p:cNvPr id="22" name="teks-218"/>
          <p:cNvSpPr txBox="1"/>
          <p:nvPr/>
        </p:nvSpPr>
        <p:spPr>
          <a:xfrm>
            <a:off x="365760" y="5148072"/>
            <a:ext cx="51206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Skala dengan penambahan modul identik (numbering up)</a:t>
            </a:r>
            <a:endParaRPr lang="en-US" sz="850" dirty="0"/>
          </a:p>
        </p:txBody>
      </p:sp>
      <p:sp>
        <p:nvSpPr>
          <p:cNvPr id="23" name="garis-219"/>
          <p:cNvSpPr/>
          <p:nvPr/>
        </p:nvSpPr>
        <p:spPr>
          <a:xfrm>
            <a:off x="365760" y="5340096"/>
            <a:ext cx="5120640" cy="0"/>
          </a:xfrm>
          <a:prstGeom prst="line">
            <a:avLst/>
          </a:prstGeom>
          <a:noFill/>
          <a:ln w="15875">
            <a:solidFill>
              <a:srgbClr val="64BC54"/>
            </a:solidFill>
            <a:prstDash val="solid"/>
          </a:ln>
        </p:spPr>
      </p:sp>
      <p:graphicFrame>
        <p:nvGraphicFramePr>
          <p:cNvPr id="4" name="tabel-220"/>
          <p:cNvGraphicFramePr>
            <a:graphicFrameLocks noGrp="1"/>
          </p:cNvGraphicFramePr>
          <p:nvPr>
            <p:extLst>
              <p:ext uri="{D42A27DB-BD31-4B8C-83A1-F6EECF244321}">
                <p14:modId xmlns:p14="http://schemas.microsoft.com/office/powerpoint/2010/main" val="1579011935"/>
              </p:ext>
            </p:extLst>
          </p:nvPr>
        </p:nvGraphicFramePr>
        <p:xfrm>
          <a:off x="365760" y="5385816"/>
          <a:ext cx="5120640" cy="914400"/>
        </p:xfrm>
        <a:graphic>
          <a:graphicData uri="http://schemas.openxmlformats.org/drawingml/2006/table">
            <a:tbl>
              <a:tblPr/>
              <a:tblGrid>
                <a:gridCol w="1691640"/>
                <a:gridCol w="914400"/>
                <a:gridCol w="1143000"/>
                <a:gridCol w="1371600"/>
              </a:tblGrid>
              <a:tr h="182880">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Ukuran PKS (t TBS/jam)</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30</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45 (acuan)</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60 (komersial)</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182880">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Tangki GFS 980 m³ · genset</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14213D"/>
                          </a:solidFill>
                          <a:latin typeface="Calibri" pitchFamily="34" charset="0"/>
                          <a:ea typeface="Calibri" pitchFamily="34" charset="-122"/>
                          <a:cs typeface="Calibri" pitchFamily="34" charset="-120"/>
                        </a:rPr>
                        <a:t>2 · 2×400</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14213D"/>
                          </a:solidFill>
                          <a:latin typeface="Calibri" pitchFamily="34" charset="0"/>
                          <a:ea typeface="Calibri" pitchFamily="34" charset="-122"/>
                          <a:cs typeface="Calibri" pitchFamily="34" charset="-120"/>
                        </a:rPr>
                        <a:t>3 · 2×600</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14213D"/>
                          </a:solidFill>
                          <a:latin typeface="Calibri" pitchFamily="34" charset="0"/>
                          <a:ea typeface="Calibri" pitchFamily="34" charset="-122"/>
                          <a:cs typeface="Calibri" pitchFamily="34" charset="-120"/>
                        </a:rPr>
                        <a:t>4 · 2×800 kWe</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Biogas (Nm³/hari) · neto (kW)</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14213D"/>
                          </a:solidFill>
                          <a:latin typeface="Calibri" pitchFamily="34" charset="0"/>
                          <a:ea typeface="Calibri" pitchFamily="34" charset="-122"/>
                          <a:cs typeface="Calibri" pitchFamily="34" charset="-120"/>
                        </a:rPr>
                        <a:t>7.891 · 681</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14213D"/>
                          </a:solidFill>
                          <a:latin typeface="Calibri" pitchFamily="34" charset="0"/>
                          <a:ea typeface="Calibri" pitchFamily="34" charset="-122"/>
                          <a:cs typeface="Calibri" pitchFamily="34" charset="-120"/>
                        </a:rPr>
                        <a:t>11.836 · 1.025</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14213D"/>
                          </a:solidFill>
                          <a:latin typeface="Calibri" pitchFamily="34" charset="0"/>
                          <a:ea typeface="Calibri" pitchFamily="34" charset="-122"/>
                          <a:cs typeface="Calibri" pitchFamily="34" charset="-120"/>
                        </a:rPr>
                        <a:t>15.781 · 1.369</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Investasi (FCI, USD juta)</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14213D"/>
                          </a:solidFill>
                          <a:latin typeface="Calibri" pitchFamily="34" charset="0"/>
                          <a:ea typeface="Calibri" pitchFamily="34" charset="-122"/>
                          <a:cs typeface="Calibri" pitchFamily="34" charset="-120"/>
                        </a:rPr>
                        <a:t>3,58</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14213D"/>
                          </a:solidFill>
                          <a:latin typeface="Calibri" pitchFamily="34" charset="0"/>
                          <a:ea typeface="Calibri" pitchFamily="34" charset="-122"/>
                          <a:cs typeface="Calibri" pitchFamily="34" charset="-120"/>
                        </a:rPr>
                        <a:t>4,75</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14213D"/>
                          </a:solidFill>
                          <a:latin typeface="Calibri" pitchFamily="34" charset="0"/>
                          <a:ea typeface="Calibri" pitchFamily="34" charset="-122"/>
                          <a:cs typeface="Calibri" pitchFamily="34" charset="-120"/>
                        </a:rPr>
                        <a:t>5,85</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NPV proyek (USD juta) · IRR</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−1,12 · 4,8%</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−0,55 · 8,1%</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b="1" dirty="0">
                          <a:solidFill>
                            <a:srgbClr val="3E8E41"/>
                          </a:solidFill>
                          <a:latin typeface="Calibri" pitchFamily="34" charset="0"/>
                          <a:ea typeface="Calibri" pitchFamily="34" charset="-122"/>
                          <a:cs typeface="Calibri" pitchFamily="34" charset="-120"/>
                        </a:rPr>
                        <a:t>0,13 · 10,3%</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25" name="teks-221"/>
          <p:cNvSpPr txBox="1"/>
          <p:nvPr/>
        </p:nvSpPr>
        <p:spPr>
          <a:xfrm>
            <a:off x="365760" y="6327648"/>
            <a:ext cx="5120640" cy="137160"/>
          </a:xfrm>
          <a:prstGeom prst="rect">
            <a:avLst/>
          </a:prstGeom>
          <a:noFill/>
          <a:ln/>
        </p:spPr>
        <p:txBody>
          <a:bodyPr wrap="square" lIns="0" tIns="0" rIns="0" bIns="0" rtlCol="0" anchor="t"/>
          <a:lstStyle/>
          <a:p>
            <a:pPr indent="0" marL="0">
              <a:buNone/>
            </a:pPr>
            <a:r>
              <a:rPr lang="en-US" sz="600" i="1" dirty="0">
                <a:solidFill>
                  <a:srgbClr val="587888"/>
                </a:solidFill>
                <a:latin typeface="Calibri" pitchFamily="34" charset="0"/>
                <a:ea typeface="Calibri" pitchFamily="34" charset="-122"/>
                <a:cs typeface="Calibri" pitchFamily="34" charset="-120"/>
              </a:rPr>
              <a:t>NPV pada fee USD 1,25/t TBS, solar tergantikan 2,0 L/t TBS: skala minimum layak 60 t/jam (slide 7).</a:t>
            </a:r>
            <a:endParaRPr lang="en-US" sz="600" dirty="0"/>
          </a:p>
        </p:txBody>
      </p:sp>
      <p:sp>
        <p:nvSpPr>
          <p:cNvPr id="26" name="teks-222"/>
          <p:cNvSpPr txBox="1"/>
          <p:nvPr/>
        </p:nvSpPr>
        <p:spPr>
          <a:xfrm>
            <a:off x="6263640" y="1078992"/>
            <a:ext cx="55778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Cara kerja, dari penerimaan POME sampai listrik (set 60 t TBS/jam)</a:t>
            </a:r>
            <a:endParaRPr lang="en-US" sz="850" dirty="0"/>
          </a:p>
        </p:txBody>
      </p:sp>
      <p:sp>
        <p:nvSpPr>
          <p:cNvPr id="27" name="garis-223"/>
          <p:cNvSpPr/>
          <p:nvPr/>
        </p:nvSpPr>
        <p:spPr>
          <a:xfrm>
            <a:off x="6263640" y="1271016"/>
            <a:ext cx="5577840" cy="0"/>
          </a:xfrm>
          <a:prstGeom prst="line">
            <a:avLst/>
          </a:prstGeom>
          <a:noFill/>
          <a:ln w="15875">
            <a:solidFill>
              <a:srgbClr val="64BC54"/>
            </a:solidFill>
            <a:prstDash val="solid"/>
          </a:ln>
        </p:spPr>
      </p:sp>
      <p:sp>
        <p:nvSpPr>
          <p:cNvPr id="28" name="kotak-224"/>
          <p:cNvSpPr txBox="1"/>
          <p:nvPr/>
        </p:nvSpPr>
        <p:spPr>
          <a:xfrm>
            <a:off x="6263640" y="1737360"/>
            <a:ext cx="1280160" cy="676656"/>
          </a:xfrm>
          <a:prstGeom prst="roundRect">
            <a:avLst>
              <a:gd name="adj" fmla="val 6757"/>
            </a:avLst>
          </a:prstGeom>
          <a:solidFill>
            <a:srgbClr val="0C2464"/>
          </a:solidFill>
          <a:ln>
            <a:solidFill>
              <a:srgbClr val="0C2464"/>
            </a:solidFill>
          </a:ln>
        </p:spPr>
        <p:txBody>
          <a:bodyPr wrap="square" lIns="25400" tIns="50800" rIns="50800" bIns="2540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  Penerimaan POME</a:t>
            </a:r>
            <a:endParaRPr lang="en-US" sz="900" dirty="0"/>
          </a:p>
          <a:p>
            <a:pPr algn="ctr" indent="0" marL="0">
              <a:buNone/>
            </a:pPr>
            <a:r>
              <a:rPr lang="en-US" sz="650" dirty="0">
                <a:solidFill>
                  <a:srgbClr val="FFFFFF"/>
                </a:solidFill>
                <a:latin typeface="Calibri" pitchFamily="34" charset="0"/>
                <a:ea typeface="Calibri" pitchFamily="34" charset="-122"/>
                <a:cs typeface="Calibri" pitchFamily="34" charset="-120"/>
              </a:rPr>
              <a:t>85 °C, 780 m³/hari dari fat pit</a:t>
            </a:r>
            <a:endParaRPr lang="en-US" sz="900" dirty="0"/>
          </a:p>
        </p:txBody>
      </p:sp>
      <p:sp>
        <p:nvSpPr>
          <p:cNvPr id="29" name="garis-225"/>
          <p:cNvSpPr/>
          <p:nvPr/>
        </p:nvSpPr>
        <p:spPr>
          <a:xfrm>
            <a:off x="7543800" y="2075688"/>
            <a:ext cx="152400" cy="0"/>
          </a:xfrm>
          <a:prstGeom prst="line">
            <a:avLst/>
          </a:prstGeom>
          <a:noFill/>
          <a:ln w="19050">
            <a:solidFill>
              <a:srgbClr val="0C2464"/>
            </a:solidFill>
            <a:prstDash val="solid"/>
            <a:tailEnd type="triangle"/>
          </a:ln>
        </p:spPr>
      </p:sp>
      <p:sp>
        <p:nvSpPr>
          <p:cNvPr id="30" name="kotak-226"/>
          <p:cNvSpPr txBox="1"/>
          <p:nvPr/>
        </p:nvSpPr>
        <p:spPr>
          <a:xfrm>
            <a:off x="7696200" y="1737360"/>
            <a:ext cx="1280160" cy="676656"/>
          </a:xfrm>
          <a:prstGeom prst="roundRect">
            <a:avLst>
              <a:gd name="adj" fmla="val 6757"/>
            </a:avLst>
          </a:prstGeom>
          <a:solidFill>
            <a:srgbClr val="0C2464"/>
          </a:solidFill>
          <a:ln>
            <a:solidFill>
              <a:srgbClr val="0C2464"/>
            </a:solidFill>
          </a:ln>
        </p:spPr>
        <p:txBody>
          <a:bodyPr wrap="square" lIns="25400" tIns="50800" rIns="50800" bIns="2540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  Praolah</a:t>
            </a:r>
            <a:endParaRPr lang="en-US" sz="900" dirty="0"/>
          </a:p>
          <a:p>
            <a:pPr algn="ctr" indent="0" marL="0">
              <a:buNone/>
            </a:pPr>
            <a:r>
              <a:rPr lang="en-US" sz="650" dirty="0">
                <a:solidFill>
                  <a:srgbClr val="FFFFFF"/>
                </a:solidFill>
                <a:latin typeface="Calibri" pitchFamily="34" charset="0"/>
                <a:ea typeface="Calibri" pitchFamily="34" charset="-122"/>
                <a:cs typeface="Calibri" pitchFamily="34" charset="-120"/>
              </a:rPr>
              <a:t>saringan putar, ruang pasir (85%), pendingin ke 55 °C</a:t>
            </a:r>
            <a:endParaRPr lang="en-US" sz="900" dirty="0"/>
          </a:p>
        </p:txBody>
      </p:sp>
      <p:sp>
        <p:nvSpPr>
          <p:cNvPr id="31" name="garis-227"/>
          <p:cNvSpPr/>
          <p:nvPr/>
        </p:nvSpPr>
        <p:spPr>
          <a:xfrm>
            <a:off x="8976360" y="2075688"/>
            <a:ext cx="152400" cy="0"/>
          </a:xfrm>
          <a:prstGeom prst="line">
            <a:avLst/>
          </a:prstGeom>
          <a:noFill/>
          <a:ln w="19050">
            <a:solidFill>
              <a:srgbClr val="0C2464"/>
            </a:solidFill>
            <a:prstDash val="solid"/>
            <a:tailEnd type="triangle"/>
          </a:ln>
        </p:spPr>
      </p:sp>
      <p:sp>
        <p:nvSpPr>
          <p:cNvPr id="32" name="kotak-228"/>
          <p:cNvSpPr txBox="1"/>
          <p:nvPr/>
        </p:nvSpPr>
        <p:spPr>
          <a:xfrm>
            <a:off x="9128760" y="1737360"/>
            <a:ext cx="1280160" cy="676656"/>
          </a:xfrm>
          <a:prstGeom prst="roundRect">
            <a:avLst>
              <a:gd name="adj" fmla="val 6757"/>
            </a:avLst>
          </a:prstGeom>
          <a:solidFill>
            <a:srgbClr val="244C9C"/>
          </a:solidFill>
          <a:ln>
            <a:solidFill>
              <a:srgbClr val="244C9C"/>
            </a:solidFill>
          </a:ln>
        </p:spPr>
        <p:txBody>
          <a:bodyPr wrap="square" lIns="25400" tIns="50800" rIns="50800" bIns="2540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  Reaktor kontak 55 °C</a:t>
            </a:r>
            <a:endParaRPr lang="en-US" sz="900" dirty="0"/>
          </a:p>
          <a:p>
            <a:pPr algn="ctr" indent="0" marL="0">
              <a:buNone/>
            </a:pPr>
            <a:r>
              <a:rPr lang="en-US" sz="650" dirty="0">
                <a:solidFill>
                  <a:srgbClr val="FFFFFF"/>
                </a:solidFill>
                <a:latin typeface="Calibri" pitchFamily="34" charset="0"/>
                <a:ea typeface="Calibri" pitchFamily="34" charset="-122"/>
                <a:cs typeface="Calibri" pitchFamily="34" charset="-120"/>
              </a:rPr>
              <a:t>4 tangki GFS 980 m³; HRT 5 hari, SRT 12 hari</a:t>
            </a:r>
            <a:endParaRPr lang="en-US" sz="900" dirty="0"/>
          </a:p>
        </p:txBody>
      </p:sp>
      <p:sp>
        <p:nvSpPr>
          <p:cNvPr id="33" name="garis-229"/>
          <p:cNvSpPr/>
          <p:nvPr/>
        </p:nvSpPr>
        <p:spPr>
          <a:xfrm>
            <a:off x="10408920" y="2075688"/>
            <a:ext cx="152400" cy="0"/>
          </a:xfrm>
          <a:prstGeom prst="line">
            <a:avLst/>
          </a:prstGeom>
          <a:noFill/>
          <a:ln w="19050">
            <a:solidFill>
              <a:srgbClr val="0C2464"/>
            </a:solidFill>
            <a:prstDash val="solid"/>
            <a:tailEnd type="triangle"/>
          </a:ln>
        </p:spPr>
      </p:sp>
      <p:sp>
        <p:nvSpPr>
          <p:cNvPr id="34" name="kotak-230"/>
          <p:cNvSpPr txBox="1"/>
          <p:nvPr/>
        </p:nvSpPr>
        <p:spPr>
          <a:xfrm>
            <a:off x="10561320" y="1737360"/>
            <a:ext cx="1280160" cy="676656"/>
          </a:xfrm>
          <a:prstGeom prst="roundRect">
            <a:avLst>
              <a:gd name="adj" fmla="val 6757"/>
            </a:avLst>
          </a:prstGeom>
          <a:solidFill>
            <a:srgbClr val="0C2464"/>
          </a:solidFill>
          <a:ln>
            <a:solidFill>
              <a:srgbClr val="0C2464"/>
            </a:solidFill>
          </a:ln>
        </p:spPr>
        <p:txBody>
          <a:bodyPr wrap="square" lIns="25400" tIns="50800" rIns="50800" bIns="2540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  Degasser + settler lamella</a:t>
            </a:r>
            <a:endParaRPr lang="en-US" sz="900" dirty="0"/>
          </a:p>
          <a:p>
            <a:pPr algn="ctr" indent="0" marL="0">
              <a:buNone/>
            </a:pPr>
            <a:r>
              <a:rPr lang="en-US" sz="650" dirty="0">
                <a:solidFill>
                  <a:srgbClr val="FFFFFF"/>
                </a:solidFill>
                <a:latin typeface="Calibri" pitchFamily="34" charset="0"/>
                <a:ea typeface="Calibri" pitchFamily="34" charset="-122"/>
                <a:cs typeface="Calibri" pitchFamily="34" charset="-120"/>
              </a:rPr>
              <a:t>vakum −0,3 bar; 85% biomassa kembali ke reaktor</a:t>
            </a:r>
            <a:endParaRPr lang="en-US" sz="900" dirty="0"/>
          </a:p>
        </p:txBody>
      </p:sp>
      <p:sp>
        <p:nvSpPr>
          <p:cNvPr id="35" name="teks-231"/>
          <p:cNvSpPr txBox="1"/>
          <p:nvPr/>
        </p:nvSpPr>
        <p:spPr>
          <a:xfrm>
            <a:off x="6263640" y="1581912"/>
            <a:ext cx="1280160" cy="128016"/>
          </a:xfrm>
          <a:prstGeom prst="rect">
            <a:avLst/>
          </a:prstGeom>
          <a:noFill/>
          <a:ln/>
        </p:spPr>
        <p:txBody>
          <a:bodyPr wrap="square" lIns="0" tIns="0" rIns="0" bIns="0" rtlCol="0" anchor="t"/>
          <a:lstStyle/>
          <a:p>
            <a:pPr indent="0" marL="0">
              <a:buNone/>
            </a:pPr>
            <a:r>
              <a:rPr lang="en-US" sz="580" dirty="0">
                <a:solidFill>
                  <a:srgbClr val="587888"/>
                </a:solidFill>
                <a:latin typeface="Calibri" pitchFamily="34" charset="0"/>
                <a:ea typeface="Calibri" pitchFamily="34" charset="-122"/>
                <a:cs typeface="Calibri" pitchFamily="34" charset="-120"/>
              </a:rPr>
              <a:t>POME tak diolah, masuk dari fat pit</a:t>
            </a:r>
            <a:endParaRPr lang="en-US" sz="580" dirty="0"/>
          </a:p>
        </p:txBody>
      </p:sp>
      <p:sp>
        <p:nvSpPr>
          <p:cNvPr id="36" name="garis-232"/>
          <p:cNvSpPr/>
          <p:nvPr/>
        </p:nvSpPr>
        <p:spPr>
          <a:xfrm>
            <a:off x="11201400" y="1554480"/>
            <a:ext cx="0" cy="182880"/>
          </a:xfrm>
          <a:prstGeom prst="line">
            <a:avLst/>
          </a:prstGeom>
          <a:noFill/>
          <a:ln w="15875">
            <a:solidFill>
              <a:srgbClr val="3E8E41"/>
            </a:solidFill>
            <a:prstDash val="solid"/>
          </a:ln>
        </p:spPr>
      </p:sp>
      <p:sp>
        <p:nvSpPr>
          <p:cNvPr id="37" name="garis-233"/>
          <p:cNvSpPr/>
          <p:nvPr/>
        </p:nvSpPr>
        <p:spPr>
          <a:xfrm>
            <a:off x="9768840" y="1554480"/>
            <a:ext cx="1432560" cy="0"/>
          </a:xfrm>
          <a:prstGeom prst="line">
            <a:avLst/>
          </a:prstGeom>
          <a:noFill/>
          <a:ln w="15875">
            <a:solidFill>
              <a:srgbClr val="3E8E41"/>
            </a:solidFill>
            <a:prstDash val="solid"/>
          </a:ln>
        </p:spPr>
      </p:sp>
      <p:sp>
        <p:nvSpPr>
          <p:cNvPr id="38" name="garis-234"/>
          <p:cNvSpPr/>
          <p:nvPr/>
        </p:nvSpPr>
        <p:spPr>
          <a:xfrm>
            <a:off x="9768840" y="1554480"/>
            <a:ext cx="0" cy="182880"/>
          </a:xfrm>
          <a:prstGeom prst="line">
            <a:avLst/>
          </a:prstGeom>
          <a:noFill/>
          <a:ln w="15875">
            <a:solidFill>
              <a:srgbClr val="3E8E41"/>
            </a:solidFill>
            <a:prstDash val="solid"/>
            <a:tailEnd type="triangle"/>
          </a:ln>
        </p:spPr>
      </p:sp>
      <p:sp>
        <p:nvSpPr>
          <p:cNvPr id="39" name="teks-235"/>
          <p:cNvSpPr txBox="1"/>
          <p:nvPr/>
        </p:nvSpPr>
        <p:spPr>
          <a:xfrm>
            <a:off x="9585960" y="1399032"/>
            <a:ext cx="1737360" cy="137160"/>
          </a:xfrm>
          <a:prstGeom prst="rect">
            <a:avLst/>
          </a:prstGeom>
          <a:noFill/>
          <a:ln/>
        </p:spPr>
        <p:txBody>
          <a:bodyPr wrap="square" lIns="0" tIns="0" rIns="0" bIns="0" rtlCol="0" anchor="t"/>
          <a:lstStyle/>
          <a:p>
            <a:pPr indent="0" marL="0">
              <a:buNone/>
            </a:pPr>
            <a:r>
              <a:rPr lang="en-US" sz="600" b="1" dirty="0">
                <a:solidFill>
                  <a:srgbClr val="3E8E41"/>
                </a:solidFill>
                <a:latin typeface="Calibri" pitchFamily="34" charset="0"/>
                <a:ea typeface="Calibri" pitchFamily="34" charset="-122"/>
                <a:cs typeface="Calibri" pitchFamily="34" charset="-120"/>
              </a:rPr>
              <a:t>lumpur resirkulasi 780 m³/hari</a:t>
            </a:r>
            <a:endParaRPr lang="en-US" sz="600" dirty="0"/>
          </a:p>
        </p:txBody>
      </p:sp>
      <p:sp>
        <p:nvSpPr>
          <p:cNvPr id="40" name="garis-236"/>
          <p:cNvSpPr/>
          <p:nvPr/>
        </p:nvSpPr>
        <p:spPr>
          <a:xfrm>
            <a:off x="8336280" y="2414016"/>
            <a:ext cx="0" cy="182880"/>
          </a:xfrm>
          <a:prstGeom prst="line">
            <a:avLst/>
          </a:prstGeom>
          <a:noFill/>
          <a:ln w="12700">
            <a:solidFill>
              <a:srgbClr val="587888"/>
            </a:solidFill>
            <a:prstDash val="solid"/>
            <a:tailEnd type="triangle"/>
          </a:ln>
        </p:spPr>
      </p:sp>
      <p:sp>
        <p:nvSpPr>
          <p:cNvPr id="41" name="teks-237"/>
          <p:cNvSpPr txBox="1"/>
          <p:nvPr/>
        </p:nvSpPr>
        <p:spPr>
          <a:xfrm>
            <a:off x="7833360" y="2606040"/>
            <a:ext cx="1005840" cy="228600"/>
          </a:xfrm>
          <a:prstGeom prst="rect">
            <a:avLst/>
          </a:prstGeom>
          <a:noFill/>
          <a:ln/>
        </p:spPr>
        <p:txBody>
          <a:bodyPr wrap="square" lIns="0" tIns="0" rIns="0" bIns="0" rtlCol="0" anchor="t"/>
          <a:lstStyle/>
          <a:p>
            <a:pPr algn="ctr" indent="0" marL="0">
              <a:buNone/>
            </a:pPr>
            <a:r>
              <a:rPr lang="en-US" sz="580" dirty="0">
                <a:solidFill>
                  <a:srgbClr val="587888"/>
                </a:solidFill>
                <a:latin typeface="Calibri" pitchFamily="34" charset="0"/>
                <a:ea typeface="Calibri" pitchFamily="34" charset="-122"/>
                <a:cs typeface="Calibri" pitchFamily="34" charset="-120"/>
              </a:rPr>
              <a:t>residu saringan dan pasir ke PKS</a:t>
            </a:r>
            <a:endParaRPr lang="en-US" sz="580" dirty="0"/>
          </a:p>
        </p:txBody>
      </p:sp>
      <p:sp>
        <p:nvSpPr>
          <p:cNvPr id="42" name="garis-238"/>
          <p:cNvSpPr/>
          <p:nvPr/>
        </p:nvSpPr>
        <p:spPr>
          <a:xfrm>
            <a:off x="11201400" y="2414016"/>
            <a:ext cx="0" cy="182880"/>
          </a:xfrm>
          <a:prstGeom prst="line">
            <a:avLst/>
          </a:prstGeom>
          <a:noFill/>
          <a:ln w="15875">
            <a:solidFill>
              <a:srgbClr val="54B4CC"/>
            </a:solidFill>
            <a:prstDash val="solid"/>
            <a:tailEnd type="triangle"/>
          </a:ln>
        </p:spPr>
      </p:sp>
      <p:sp>
        <p:nvSpPr>
          <p:cNvPr id="43" name="teks-239"/>
          <p:cNvSpPr txBox="1"/>
          <p:nvPr/>
        </p:nvSpPr>
        <p:spPr>
          <a:xfrm>
            <a:off x="10561320" y="2606040"/>
            <a:ext cx="1261872" cy="365760"/>
          </a:xfrm>
          <a:prstGeom prst="rect">
            <a:avLst/>
          </a:prstGeom>
          <a:noFill/>
          <a:ln/>
        </p:spPr>
        <p:txBody>
          <a:bodyPr wrap="square" lIns="0" tIns="0" rIns="0" bIns="0" rtlCol="0" anchor="t"/>
          <a:lstStyle/>
          <a:p>
            <a:pPr algn="ctr" indent="0" marL="0">
              <a:buNone/>
            </a:pPr>
            <a:r>
              <a:rPr lang="en-US" sz="580" dirty="0">
                <a:solidFill>
                  <a:srgbClr val="587888"/>
                </a:solidFill>
                <a:latin typeface="Calibri" pitchFamily="34" charset="0"/>
                <a:ea typeface="Calibri" pitchFamily="34" charset="-122"/>
                <a:cs typeface="Calibri" pitchFamily="34" charset="-120"/>
              </a:rPr>
              <a:t>efluen 725 m³/hari (BOD ≈ 1.543 mg/L) ke kolam polishing; lumpur lebih ke screw press</a:t>
            </a:r>
            <a:endParaRPr lang="en-US" sz="580" dirty="0"/>
          </a:p>
        </p:txBody>
      </p:sp>
      <p:sp>
        <p:nvSpPr>
          <p:cNvPr id="44" name="garis-240"/>
          <p:cNvSpPr/>
          <p:nvPr/>
        </p:nvSpPr>
        <p:spPr>
          <a:xfrm>
            <a:off x="9768840" y="2414016"/>
            <a:ext cx="0" cy="493776"/>
          </a:xfrm>
          <a:prstGeom prst="line">
            <a:avLst/>
          </a:prstGeom>
          <a:noFill/>
          <a:ln w="25400">
            <a:solidFill>
              <a:srgbClr val="E0A526"/>
            </a:solidFill>
            <a:prstDash val="solid"/>
          </a:ln>
        </p:spPr>
      </p:sp>
      <p:sp>
        <p:nvSpPr>
          <p:cNvPr id="45" name="garis-241"/>
          <p:cNvSpPr/>
          <p:nvPr/>
        </p:nvSpPr>
        <p:spPr>
          <a:xfrm>
            <a:off x="6903720" y="2907792"/>
            <a:ext cx="2865120" cy="0"/>
          </a:xfrm>
          <a:prstGeom prst="line">
            <a:avLst/>
          </a:prstGeom>
          <a:noFill/>
          <a:ln w="25400">
            <a:solidFill>
              <a:srgbClr val="E0A526"/>
            </a:solidFill>
            <a:prstDash val="solid"/>
          </a:ln>
        </p:spPr>
      </p:sp>
      <p:sp>
        <p:nvSpPr>
          <p:cNvPr id="46" name="garis-242"/>
          <p:cNvSpPr/>
          <p:nvPr/>
        </p:nvSpPr>
        <p:spPr>
          <a:xfrm>
            <a:off x="6903720" y="2907792"/>
            <a:ext cx="0" cy="219456"/>
          </a:xfrm>
          <a:prstGeom prst="line">
            <a:avLst/>
          </a:prstGeom>
          <a:noFill/>
          <a:ln w="25400">
            <a:solidFill>
              <a:srgbClr val="E0A526"/>
            </a:solidFill>
            <a:prstDash val="solid"/>
            <a:tailEnd type="triangle"/>
          </a:ln>
        </p:spPr>
      </p:sp>
      <p:sp>
        <p:nvSpPr>
          <p:cNvPr id="47" name="teks-243"/>
          <p:cNvSpPr txBox="1"/>
          <p:nvPr/>
        </p:nvSpPr>
        <p:spPr>
          <a:xfrm>
            <a:off x="6995160" y="2926080"/>
            <a:ext cx="2103120" cy="137160"/>
          </a:xfrm>
          <a:prstGeom prst="rect">
            <a:avLst/>
          </a:prstGeom>
          <a:noFill/>
          <a:ln/>
        </p:spPr>
        <p:txBody>
          <a:bodyPr wrap="square" lIns="0" tIns="0" rIns="0" bIns="0" rtlCol="0" anchor="t"/>
          <a:lstStyle/>
          <a:p>
            <a:pPr indent="0" marL="0">
              <a:buNone/>
            </a:pPr>
            <a:r>
              <a:rPr lang="en-US" sz="630" b="1" dirty="0">
                <a:solidFill>
                  <a:srgbClr val="9A6A00"/>
                </a:solidFill>
                <a:latin typeface="Calibri" pitchFamily="34" charset="0"/>
                <a:ea typeface="Calibri" pitchFamily="34" charset="-122"/>
                <a:cs typeface="Calibri" pitchFamily="34" charset="-120"/>
              </a:rPr>
              <a:t>biogas 15.781 Nm³/hari, CH₄ 58%</a:t>
            </a:r>
            <a:endParaRPr lang="en-US" sz="630" dirty="0"/>
          </a:p>
        </p:txBody>
      </p:sp>
      <p:sp>
        <p:nvSpPr>
          <p:cNvPr id="48" name="kotak-244"/>
          <p:cNvSpPr txBox="1"/>
          <p:nvPr/>
        </p:nvSpPr>
        <p:spPr>
          <a:xfrm>
            <a:off x="6263640" y="3127248"/>
            <a:ext cx="1280160" cy="676656"/>
          </a:xfrm>
          <a:prstGeom prst="roundRect">
            <a:avLst>
              <a:gd name="adj" fmla="val 6757"/>
            </a:avLst>
          </a:prstGeom>
          <a:solidFill>
            <a:srgbClr val="FFF3CF"/>
          </a:solidFill>
          <a:ln w="9525">
            <a:solidFill>
              <a:srgbClr val="E0A526"/>
            </a:solidFill>
          </a:ln>
        </p:spPr>
        <p:txBody>
          <a:bodyPr wrap="square" lIns="25400" tIns="50800" rIns="50800" bIns="25400" rtlCol="0" anchor="ctr"/>
          <a:lstStyle/>
          <a:p>
            <a:pPr algn="ctr" indent="0" marL="0">
              <a:buNone/>
            </a:pPr>
            <a:r>
              <a:rPr lang="en-US" sz="750" b="1" dirty="0">
                <a:solidFill>
                  <a:srgbClr val="14213D"/>
                </a:solidFill>
                <a:latin typeface="Calibri" pitchFamily="34" charset="0"/>
                <a:ea typeface="Calibri" pitchFamily="34" charset="-122"/>
                <a:cs typeface="Calibri" pitchFamily="34" charset="-120"/>
              </a:rPr>
              <a:t>5  Pemurnian biogas</a:t>
            </a:r>
            <a:endParaRPr lang="en-US" sz="900" dirty="0"/>
          </a:p>
          <a:p>
            <a:pPr algn="ctr" indent="0" marL="0">
              <a:buNone/>
            </a:pPr>
            <a:r>
              <a:rPr lang="en-US" sz="650" dirty="0">
                <a:solidFill>
                  <a:srgbClr val="14213D"/>
                </a:solidFill>
                <a:latin typeface="Calibri" pitchFamily="34" charset="0"/>
                <a:ea typeface="Calibri" pitchFamily="34" charset="-122"/>
                <a:cs typeface="Calibri" pitchFamily="34" charset="-120"/>
              </a:rPr>
              <a:t>bio-scrubber, pendingin 5 °C, karbon aktif: H₂S 2.868 → 21 ppm</a:t>
            </a:r>
            <a:endParaRPr lang="en-US" sz="900" dirty="0"/>
          </a:p>
        </p:txBody>
      </p:sp>
      <p:sp>
        <p:nvSpPr>
          <p:cNvPr id="49" name="garis-245"/>
          <p:cNvSpPr/>
          <p:nvPr/>
        </p:nvSpPr>
        <p:spPr>
          <a:xfrm>
            <a:off x="7543800" y="3465576"/>
            <a:ext cx="152400" cy="0"/>
          </a:xfrm>
          <a:prstGeom prst="line">
            <a:avLst/>
          </a:prstGeom>
          <a:noFill/>
          <a:ln w="19050">
            <a:solidFill>
              <a:srgbClr val="9A6A00"/>
            </a:solidFill>
            <a:prstDash val="solid"/>
            <a:tailEnd type="triangle"/>
          </a:ln>
        </p:spPr>
      </p:sp>
      <p:sp>
        <p:nvSpPr>
          <p:cNvPr id="50" name="kotak-246"/>
          <p:cNvSpPr txBox="1"/>
          <p:nvPr/>
        </p:nvSpPr>
        <p:spPr>
          <a:xfrm>
            <a:off x="7696200" y="3127248"/>
            <a:ext cx="1280160" cy="676656"/>
          </a:xfrm>
          <a:prstGeom prst="roundRect">
            <a:avLst>
              <a:gd name="adj" fmla="val 6757"/>
            </a:avLst>
          </a:prstGeom>
          <a:solidFill>
            <a:srgbClr val="FFF3CF"/>
          </a:solidFill>
          <a:ln w="9525">
            <a:solidFill>
              <a:srgbClr val="E0A526"/>
            </a:solidFill>
          </a:ln>
        </p:spPr>
        <p:txBody>
          <a:bodyPr wrap="square" lIns="25400" tIns="50800" rIns="50800" bIns="25400" rtlCol="0" anchor="ctr"/>
          <a:lstStyle/>
          <a:p>
            <a:pPr algn="ctr" indent="0" marL="0">
              <a:buNone/>
            </a:pPr>
            <a:r>
              <a:rPr lang="en-US" sz="750" b="1" dirty="0">
                <a:solidFill>
                  <a:srgbClr val="14213D"/>
                </a:solidFill>
                <a:latin typeface="Calibri" pitchFamily="34" charset="0"/>
                <a:ea typeface="Calibri" pitchFamily="34" charset="-122"/>
                <a:cs typeface="Calibri" pitchFamily="34" charset="-120"/>
              </a:rPr>
              <a:t>6  Penampung gas</a:t>
            </a:r>
            <a:endParaRPr lang="en-US" sz="900" dirty="0"/>
          </a:p>
          <a:p>
            <a:pPr algn="ctr" indent="0" marL="0">
              <a:buNone/>
            </a:pPr>
            <a:r>
              <a:rPr lang="en-US" sz="650" dirty="0">
                <a:solidFill>
                  <a:srgbClr val="14213D"/>
                </a:solidFill>
                <a:latin typeface="Calibri" pitchFamily="34" charset="0"/>
                <a:ea typeface="Calibri" pitchFamily="34" charset="-122"/>
                <a:cs typeface="Calibri" pitchFamily="34" charset="-120"/>
              </a:rPr>
              <a:t>membran ganda 2 jam; kendali tekanan; flare tertutup</a:t>
            </a:r>
            <a:endParaRPr lang="en-US" sz="900" dirty="0"/>
          </a:p>
        </p:txBody>
      </p:sp>
      <p:sp>
        <p:nvSpPr>
          <p:cNvPr id="51" name="garis-247"/>
          <p:cNvSpPr/>
          <p:nvPr/>
        </p:nvSpPr>
        <p:spPr>
          <a:xfrm>
            <a:off x="8976360" y="3465576"/>
            <a:ext cx="152400" cy="0"/>
          </a:xfrm>
          <a:prstGeom prst="line">
            <a:avLst/>
          </a:prstGeom>
          <a:noFill/>
          <a:ln w="19050">
            <a:solidFill>
              <a:srgbClr val="9A6A00"/>
            </a:solidFill>
            <a:prstDash val="solid"/>
            <a:tailEnd type="triangle"/>
          </a:ln>
        </p:spPr>
      </p:sp>
      <p:sp>
        <p:nvSpPr>
          <p:cNvPr id="52" name="kotak-248"/>
          <p:cNvSpPr txBox="1"/>
          <p:nvPr/>
        </p:nvSpPr>
        <p:spPr>
          <a:xfrm>
            <a:off x="9128760" y="3127248"/>
            <a:ext cx="1280160" cy="676656"/>
          </a:xfrm>
          <a:prstGeom prst="roundRect">
            <a:avLst>
              <a:gd name="adj" fmla="val 6757"/>
            </a:avLst>
          </a:prstGeom>
          <a:solidFill>
            <a:srgbClr val="FFF3CF"/>
          </a:solidFill>
          <a:ln w="9525">
            <a:solidFill>
              <a:srgbClr val="E0A526"/>
            </a:solidFill>
          </a:ln>
        </p:spPr>
        <p:txBody>
          <a:bodyPr wrap="square" lIns="25400" tIns="50800" rIns="50800" bIns="25400" rtlCol="0" anchor="ctr"/>
          <a:lstStyle/>
          <a:p>
            <a:pPr algn="ctr" indent="0" marL="0">
              <a:buNone/>
            </a:pPr>
            <a:r>
              <a:rPr lang="en-US" sz="750" b="1" dirty="0">
                <a:solidFill>
                  <a:srgbClr val="14213D"/>
                </a:solidFill>
                <a:latin typeface="Calibri" pitchFamily="34" charset="0"/>
                <a:ea typeface="Calibri" pitchFamily="34" charset="-122"/>
                <a:cs typeface="Calibri" pitchFamily="34" charset="-120"/>
              </a:rPr>
              <a:t>7  Genset biogas</a:t>
            </a:r>
            <a:endParaRPr lang="en-US" sz="900" dirty="0"/>
          </a:p>
          <a:p>
            <a:pPr algn="ctr" indent="0" marL="0">
              <a:buNone/>
            </a:pPr>
            <a:r>
              <a:rPr lang="en-US" sz="650" dirty="0">
                <a:solidFill>
                  <a:srgbClr val="14213D"/>
                </a:solidFill>
                <a:latin typeface="Calibri" pitchFamily="34" charset="0"/>
                <a:ea typeface="Calibri" pitchFamily="34" charset="-122"/>
                <a:cs typeface="Calibri" pitchFamily="34" charset="-120"/>
              </a:rPr>
              <a:t>2 × 800 kWe, η listrik 39,3%</a:t>
            </a:r>
            <a:endParaRPr lang="en-US" sz="900" dirty="0"/>
          </a:p>
        </p:txBody>
      </p:sp>
      <p:sp>
        <p:nvSpPr>
          <p:cNvPr id="53" name="garis-249"/>
          <p:cNvSpPr/>
          <p:nvPr/>
        </p:nvSpPr>
        <p:spPr>
          <a:xfrm>
            <a:off x="10408920" y="3465576"/>
            <a:ext cx="152400" cy="0"/>
          </a:xfrm>
          <a:prstGeom prst="line">
            <a:avLst/>
          </a:prstGeom>
          <a:noFill/>
          <a:ln w="19050">
            <a:solidFill>
              <a:srgbClr val="9A6A00"/>
            </a:solidFill>
            <a:prstDash val="solid"/>
            <a:tailEnd type="triangle"/>
          </a:ln>
        </p:spPr>
      </p:sp>
      <p:sp>
        <p:nvSpPr>
          <p:cNvPr id="54" name="kotak-250"/>
          <p:cNvSpPr txBox="1"/>
          <p:nvPr/>
        </p:nvSpPr>
        <p:spPr>
          <a:xfrm>
            <a:off x="10561320" y="3127248"/>
            <a:ext cx="1280160" cy="676656"/>
          </a:xfrm>
          <a:prstGeom prst="roundRect">
            <a:avLst>
              <a:gd name="adj" fmla="val 6757"/>
            </a:avLst>
          </a:prstGeom>
          <a:solidFill>
            <a:srgbClr val="FFF3CF"/>
          </a:solidFill>
          <a:ln w="9525">
            <a:solidFill>
              <a:srgbClr val="E0A526"/>
            </a:solidFill>
          </a:ln>
        </p:spPr>
        <p:txBody>
          <a:bodyPr wrap="square" lIns="25400" tIns="50800" rIns="50800" bIns="25400" rtlCol="0" anchor="ctr"/>
          <a:lstStyle/>
          <a:p>
            <a:pPr algn="ctr" indent="0" marL="0">
              <a:buNone/>
            </a:pPr>
            <a:r>
              <a:rPr lang="en-US" sz="750" b="1" dirty="0">
                <a:solidFill>
                  <a:srgbClr val="14213D"/>
                </a:solidFill>
                <a:latin typeface="Calibri" pitchFamily="34" charset="0"/>
                <a:ea typeface="Calibri" pitchFamily="34" charset="-122"/>
                <a:cs typeface="Calibri" pitchFamily="34" charset="-120"/>
              </a:rPr>
              <a:t>8  Panas dan listrik</a:t>
            </a:r>
            <a:endParaRPr lang="en-US" sz="900" dirty="0"/>
          </a:p>
          <a:p>
            <a:pPr algn="ctr" indent="0" marL="0">
              <a:buNone/>
            </a:pPr>
            <a:r>
              <a:rPr lang="en-US" sz="650" dirty="0">
                <a:solidFill>
                  <a:srgbClr val="14213D"/>
                </a:solidFill>
                <a:latin typeface="Calibri" pitchFamily="34" charset="0"/>
                <a:ea typeface="Calibri" pitchFamily="34" charset="-122"/>
                <a:cs typeface="Calibri" pitchFamily="34" charset="-120"/>
              </a:rPr>
              <a:t>air panas 90 °C memanasi reaktor; sisa panas ke PKS</a:t>
            </a:r>
            <a:endParaRPr lang="en-US" sz="900" dirty="0"/>
          </a:p>
        </p:txBody>
      </p:sp>
      <p:sp>
        <p:nvSpPr>
          <p:cNvPr id="55" name="garis-251"/>
          <p:cNvSpPr/>
          <p:nvPr/>
        </p:nvSpPr>
        <p:spPr>
          <a:xfrm>
            <a:off x="11201400" y="3803904"/>
            <a:ext cx="0" cy="265176"/>
          </a:xfrm>
          <a:prstGeom prst="line">
            <a:avLst/>
          </a:prstGeom>
          <a:noFill/>
          <a:ln w="15875">
            <a:solidFill>
              <a:srgbClr val="0C2464"/>
            </a:solidFill>
            <a:prstDash val="solid"/>
          </a:ln>
        </p:spPr>
      </p:sp>
      <p:sp>
        <p:nvSpPr>
          <p:cNvPr id="56" name="garis-252"/>
          <p:cNvSpPr/>
          <p:nvPr/>
        </p:nvSpPr>
        <p:spPr>
          <a:xfrm>
            <a:off x="6926580" y="4069080"/>
            <a:ext cx="4274820" cy="0"/>
          </a:xfrm>
          <a:prstGeom prst="line">
            <a:avLst/>
          </a:prstGeom>
          <a:noFill/>
          <a:ln w="15875">
            <a:solidFill>
              <a:srgbClr val="0C2464"/>
            </a:solidFill>
            <a:prstDash val="solid"/>
          </a:ln>
        </p:spPr>
      </p:sp>
      <p:sp>
        <p:nvSpPr>
          <p:cNvPr id="57" name="garis-253"/>
          <p:cNvSpPr/>
          <p:nvPr/>
        </p:nvSpPr>
        <p:spPr>
          <a:xfrm>
            <a:off x="6926580" y="4069080"/>
            <a:ext cx="0" cy="91440"/>
          </a:xfrm>
          <a:prstGeom prst="line">
            <a:avLst/>
          </a:prstGeom>
          <a:noFill/>
          <a:ln w="15875">
            <a:solidFill>
              <a:srgbClr val="0C2464"/>
            </a:solidFill>
            <a:prstDash val="solid"/>
            <a:tailEnd type="triangle"/>
          </a:ln>
        </p:spPr>
      </p:sp>
      <p:sp>
        <p:nvSpPr>
          <p:cNvPr id="58" name="kotak-254"/>
          <p:cNvSpPr txBox="1"/>
          <p:nvPr/>
        </p:nvSpPr>
        <p:spPr>
          <a:xfrm>
            <a:off x="6263640" y="4160520"/>
            <a:ext cx="1325880" cy="475488"/>
          </a:xfrm>
          <a:prstGeom prst="roundRect">
            <a:avLst>
              <a:gd name="adj" fmla="val 9615"/>
            </a:avLst>
          </a:prstGeom>
          <a:solidFill>
            <a:srgbClr val="E7F4E2"/>
          </a:solidFill>
          <a:ln w="9525">
            <a:solidFill>
              <a:srgbClr val="3E8E41"/>
            </a:solidFill>
          </a:ln>
        </p:spPr>
        <p:txBody>
          <a:bodyPr wrap="square" lIns="25400" tIns="38100" rIns="38100" bIns="25400" rtlCol="0" anchor="ctr"/>
          <a:lstStyle/>
          <a:p>
            <a:pPr algn="ctr" indent="0" marL="0">
              <a:buNone/>
            </a:pPr>
            <a:r>
              <a:rPr lang="en-US" sz="720" b="1" dirty="0">
                <a:solidFill>
                  <a:srgbClr val="3E8E41"/>
                </a:solidFill>
                <a:latin typeface="Calibri" pitchFamily="34" charset="0"/>
                <a:ea typeface="Calibri" pitchFamily="34" charset="-122"/>
                <a:cs typeface="Calibri" pitchFamily="34" charset="-120"/>
              </a:rPr>
              <a:t>Listrik ke PKS</a:t>
            </a:r>
            <a:endParaRPr lang="en-US" sz="900" dirty="0"/>
          </a:p>
          <a:p>
            <a:pPr algn="ctr" indent="0" marL="0">
              <a:buNone/>
            </a:pPr>
            <a:r>
              <a:rPr lang="en-US" sz="630" dirty="0">
                <a:solidFill>
                  <a:srgbClr val="14213D"/>
                </a:solidFill>
                <a:latin typeface="Calibri" pitchFamily="34" charset="0"/>
                <a:ea typeface="Calibri" pitchFamily="34" charset="-122"/>
                <a:cs typeface="Calibri" pitchFamily="34" charset="-120"/>
              </a:rPr>
              <a:t>1,55 GWh/tahun menggantikan solar (USD 0,20/kWh)</a:t>
            </a:r>
            <a:endParaRPr lang="en-US" sz="900" dirty="0"/>
          </a:p>
        </p:txBody>
      </p:sp>
      <p:sp>
        <p:nvSpPr>
          <p:cNvPr id="59" name="garis-255"/>
          <p:cNvSpPr/>
          <p:nvPr/>
        </p:nvSpPr>
        <p:spPr>
          <a:xfrm>
            <a:off x="8343900" y="4069080"/>
            <a:ext cx="0" cy="91440"/>
          </a:xfrm>
          <a:prstGeom prst="line">
            <a:avLst/>
          </a:prstGeom>
          <a:noFill/>
          <a:ln w="15875">
            <a:solidFill>
              <a:srgbClr val="0C2464"/>
            </a:solidFill>
            <a:prstDash val="solid"/>
            <a:tailEnd type="triangle"/>
          </a:ln>
        </p:spPr>
      </p:sp>
      <p:sp>
        <p:nvSpPr>
          <p:cNvPr id="60" name="kotak-256"/>
          <p:cNvSpPr txBox="1"/>
          <p:nvPr/>
        </p:nvSpPr>
        <p:spPr>
          <a:xfrm>
            <a:off x="7680960" y="4160520"/>
            <a:ext cx="1325880" cy="475488"/>
          </a:xfrm>
          <a:prstGeom prst="roundRect">
            <a:avLst>
              <a:gd name="adj" fmla="val 9615"/>
            </a:avLst>
          </a:prstGeom>
          <a:solidFill>
            <a:srgbClr val="E7F4E2"/>
          </a:solidFill>
          <a:ln w="9525">
            <a:solidFill>
              <a:srgbClr val="3E8E41"/>
            </a:solidFill>
          </a:ln>
        </p:spPr>
        <p:txBody>
          <a:bodyPr wrap="square" lIns="25400" tIns="38100" rIns="38100" bIns="25400" rtlCol="0" anchor="ctr"/>
          <a:lstStyle/>
          <a:p>
            <a:pPr algn="ctr" indent="0" marL="0">
              <a:buNone/>
            </a:pPr>
            <a:r>
              <a:rPr lang="en-US" sz="720" b="1" dirty="0">
                <a:solidFill>
                  <a:srgbClr val="3E8E41"/>
                </a:solidFill>
                <a:latin typeface="Calibri" pitchFamily="34" charset="0"/>
                <a:ea typeface="Calibri" pitchFamily="34" charset="-122"/>
                <a:cs typeface="Calibri" pitchFamily="34" charset="-120"/>
              </a:rPr>
              <a:t>Ekspor ke PLN</a:t>
            </a:r>
            <a:endParaRPr lang="en-US" sz="900" dirty="0"/>
          </a:p>
          <a:p>
            <a:pPr algn="ctr" indent="0" marL="0">
              <a:buNone/>
            </a:pPr>
            <a:r>
              <a:rPr lang="en-US" sz="630" dirty="0">
                <a:solidFill>
                  <a:srgbClr val="14213D"/>
                </a:solidFill>
                <a:latin typeface="Calibri" pitchFamily="34" charset="0"/>
                <a:ea typeface="Calibri" pitchFamily="34" charset="-122"/>
                <a:cs typeface="Calibri" pitchFamily="34" charset="-120"/>
              </a:rPr>
              <a:t>5,00 GWh/tahun pada 9,81 USc/kWh</a:t>
            </a:r>
            <a:endParaRPr lang="en-US" sz="900" dirty="0"/>
          </a:p>
        </p:txBody>
      </p:sp>
      <p:sp>
        <p:nvSpPr>
          <p:cNvPr id="61" name="garis-257"/>
          <p:cNvSpPr/>
          <p:nvPr/>
        </p:nvSpPr>
        <p:spPr>
          <a:xfrm>
            <a:off x="9761220" y="4069080"/>
            <a:ext cx="0" cy="91440"/>
          </a:xfrm>
          <a:prstGeom prst="line">
            <a:avLst/>
          </a:prstGeom>
          <a:noFill/>
          <a:ln w="15875">
            <a:solidFill>
              <a:srgbClr val="0C2464"/>
            </a:solidFill>
            <a:prstDash val="solid"/>
            <a:tailEnd type="triangle"/>
          </a:ln>
        </p:spPr>
      </p:sp>
      <p:sp>
        <p:nvSpPr>
          <p:cNvPr id="62" name="kotak-258"/>
          <p:cNvSpPr txBox="1"/>
          <p:nvPr/>
        </p:nvSpPr>
        <p:spPr>
          <a:xfrm>
            <a:off x="9098280" y="4160520"/>
            <a:ext cx="1325880" cy="475488"/>
          </a:xfrm>
          <a:prstGeom prst="roundRect">
            <a:avLst>
              <a:gd name="adj" fmla="val 9615"/>
            </a:avLst>
          </a:prstGeom>
          <a:solidFill>
            <a:srgbClr val="E7F4E2"/>
          </a:solidFill>
          <a:ln w="9525">
            <a:solidFill>
              <a:srgbClr val="3E8E41"/>
            </a:solidFill>
          </a:ln>
        </p:spPr>
        <p:txBody>
          <a:bodyPr wrap="square" lIns="25400" tIns="38100" rIns="38100" bIns="25400" rtlCol="0" anchor="ctr"/>
          <a:lstStyle/>
          <a:p>
            <a:pPr algn="ctr" indent="0" marL="0">
              <a:buNone/>
            </a:pPr>
            <a:r>
              <a:rPr lang="en-US" sz="720" b="1" dirty="0">
                <a:solidFill>
                  <a:srgbClr val="3E8E41"/>
                </a:solidFill>
                <a:latin typeface="Calibri" pitchFamily="34" charset="0"/>
                <a:ea typeface="Calibri" pitchFamily="34" charset="-122"/>
                <a:cs typeface="Calibri" pitchFamily="34" charset="-120"/>
              </a:rPr>
              <a:t>Kredit karbon</a:t>
            </a:r>
            <a:endParaRPr lang="en-US" sz="900" dirty="0"/>
          </a:p>
          <a:p>
            <a:pPr algn="ctr" indent="0" marL="0">
              <a:buNone/>
            </a:pPr>
            <a:r>
              <a:rPr lang="en-US" sz="630" dirty="0">
                <a:solidFill>
                  <a:srgbClr val="14213D"/>
                </a:solidFill>
                <a:latin typeface="Calibri" pitchFamily="34" charset="0"/>
                <a:ea typeface="Calibri" pitchFamily="34" charset="-122"/>
                <a:cs typeface="Calibri" pitchFamily="34" charset="-120"/>
              </a:rPr>
              <a:t>≈ 30 ribu tCO₂e/tahun (USD 5/t)</a:t>
            </a:r>
            <a:endParaRPr lang="en-US" sz="900" dirty="0"/>
          </a:p>
        </p:txBody>
      </p:sp>
      <p:sp>
        <p:nvSpPr>
          <p:cNvPr id="63" name="garis-259"/>
          <p:cNvSpPr/>
          <p:nvPr/>
        </p:nvSpPr>
        <p:spPr>
          <a:xfrm>
            <a:off x="11178540" y="4069080"/>
            <a:ext cx="0" cy="91440"/>
          </a:xfrm>
          <a:prstGeom prst="line">
            <a:avLst/>
          </a:prstGeom>
          <a:noFill/>
          <a:ln w="15875">
            <a:solidFill>
              <a:srgbClr val="0C2464"/>
            </a:solidFill>
            <a:prstDash val="solid"/>
            <a:tailEnd type="triangle"/>
          </a:ln>
        </p:spPr>
      </p:sp>
      <p:sp>
        <p:nvSpPr>
          <p:cNvPr id="64" name="kotak-260"/>
          <p:cNvSpPr txBox="1"/>
          <p:nvPr/>
        </p:nvSpPr>
        <p:spPr>
          <a:xfrm>
            <a:off x="10515600" y="4160520"/>
            <a:ext cx="1325880" cy="475488"/>
          </a:xfrm>
          <a:prstGeom prst="roundRect">
            <a:avLst>
              <a:gd name="adj" fmla="val 9615"/>
            </a:avLst>
          </a:prstGeom>
          <a:solidFill>
            <a:srgbClr val="E7F4E2"/>
          </a:solidFill>
          <a:ln w="9525">
            <a:solidFill>
              <a:srgbClr val="3E8E41"/>
            </a:solidFill>
          </a:ln>
        </p:spPr>
        <p:txBody>
          <a:bodyPr wrap="square" lIns="25400" tIns="38100" rIns="38100" bIns="25400" rtlCol="0" anchor="ctr"/>
          <a:lstStyle/>
          <a:p>
            <a:pPr algn="ctr" indent="0" marL="0">
              <a:buNone/>
            </a:pPr>
            <a:r>
              <a:rPr lang="en-US" sz="720" b="1" dirty="0">
                <a:solidFill>
                  <a:srgbClr val="3E8E41"/>
                </a:solidFill>
                <a:latin typeface="Calibri" pitchFamily="34" charset="0"/>
                <a:ea typeface="Calibri" pitchFamily="34" charset="-122"/>
                <a:cs typeface="Calibri" pitchFamily="34" charset="-120"/>
              </a:rPr>
              <a:t>Jasa pengolahan POME</a:t>
            </a:r>
            <a:endParaRPr lang="en-US" sz="900" dirty="0"/>
          </a:p>
          <a:p>
            <a:pPr algn="ctr" indent="0" marL="0">
              <a:buNone/>
            </a:pPr>
            <a:r>
              <a:rPr lang="en-US" sz="630" dirty="0">
                <a:solidFill>
                  <a:srgbClr val="14213D"/>
                </a:solidFill>
                <a:latin typeface="Calibri" pitchFamily="34" charset="0"/>
                <a:ea typeface="Calibri" pitchFamily="34" charset="-122"/>
                <a:cs typeface="Calibri" pitchFamily="34" charset="-120"/>
              </a:rPr>
              <a:t>USD 1,25/t TBS dari PKS</a:t>
            </a:r>
            <a:endParaRPr lang="en-US" sz="900" dirty="0"/>
          </a:p>
        </p:txBody>
      </p:sp>
      <p:sp>
        <p:nvSpPr>
          <p:cNvPr id="65" name="teks-261"/>
          <p:cNvSpPr txBox="1"/>
          <p:nvPr/>
        </p:nvSpPr>
        <p:spPr>
          <a:xfrm>
            <a:off x="6263640" y="4663440"/>
            <a:ext cx="5577840" cy="137160"/>
          </a:xfrm>
          <a:prstGeom prst="rect">
            <a:avLst/>
          </a:prstGeom>
          <a:noFill/>
          <a:ln/>
        </p:spPr>
        <p:txBody>
          <a:bodyPr wrap="square" lIns="0" tIns="0" rIns="0" bIns="0" rtlCol="0" anchor="t"/>
          <a:lstStyle/>
          <a:p>
            <a:pPr indent="0" marL="0">
              <a:buNone/>
            </a:pPr>
            <a:r>
              <a:rPr lang="en-US" sz="620" i="1" dirty="0">
                <a:solidFill>
                  <a:srgbClr val="587888"/>
                </a:solidFill>
                <a:latin typeface="Calibri" pitchFamily="34" charset="0"/>
                <a:ea typeface="Calibri" pitchFamily="34" charset="-122"/>
                <a:cs typeface="Calibri" pitchFamily="34" charset="-120"/>
              </a:rPr>
              <a:t>Batas sistem: dari fat pit PKS sampai titik serah 20 kV; efluen terolah memakai kolam polishing PKS yang sudah ada.</a:t>
            </a:r>
            <a:endParaRPr lang="en-US" sz="620" dirty="0"/>
          </a:p>
        </p:txBody>
      </p:sp>
      <p:sp>
        <p:nvSpPr>
          <p:cNvPr id="66" name="kotak-262"/>
          <p:cNvSpPr/>
          <p:nvPr/>
        </p:nvSpPr>
        <p:spPr>
          <a:xfrm>
            <a:off x="6263640" y="4846320"/>
            <a:ext cx="1798320" cy="1508760"/>
          </a:xfrm>
          <a:prstGeom prst="roundRect">
            <a:avLst>
              <a:gd name="adj" fmla="val 3030"/>
            </a:avLst>
          </a:prstGeom>
          <a:solidFill>
            <a:srgbClr val="FFFFFF"/>
          </a:solidFill>
          <a:ln w="9525">
            <a:solidFill>
              <a:srgbClr val="C3D3E8"/>
            </a:solidFill>
            <a:prstDash val="solid"/>
          </a:ln>
        </p:spPr>
      </p:sp>
      <p:sp>
        <p:nvSpPr>
          <p:cNvPr id="67" name="teks-263"/>
          <p:cNvSpPr txBox="1"/>
          <p:nvPr/>
        </p:nvSpPr>
        <p:spPr>
          <a:xfrm>
            <a:off x="6336792" y="4901184"/>
            <a:ext cx="1652016" cy="182880"/>
          </a:xfrm>
          <a:prstGeom prst="rect">
            <a:avLst/>
          </a:prstGeom>
          <a:noFill/>
          <a:ln/>
        </p:spPr>
        <p:txBody>
          <a:bodyPr wrap="square" lIns="0" tIns="0" rIns="0" bIns="0" rtlCol="0" anchor="ctr"/>
          <a:lstStyle/>
          <a:p>
            <a:pPr indent="0" marL="0">
              <a:buNone/>
            </a:pPr>
            <a:r>
              <a:rPr lang="en-US" sz="820" b="1" dirty="0">
                <a:solidFill>
                  <a:srgbClr val="0C2464"/>
                </a:solidFill>
                <a:latin typeface="Arial" pitchFamily="34" charset="0"/>
                <a:ea typeface="Arial" pitchFamily="34" charset="-122"/>
                <a:cs typeface="Arial" pitchFamily="34" charset="-120"/>
              </a:rPr>
              <a:t>Pengguna sasaran</a:t>
            </a:r>
            <a:endParaRPr lang="en-US" sz="820" dirty="0"/>
          </a:p>
        </p:txBody>
      </p:sp>
      <p:sp>
        <p:nvSpPr>
          <p:cNvPr id="68" name="teks-264"/>
          <p:cNvSpPr txBox="1"/>
          <p:nvPr/>
        </p:nvSpPr>
        <p:spPr>
          <a:xfrm>
            <a:off x="6336792" y="5120640"/>
            <a:ext cx="1652016" cy="1197864"/>
          </a:xfrm>
          <a:prstGeom prst="rect">
            <a:avLst/>
          </a:prstGeom>
          <a:noFill/>
          <a:ln/>
        </p:spPr>
        <p:txBody>
          <a:bodyPr wrap="square" lIns="0" tIns="0" rIns="0" bIns="0" rtlCol="0" anchor="t"/>
          <a:lstStyle/>
          <a:p>
            <a:pPr marL="101600" indent="-101600">
              <a:spcAft>
                <a:spcPts val="200"/>
              </a:spcAft>
              <a:buSzPct val="100000"/>
              <a:buChar char="•"/>
            </a:pPr>
            <a:r>
              <a:rPr lang="en-US" sz="690" dirty="0">
                <a:solidFill>
                  <a:srgbClr val="14213D"/>
                </a:solidFill>
                <a:latin typeface="Calibri" pitchFamily="34" charset="0"/>
                <a:ea typeface="Calibri" pitchFamily="34" charset="-122"/>
                <a:cs typeface="Calibri" pitchFamily="34" charset="-120"/>
              </a:rPr>
              <a:t>PKS independen 45–60 t TBS/jam yang membakar solar di luar jam olah (terukur ≥ 2,0 L/t TBS), dengan jaringan 20 kV ≤ 2 km.</a:t>
            </a:r>
            <a:endParaRPr lang="en-US" sz="690" dirty="0"/>
          </a:p>
          <a:p>
            <a:pPr marL="101600" indent="-101600">
              <a:spcAft>
                <a:spcPts val="200"/>
              </a:spcAft>
              <a:buSzPct val="100000"/>
              <a:buChar char="•"/>
            </a:pPr>
            <a:r>
              <a:rPr lang="en-US" sz="690" dirty="0">
                <a:solidFill>
                  <a:srgbClr val="14213D"/>
                </a:solidFill>
                <a:latin typeface="Calibri" pitchFamily="34" charset="0"/>
                <a:ea typeface="Calibri" pitchFamily="34" charset="-122"/>
                <a:cs typeface="Calibri" pitchFamily="34" charset="-120"/>
              </a:rPr>
              <a:t>±57 PKS di Sumatera dan Kalimantan (SAM); pembeli: PKS, PLN, pembeli karbon.</a:t>
            </a:r>
            <a:endParaRPr lang="en-US" sz="690" dirty="0"/>
          </a:p>
        </p:txBody>
      </p:sp>
      <p:sp>
        <p:nvSpPr>
          <p:cNvPr id="69" name="kotak-265"/>
          <p:cNvSpPr/>
          <p:nvPr/>
        </p:nvSpPr>
        <p:spPr>
          <a:xfrm>
            <a:off x="8153400" y="4846320"/>
            <a:ext cx="1798320" cy="1508760"/>
          </a:xfrm>
          <a:prstGeom prst="roundRect">
            <a:avLst>
              <a:gd name="adj" fmla="val 3030"/>
            </a:avLst>
          </a:prstGeom>
          <a:solidFill>
            <a:srgbClr val="FFFFFF"/>
          </a:solidFill>
          <a:ln w="9525">
            <a:solidFill>
              <a:srgbClr val="C3D3E8"/>
            </a:solidFill>
            <a:prstDash val="solid"/>
          </a:ln>
        </p:spPr>
      </p:sp>
      <p:sp>
        <p:nvSpPr>
          <p:cNvPr id="70" name="teks-266"/>
          <p:cNvSpPr txBox="1"/>
          <p:nvPr/>
        </p:nvSpPr>
        <p:spPr>
          <a:xfrm>
            <a:off x="8226552" y="4901184"/>
            <a:ext cx="1652016" cy="182880"/>
          </a:xfrm>
          <a:prstGeom prst="rect">
            <a:avLst/>
          </a:prstGeom>
          <a:noFill/>
          <a:ln/>
        </p:spPr>
        <p:txBody>
          <a:bodyPr wrap="square" lIns="0" tIns="0" rIns="0" bIns="0" rtlCol="0" anchor="ctr"/>
          <a:lstStyle/>
          <a:p>
            <a:pPr indent="0" marL="0">
              <a:buNone/>
            </a:pPr>
            <a:r>
              <a:rPr lang="en-US" sz="820" b="1" dirty="0">
                <a:solidFill>
                  <a:srgbClr val="0C2464"/>
                </a:solidFill>
                <a:latin typeface="Arial" pitchFamily="34" charset="0"/>
                <a:ea typeface="Arial" pitchFamily="34" charset="-122"/>
                <a:cs typeface="Arial" pitchFamily="34" charset="-120"/>
              </a:rPr>
              <a:t>Proposisi nilai (PKS 60 t/jam)</a:t>
            </a:r>
            <a:endParaRPr lang="en-US" sz="820" dirty="0"/>
          </a:p>
        </p:txBody>
      </p:sp>
      <p:sp>
        <p:nvSpPr>
          <p:cNvPr id="71" name="teks-267"/>
          <p:cNvSpPr txBox="1"/>
          <p:nvPr/>
        </p:nvSpPr>
        <p:spPr>
          <a:xfrm>
            <a:off x="8226552" y="5120640"/>
            <a:ext cx="1652016" cy="1197864"/>
          </a:xfrm>
          <a:prstGeom prst="rect">
            <a:avLst/>
          </a:prstGeom>
          <a:noFill/>
          <a:ln/>
        </p:spPr>
        <p:txBody>
          <a:bodyPr wrap="square" lIns="0" tIns="0" rIns="0" bIns="0" rtlCol="0" anchor="t"/>
          <a:lstStyle/>
          <a:p>
            <a:pPr marL="101600" indent="-101600">
              <a:spcAft>
                <a:spcPts val="200"/>
              </a:spcAft>
              <a:buSzPct val="100000"/>
              <a:buChar char="•"/>
            </a:pPr>
            <a:r>
              <a:rPr lang="en-US" sz="690" dirty="0">
                <a:solidFill>
                  <a:srgbClr val="14213D"/>
                </a:solidFill>
                <a:latin typeface="Calibri" pitchFamily="34" charset="0"/>
                <a:ea typeface="Calibri" pitchFamily="34" charset="-122"/>
                <a:cs typeface="Calibri" pitchFamily="34" charset="-120"/>
              </a:rPr>
              <a:t>Modal PKS USD 0; kontrak 20 tahun; operator menjamin kinerja.</a:t>
            </a:r>
            <a:endParaRPr lang="en-US" sz="690" dirty="0"/>
          </a:p>
          <a:p>
            <a:pPr marL="101600" indent="-101600">
              <a:spcAft>
                <a:spcPts val="200"/>
              </a:spcAft>
              <a:buSzPct val="100000"/>
              <a:buChar char="•"/>
            </a:pPr>
            <a:r>
              <a:rPr lang="en-US" sz="690" dirty="0">
                <a:solidFill>
                  <a:srgbClr val="14213D"/>
                </a:solidFill>
                <a:latin typeface="Calibri" pitchFamily="34" charset="0"/>
                <a:ea typeface="Calibri" pitchFamily="34" charset="-122"/>
                <a:cs typeface="Calibri" pitchFamily="34" charset="-120"/>
              </a:rPr>
              <a:t>Biaya POME USD 3,00 vs 3,14/t TBS bila memakai kolam (−4,3%); emisi metana −96%.</a:t>
            </a:r>
            <a:endParaRPr lang="en-US" sz="690" dirty="0"/>
          </a:p>
          <a:p>
            <a:pPr marL="101600" indent="-101600">
              <a:spcAft>
                <a:spcPts val="200"/>
              </a:spcAft>
              <a:buSzPct val="100000"/>
              <a:buChar char="•"/>
            </a:pPr>
            <a:r>
              <a:rPr lang="en-US" sz="690" dirty="0">
                <a:solidFill>
                  <a:srgbClr val="14213D"/>
                </a:solidFill>
                <a:latin typeface="Calibri" pitchFamily="34" charset="0"/>
                <a:ea typeface="Calibri" pitchFamily="34" charset="-122"/>
                <a:cs typeface="Calibri" pitchFamily="34" charset="-120"/>
              </a:rPr>
              <a:t>Efluen tetap memenuhi syarat aplikasi lahan.</a:t>
            </a:r>
            <a:endParaRPr lang="en-US" sz="690" dirty="0"/>
          </a:p>
        </p:txBody>
      </p:sp>
      <p:sp>
        <p:nvSpPr>
          <p:cNvPr id="72" name="kotak-268"/>
          <p:cNvSpPr/>
          <p:nvPr/>
        </p:nvSpPr>
        <p:spPr>
          <a:xfrm>
            <a:off x="10043160" y="4846320"/>
            <a:ext cx="1798320" cy="1508760"/>
          </a:xfrm>
          <a:prstGeom prst="roundRect">
            <a:avLst>
              <a:gd name="adj" fmla="val 3030"/>
            </a:avLst>
          </a:prstGeom>
          <a:solidFill>
            <a:srgbClr val="FFFFFF"/>
          </a:solidFill>
          <a:ln w="9525">
            <a:solidFill>
              <a:srgbClr val="C3D3E8"/>
            </a:solidFill>
            <a:prstDash val="solid"/>
          </a:ln>
        </p:spPr>
      </p:sp>
      <p:sp>
        <p:nvSpPr>
          <p:cNvPr id="73" name="teks-269"/>
          <p:cNvSpPr txBox="1"/>
          <p:nvPr/>
        </p:nvSpPr>
        <p:spPr>
          <a:xfrm>
            <a:off x="10116312" y="4901184"/>
            <a:ext cx="1652016" cy="182880"/>
          </a:xfrm>
          <a:prstGeom prst="rect">
            <a:avLst/>
          </a:prstGeom>
          <a:noFill/>
          <a:ln/>
        </p:spPr>
        <p:txBody>
          <a:bodyPr wrap="square" lIns="0" tIns="0" rIns="0" bIns="0" rtlCol="0" anchor="ctr"/>
          <a:lstStyle/>
          <a:p>
            <a:pPr indent="0" marL="0">
              <a:buNone/>
            </a:pPr>
            <a:r>
              <a:rPr lang="en-US" sz="820" b="1" dirty="0">
                <a:solidFill>
                  <a:srgbClr val="0C2464"/>
                </a:solidFill>
                <a:latin typeface="Arial" pitchFamily="34" charset="0"/>
                <a:ea typeface="Arial" pitchFamily="34" charset="-122"/>
                <a:cs typeface="Arial" pitchFamily="34" charset="-120"/>
              </a:rPr>
              <a:t>Pembeda dari praktik saat ini</a:t>
            </a:r>
            <a:endParaRPr lang="en-US" sz="820" dirty="0"/>
          </a:p>
        </p:txBody>
      </p:sp>
      <p:sp>
        <p:nvSpPr>
          <p:cNvPr id="74" name="teks-270"/>
          <p:cNvSpPr txBox="1"/>
          <p:nvPr/>
        </p:nvSpPr>
        <p:spPr>
          <a:xfrm>
            <a:off x="10116312" y="5120640"/>
            <a:ext cx="1652016" cy="1197864"/>
          </a:xfrm>
          <a:prstGeom prst="rect">
            <a:avLst/>
          </a:prstGeom>
          <a:noFill/>
          <a:ln/>
        </p:spPr>
        <p:txBody>
          <a:bodyPr wrap="square" lIns="0" tIns="0" rIns="0" bIns="0" rtlCol="0" anchor="t"/>
          <a:lstStyle/>
          <a:p>
            <a:pPr marL="101600" indent="-101600">
              <a:spcAft>
                <a:spcPts val="200"/>
              </a:spcAft>
              <a:buSzPct val="100000"/>
              <a:buChar char="•"/>
            </a:pPr>
            <a:r>
              <a:rPr lang="en-US" sz="690" dirty="0">
                <a:solidFill>
                  <a:srgbClr val="14213D"/>
                </a:solidFill>
                <a:latin typeface="Calibri" pitchFamily="34" charset="0"/>
                <a:ea typeface="Calibri" pitchFamily="34" charset="-122"/>
                <a:cs typeface="Calibri" pitchFamily="34" charset="-120"/>
              </a:rPr>
              <a:t>Layanan, bukan proyek rekayasa sekali jadi.</a:t>
            </a:r>
            <a:endParaRPr lang="en-US" sz="690" dirty="0"/>
          </a:p>
          <a:p>
            <a:pPr marL="101600" indent="-101600">
              <a:spcAft>
                <a:spcPts val="200"/>
              </a:spcAft>
              <a:buSzPct val="100000"/>
              <a:buChar char="•"/>
            </a:pPr>
            <a:r>
              <a:rPr lang="en-US" sz="690" dirty="0">
                <a:solidFill>
                  <a:srgbClr val="14213D"/>
                </a:solidFill>
                <a:latin typeface="Calibri" pitchFamily="34" charset="0"/>
                <a:ea typeface="Calibri" pitchFamily="34" charset="-122"/>
                <a:cs typeface="Calibri" pitchFamily="34" charset="-120"/>
              </a:rPr>
              <a:t>Reaktor kecil: HRT 5 hari (kolam tertutup 25–40 hari), plot 0,38–0,5 ha.</a:t>
            </a:r>
            <a:endParaRPr lang="en-US" sz="690" dirty="0"/>
          </a:p>
          <a:p>
            <a:pPr marL="101600" indent="-101600">
              <a:spcAft>
                <a:spcPts val="200"/>
              </a:spcAft>
              <a:buSzPct val="100000"/>
              <a:buChar char="•"/>
            </a:pPr>
            <a:r>
              <a:rPr lang="en-US" sz="690" dirty="0">
                <a:solidFill>
                  <a:srgbClr val="14213D"/>
                </a:solidFill>
                <a:latin typeface="Calibri" pitchFamily="34" charset="0"/>
                <a:ea typeface="Calibri" pitchFamily="34" charset="-122"/>
                <a:cs typeface="Calibri" pitchFamily="34" charset="-120"/>
              </a:rPr>
              <a:t>Tangki baut dan skid kontainer: dapat dipindah; pasang ±10 bulan.</a:t>
            </a:r>
            <a:endParaRPr lang="en-US" sz="690" dirty="0"/>
          </a:p>
        </p:txBody>
      </p:sp>
      <p:sp>
        <p:nvSpPr>
          <p:cNvPr id="75" name="teks-271"/>
          <p:cNvSpPr txBox="1"/>
          <p:nvPr/>
        </p:nvSpPr>
        <p:spPr>
          <a:xfrm>
            <a:off x="365760" y="6419088"/>
            <a:ext cx="11109960" cy="246888"/>
          </a:xfrm>
          <a:prstGeom prst="rect">
            <a:avLst/>
          </a:prstGeom>
          <a:noFill/>
          <a:ln/>
        </p:spPr>
        <p:txBody>
          <a:bodyPr wrap="square" lIns="0" tIns="0" rIns="0" bIns="0" rtlCol="0" anchor="ctr"/>
          <a:lstStyle/>
          <a:p>
            <a:pPr indent="0" marL="0">
              <a:buNone/>
            </a:pPr>
            <a:r>
              <a:rPr lang="en-US" sz="590" dirty="0">
                <a:solidFill>
                  <a:srgbClr val="587888"/>
                </a:solidFill>
                <a:latin typeface="Calibri" pitchFamily="34" charset="0"/>
                <a:ea typeface="Calibri" pitchFamily="34" charset="-122"/>
                <a:cs typeface="Calibri" pitchFamily="34" charset="-120"/>
              </a:rPr>
              <a:t>Singkatan: GFS baja berlapis kaca; HRT/SRT waktu tinggal hidraulik/lumpur; SAM pasar yang dapat dilayani; FCI biaya modal tetap; IRR laju pengembalian internal; η efisiensi.</a:t>
            </a:r>
            <a:endParaRPr lang="en-US" sz="590" dirty="0"/>
          </a:p>
          <a:p>
            <a:pPr indent="0" marL="0">
              <a:buNone/>
            </a:pPr>
            <a:r>
              <a:rPr lang="en-US" sz="590" dirty="0">
                <a:solidFill>
                  <a:srgbClr val="587888"/>
                </a:solidFill>
                <a:latin typeface="Calibri" pitchFamily="34" charset="0"/>
                <a:ea typeface="Calibri" pitchFamily="34" charset="-122"/>
                <a:cs typeface="Calibri" pitchFamily="34" charset="-120"/>
              </a:rPr>
              <a:t>Sumber: neraca proses Rev 2 (process/outputs/results.json; tier 60 t/jam), model 3D tim, Model Keputusan PKS, research/R3 dan R6. Angka aliran 60 t/jam diskalakan linier dari modul acuan 45 t/jam (HRT dan SRT identik).</a:t>
            </a:r>
            <a:endParaRPr lang="en-US" sz="59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nomor-272"/>
          <p:cNvSpPr txBox="1"/>
          <p:nvPr/>
        </p:nvSpPr>
        <p:spPr>
          <a:xfrm>
            <a:off x="365760" y="246888"/>
            <a:ext cx="384048" cy="384048"/>
          </a:xfrm>
          <a:prstGeom prst="rect">
            <a:avLst/>
          </a:prstGeom>
          <a:solidFill>
            <a:srgbClr val="0C2464"/>
          </a:solid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04</a:t>
            </a:r>
            <a:endParaRPr lang="en-US" sz="1300" dirty="0"/>
          </a:p>
        </p:txBody>
      </p:sp>
      <p:sp>
        <p:nvSpPr>
          <p:cNvPr id="3" name="kicker-273"/>
          <p:cNvSpPr txBox="1"/>
          <p:nvPr/>
        </p:nvSpPr>
        <p:spPr>
          <a:xfrm>
            <a:off x="841248" y="228600"/>
            <a:ext cx="8686800" cy="182880"/>
          </a:xfrm>
          <a:prstGeom prst="rect">
            <a:avLst/>
          </a:prstGeom>
          <a:noFill/>
          <a:ln/>
        </p:spPr>
        <p:txBody>
          <a:bodyPr wrap="square" lIns="0" tIns="0" rIns="0" bIns="0" rtlCol="0" anchor="ctr"/>
          <a:lstStyle/>
          <a:p>
            <a:pPr indent="0" marL="0">
              <a:buNone/>
            </a:pPr>
            <a:r>
              <a:rPr lang="en-US" sz="850" b="1" dirty="0">
                <a:solidFill>
                  <a:srgbClr val="3E8E41"/>
                </a:solidFill>
                <a:latin typeface="Arial" pitchFamily="34" charset="0"/>
                <a:ea typeface="Arial" pitchFamily="34" charset="-122"/>
                <a:cs typeface="Arial" pitchFamily="34" charset="-120"/>
              </a:rPr>
              <a:t>SOLUSI: VALIDITAS TEKNIS</a:t>
            </a:r>
            <a:endParaRPr lang="en-US" sz="850" dirty="0"/>
          </a:p>
        </p:txBody>
      </p:sp>
      <p:sp>
        <p:nvSpPr>
          <p:cNvPr id="4" name="Text 0"/>
          <p:cNvSpPr/>
          <p:nvPr>
            <p:ph idx="100" type="title" hasCustomPrompt="1"/>
          </p:nvPr>
        </p:nvSpPr>
        <p:spPr>
          <a:xfrm>
            <a:off x="841248" y="411480"/>
            <a:ext cx="10972800" cy="566928"/>
          </a:xfrm>
          <a:prstGeom prst="rect">
            <a:avLst/>
          </a:prstGeom>
          <a:noFill/>
          <a:ln/>
        </p:spPr>
        <p:txBody>
          <a:bodyPr wrap="square" lIns="0" tIns="0" rIns="0" bIns="0" rtlCol="0" anchor="t"/>
          <a:lstStyle/>
          <a:p>
            <a:pPr algn="l" indent="0" marL="0">
              <a:buNone/>
            </a:pPr>
            <a:r>
              <a:rPr lang="en-US" sz="1600" b="1" dirty="0">
                <a:solidFill>
                  <a:srgbClr val="0C2464"/>
                </a:solidFill>
                <a:latin typeface="Arial" pitchFamily="34" charset="0"/>
                <a:ea typeface="Arial" pitchFamily="34" charset="-122"/>
                <a:cs typeface="Arial" pitchFamily="34" charset="-120"/>
              </a:rPr>
              <a:t>Validitas teknis: neraca massa menutup (galat 0,0002%), swasembada energi 91%, tetapi TRL baru 4; lima uji terjadwal diperlukan sebelum keputusan investasi</a:t>
            </a:r>
            <a:endParaRPr lang="en-US" sz="1600" dirty="0"/>
          </a:p>
        </p:txBody>
      </p:sp>
      <p:sp>
        <p:nvSpPr>
          <p:cNvPr id="5" name="teks-274"/>
          <p:cNvSpPr txBox="1"/>
          <p:nvPr/>
        </p:nvSpPr>
        <p:spPr>
          <a:xfrm>
            <a:off x="365760" y="1078992"/>
            <a:ext cx="37490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Dasar desain (45 | 60 t TBS/jam) dan status data</a:t>
            </a:r>
            <a:endParaRPr lang="en-US" sz="850" dirty="0"/>
          </a:p>
        </p:txBody>
      </p:sp>
      <p:sp>
        <p:nvSpPr>
          <p:cNvPr id="6" name="garis-275"/>
          <p:cNvSpPr/>
          <p:nvPr/>
        </p:nvSpPr>
        <p:spPr>
          <a:xfrm>
            <a:off x="365760" y="1271016"/>
            <a:ext cx="3749040" cy="0"/>
          </a:xfrm>
          <a:prstGeom prst="line">
            <a:avLst/>
          </a:prstGeom>
          <a:noFill/>
          <a:ln w="15875">
            <a:solidFill>
              <a:srgbClr val="64BC54"/>
            </a:solidFill>
            <a:prstDash val="solid"/>
          </a:ln>
        </p:spPr>
      </p:sp>
      <p:graphicFrame>
        <p:nvGraphicFramePr>
          <p:cNvPr id="5" name="tabel-276"/>
          <p:cNvGraphicFramePr>
            <a:graphicFrameLocks noGrp="1"/>
          </p:cNvGraphicFramePr>
          <p:nvPr>
            <p:extLst>
              <p:ext uri="{D42A27DB-BD31-4B8C-83A1-F6EECF244321}">
                <p14:modId xmlns:p14="http://schemas.microsoft.com/office/powerpoint/2010/main" val="1579011935"/>
              </p:ext>
            </p:extLst>
          </p:nvPr>
        </p:nvGraphicFramePr>
        <p:xfrm>
          <a:off x="365760" y="1307592"/>
          <a:ext cx="3749040" cy="914400"/>
        </p:xfrm>
        <a:graphic>
          <a:graphicData uri="http://schemas.openxmlformats.org/drawingml/2006/table">
            <a:tbl>
              <a:tblPr/>
              <a:tblGrid>
                <a:gridCol w="1371600"/>
                <a:gridCol w="868680"/>
                <a:gridCol w="685800"/>
                <a:gridCol w="822960"/>
              </a:tblGrid>
              <a:tr h="187452">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Parameter</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45</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60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Status</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POME (m³/hari)</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585</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780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L: 0,65 m³/t TBS</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COD umpan (g/L)</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49,7</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49,7</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L: 50–60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Suhu · HRT · SRT</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55 °C · 5,0 · 12 hari</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sama</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L; S</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Tangki GFS 980 m³</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3</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4</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R</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OLR (kg COD/m³·hari)</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9,9</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9,9</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S (rekomendasi ≤ 8)</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Penyisihan COD</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68%</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68%</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S terkalibrasi</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Biogas (Nm³/hari)</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11.836</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15.781</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S</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CH₄ · H₂S ke genset</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58% · 21 ppm</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sama</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S</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Daya kotor/neto (kW)</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1.127/1.025</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1.502/1.369</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S; η 39,3% (L)</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Energi neto (GWh/tahun)</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5,27</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7,04</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S 365 hari</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745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Ketersediaan · beban PKS</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93% · 75%</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60" dirty="0">
                          <a:solidFill>
                            <a:srgbClr val="14213D"/>
                          </a:solidFill>
                          <a:latin typeface="Calibri" pitchFamily="34" charset="0"/>
                          <a:ea typeface="Calibri" pitchFamily="34" charset="-122"/>
                          <a:cs typeface="Calibri" pitchFamily="34" charset="-120"/>
                        </a:rPr>
                        <a:t>sama</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A</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8" name="teks-277"/>
          <p:cNvSpPr txBox="1"/>
          <p:nvPr/>
        </p:nvSpPr>
        <p:spPr>
          <a:xfrm>
            <a:off x="365760" y="3611880"/>
            <a:ext cx="3749040" cy="228600"/>
          </a:xfrm>
          <a:prstGeom prst="rect">
            <a:avLst/>
          </a:prstGeom>
          <a:noFill/>
          <a:ln/>
        </p:spPr>
        <p:txBody>
          <a:bodyPr wrap="square" lIns="0" tIns="0" rIns="0" bIns="0" rtlCol="0" anchor="t"/>
          <a:lstStyle/>
          <a:p>
            <a:pPr indent="0" marL="0">
              <a:buNone/>
            </a:pPr>
            <a:r>
              <a:rPr lang="en-US" sz="600" i="1" dirty="0">
                <a:solidFill>
                  <a:srgbClr val="587888"/>
                </a:solidFill>
                <a:latin typeface="Calibri" pitchFamily="34" charset="0"/>
                <a:ea typeface="Calibri" pitchFamily="34" charset="-122"/>
                <a:cs typeface="Calibri" pitchFamily="34" charset="-120"/>
              </a:rPr>
              <a:t>Status: L literatur; S simulasi (ADM1-lite terkalibrasi, 365 hari); R rancangan; A asumsi. Tidak ada data terukur di lokasi (belum).</a:t>
            </a:r>
            <a:endParaRPr lang="en-US" sz="600" dirty="0"/>
          </a:p>
        </p:txBody>
      </p:sp>
      <p:sp>
        <p:nvSpPr>
          <p:cNvPr id="9" name="teks-278"/>
          <p:cNvSpPr txBox="1"/>
          <p:nvPr/>
        </p:nvSpPr>
        <p:spPr>
          <a:xfrm>
            <a:off x="365760" y="3886200"/>
            <a:ext cx="37490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Neraca massa nameplate 45 t/jam (kg/jam)</a:t>
            </a:r>
            <a:endParaRPr lang="en-US" sz="850" dirty="0"/>
          </a:p>
        </p:txBody>
      </p:sp>
      <p:sp>
        <p:nvSpPr>
          <p:cNvPr id="10" name="garis-279"/>
          <p:cNvSpPr/>
          <p:nvPr/>
        </p:nvSpPr>
        <p:spPr>
          <a:xfrm>
            <a:off x="365760" y="4078224"/>
            <a:ext cx="3749040" cy="0"/>
          </a:xfrm>
          <a:prstGeom prst="line">
            <a:avLst/>
          </a:prstGeom>
          <a:noFill/>
          <a:ln w="15875">
            <a:solidFill>
              <a:srgbClr val="64BC54"/>
            </a:solidFill>
            <a:prstDash val="solid"/>
          </a:ln>
        </p:spPr>
      </p:sp>
      <p:graphicFrame>
        <p:nvGraphicFramePr>
          <p:cNvPr id="9" name="tabel-280"/>
          <p:cNvGraphicFramePr>
            <a:graphicFrameLocks noGrp="1"/>
          </p:cNvGraphicFramePr>
          <p:nvPr>
            <p:extLst>
              <p:ext uri="{D42A27DB-BD31-4B8C-83A1-F6EECF244321}">
                <p14:modId xmlns:p14="http://schemas.microsoft.com/office/powerpoint/2010/main" val="1579011935"/>
              </p:ext>
            </p:extLst>
          </p:nvPr>
        </p:nvGraphicFramePr>
        <p:xfrm>
          <a:off x="365760" y="4114800"/>
          <a:ext cx="3749040" cy="914400"/>
        </p:xfrm>
        <a:graphic>
          <a:graphicData uri="http://schemas.openxmlformats.org/drawingml/2006/table">
            <a:tbl>
              <a:tblPr/>
              <a:tblGrid>
                <a:gridCol w="1188720"/>
                <a:gridCol w="594360"/>
                <a:gridCol w="1371600"/>
                <a:gridCol w="594360"/>
              </a:tblGrid>
              <a:tr h="182880">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Masuk</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kg/jam</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Keluar</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r" indent="0" marL="0">
                        <a:buNone/>
                      </a:pPr>
                      <a:r>
                        <a:rPr lang="en-US" sz="650" b="1" dirty="0">
                          <a:solidFill>
                            <a:srgbClr val="FFFFFF"/>
                          </a:solidFill>
                          <a:latin typeface="Calibri" pitchFamily="34" charset="0"/>
                          <a:ea typeface="Calibri" pitchFamily="34" charset="-122"/>
                          <a:cs typeface="Calibri" pitchFamily="34" charset="-120"/>
                        </a:rPr>
                        <a:t>kg/jam</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POME mentah</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24.375</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Residu saringan dan pasir</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246</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Udara ke BTF</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7</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Kue lumpur</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785</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Udara pembakaran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6.372</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Efluen ke kolam polishing</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22.664</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Polimer flokulan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1</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Blowdown BTF</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58</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NaOH + urea</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0</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Kondensat chiller</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14</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Jumlah masuk</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30.756</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Jumlah keluar</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30.755</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12" name="teks-281"/>
          <p:cNvSpPr txBox="1"/>
          <p:nvPr/>
        </p:nvSpPr>
        <p:spPr>
          <a:xfrm>
            <a:off x="365760" y="5486400"/>
            <a:ext cx="3749040" cy="36576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Penutupan: |masuk − keluar| = 0,06 kg/jam (0,0002%); neraca unsur C, H, O, N, S &lt; 10⁻⁴. Gas buang dan gas ke flare dihitung; kehilangan CH₄ lepas 1% + slip 0,5%.</a:t>
            </a:r>
            <a:endParaRPr lang="en-US" sz="630" dirty="0"/>
          </a:p>
        </p:txBody>
      </p:sp>
      <p:sp>
        <p:nvSpPr>
          <p:cNvPr id="13" name="teks-282"/>
          <p:cNvSpPr txBox="1"/>
          <p:nvPr/>
        </p:nvSpPr>
        <p:spPr>
          <a:xfrm>
            <a:off x="4297680" y="1078992"/>
            <a:ext cx="34747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Neraca energi (kW, modul 45 t/jam)</a:t>
            </a:r>
            <a:endParaRPr lang="en-US" sz="850" dirty="0"/>
          </a:p>
        </p:txBody>
      </p:sp>
      <p:sp>
        <p:nvSpPr>
          <p:cNvPr id="14" name="garis-283"/>
          <p:cNvSpPr/>
          <p:nvPr/>
        </p:nvSpPr>
        <p:spPr>
          <a:xfrm>
            <a:off x="4297680" y="1271016"/>
            <a:ext cx="3474720" cy="0"/>
          </a:xfrm>
          <a:prstGeom prst="line">
            <a:avLst/>
          </a:prstGeom>
          <a:noFill/>
          <a:ln w="15875">
            <a:solidFill>
              <a:srgbClr val="64BC54"/>
            </a:solidFill>
            <a:prstDash val="solid"/>
          </a:ln>
        </p:spPr>
      </p:sp>
      <p:graphicFrame>
        <p:nvGraphicFramePr>
          <p:cNvPr id="15" name="Chart 0" descr=""/>
          <p:cNvGraphicFramePr/>
          <p:nvPr/>
        </p:nvGraphicFramePr>
        <p:xfrm>
          <a:off x="4251960" y="1280160"/>
          <a:ext cx="3566160" cy="1828800"/>
        </p:xfrm>
        <a:graphic xmlns:a="http://schemas.openxmlformats.org/drawingml/2006/main">
          <a:graphicData uri="http://schemas.openxmlformats.org/drawingml/2006/chart">
            <c:chart xmlns:c="http://schemas.openxmlformats.org/drawingml/2006/chart" r:id="rId1"/>
          </a:graphicData>
        </a:graphic>
      </p:graphicFrame>
      <p:sp>
        <p:nvSpPr>
          <p:cNvPr id="16" name="teks-284"/>
          <p:cNvSpPr txBox="1"/>
          <p:nvPr/>
        </p:nvSpPr>
        <p:spPr>
          <a:xfrm>
            <a:off x="4297680" y="3154680"/>
            <a:ext cx="3474720" cy="502920"/>
          </a:xfrm>
          <a:prstGeom prst="rect">
            <a:avLst/>
          </a:prstGeom>
          <a:noFill/>
          <a:ln/>
        </p:spPr>
        <p:txBody>
          <a:bodyPr wrap="square" lIns="0" tIns="0" rIns="0" bIns="0" rtlCol="0" anchor="t"/>
          <a:lstStyle/>
          <a:p>
            <a:pPr indent="0" marL="0">
              <a:buNone/>
            </a:pPr>
            <a:r>
              <a:rPr lang="en-US" sz="680" b="1" dirty="0">
                <a:solidFill>
                  <a:srgbClr val="14213D"/>
                </a:solidFill>
                <a:latin typeface="Calibri" pitchFamily="34" charset="0"/>
                <a:ea typeface="Calibri" pitchFamily="34" charset="-122"/>
                <a:cs typeface="Calibri" pitchFamily="34" charset="-120"/>
              </a:rPr>
              <a:t>Daya kotor 1.127 kW − pemakaian sendiri 102 kW (9%) = neto 1.025 kW. </a:t>
            </a:r>
            <a:pPr indent="0" marL="0">
              <a:buNone/>
            </a:pPr>
            <a:r>
              <a:rPr lang="en-US" sz="680" dirty="0">
                <a:solidFill>
                  <a:srgbClr val="14213D"/>
                </a:solidFill>
                <a:latin typeface="Calibri" pitchFamily="34" charset="0"/>
                <a:ea typeface="Calibri" pitchFamily="34" charset="-122"/>
                <a:cs typeface="Calibri" pitchFamily="34" charset="-120"/>
              </a:rPr>
              <a:t>Panas: selubung 717 kW + gas buang 688 kW; pemanasan reaktor hanya 17 kW, sisa untuk PKS (nilai tidak dihitung).</a:t>
            </a:r>
            <a:endParaRPr lang="en-US" sz="680" dirty="0"/>
          </a:p>
        </p:txBody>
      </p:sp>
      <p:sp>
        <p:nvSpPr>
          <p:cNvPr id="17" name="teks-285"/>
          <p:cNvSpPr txBox="1"/>
          <p:nvPr/>
        </p:nvSpPr>
        <p:spPr>
          <a:xfrm>
            <a:off x="4297680" y="3749040"/>
            <a:ext cx="34747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Ketidakpastian: korelasi peringkat terhadap daya neto</a:t>
            </a:r>
            <a:endParaRPr lang="en-US" sz="850" dirty="0"/>
          </a:p>
        </p:txBody>
      </p:sp>
      <p:sp>
        <p:nvSpPr>
          <p:cNvPr id="18" name="garis-286"/>
          <p:cNvSpPr/>
          <p:nvPr/>
        </p:nvSpPr>
        <p:spPr>
          <a:xfrm>
            <a:off x="4297680" y="3941064"/>
            <a:ext cx="3474720" cy="0"/>
          </a:xfrm>
          <a:prstGeom prst="line">
            <a:avLst/>
          </a:prstGeom>
          <a:noFill/>
          <a:ln w="15875">
            <a:solidFill>
              <a:srgbClr val="64BC54"/>
            </a:solidFill>
            <a:prstDash val="solid"/>
          </a:ln>
        </p:spPr>
      </p:sp>
      <p:graphicFrame>
        <p:nvGraphicFramePr>
          <p:cNvPr id="19" name="Chart 1" descr=""/>
          <p:cNvGraphicFramePr/>
          <p:nvPr/>
        </p:nvGraphicFramePr>
        <p:xfrm>
          <a:off x="4251960" y="3950208"/>
          <a:ext cx="3566160" cy="1508760"/>
        </p:xfrm>
        <a:graphic xmlns:a="http://schemas.openxmlformats.org/drawingml/2006/main">
          <a:graphicData uri="http://schemas.openxmlformats.org/drawingml/2006/chart">
            <c:chart xmlns:c="http://schemas.openxmlformats.org/drawingml/2006/chart" r:id="rId2"/>
          </a:graphicData>
        </a:graphic>
      </p:graphicFrame>
      <p:sp>
        <p:nvSpPr>
          <p:cNvPr id="20" name="teks-287"/>
          <p:cNvSpPr txBox="1"/>
          <p:nvPr/>
        </p:nvSpPr>
        <p:spPr>
          <a:xfrm>
            <a:off x="4297680" y="5486400"/>
            <a:ext cx="3474720" cy="36576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Monte Carlo proses (400 sampel): daya neto P5–P95 = 507–979 kW (hari rata-rata, beban 0,55–0,93). Ketersediaan 88–97% dan ukuran tangki diuji pada slide 7.</a:t>
            </a:r>
            <a:endParaRPr lang="en-US" sz="630" dirty="0"/>
          </a:p>
        </p:txBody>
      </p:sp>
      <p:sp>
        <p:nvSpPr>
          <p:cNvPr id="21" name="teks-288"/>
          <p:cNvSpPr txBox="1"/>
          <p:nvPr/>
        </p:nvSpPr>
        <p:spPr>
          <a:xfrm>
            <a:off x="7955280" y="1078992"/>
            <a:ext cx="38862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Tingkat kesiapan teknologi (TRL)</a:t>
            </a:r>
            <a:endParaRPr lang="en-US" sz="850" dirty="0"/>
          </a:p>
        </p:txBody>
      </p:sp>
      <p:sp>
        <p:nvSpPr>
          <p:cNvPr id="22" name="garis-289"/>
          <p:cNvSpPr/>
          <p:nvPr/>
        </p:nvSpPr>
        <p:spPr>
          <a:xfrm>
            <a:off x="7955280" y="1271016"/>
            <a:ext cx="3886200" cy="0"/>
          </a:xfrm>
          <a:prstGeom prst="line">
            <a:avLst/>
          </a:prstGeom>
          <a:noFill/>
          <a:ln w="15875">
            <a:solidFill>
              <a:srgbClr val="64BC54"/>
            </a:solidFill>
            <a:prstDash val="solid"/>
          </a:ln>
        </p:spPr>
      </p:sp>
      <p:sp>
        <p:nvSpPr>
          <p:cNvPr id="23" name="kotak-290"/>
          <p:cNvSpPr txBox="1"/>
          <p:nvPr/>
        </p:nvSpPr>
        <p:spPr>
          <a:xfrm>
            <a:off x="7955280" y="1325880"/>
            <a:ext cx="393192" cy="256032"/>
          </a:xfrm>
          <a:prstGeom prst="roundRect">
            <a:avLst>
              <a:gd name="adj" fmla="val 10714"/>
            </a:avLst>
          </a:prstGeom>
          <a:solidFill>
            <a:srgbClr val="244C9C"/>
          </a:solidFill>
          <a:ln w="9525">
            <a:solidFill>
              <a:srgbClr val="C3D3E8"/>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24" name="kotak-291"/>
          <p:cNvSpPr txBox="1"/>
          <p:nvPr/>
        </p:nvSpPr>
        <p:spPr>
          <a:xfrm>
            <a:off x="8385048" y="1325880"/>
            <a:ext cx="393192" cy="256032"/>
          </a:xfrm>
          <a:prstGeom prst="roundRect">
            <a:avLst>
              <a:gd name="adj" fmla="val 10714"/>
            </a:avLst>
          </a:prstGeom>
          <a:solidFill>
            <a:srgbClr val="244C9C"/>
          </a:solidFill>
          <a:ln w="9525">
            <a:solidFill>
              <a:srgbClr val="C3D3E8"/>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25" name="kotak-292"/>
          <p:cNvSpPr txBox="1"/>
          <p:nvPr/>
        </p:nvSpPr>
        <p:spPr>
          <a:xfrm>
            <a:off x="8814816" y="1325880"/>
            <a:ext cx="393192" cy="256032"/>
          </a:xfrm>
          <a:prstGeom prst="roundRect">
            <a:avLst>
              <a:gd name="adj" fmla="val 10714"/>
            </a:avLst>
          </a:prstGeom>
          <a:solidFill>
            <a:srgbClr val="244C9C"/>
          </a:solidFill>
          <a:ln w="9525">
            <a:solidFill>
              <a:srgbClr val="C3D3E8"/>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6" name="kotak-293"/>
          <p:cNvSpPr txBox="1"/>
          <p:nvPr/>
        </p:nvSpPr>
        <p:spPr>
          <a:xfrm>
            <a:off x="9244584" y="1325880"/>
            <a:ext cx="393192" cy="256032"/>
          </a:xfrm>
          <a:prstGeom prst="roundRect">
            <a:avLst>
              <a:gd name="adj" fmla="val 10714"/>
            </a:avLst>
          </a:prstGeom>
          <a:solidFill>
            <a:srgbClr val="3E8E41"/>
          </a:solidFill>
          <a:ln w="9525">
            <a:solidFill>
              <a:srgbClr val="C3D3E8"/>
            </a:solid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7" name="kotak-294"/>
          <p:cNvSpPr txBox="1"/>
          <p:nvPr/>
        </p:nvSpPr>
        <p:spPr>
          <a:xfrm>
            <a:off x="9674352" y="1325880"/>
            <a:ext cx="393192" cy="256032"/>
          </a:xfrm>
          <a:prstGeom prst="roundRect">
            <a:avLst>
              <a:gd name="adj" fmla="val 10714"/>
            </a:avLst>
          </a:prstGeom>
          <a:solidFill>
            <a:srgbClr val="ECF3FA"/>
          </a:solidFill>
          <a:ln w="9525">
            <a:solidFill>
              <a:srgbClr val="C3D3E8"/>
            </a:solidFill>
          </a:ln>
        </p:spPr>
        <p:txBody>
          <a:bodyPr wrap="square" lIns="0" tIns="0" rIns="0" bIns="0" rtlCol="0" anchor="ctr"/>
          <a:lstStyle/>
          <a:p>
            <a:pPr algn="ctr" indent="0" marL="0">
              <a:buNone/>
            </a:pPr>
            <a:r>
              <a:rPr lang="en-US" sz="800" b="1" dirty="0">
                <a:solidFill>
                  <a:srgbClr val="587888"/>
                </a:solidFill>
                <a:latin typeface="Calibri" pitchFamily="34" charset="0"/>
                <a:ea typeface="Calibri" pitchFamily="34" charset="-122"/>
                <a:cs typeface="Calibri" pitchFamily="34" charset="-120"/>
              </a:rPr>
              <a:t>5</a:t>
            </a:r>
            <a:endParaRPr lang="en-US" sz="800" dirty="0"/>
          </a:p>
        </p:txBody>
      </p:sp>
      <p:sp>
        <p:nvSpPr>
          <p:cNvPr id="28" name="kotak-295"/>
          <p:cNvSpPr txBox="1"/>
          <p:nvPr/>
        </p:nvSpPr>
        <p:spPr>
          <a:xfrm>
            <a:off x="10104120" y="1325880"/>
            <a:ext cx="393192" cy="256032"/>
          </a:xfrm>
          <a:prstGeom prst="roundRect">
            <a:avLst>
              <a:gd name="adj" fmla="val 10714"/>
            </a:avLst>
          </a:prstGeom>
          <a:solidFill>
            <a:srgbClr val="ECF3FA"/>
          </a:solidFill>
          <a:ln w="9525">
            <a:solidFill>
              <a:srgbClr val="C3D3E8"/>
            </a:solidFill>
          </a:ln>
        </p:spPr>
        <p:txBody>
          <a:bodyPr wrap="square" lIns="0" tIns="0" rIns="0" bIns="0" rtlCol="0" anchor="ctr"/>
          <a:lstStyle/>
          <a:p>
            <a:pPr algn="ctr" indent="0" marL="0">
              <a:buNone/>
            </a:pPr>
            <a:r>
              <a:rPr lang="en-US" sz="800" b="1" dirty="0">
                <a:solidFill>
                  <a:srgbClr val="587888"/>
                </a:solidFill>
                <a:latin typeface="Calibri" pitchFamily="34" charset="0"/>
                <a:ea typeface="Calibri" pitchFamily="34" charset="-122"/>
                <a:cs typeface="Calibri" pitchFamily="34" charset="-120"/>
              </a:rPr>
              <a:t>6</a:t>
            </a:r>
            <a:endParaRPr lang="en-US" sz="800" dirty="0"/>
          </a:p>
        </p:txBody>
      </p:sp>
      <p:sp>
        <p:nvSpPr>
          <p:cNvPr id="29" name="kotak-296"/>
          <p:cNvSpPr txBox="1"/>
          <p:nvPr/>
        </p:nvSpPr>
        <p:spPr>
          <a:xfrm>
            <a:off x="10533888" y="1325880"/>
            <a:ext cx="393192" cy="256032"/>
          </a:xfrm>
          <a:prstGeom prst="roundRect">
            <a:avLst>
              <a:gd name="adj" fmla="val 10714"/>
            </a:avLst>
          </a:prstGeom>
          <a:solidFill>
            <a:srgbClr val="ECF3FA"/>
          </a:solidFill>
          <a:ln w="9525">
            <a:solidFill>
              <a:srgbClr val="C3D3E8"/>
            </a:solidFill>
          </a:ln>
        </p:spPr>
        <p:txBody>
          <a:bodyPr wrap="square" lIns="0" tIns="0" rIns="0" bIns="0" rtlCol="0" anchor="ctr"/>
          <a:lstStyle/>
          <a:p>
            <a:pPr algn="ctr" indent="0" marL="0">
              <a:buNone/>
            </a:pPr>
            <a:r>
              <a:rPr lang="en-US" sz="800" b="1" dirty="0">
                <a:solidFill>
                  <a:srgbClr val="587888"/>
                </a:solidFill>
                <a:latin typeface="Calibri" pitchFamily="34" charset="0"/>
                <a:ea typeface="Calibri" pitchFamily="34" charset="-122"/>
                <a:cs typeface="Calibri" pitchFamily="34" charset="-120"/>
              </a:rPr>
              <a:t>7</a:t>
            </a:r>
            <a:endParaRPr lang="en-US" sz="800" dirty="0"/>
          </a:p>
        </p:txBody>
      </p:sp>
      <p:sp>
        <p:nvSpPr>
          <p:cNvPr id="30" name="kotak-297"/>
          <p:cNvSpPr txBox="1"/>
          <p:nvPr/>
        </p:nvSpPr>
        <p:spPr>
          <a:xfrm>
            <a:off x="10963656" y="1325880"/>
            <a:ext cx="393192" cy="256032"/>
          </a:xfrm>
          <a:prstGeom prst="roundRect">
            <a:avLst>
              <a:gd name="adj" fmla="val 10714"/>
            </a:avLst>
          </a:prstGeom>
          <a:solidFill>
            <a:srgbClr val="ECF3FA"/>
          </a:solidFill>
          <a:ln w="9525">
            <a:solidFill>
              <a:srgbClr val="C3D3E8"/>
            </a:solidFill>
          </a:ln>
        </p:spPr>
        <p:txBody>
          <a:bodyPr wrap="square" lIns="0" tIns="0" rIns="0" bIns="0" rtlCol="0" anchor="ctr"/>
          <a:lstStyle/>
          <a:p>
            <a:pPr algn="ctr" indent="0" marL="0">
              <a:buNone/>
            </a:pPr>
            <a:r>
              <a:rPr lang="en-US" sz="800" b="1" dirty="0">
                <a:solidFill>
                  <a:srgbClr val="587888"/>
                </a:solidFill>
                <a:latin typeface="Calibri" pitchFamily="34" charset="0"/>
                <a:ea typeface="Calibri" pitchFamily="34" charset="-122"/>
                <a:cs typeface="Calibri" pitchFamily="34" charset="-120"/>
              </a:rPr>
              <a:t>8</a:t>
            </a:r>
            <a:endParaRPr lang="en-US" sz="800" dirty="0"/>
          </a:p>
        </p:txBody>
      </p:sp>
      <p:sp>
        <p:nvSpPr>
          <p:cNvPr id="31" name="kotak-298"/>
          <p:cNvSpPr txBox="1"/>
          <p:nvPr/>
        </p:nvSpPr>
        <p:spPr>
          <a:xfrm>
            <a:off x="11393424" y="1325880"/>
            <a:ext cx="393192" cy="256032"/>
          </a:xfrm>
          <a:prstGeom prst="roundRect">
            <a:avLst>
              <a:gd name="adj" fmla="val 10714"/>
            </a:avLst>
          </a:prstGeom>
          <a:solidFill>
            <a:srgbClr val="ECF3FA"/>
          </a:solidFill>
          <a:ln w="9525">
            <a:solidFill>
              <a:srgbClr val="C3D3E8"/>
            </a:solidFill>
          </a:ln>
        </p:spPr>
        <p:txBody>
          <a:bodyPr wrap="square" lIns="0" tIns="0" rIns="0" bIns="0" rtlCol="0" anchor="ctr"/>
          <a:lstStyle/>
          <a:p>
            <a:pPr algn="ctr" indent="0" marL="0">
              <a:buNone/>
            </a:pPr>
            <a:r>
              <a:rPr lang="en-US" sz="800" b="1" dirty="0">
                <a:solidFill>
                  <a:srgbClr val="587888"/>
                </a:solidFill>
                <a:latin typeface="Calibri" pitchFamily="34" charset="0"/>
                <a:ea typeface="Calibri" pitchFamily="34" charset="-122"/>
                <a:cs typeface="Calibri" pitchFamily="34" charset="-120"/>
              </a:rPr>
              <a:t>9</a:t>
            </a:r>
            <a:endParaRPr lang="en-US" sz="800" dirty="0"/>
          </a:p>
        </p:txBody>
      </p:sp>
      <p:sp>
        <p:nvSpPr>
          <p:cNvPr id="32" name="teks-299"/>
          <p:cNvSpPr txBox="1"/>
          <p:nvPr/>
        </p:nvSpPr>
        <p:spPr>
          <a:xfrm>
            <a:off x="7955280" y="1618488"/>
            <a:ext cx="3886200" cy="411480"/>
          </a:xfrm>
          <a:prstGeom prst="rect">
            <a:avLst/>
          </a:prstGeom>
          <a:noFill/>
          <a:ln/>
        </p:spPr>
        <p:txBody>
          <a:bodyPr wrap="square" lIns="0" tIns="0" rIns="0" bIns="0" rtlCol="0" anchor="t"/>
          <a:lstStyle/>
          <a:p>
            <a:pPr indent="0" marL="0">
              <a:buNone/>
            </a:pPr>
            <a:r>
              <a:rPr lang="en-US" sz="660" dirty="0">
                <a:solidFill>
                  <a:srgbClr val="14213D"/>
                </a:solidFill>
                <a:latin typeface="Calibri" pitchFamily="34" charset="0"/>
                <a:ea typeface="Calibri" pitchFamily="34" charset="-122"/>
                <a:cs typeface="Calibri" pitchFamily="34" charset="-120"/>
              </a:rPr>
              <a:t>Sistem terintegrasi: TRL 4 (komponen dan kinetika tervalidasi pustaka; genset, tangki GFS, lamella sudah TRL 9). TRL 6 setelah pilot 10–20 m³ di PKS (6 bulan); TRL 7–8 setelah demonstrasi 12 bulan.</a:t>
            </a:r>
            <a:endParaRPr lang="en-US" sz="660" dirty="0"/>
          </a:p>
        </p:txBody>
      </p:sp>
      <p:sp>
        <p:nvSpPr>
          <p:cNvPr id="33" name="teks-300"/>
          <p:cNvSpPr txBox="1"/>
          <p:nvPr/>
        </p:nvSpPr>
        <p:spPr>
          <a:xfrm>
            <a:off x="7955280" y="2075688"/>
            <a:ext cx="38862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Matriks validasi klaim kritis</a:t>
            </a:r>
            <a:endParaRPr lang="en-US" sz="850" dirty="0"/>
          </a:p>
        </p:txBody>
      </p:sp>
      <p:sp>
        <p:nvSpPr>
          <p:cNvPr id="34" name="garis-301"/>
          <p:cNvSpPr/>
          <p:nvPr/>
        </p:nvSpPr>
        <p:spPr>
          <a:xfrm>
            <a:off x="7955280" y="2267712"/>
            <a:ext cx="3886200" cy="0"/>
          </a:xfrm>
          <a:prstGeom prst="line">
            <a:avLst/>
          </a:prstGeom>
          <a:noFill/>
          <a:ln w="15875">
            <a:solidFill>
              <a:srgbClr val="64BC54"/>
            </a:solidFill>
            <a:prstDash val="solid"/>
          </a:ln>
        </p:spPr>
      </p:sp>
      <p:graphicFrame>
        <p:nvGraphicFramePr>
          <p:cNvPr id="13" name="tabel-302"/>
          <p:cNvGraphicFramePr>
            <a:graphicFrameLocks noGrp="1"/>
          </p:cNvGraphicFramePr>
          <p:nvPr>
            <p:extLst>
              <p:ext uri="{D42A27DB-BD31-4B8C-83A1-F6EECF244321}">
                <p14:modId xmlns:p14="http://schemas.microsoft.com/office/powerpoint/2010/main" val="1579011935"/>
              </p:ext>
            </p:extLst>
          </p:nvPr>
        </p:nvGraphicFramePr>
        <p:xfrm>
          <a:off x="7955280" y="2304288"/>
          <a:ext cx="3886200" cy="914400"/>
        </p:xfrm>
        <a:graphic>
          <a:graphicData uri="http://schemas.openxmlformats.org/drawingml/2006/table">
            <a:tbl>
              <a:tblPr/>
              <a:tblGrid>
                <a:gridCol w="1417320"/>
                <a:gridCol w="1874520"/>
                <a:gridCol w="594360"/>
              </a:tblGrid>
              <a:tr h="228600">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Klaim</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Uji dan kriteria penerimaan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Status</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28600">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COD tersisih ≥ 65% pada HRT 5 hari</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semikontinu 55 °C 90 hari; VFA &lt; 500 mg/L</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Sebagian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E0A526"/>
                    </a:solidFill>
                  </a:tcPr>
                </a:tc>
              </a:tr>
              <a:tr h="228600">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Settler menahan ≥ 85% padatan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uji kolom dan pilot; laju 0,6 m/jam</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Belum</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C8452F"/>
                    </a:solidFill>
                  </a:tcPr>
                </a:tc>
              </a:tr>
              <a:tr h="228600">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H₂S ke genset ≤ 50 ppm</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pilot bio-scrubber 14 hari</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Sebagian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E0A526"/>
                    </a:solidFill>
                  </a:tcPr>
                </a:tc>
              </a:tr>
              <a:tr h="228600">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Ketersediaan genset ≥ 90%</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kontrak O&amp;M dan data jam jalan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Belum</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C8452F"/>
                    </a:solidFill>
                  </a:tcPr>
                </a:tc>
              </a:tr>
              <a:tr h="228600">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Efluen BOD &lt; 5.000 mg/L</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uji laboratorium efluen pilot</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Sebagian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E0A526"/>
                    </a:solidFill>
                  </a:tcPr>
                </a:tc>
              </a:tr>
              <a:tr h="228600">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Tata letak aman (flare ≥ 15 m)</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pemeriksaan jarak model 3D: lolos</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Sebagian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E0A526"/>
                    </a:solidFill>
                  </a:tcPr>
                </a:tc>
              </a:tr>
            </a:tbl>
          </a:graphicData>
        </a:graphic>
      </p:graphicFrame>
      <p:sp>
        <p:nvSpPr>
          <p:cNvPr id="36" name="teks-303"/>
          <p:cNvSpPr txBox="1"/>
          <p:nvPr/>
        </p:nvSpPr>
        <p:spPr>
          <a:xfrm>
            <a:off x="7955280" y="4023360"/>
            <a:ext cx="38862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HAZID awal (L × S; belum HAZOP)</a:t>
            </a:r>
            <a:endParaRPr lang="en-US" sz="850" dirty="0"/>
          </a:p>
        </p:txBody>
      </p:sp>
      <p:sp>
        <p:nvSpPr>
          <p:cNvPr id="37" name="garis-304"/>
          <p:cNvSpPr/>
          <p:nvPr/>
        </p:nvSpPr>
        <p:spPr>
          <a:xfrm>
            <a:off x="7955280" y="4215384"/>
            <a:ext cx="3886200" cy="0"/>
          </a:xfrm>
          <a:prstGeom prst="line">
            <a:avLst/>
          </a:prstGeom>
          <a:noFill/>
          <a:ln w="15875">
            <a:solidFill>
              <a:srgbClr val="64BC54"/>
            </a:solidFill>
            <a:prstDash val="solid"/>
          </a:ln>
        </p:spPr>
      </p:sp>
      <p:graphicFrame>
        <p:nvGraphicFramePr>
          <p:cNvPr id="17" name="tabel-305"/>
          <p:cNvGraphicFramePr>
            <a:graphicFrameLocks noGrp="1"/>
          </p:cNvGraphicFramePr>
          <p:nvPr>
            <p:extLst>
              <p:ext uri="{D42A27DB-BD31-4B8C-83A1-F6EECF244321}">
                <p14:modId xmlns:p14="http://schemas.microsoft.com/office/powerpoint/2010/main" val="1579011935"/>
              </p:ext>
            </p:extLst>
          </p:nvPr>
        </p:nvGraphicFramePr>
        <p:xfrm>
          <a:off x="7955280" y="4251960"/>
          <a:ext cx="3886200" cy="914400"/>
        </p:xfrm>
        <a:graphic>
          <a:graphicData uri="http://schemas.openxmlformats.org/drawingml/2006/table">
            <a:tbl>
              <a:tblPr/>
              <a:tblGrid>
                <a:gridCol w="1371600"/>
                <a:gridCol w="365760"/>
                <a:gridCol w="1737360"/>
                <a:gridCol w="411480"/>
              </a:tblGrid>
              <a:tr h="210312">
                <a:tc>
                  <a:txBody>
                    <a:bodyPr/>
                    <a:lstStyle/>
                    <a:p>
                      <a:pPr algn="ctr" indent="0" marL="0">
                        <a:buNone/>
                      </a:pPr>
                      <a:r>
                        <a:rPr lang="en-US" sz="610" b="1" dirty="0">
                          <a:solidFill>
                            <a:srgbClr val="FFFFFF"/>
                          </a:solidFill>
                          <a:latin typeface="Calibri" pitchFamily="34" charset="0"/>
                          <a:ea typeface="Calibri" pitchFamily="34" charset="-122"/>
                          <a:cs typeface="Calibri" pitchFamily="34" charset="-120"/>
                        </a:rPr>
                        <a:t>Bahaya</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10" b="1" dirty="0">
                          <a:solidFill>
                            <a:srgbClr val="FFFFFF"/>
                          </a:solidFill>
                          <a:latin typeface="Calibri" pitchFamily="34" charset="0"/>
                          <a:ea typeface="Calibri" pitchFamily="34" charset="-122"/>
                          <a:cs typeface="Calibri" pitchFamily="34" charset="-120"/>
                        </a:rPr>
                        <a:t>L·S</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10" b="1" dirty="0">
                          <a:solidFill>
                            <a:srgbClr val="FFFFFF"/>
                          </a:solidFill>
                          <a:latin typeface="Calibri" pitchFamily="34" charset="0"/>
                          <a:ea typeface="Calibri" pitchFamily="34" charset="-122"/>
                          <a:cs typeface="Calibri" pitchFamily="34" charset="-120"/>
                        </a:rPr>
                        <a:t>Mitigasi</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10" b="1" dirty="0">
                          <a:solidFill>
                            <a:srgbClr val="FFFFFF"/>
                          </a:solidFill>
                          <a:latin typeface="Calibri" pitchFamily="34" charset="0"/>
                          <a:ea typeface="Calibri" pitchFamily="34" charset="-122"/>
                          <a:cs typeface="Calibri" pitchFamily="34" charset="-120"/>
                        </a:rPr>
                        <a:t>Sisa</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10312">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Biogas CH₄ 58% bocor, ledakan</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3·5</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zona ATEX, detektor, flare tertutup</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10" b="1" dirty="0">
                          <a:solidFill>
                            <a:srgbClr val="14213D"/>
                          </a:solidFill>
                          <a:latin typeface="Calibri" pitchFamily="34" charset="0"/>
                          <a:ea typeface="Calibri" pitchFamily="34" charset="-122"/>
                          <a:cs typeface="Calibri" pitchFamily="34" charset="-120"/>
                        </a:rPr>
                        <a:t>1·5</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H₂S 2.868 ppm mentah</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3·5</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bio-scrubber, detektor 10 ppm, SCBA</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10" b="1" dirty="0">
                          <a:solidFill>
                            <a:srgbClr val="14213D"/>
                          </a:solidFill>
                          <a:latin typeface="Calibri" pitchFamily="34" charset="0"/>
                          <a:ea typeface="Calibri" pitchFamily="34" charset="-122"/>
                          <a:cs typeface="Calibri" pitchFamily="34" charset="-120"/>
                        </a:rPr>
                        <a:t>2·4</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Tekanan lebih/vakum tangki</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2·4</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katup tekan-vakum, penampung gas</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10" b="1" dirty="0">
                          <a:solidFill>
                            <a:srgbClr val="14213D"/>
                          </a:solidFill>
                          <a:latin typeface="Calibri" pitchFamily="34" charset="0"/>
                          <a:ea typeface="Calibri" pitchFamily="34" charset="-122"/>
                          <a:cs typeface="Calibri" pitchFamily="34" charset="-120"/>
                        </a:rPr>
                        <a:t>1·4</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POME 85 °C (luka bakar)</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3·3</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isolasi, pelindung</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10" b="1" dirty="0">
                          <a:solidFill>
                            <a:srgbClr val="14213D"/>
                          </a:solidFill>
                          <a:latin typeface="Calibri" pitchFamily="34" charset="0"/>
                          <a:ea typeface="Calibri" pitchFamily="34" charset="-122"/>
                          <a:cs typeface="Calibri" pitchFamily="34" charset="-120"/>
                        </a:rPr>
                        <a:t>2·2</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Ruang terbatas tangki</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2·5</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izin kerja, SOP, SCBA</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10" b="1" dirty="0">
                          <a:solidFill>
                            <a:srgbClr val="14213D"/>
                          </a:solidFill>
                          <a:latin typeface="Calibri" pitchFamily="34" charset="0"/>
                          <a:ea typeface="Calibri" pitchFamily="34" charset="-122"/>
                          <a:cs typeface="Calibri" pitchFamily="34" charset="-120"/>
                        </a:rPr>
                        <a:t>1·5</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Luapan efluen</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3·3</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bund, sensor level</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10" b="1" dirty="0">
                          <a:solidFill>
                            <a:srgbClr val="14213D"/>
                          </a:solidFill>
                          <a:latin typeface="Calibri" pitchFamily="34" charset="0"/>
                          <a:ea typeface="Calibri" pitchFamily="34" charset="-122"/>
                          <a:cs typeface="Calibri" pitchFamily="34" charset="-120"/>
                        </a:rPr>
                        <a:t>2·3</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39" name="teks-306"/>
          <p:cNvSpPr txBox="1"/>
          <p:nvPr/>
        </p:nvSpPr>
        <p:spPr>
          <a:xfrm>
            <a:off x="7955280" y="5760720"/>
            <a:ext cx="3886200" cy="137160"/>
          </a:xfrm>
          <a:prstGeom prst="rect">
            <a:avLst/>
          </a:prstGeom>
          <a:noFill/>
          <a:ln/>
        </p:spPr>
        <p:txBody>
          <a:bodyPr wrap="square" lIns="0" tIns="0" rIns="0" bIns="0" rtlCol="0" anchor="t"/>
          <a:lstStyle/>
          <a:p>
            <a:pPr indent="0" marL="0">
              <a:buNone/>
            </a:pPr>
            <a:r>
              <a:rPr lang="en-US" sz="600" i="1" dirty="0">
                <a:solidFill>
                  <a:srgbClr val="587888"/>
                </a:solidFill>
                <a:latin typeface="Calibri" pitchFamily="34" charset="0"/>
                <a:ea typeface="Calibri" pitchFamily="34" charset="-122"/>
                <a:cs typeface="Calibri" pitchFamily="34" charset="-120"/>
              </a:rPr>
              <a:t>FMEA dan analisis pohon kegagalan dijadwalkan pada FEED (gerbang G2).</a:t>
            </a:r>
            <a:endParaRPr lang="en-US" sz="600" dirty="0"/>
          </a:p>
        </p:txBody>
      </p:sp>
      <p:sp>
        <p:nvSpPr>
          <p:cNvPr id="40" name="teks-307"/>
          <p:cNvSpPr txBox="1"/>
          <p:nvPr/>
        </p:nvSpPr>
        <p:spPr>
          <a:xfrm>
            <a:off x="365760" y="6419088"/>
            <a:ext cx="11109960" cy="246888"/>
          </a:xfrm>
          <a:prstGeom prst="rect">
            <a:avLst/>
          </a:prstGeom>
          <a:noFill/>
          <a:ln/>
        </p:spPr>
        <p:txBody>
          <a:bodyPr wrap="square" lIns="0" tIns="0" rIns="0" bIns="0" rtlCol="0" anchor="ctr"/>
          <a:lstStyle/>
          <a:p>
            <a:pPr indent="0" marL="0">
              <a:buNone/>
            </a:pPr>
            <a:r>
              <a:rPr lang="en-US" sz="590" dirty="0">
                <a:solidFill>
                  <a:srgbClr val="587888"/>
                </a:solidFill>
                <a:latin typeface="Calibri" pitchFamily="34" charset="0"/>
                <a:ea typeface="Calibri" pitchFamily="34" charset="-122"/>
                <a:cs typeface="Calibri" pitchFamily="34" charset="-120"/>
              </a:rPr>
              <a:t>Singkatan: OLR laju beban organik; VFA asam lemak volatil; ATEX zona atmosfer eksplosif; SCBA alat bantu napas; FEED desain rekayasa awal; L peluang 1–5; S keparahan 1–5.</a:t>
            </a:r>
            <a:endParaRPr lang="en-US" sz="590" dirty="0"/>
          </a:p>
          <a:p>
            <a:pPr indent="0" marL="0">
              <a:buNone/>
            </a:pPr>
            <a:r>
              <a:rPr lang="en-US" sz="590" dirty="0">
                <a:solidFill>
                  <a:srgbClr val="587888"/>
                </a:solidFill>
                <a:latin typeface="Calibri" pitchFamily="34" charset="0"/>
                <a:ea typeface="Calibri" pitchFamily="34" charset="-122"/>
                <a:cs typeface="Calibri" pitchFamily="34" charset="-120"/>
              </a:rPr>
              <a:t>Sumber: neraca proses Rev 2 (results.json), research/R4 (Choorit 2007; evidensi teknis), R6; HAZID awal tim (belum difasilitasi).</a:t>
            </a:r>
            <a:endParaRPr lang="en-US" sz="59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nomor-308"/>
          <p:cNvSpPr txBox="1"/>
          <p:nvPr/>
        </p:nvSpPr>
        <p:spPr>
          <a:xfrm>
            <a:off x="365760" y="246888"/>
            <a:ext cx="384048" cy="384048"/>
          </a:xfrm>
          <a:prstGeom prst="rect">
            <a:avLst/>
          </a:prstGeom>
          <a:solidFill>
            <a:srgbClr val="0C2464"/>
          </a:solid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05</a:t>
            </a:r>
            <a:endParaRPr lang="en-US" sz="1300" dirty="0"/>
          </a:p>
        </p:txBody>
      </p:sp>
      <p:sp>
        <p:nvSpPr>
          <p:cNvPr id="3" name="kicker-309"/>
          <p:cNvSpPr txBox="1"/>
          <p:nvPr/>
        </p:nvSpPr>
        <p:spPr>
          <a:xfrm>
            <a:off x="841248" y="228600"/>
            <a:ext cx="8686800" cy="182880"/>
          </a:xfrm>
          <a:prstGeom prst="rect">
            <a:avLst/>
          </a:prstGeom>
          <a:noFill/>
          <a:ln/>
        </p:spPr>
        <p:txBody>
          <a:bodyPr wrap="square" lIns="0" tIns="0" rIns="0" bIns="0" rtlCol="0" anchor="ctr"/>
          <a:lstStyle/>
          <a:p>
            <a:pPr indent="0" marL="0">
              <a:buNone/>
            </a:pPr>
            <a:r>
              <a:rPr lang="en-US" sz="850" b="1" dirty="0">
                <a:solidFill>
                  <a:srgbClr val="3E8E41"/>
                </a:solidFill>
                <a:latin typeface="Arial" pitchFamily="34" charset="0"/>
                <a:ea typeface="Arial" pitchFamily="34" charset="-122"/>
                <a:cs typeface="Arial" pitchFamily="34" charset="-120"/>
              </a:rPr>
              <a:t>SOLUSI: DESAIN PRODUK</a:t>
            </a:r>
            <a:endParaRPr lang="en-US" sz="850" dirty="0"/>
          </a:p>
        </p:txBody>
      </p:sp>
      <p:sp>
        <p:nvSpPr>
          <p:cNvPr id="4" name="Text 0"/>
          <p:cNvSpPr/>
          <p:nvPr>
            <p:ph idx="100" type="title" hasCustomPrompt="1"/>
          </p:nvPr>
        </p:nvSpPr>
        <p:spPr>
          <a:xfrm>
            <a:off x="841248" y="411480"/>
            <a:ext cx="10972800" cy="566928"/>
          </a:xfrm>
          <a:prstGeom prst="rect">
            <a:avLst/>
          </a:prstGeom>
          <a:noFill/>
          <a:ln/>
        </p:spPr>
        <p:txBody>
          <a:bodyPr wrap="square" lIns="0" tIns="0" rIns="0" bIns="0" rtlCol="0" anchor="t"/>
          <a:lstStyle/>
          <a:p>
            <a:pPr algn="l" indent="0" marL="0">
              <a:buNone/>
            </a:pPr>
            <a:r>
              <a:rPr lang="en-US" sz="1600" b="1" dirty="0">
                <a:solidFill>
                  <a:srgbClr val="0C2464"/>
                </a:solidFill>
                <a:latin typeface="Arial" pitchFamily="34" charset="0"/>
                <a:ea typeface="Arial" pitchFamily="34" charset="-122"/>
                <a:cs typeface="Arial" pitchFamily="34" charset="-120"/>
              </a:rPr>
              <a:t>Desain produk: PFD, tata letak 0,38 ha, model 3D, dan sembilan lembar gambar rekayasa konsisten satu sama lain pada modul acuan 45 t TBS/jam</a:t>
            </a:r>
            <a:endParaRPr lang="en-US" sz="1600" dirty="0"/>
          </a:p>
        </p:txBody>
      </p:sp>
      <p:sp>
        <p:nvSpPr>
          <p:cNvPr id="5" name="teks-310"/>
          <p:cNvSpPr txBox="1"/>
          <p:nvPr/>
        </p:nvSpPr>
        <p:spPr>
          <a:xfrm>
            <a:off x="365760" y="1078992"/>
            <a:ext cx="69494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Diagram alir proses (PFD BG-002 Rev 3): aliran, kendali, dan batas modul portabel</a:t>
            </a:r>
            <a:endParaRPr lang="en-US" sz="850" dirty="0"/>
          </a:p>
        </p:txBody>
      </p:sp>
      <p:sp>
        <p:nvSpPr>
          <p:cNvPr id="6" name="garis-311"/>
          <p:cNvSpPr/>
          <p:nvPr/>
        </p:nvSpPr>
        <p:spPr>
          <a:xfrm>
            <a:off x="365760" y="1271016"/>
            <a:ext cx="6949440" cy="0"/>
          </a:xfrm>
          <a:prstGeom prst="line">
            <a:avLst/>
          </a:prstGeom>
          <a:noFill/>
          <a:ln w="15875">
            <a:solidFill>
              <a:srgbClr val="64BC54"/>
            </a:solidFill>
            <a:prstDash val="solid"/>
          </a:ln>
        </p:spPr>
      </p:sp>
      <p:pic>
        <p:nvPicPr>
          <p:cNvPr id="7" name="gambar-312" descr="/home/user/aspebindo/deck/img/pfd_crop.png">    </p:cNvPr>
          <p:cNvPicPr>
            <a:picLocks noChangeAspect="1"/>
          </p:cNvPicPr>
          <p:nvPr/>
        </p:nvPicPr>
        <p:blipFill>
          <a:blip r:embed="rId1"/>
          <a:stretch>
            <a:fillRect/>
          </a:stretch>
        </p:blipFill>
        <p:spPr>
          <a:xfrm>
            <a:off x="365760" y="1330869"/>
            <a:ext cx="6949440" cy="3921941"/>
          </a:xfrm>
          <a:prstGeom prst="rect">
            <a:avLst/>
          </a:prstGeom>
        </p:spPr>
      </p:pic>
      <p:sp>
        <p:nvSpPr>
          <p:cNvPr id="8" name="teks-313"/>
          <p:cNvSpPr txBox="1"/>
          <p:nvPr/>
        </p:nvSpPr>
        <p:spPr>
          <a:xfrm>
            <a:off x="365760" y="5285232"/>
            <a:ext cx="6949440" cy="274320"/>
          </a:xfrm>
          <a:prstGeom prst="rect">
            <a:avLst/>
          </a:prstGeom>
          <a:noFill/>
          <a:ln/>
        </p:spPr>
        <p:txBody>
          <a:bodyPr wrap="square" lIns="0" tIns="0" rIns="0" bIns="0" rtlCol="0" anchor="t"/>
          <a:lstStyle/>
          <a:p>
            <a:pPr indent="0" marL="0">
              <a:buNone/>
            </a:pPr>
            <a:r>
              <a:rPr lang="en-US" sz="680" dirty="0">
                <a:solidFill>
                  <a:srgbClr val="14213D"/>
                </a:solidFill>
                <a:latin typeface="Calibri" pitchFamily="34" charset="0"/>
                <a:ea typeface="Calibri" pitchFamily="34" charset="-122"/>
                <a:cs typeface="Calibri" pitchFamily="34" charset="-120"/>
              </a:rPr>
              <a:t>Nomor aliran, suhu, tekanan, dan laju massa tercantum pada tabel kondisi aliran di lembar PFD; simbol ISO 10628-2/ISA-5.1; setiap bejana punya kendali level; tiap modul diberi batas portabel (PM-1 … PM-10).</a:t>
            </a:r>
            <a:endParaRPr lang="en-US" sz="680" dirty="0"/>
          </a:p>
        </p:txBody>
      </p:sp>
      <p:sp>
        <p:nvSpPr>
          <p:cNvPr id="9" name="teks-314"/>
          <p:cNvSpPr txBox="1"/>
          <p:nvPr/>
        </p:nvSpPr>
        <p:spPr>
          <a:xfrm>
            <a:off x="7498080" y="1078992"/>
            <a:ext cx="43434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Model 3D set lengkap</a:t>
            </a:r>
            <a:endParaRPr lang="en-US" sz="850" dirty="0"/>
          </a:p>
        </p:txBody>
      </p:sp>
      <p:sp>
        <p:nvSpPr>
          <p:cNvPr id="10" name="garis-315"/>
          <p:cNvSpPr/>
          <p:nvPr/>
        </p:nvSpPr>
        <p:spPr>
          <a:xfrm>
            <a:off x="7498080" y="1271016"/>
            <a:ext cx="4343400" cy="0"/>
          </a:xfrm>
          <a:prstGeom prst="line">
            <a:avLst/>
          </a:prstGeom>
          <a:noFill/>
          <a:ln w="15875">
            <a:solidFill>
              <a:srgbClr val="64BC54"/>
            </a:solidFill>
            <a:prstDash val="solid"/>
          </a:ln>
        </p:spPr>
      </p:sp>
      <p:pic>
        <p:nvPicPr>
          <p:cNvPr id="11" name="gambar-316" descr="/home/user/aspebindo/cad/out/render/PLANT_iso-depan.png">    </p:cNvPr>
          <p:cNvPicPr>
            <a:picLocks noChangeAspect="1"/>
          </p:cNvPicPr>
          <p:nvPr/>
        </p:nvPicPr>
        <p:blipFill>
          <a:blip r:embed="rId2"/>
          <a:stretch>
            <a:fillRect/>
          </a:stretch>
        </p:blipFill>
        <p:spPr>
          <a:xfrm>
            <a:off x="7498080" y="1336271"/>
            <a:ext cx="2194560" cy="1396538"/>
          </a:xfrm>
          <a:prstGeom prst="rect">
            <a:avLst/>
          </a:prstGeom>
        </p:spPr>
      </p:pic>
      <p:pic>
        <p:nvPicPr>
          <p:cNvPr id="12" name="gambar-317" descr="/home/user/aspebindo/cad/out/render/DIORAMA_atas.png">    </p:cNvPr>
          <p:cNvPicPr>
            <a:picLocks noChangeAspect="1"/>
          </p:cNvPicPr>
          <p:nvPr/>
        </p:nvPicPr>
        <p:blipFill>
          <a:blip r:embed="rId3"/>
          <a:stretch>
            <a:fillRect/>
          </a:stretch>
        </p:blipFill>
        <p:spPr>
          <a:xfrm>
            <a:off x="9738360" y="1443038"/>
            <a:ext cx="2103120" cy="1183005"/>
          </a:xfrm>
          <a:prstGeom prst="rect">
            <a:avLst/>
          </a:prstGeom>
        </p:spPr>
      </p:pic>
      <p:sp>
        <p:nvSpPr>
          <p:cNvPr id="13" name="teks-318"/>
          <p:cNvSpPr txBox="1"/>
          <p:nvPr/>
        </p:nvSpPr>
        <p:spPr>
          <a:xfrm>
            <a:off x="7498080" y="2788920"/>
            <a:ext cx="43434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Tata letak plot (1:400) dan aliran material</a:t>
            </a:r>
            <a:endParaRPr lang="en-US" sz="850" dirty="0"/>
          </a:p>
        </p:txBody>
      </p:sp>
      <p:sp>
        <p:nvSpPr>
          <p:cNvPr id="14" name="garis-319"/>
          <p:cNvSpPr/>
          <p:nvPr/>
        </p:nvSpPr>
        <p:spPr>
          <a:xfrm>
            <a:off x="7498080" y="2980944"/>
            <a:ext cx="4343400" cy="0"/>
          </a:xfrm>
          <a:prstGeom prst="line">
            <a:avLst/>
          </a:prstGeom>
          <a:noFill/>
          <a:ln w="15875">
            <a:solidFill>
              <a:srgbClr val="64BC54"/>
            </a:solidFill>
            <a:prstDash val="solid"/>
          </a:ln>
        </p:spPr>
      </p:sp>
      <p:pic>
        <p:nvPicPr>
          <p:cNvPr id="15" name="gambar-320" descr="/home/user/aspebindo/deck/img/plan_ga.png">    </p:cNvPr>
          <p:cNvPicPr>
            <a:picLocks noChangeAspect="1"/>
          </p:cNvPicPr>
          <p:nvPr/>
        </p:nvPicPr>
        <p:blipFill>
          <a:blip r:embed="rId4"/>
          <a:stretch>
            <a:fillRect/>
          </a:stretch>
        </p:blipFill>
        <p:spPr>
          <a:xfrm>
            <a:off x="7498080" y="3020993"/>
            <a:ext cx="4343400" cy="1501814"/>
          </a:xfrm>
          <a:prstGeom prst="rect">
            <a:avLst/>
          </a:prstGeom>
        </p:spPr>
      </p:pic>
      <p:sp>
        <p:nvSpPr>
          <p:cNvPr id="16" name="teks-321"/>
          <p:cNvSpPr txBox="1"/>
          <p:nvPr/>
        </p:nvSpPr>
        <p:spPr>
          <a:xfrm>
            <a:off x="7498080" y="4572000"/>
            <a:ext cx="4343400" cy="365760"/>
          </a:xfrm>
          <a:prstGeom prst="rect">
            <a:avLst/>
          </a:prstGeom>
          <a:noFill/>
          <a:ln/>
        </p:spPr>
        <p:txBody>
          <a:bodyPr wrap="square" lIns="0" tIns="0" rIns="0" bIns="0" rtlCol="0" anchor="t"/>
          <a:lstStyle/>
          <a:p>
            <a:pPr indent="0" marL="0">
              <a:buNone/>
            </a:pPr>
            <a:r>
              <a:rPr lang="en-US" sz="660" dirty="0">
                <a:solidFill>
                  <a:srgbClr val="14213D"/>
                </a:solidFill>
                <a:latin typeface="Calibri" pitchFamily="34" charset="0"/>
                <a:ea typeface="Calibri" pitchFamily="34" charset="-122"/>
                <a:cs typeface="Calibri" pitchFamily="34" charset="-120"/>
              </a:rPr>
              <a:t>Aliran: POME → rak pipa selatan → reaktor R-201…203 → degasser/settler → gas utara → penampung gas → genset (timur). Jarak aman terpenuhi: flare ≥ 15 m dari penampung gas dan kontainer genset.</a:t>
            </a:r>
            <a:endParaRPr lang="en-US" sz="660" dirty="0"/>
          </a:p>
        </p:txBody>
      </p:sp>
      <p:sp>
        <p:nvSpPr>
          <p:cNvPr id="17" name="teks-322"/>
          <p:cNvSpPr txBox="1"/>
          <p:nvPr/>
        </p:nvSpPr>
        <p:spPr>
          <a:xfrm>
            <a:off x="365760" y="5577840"/>
            <a:ext cx="69494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Gambar rekayasa (9 lembar A3, 0 tabrakan teks)</a:t>
            </a:r>
            <a:endParaRPr lang="en-US" sz="850" dirty="0"/>
          </a:p>
        </p:txBody>
      </p:sp>
      <p:sp>
        <p:nvSpPr>
          <p:cNvPr id="18" name="garis-323"/>
          <p:cNvSpPr/>
          <p:nvPr/>
        </p:nvSpPr>
        <p:spPr>
          <a:xfrm>
            <a:off x="365760" y="5769864"/>
            <a:ext cx="6949440" cy="0"/>
          </a:xfrm>
          <a:prstGeom prst="line">
            <a:avLst/>
          </a:prstGeom>
          <a:noFill/>
          <a:ln w="15875">
            <a:solidFill>
              <a:srgbClr val="64BC54"/>
            </a:solidFill>
            <a:prstDash val="solid"/>
          </a:ln>
        </p:spPr>
      </p:sp>
      <p:sp>
        <p:nvSpPr>
          <p:cNvPr id="19" name="teks-324"/>
          <p:cNvSpPr txBox="1"/>
          <p:nvPr/>
        </p:nvSpPr>
        <p:spPr>
          <a:xfrm>
            <a:off x="365760" y="5806440"/>
            <a:ext cx="6949440" cy="274320"/>
          </a:xfrm>
          <a:prstGeom prst="rect">
            <a:avLst/>
          </a:prstGeom>
          <a:noFill/>
          <a:ln/>
        </p:spPr>
        <p:txBody>
          <a:bodyPr wrap="square" lIns="0" tIns="0" rIns="0" bIns="0" rtlCol="0" anchor="t"/>
          <a:lstStyle/>
          <a:p>
            <a:pPr indent="0" marL="0">
              <a:buNone/>
            </a:pPr>
            <a:r>
              <a:rPr lang="en-US" sz="680" dirty="0">
                <a:solidFill>
                  <a:srgbClr val="14213D"/>
                </a:solidFill>
                <a:latin typeface="Calibri" pitchFamily="34" charset="0"/>
                <a:ea typeface="Calibri" pitchFamily="34" charset="-122"/>
                <a:cs typeface="Calibri" pitchFamily="34" charset="-120"/>
              </a:rPr>
              <a:t>GA-001 tata letak · GA-002 lokasi PKS · V-201 tangki GFS · M-004 skid kontak · M-001 praolah · M-006 pemurnian gas · M-008 genset · M-007 penampung gas · M-005 skid dosing dan lumpur</a:t>
            </a:r>
            <a:endParaRPr lang="en-US" sz="680" dirty="0"/>
          </a:p>
        </p:txBody>
      </p:sp>
      <p:pic>
        <p:nvPicPr>
          <p:cNvPr id="20" name="gambar-325" descr="/home/user/aspebindo/deck/img/dwg3.png">    </p:cNvPr>
          <p:cNvPicPr>
            <a:picLocks noChangeAspect="1"/>
          </p:cNvPicPr>
          <p:nvPr/>
        </p:nvPicPr>
        <p:blipFill>
          <a:blip r:embed="rId5"/>
          <a:stretch>
            <a:fillRect/>
          </a:stretch>
        </p:blipFill>
        <p:spPr>
          <a:xfrm>
            <a:off x="7498080" y="5151991"/>
            <a:ext cx="1463040" cy="1034578"/>
          </a:xfrm>
          <a:prstGeom prst="rect">
            <a:avLst/>
          </a:prstGeom>
        </p:spPr>
      </p:pic>
      <p:pic>
        <p:nvPicPr>
          <p:cNvPr id="21" name="gambar-326" descr="/home/user/aspebindo/deck/img/dwg4.png">    </p:cNvPr>
          <p:cNvPicPr>
            <a:picLocks noChangeAspect="1"/>
          </p:cNvPicPr>
          <p:nvPr/>
        </p:nvPicPr>
        <p:blipFill>
          <a:blip r:embed="rId6"/>
          <a:stretch>
            <a:fillRect/>
          </a:stretch>
        </p:blipFill>
        <p:spPr>
          <a:xfrm>
            <a:off x="9052560" y="5151991"/>
            <a:ext cx="1463040" cy="1034578"/>
          </a:xfrm>
          <a:prstGeom prst="rect">
            <a:avLst/>
          </a:prstGeom>
        </p:spPr>
      </p:pic>
      <p:sp>
        <p:nvSpPr>
          <p:cNvPr id="22" name="teks-327"/>
          <p:cNvSpPr txBox="1"/>
          <p:nvPr/>
        </p:nvSpPr>
        <p:spPr>
          <a:xfrm>
            <a:off x="10607040" y="5120640"/>
            <a:ext cx="1234440" cy="365760"/>
          </a:xfrm>
          <a:prstGeom prst="rect">
            <a:avLst/>
          </a:prstGeom>
          <a:noFill/>
          <a:ln/>
        </p:spPr>
        <p:txBody>
          <a:bodyPr wrap="square" lIns="0" tIns="0" rIns="0" bIns="0" rtlCol="0" anchor="t"/>
          <a:lstStyle/>
          <a:p>
            <a:pPr indent="0" marL="0">
              <a:buNone/>
            </a:pPr>
            <a:r>
              <a:rPr lang="en-US" sz="650" i="1" dirty="0">
                <a:solidFill>
                  <a:srgbClr val="587888"/>
                </a:solidFill>
                <a:latin typeface="Calibri" pitchFamily="34" charset="0"/>
                <a:ea typeface="Calibri" pitchFamily="34" charset="-122"/>
                <a:cs typeface="Calibri" pitchFamily="34" charset="-120"/>
              </a:rPr>
              <a:t>Lembar V-201 dan M-004</a:t>
            </a:r>
            <a:endParaRPr lang="en-US" sz="650" dirty="0"/>
          </a:p>
        </p:txBody>
      </p:sp>
      <p:sp>
        <p:nvSpPr>
          <p:cNvPr id="23" name="teks-328"/>
          <p:cNvSpPr txBox="1"/>
          <p:nvPr/>
        </p:nvSpPr>
        <p:spPr>
          <a:xfrm>
            <a:off x="365760" y="6419088"/>
            <a:ext cx="11109960" cy="246888"/>
          </a:xfrm>
          <a:prstGeom prst="rect">
            <a:avLst/>
          </a:prstGeom>
          <a:noFill/>
          <a:ln/>
        </p:spPr>
        <p:txBody>
          <a:bodyPr wrap="square" lIns="0" tIns="0" rIns="0" bIns="0" rtlCol="0" anchor="ctr"/>
          <a:lstStyle/>
          <a:p>
            <a:pPr indent="0" marL="0">
              <a:buNone/>
            </a:pPr>
            <a:r>
              <a:rPr lang="en-US" sz="590" dirty="0">
                <a:solidFill>
                  <a:srgbClr val="587888"/>
                </a:solidFill>
                <a:latin typeface="Calibri" pitchFamily="34" charset="0"/>
                <a:ea typeface="Calibri" pitchFamily="34" charset="-122"/>
                <a:cs typeface="Calibri" pitchFamily="34" charset="-120"/>
              </a:rPr>
              <a:t>Singkatan: PFD diagram alir proses; GFS baja berlapis kaca; PM modul portabel.</a:t>
            </a:r>
            <a:endParaRPr lang="en-US" sz="590" dirty="0"/>
          </a:p>
          <a:p>
            <a:pPr indent="0" marL="0">
              <a:buNone/>
            </a:pPr>
            <a:r>
              <a:rPr lang="en-US" sz="590" dirty="0">
                <a:solidFill>
                  <a:srgbClr val="587888"/>
                </a:solidFill>
                <a:latin typeface="Calibri" pitchFamily="34" charset="0"/>
                <a:ea typeface="Calibri" pitchFamily="34" charset="-122"/>
                <a:cs typeface="Calibri" pitchFamily="34" charset="-120"/>
              </a:rPr>
              <a:t>Sumber: pfd/outputs/PFD_BG-002_Rev3.pdf; cad/drawings/out/BG_drawing_set_A3.pdf; model CadQuery tim (cad/bgmodels.py).</a:t>
            </a:r>
            <a:endParaRPr lang="en-US" sz="59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nomor-329"/>
          <p:cNvSpPr txBox="1"/>
          <p:nvPr/>
        </p:nvSpPr>
        <p:spPr>
          <a:xfrm>
            <a:off x="365760" y="246888"/>
            <a:ext cx="384048" cy="384048"/>
          </a:xfrm>
          <a:prstGeom prst="rect">
            <a:avLst/>
          </a:prstGeom>
          <a:solidFill>
            <a:srgbClr val="0C2464"/>
          </a:solid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06</a:t>
            </a:r>
            <a:endParaRPr lang="en-US" sz="1300" dirty="0"/>
          </a:p>
        </p:txBody>
      </p:sp>
      <p:sp>
        <p:nvSpPr>
          <p:cNvPr id="3" name="kicker-330"/>
          <p:cNvSpPr txBox="1"/>
          <p:nvPr/>
        </p:nvSpPr>
        <p:spPr>
          <a:xfrm>
            <a:off x="841248" y="228600"/>
            <a:ext cx="8686800" cy="182880"/>
          </a:xfrm>
          <a:prstGeom prst="rect">
            <a:avLst/>
          </a:prstGeom>
          <a:noFill/>
          <a:ln/>
        </p:spPr>
        <p:txBody>
          <a:bodyPr wrap="square" lIns="0" tIns="0" rIns="0" bIns="0" rtlCol="0" anchor="ctr"/>
          <a:lstStyle/>
          <a:p>
            <a:pPr indent="0" marL="0">
              <a:buNone/>
            </a:pPr>
            <a:r>
              <a:rPr lang="en-US" sz="850" b="1" dirty="0">
                <a:solidFill>
                  <a:srgbClr val="3E8E41"/>
                </a:solidFill>
                <a:latin typeface="Arial" pitchFamily="34" charset="0"/>
                <a:ea typeface="Arial" pitchFamily="34" charset="-122"/>
                <a:cs typeface="Arial" pitchFamily="34" charset="-120"/>
              </a:rPr>
              <a:t>ANALISIS PESAING</a:t>
            </a:r>
            <a:endParaRPr lang="en-US" sz="850" dirty="0"/>
          </a:p>
        </p:txBody>
      </p:sp>
      <p:sp>
        <p:nvSpPr>
          <p:cNvPr id="4" name="Text 0"/>
          <p:cNvSpPr/>
          <p:nvPr>
            <p:ph idx="100" type="title" hasCustomPrompt="1"/>
          </p:nvPr>
        </p:nvSpPr>
        <p:spPr>
          <a:xfrm>
            <a:off x="841248" y="411480"/>
            <a:ext cx="10972800" cy="566928"/>
          </a:xfrm>
          <a:prstGeom prst="rect">
            <a:avLst/>
          </a:prstGeom>
          <a:noFill/>
          <a:ln/>
        </p:spPr>
        <p:txBody>
          <a:bodyPr wrap="square" lIns="0" tIns="0" rIns="0" bIns="0" rtlCol="0" anchor="t"/>
          <a:lstStyle/>
          <a:p>
            <a:pPr algn="l" indent="0" marL="0">
              <a:buNone/>
            </a:pPr>
            <a:r>
              <a:rPr lang="en-US" sz="1600" b="1" dirty="0">
                <a:solidFill>
                  <a:srgbClr val="0C2464"/>
                </a:solidFill>
                <a:latin typeface="Arial" pitchFamily="34" charset="0"/>
                <a:ea typeface="Arial" pitchFamily="34" charset="-122"/>
                <a:cs typeface="Arial" pitchFamily="34" charset="-120"/>
              </a:rPr>
              <a:t>Pesaing: keunggulan kami bukan biaya modal, melainkan modal PKS nol dan risiko dibawa operator; pasar awal hanya PKS 60 t/jam dengan solar tergantikan ≥ 2 L/t TBS</a:t>
            </a:r>
            <a:endParaRPr lang="en-US" sz="1600" dirty="0"/>
          </a:p>
        </p:txBody>
      </p:sp>
      <p:sp>
        <p:nvSpPr>
          <p:cNvPr id="5" name="teks-331"/>
          <p:cNvSpPr txBox="1"/>
          <p:nvPr/>
        </p:nvSpPr>
        <p:spPr>
          <a:xfrm>
            <a:off x="365760" y="1078992"/>
            <a:ext cx="676656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Pembanding teknologi dan model (data per MWe terpasang)</a:t>
            </a:r>
            <a:endParaRPr lang="en-US" sz="850" dirty="0"/>
          </a:p>
        </p:txBody>
      </p:sp>
      <p:sp>
        <p:nvSpPr>
          <p:cNvPr id="6" name="garis-332"/>
          <p:cNvSpPr/>
          <p:nvPr/>
        </p:nvSpPr>
        <p:spPr>
          <a:xfrm>
            <a:off x="365760" y="1271016"/>
            <a:ext cx="6766560" cy="0"/>
          </a:xfrm>
          <a:prstGeom prst="line">
            <a:avLst/>
          </a:prstGeom>
          <a:noFill/>
          <a:ln w="15875">
            <a:solidFill>
              <a:srgbClr val="64BC54"/>
            </a:solidFill>
            <a:prstDash val="solid"/>
          </a:ln>
        </p:spPr>
      </p:sp>
      <p:graphicFrame>
        <p:nvGraphicFramePr>
          <p:cNvPr id="7" name="tabel-333"/>
          <p:cNvGraphicFramePr>
            <a:graphicFrameLocks noGrp="1"/>
          </p:cNvGraphicFramePr>
          <p:nvPr>
            <p:extLst>
              <p:ext uri="{D42A27DB-BD31-4B8C-83A1-F6EECF244321}">
                <p14:modId xmlns:p14="http://schemas.microsoft.com/office/powerpoint/2010/main" val="1579011935"/>
              </p:ext>
            </p:extLst>
          </p:nvPr>
        </p:nvGraphicFramePr>
        <p:xfrm>
          <a:off x="365760" y="1307592"/>
          <a:ext cx="6766560" cy="914400"/>
        </p:xfrm>
        <a:graphic>
          <a:graphicData uri="http://schemas.openxmlformats.org/drawingml/2006/table">
            <a:tbl>
              <a:tblPr/>
              <a:tblGrid>
                <a:gridCol w="1828800"/>
                <a:gridCol w="914400"/>
                <a:gridCol w="640080"/>
                <a:gridCol w="548640"/>
                <a:gridCol w="502920"/>
                <a:gridCol w="1783080"/>
                <a:gridCol w="548640"/>
              </a:tblGrid>
              <a:tr h="274320">
                <a:tc>
                  <a:txBody>
                    <a:bodyPr/>
                    <a:lstStyle/>
                    <a:p>
                      <a:pPr algn="l" indent="0" marL="0">
                        <a:buNone/>
                      </a:pPr>
                      <a:r>
                        <a:rPr lang="en-US" sz="630" b="1" dirty="0">
                          <a:solidFill>
                            <a:srgbClr val="FFFFFF"/>
                          </a:solidFill>
                          <a:latin typeface="Calibri" pitchFamily="34" charset="0"/>
                          <a:ea typeface="Calibri" pitchFamily="34" charset="-122"/>
                          <a:cs typeface="Calibri" pitchFamily="34" charset="-120"/>
                        </a:rPr>
                        <a:t>Alternatif</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CAPEX</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Lahan (ha)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Bangun (bln)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Modal PKS</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l" indent="0" marL="0">
                        <a:buNone/>
                      </a:pPr>
                      <a:r>
                        <a:rPr lang="en-US" sz="630" b="1" dirty="0">
                          <a:solidFill>
                            <a:srgbClr val="FFFFFF"/>
                          </a:solidFill>
                          <a:latin typeface="Calibri" pitchFamily="34" charset="0"/>
                          <a:ea typeface="Calibri" pitchFamily="34" charset="-122"/>
                          <a:cs typeface="Calibri" pitchFamily="34" charset="-120"/>
                        </a:rPr>
                        <a:t>Referensi Indonesia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Skor</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A Status quo kolam terbuka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0 (tertanam)</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2,2 (GA 3D); 1-5 lit,</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0</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Tidak</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~85-90% PKS</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3,29</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B Kolam tertutup milik PKS</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1,8-3,7 (2,2)</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9-15</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Ya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Sei Mangkei 2,4 MW; AANE Belitung</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3,04</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C Tangki CSTR milik PKS (EPC)</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1,8-3,5 (2,5)</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0,75</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12-24</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Ya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TSE 2 MW 2025; KIS PT Maya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3,04</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Biometana BOOT (reNIKOLA, KIS)</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~4 (5,3 jt/PKS)</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1,5</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14</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Tidak</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PTPN IV 8 PKS 2026</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3,68</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UASB/EGSB/IC</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~2,75</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0,35</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12-18</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Ya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tidak ada di ID</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2,13</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AnMBR konvensional (Veolia, Kubota)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~5,0</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0,3</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12-18</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Ya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tidak ada referensi POME</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1,98</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D Set kontak termofilik BOO (produk ini)</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3,6 (FCI/kWe terpasang)</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0,43</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10</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Tidak</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belum (pilot diperlukan)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30" dirty="0">
                          <a:solidFill>
                            <a:srgbClr val="14213D"/>
                          </a:solidFill>
                          <a:latin typeface="Calibri" pitchFamily="34" charset="0"/>
                          <a:ea typeface="Calibri" pitchFamily="34" charset="-122"/>
                          <a:cs typeface="Calibri" pitchFamily="34" charset="-120"/>
                        </a:rPr>
                        <a:t>3,83</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8" name="teks-334"/>
          <p:cNvSpPr txBox="1"/>
          <p:nvPr/>
        </p:nvSpPr>
        <p:spPr>
          <a:xfrm>
            <a:off x="365760" y="3703320"/>
            <a:ext cx="6766560" cy="457200"/>
          </a:xfrm>
          <a:prstGeom prst="rect">
            <a:avLst/>
          </a:prstGeom>
          <a:noFill/>
          <a:ln/>
        </p:spPr>
        <p:txBody>
          <a:bodyPr wrap="square" lIns="0" tIns="0" rIns="0" bIns="0" rtlCol="0" anchor="t"/>
          <a:lstStyle/>
          <a:p>
            <a:pPr indent="0" marL="0">
              <a:buNone/>
            </a:pPr>
            <a:r>
              <a:rPr lang="en-US" sz="650" dirty="0">
                <a:solidFill>
                  <a:srgbClr val="14213D"/>
                </a:solidFill>
                <a:latin typeface="Calibri" pitchFamily="34" charset="0"/>
                <a:ea typeface="Calibri" pitchFamily="34" charset="-122"/>
                <a:cs typeface="Calibri" pitchFamily="34" charset="-120"/>
              </a:rPr>
              <a:t>CAPEX: USD juta/MWe (rentang; R3, R6). Lagun tertutup USD 1.700/kWe dan CSTR 2.600/kWe (R6); kasus kami USD 3.600/kWe: lebih mahal, dibayar oleh premi portabilitas dan jaminan operator. Pesaing langsung: reNIKOLA/KIS (BOOT biometana), AANE, Gree; substitusi: PLTS, jaringan PLN.</a:t>
            </a:r>
            <a:endParaRPr lang="en-US" sz="650" dirty="0"/>
          </a:p>
        </p:txBody>
      </p:sp>
      <p:sp>
        <p:nvSpPr>
          <p:cNvPr id="9" name="teks-335"/>
          <p:cNvSpPr txBox="1"/>
          <p:nvPr/>
        </p:nvSpPr>
        <p:spPr>
          <a:xfrm>
            <a:off x="365760" y="4206240"/>
            <a:ext cx="32918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Lima kekuatan Porter (intensitas 1–5)</a:t>
            </a:r>
            <a:endParaRPr lang="en-US" sz="850" dirty="0"/>
          </a:p>
        </p:txBody>
      </p:sp>
      <p:sp>
        <p:nvSpPr>
          <p:cNvPr id="10" name="garis-336"/>
          <p:cNvSpPr/>
          <p:nvPr/>
        </p:nvSpPr>
        <p:spPr>
          <a:xfrm>
            <a:off x="365760" y="4398264"/>
            <a:ext cx="3291840" cy="0"/>
          </a:xfrm>
          <a:prstGeom prst="line">
            <a:avLst/>
          </a:prstGeom>
          <a:noFill/>
          <a:ln w="15875">
            <a:solidFill>
              <a:srgbClr val="64BC54"/>
            </a:solidFill>
            <a:prstDash val="solid"/>
          </a:ln>
        </p:spPr>
      </p:sp>
      <p:graphicFrame>
        <p:nvGraphicFramePr>
          <p:cNvPr id="11" name="Chart 0" descr=""/>
          <p:cNvGraphicFramePr/>
          <p:nvPr/>
        </p:nvGraphicFramePr>
        <p:xfrm>
          <a:off x="320040" y="4389120"/>
          <a:ext cx="3383280" cy="1417320"/>
        </p:xfrm>
        <a:graphic xmlns:a="http://schemas.openxmlformats.org/drawingml/2006/main">
          <a:graphicData uri="http://schemas.openxmlformats.org/drawingml/2006/chart">
            <c:chart xmlns:c="http://schemas.openxmlformats.org/drawingml/2006/chart" r:id="rId1"/>
          </a:graphicData>
        </a:graphic>
      </p:graphicFrame>
      <p:sp>
        <p:nvSpPr>
          <p:cNvPr id="12" name="teks-337"/>
          <p:cNvSpPr txBox="1"/>
          <p:nvPr/>
        </p:nvSpPr>
        <p:spPr>
          <a:xfrm>
            <a:off x="365760" y="5852160"/>
            <a:ext cx="3291840" cy="274320"/>
          </a:xfrm>
          <a:prstGeom prst="rect">
            <a:avLst/>
          </a:prstGeom>
          <a:noFill/>
          <a:ln/>
        </p:spPr>
        <p:txBody>
          <a:bodyPr wrap="square" lIns="0" tIns="0" rIns="0" bIns="0" rtlCol="0" anchor="t"/>
          <a:lstStyle/>
          <a:p>
            <a:pPr indent="0" marL="0">
              <a:buNone/>
            </a:pPr>
            <a:r>
              <a:rPr lang="en-US" sz="630" b="1" dirty="0">
                <a:solidFill>
                  <a:srgbClr val="0C2464"/>
                </a:solidFill>
                <a:latin typeface="Calibri" pitchFamily="34" charset="0"/>
                <a:ea typeface="Calibri" pitchFamily="34" charset="-122"/>
                <a:cs typeface="Calibri" pitchFamily="34" charset="-120"/>
              </a:rPr>
              <a:t>Pembeli (PKS, PLN) paling kuat: fee harus di bawah biaya yang dihindari PKS.</a:t>
            </a:r>
            <a:endParaRPr lang="en-US" sz="630" dirty="0"/>
          </a:p>
        </p:txBody>
      </p:sp>
      <p:sp>
        <p:nvSpPr>
          <p:cNvPr id="13" name="teks-338"/>
          <p:cNvSpPr txBox="1"/>
          <p:nvPr/>
        </p:nvSpPr>
        <p:spPr>
          <a:xfrm>
            <a:off x="3840480" y="4206240"/>
            <a:ext cx="32918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PESTLE: faktor penentu keputusan</a:t>
            </a:r>
            <a:endParaRPr lang="en-US" sz="850" dirty="0"/>
          </a:p>
        </p:txBody>
      </p:sp>
      <p:sp>
        <p:nvSpPr>
          <p:cNvPr id="14" name="garis-339"/>
          <p:cNvSpPr/>
          <p:nvPr/>
        </p:nvSpPr>
        <p:spPr>
          <a:xfrm>
            <a:off x="3840480" y="4398264"/>
            <a:ext cx="3291840" cy="0"/>
          </a:xfrm>
          <a:prstGeom prst="line">
            <a:avLst/>
          </a:prstGeom>
          <a:noFill/>
          <a:ln w="15875">
            <a:solidFill>
              <a:srgbClr val="64BC54"/>
            </a:solidFill>
            <a:prstDash val="solid"/>
          </a:ln>
        </p:spPr>
      </p:sp>
      <p:graphicFrame>
        <p:nvGraphicFramePr>
          <p:cNvPr id="13" name="tabel-340"/>
          <p:cNvGraphicFramePr>
            <a:graphicFrameLocks noGrp="1"/>
          </p:cNvGraphicFramePr>
          <p:nvPr>
            <p:extLst>
              <p:ext uri="{D42A27DB-BD31-4B8C-83A1-F6EECF244321}">
                <p14:modId xmlns:p14="http://schemas.microsoft.com/office/powerpoint/2010/main" val="1579011935"/>
              </p:ext>
            </p:extLst>
          </p:nvPr>
        </p:nvGraphicFramePr>
        <p:xfrm>
          <a:off x="3840480" y="4434840"/>
          <a:ext cx="3291840" cy="914400"/>
        </p:xfrm>
        <a:graphic>
          <a:graphicData uri="http://schemas.openxmlformats.org/drawingml/2006/table">
            <a:tbl>
              <a:tblPr/>
              <a:tblGrid>
                <a:gridCol w="731520"/>
                <a:gridCol w="2560320"/>
              </a:tblGrid>
              <a:tr h="210312">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Faktor</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20" b="1" dirty="0">
                          <a:solidFill>
                            <a:srgbClr val="FFFFFF"/>
                          </a:solidFill>
                          <a:latin typeface="Calibri" pitchFamily="34" charset="0"/>
                          <a:ea typeface="Calibri" pitchFamily="34" charset="-122"/>
                          <a:cs typeface="Calibri" pitchFamily="34" charset="-120"/>
                        </a:rPr>
                        <a:t>Dampak → keputusan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1031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Politik</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Perpres 112/2022: tarif plafon → tarif dasar 9,81 USc</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Ekonomi</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solar Rp 21.000/L → fokus PKS solar-berat</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Sosial</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bau, kerja lokal → kontrak komunitas</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Teknologi</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TRL 4 → pilot wajib</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Hukum</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IUPTLS/PJBL → kontrak jasa energi</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Lingkungan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20" dirty="0">
                          <a:solidFill>
                            <a:srgbClr val="14213D"/>
                          </a:solidFill>
                          <a:latin typeface="Calibri" pitchFamily="34" charset="0"/>
                          <a:ea typeface="Calibri" pitchFamily="34" charset="-122"/>
                          <a:cs typeface="Calibri" pitchFamily="34" charset="-120"/>
                        </a:rPr>
                        <a:t>ISPO 2027, RED II → nilai penangkapan</a:t>
                      </a:r>
                      <a:endParaRPr lang="en-US" sz="62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16" name="teks-341"/>
          <p:cNvSpPr txBox="1"/>
          <p:nvPr/>
        </p:nvSpPr>
        <p:spPr>
          <a:xfrm>
            <a:off x="7315200" y="1078992"/>
            <a:ext cx="452628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SWOT → TOWS (strategi)</a:t>
            </a:r>
            <a:endParaRPr lang="en-US" sz="850" dirty="0"/>
          </a:p>
        </p:txBody>
      </p:sp>
      <p:sp>
        <p:nvSpPr>
          <p:cNvPr id="17" name="garis-342"/>
          <p:cNvSpPr/>
          <p:nvPr/>
        </p:nvSpPr>
        <p:spPr>
          <a:xfrm>
            <a:off x="7315200" y="1271016"/>
            <a:ext cx="4526280" cy="0"/>
          </a:xfrm>
          <a:prstGeom prst="line">
            <a:avLst/>
          </a:prstGeom>
          <a:noFill/>
          <a:ln w="15875">
            <a:solidFill>
              <a:srgbClr val="64BC54"/>
            </a:solidFill>
            <a:prstDash val="solid"/>
          </a:ln>
        </p:spPr>
      </p:sp>
      <p:sp>
        <p:nvSpPr>
          <p:cNvPr id="18" name="kotak-343"/>
          <p:cNvSpPr txBox="1"/>
          <p:nvPr/>
        </p:nvSpPr>
        <p:spPr>
          <a:xfrm>
            <a:off x="7315200" y="1307592"/>
            <a:ext cx="2240280" cy="457200"/>
          </a:xfrm>
          <a:prstGeom prst="roundRect">
            <a:avLst>
              <a:gd name="adj" fmla="val 8000"/>
            </a:avLst>
          </a:prstGeom>
          <a:solidFill>
            <a:srgbClr val="FFFFFF"/>
          </a:solidFill>
          <a:ln w="19050">
            <a:solidFill>
              <a:srgbClr val="3E8E41"/>
            </a:solidFill>
          </a:ln>
        </p:spPr>
        <p:txBody>
          <a:bodyPr wrap="square" lIns="25400" tIns="50800" rIns="50800" bIns="2540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Kekuatan: modal PKS nol, portabel, HRT 5 hari</a:t>
            </a:r>
            <a:endParaRPr lang="en-US" sz="660" dirty="0"/>
          </a:p>
        </p:txBody>
      </p:sp>
      <p:sp>
        <p:nvSpPr>
          <p:cNvPr id="19" name="kotak-344"/>
          <p:cNvSpPr txBox="1"/>
          <p:nvPr/>
        </p:nvSpPr>
        <p:spPr>
          <a:xfrm>
            <a:off x="9601200" y="1307592"/>
            <a:ext cx="2240280" cy="457200"/>
          </a:xfrm>
          <a:prstGeom prst="roundRect">
            <a:avLst>
              <a:gd name="adj" fmla="val 8000"/>
            </a:avLst>
          </a:prstGeom>
          <a:solidFill>
            <a:srgbClr val="FFFFFF"/>
          </a:solidFill>
          <a:ln w="19050">
            <a:solidFill>
              <a:srgbClr val="C8452F"/>
            </a:solidFill>
          </a:ln>
        </p:spPr>
        <p:txBody>
          <a:bodyPr wrap="square" lIns="25400" tIns="50800" rIns="50800" bIns="2540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Kelemahan: TRL 4, CAPEX/kWe tinggi, skala minimum 60 t/jam</a:t>
            </a:r>
            <a:endParaRPr lang="en-US" sz="660" dirty="0"/>
          </a:p>
        </p:txBody>
      </p:sp>
      <p:sp>
        <p:nvSpPr>
          <p:cNvPr id="20" name="kotak-345"/>
          <p:cNvSpPr txBox="1"/>
          <p:nvPr/>
        </p:nvSpPr>
        <p:spPr>
          <a:xfrm>
            <a:off x="7315200" y="1810512"/>
            <a:ext cx="2240280" cy="457200"/>
          </a:xfrm>
          <a:prstGeom prst="roundRect">
            <a:avLst>
              <a:gd name="adj" fmla="val 8000"/>
            </a:avLst>
          </a:prstGeom>
          <a:solidFill>
            <a:srgbClr val="FFFFFF"/>
          </a:solidFill>
          <a:ln w="19050">
            <a:solidFill>
              <a:srgbClr val="244C9C"/>
            </a:solidFill>
          </a:ln>
        </p:spPr>
        <p:txBody>
          <a:bodyPr wrap="square" lIns="25400" tIns="50800" rIns="50800" bIns="2540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Peluang: ISPO 2027, ±1.150 PKS tanpa penangkap, karbon</a:t>
            </a:r>
            <a:endParaRPr lang="en-US" sz="660" dirty="0"/>
          </a:p>
        </p:txBody>
      </p:sp>
      <p:sp>
        <p:nvSpPr>
          <p:cNvPr id="21" name="kotak-346"/>
          <p:cNvSpPr txBox="1"/>
          <p:nvPr/>
        </p:nvSpPr>
        <p:spPr>
          <a:xfrm>
            <a:off x="9601200" y="1810512"/>
            <a:ext cx="2240280" cy="457200"/>
          </a:xfrm>
          <a:prstGeom prst="roundRect">
            <a:avLst>
              <a:gd name="adj" fmla="val 8000"/>
            </a:avLst>
          </a:prstGeom>
          <a:solidFill>
            <a:srgbClr val="FFFFFF"/>
          </a:solidFill>
          <a:ln w="19050">
            <a:solidFill>
              <a:srgbClr val="E0A526"/>
            </a:solidFill>
          </a:ln>
        </p:spPr>
        <p:txBody>
          <a:bodyPr wrap="square" lIns="25400" tIns="50800" rIns="50800" bIns="25400" rtlCol="0" anchor="ctr"/>
          <a:lstStyle/>
          <a:p>
            <a:pPr algn="l" indent="0" marL="0">
              <a:buNone/>
            </a:pPr>
            <a:r>
              <a:rPr lang="en-US" sz="660" dirty="0">
                <a:solidFill>
                  <a:srgbClr val="14213D"/>
                </a:solidFill>
                <a:latin typeface="Calibri" pitchFamily="34" charset="0"/>
                <a:ea typeface="Calibri" pitchFamily="34" charset="-122"/>
                <a:cs typeface="Calibri" pitchFamily="34" charset="-120"/>
              </a:rPr>
              <a:t>Ancaman: tarif/izin PLN, harga karbon rendah, in-house grup besar</a:t>
            </a:r>
            <a:endParaRPr lang="en-US" sz="660" dirty="0"/>
          </a:p>
        </p:txBody>
      </p:sp>
      <p:graphicFrame>
        <p:nvGraphicFramePr>
          <p:cNvPr id="19" name="tabel-347"/>
          <p:cNvGraphicFramePr>
            <a:graphicFrameLocks noGrp="1"/>
          </p:cNvGraphicFramePr>
          <p:nvPr>
            <p:extLst>
              <p:ext uri="{D42A27DB-BD31-4B8C-83A1-F6EECF244321}">
                <p14:modId xmlns:p14="http://schemas.microsoft.com/office/powerpoint/2010/main" val="1579011935"/>
              </p:ext>
            </p:extLst>
          </p:nvPr>
        </p:nvGraphicFramePr>
        <p:xfrm>
          <a:off x="7315200" y="2359152"/>
          <a:ext cx="4526280" cy="914400"/>
        </p:xfrm>
        <a:graphic>
          <a:graphicData uri="http://schemas.openxmlformats.org/drawingml/2006/table">
            <a:tbl>
              <a:tblPr/>
              <a:tblGrid>
                <a:gridCol w="548640"/>
                <a:gridCol w="3977640"/>
              </a:tblGrid>
              <a:tr h="210312">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TOWS</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Strategi terpilih</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10312">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SO</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Kontrak percontohan di PKS solar-berat sebelum ISPO 2027</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WO</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Pilot 10–20 m³ untuk naik ke TRL 6; jaminan kinerja bertahap</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ST</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Kontrak jasa energi (bukan jual kWh); tarif dasar 9,81 USc</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WT</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Mulai 60 t/jam saja; kuotasi vendor sebelum FID</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23" name="teks-348"/>
          <p:cNvSpPr txBox="1"/>
          <p:nvPr/>
        </p:nvSpPr>
        <p:spPr>
          <a:xfrm>
            <a:off x="7315200" y="3520440"/>
            <a:ext cx="452628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Matriks posisi: CAPEX vs kesiapan teknologi</a:t>
            </a:r>
            <a:endParaRPr lang="en-US" sz="850" dirty="0"/>
          </a:p>
        </p:txBody>
      </p:sp>
      <p:sp>
        <p:nvSpPr>
          <p:cNvPr id="24" name="garis-349"/>
          <p:cNvSpPr/>
          <p:nvPr/>
        </p:nvSpPr>
        <p:spPr>
          <a:xfrm>
            <a:off x="7315200" y="3712464"/>
            <a:ext cx="4526280" cy="0"/>
          </a:xfrm>
          <a:prstGeom prst="line">
            <a:avLst/>
          </a:prstGeom>
          <a:noFill/>
          <a:ln w="15875">
            <a:solidFill>
              <a:srgbClr val="64BC54"/>
            </a:solidFill>
            <a:prstDash val="solid"/>
          </a:ln>
        </p:spPr>
      </p:sp>
      <p:graphicFrame>
        <p:nvGraphicFramePr>
          <p:cNvPr id="25" name="Chart 1" descr=""/>
          <p:cNvGraphicFramePr/>
          <p:nvPr/>
        </p:nvGraphicFramePr>
        <p:xfrm>
          <a:off x="7269480" y="3703320"/>
          <a:ext cx="2834640" cy="2103120"/>
        </p:xfrm>
        <a:graphic xmlns:a="http://schemas.openxmlformats.org/drawingml/2006/main">
          <a:graphicData uri="http://schemas.openxmlformats.org/drawingml/2006/chart">
            <c:chart xmlns:c="http://schemas.openxmlformats.org/drawingml/2006/chart" r:id="rId2"/>
          </a:graphicData>
        </a:graphic>
      </p:graphicFrame>
      <p:sp>
        <p:nvSpPr>
          <p:cNvPr id="26" name="teks-350"/>
          <p:cNvSpPr txBox="1"/>
          <p:nvPr/>
        </p:nvSpPr>
        <p:spPr>
          <a:xfrm>
            <a:off x="10149840" y="3840480"/>
            <a:ext cx="1691640" cy="146304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Lagun tertutup (1,7; TRL 9)</a:t>
            </a:r>
            <a:endParaRPr lang="en-US" sz="630" dirty="0"/>
          </a:p>
          <a:p>
            <a:pPr indent="0" marL="0">
              <a:buNone/>
            </a:pPr>
            <a:r>
              <a:rPr lang="en-US" sz="630" dirty="0">
                <a:solidFill>
                  <a:srgbClr val="14213D"/>
                </a:solidFill>
                <a:latin typeface="Calibri" pitchFamily="34" charset="0"/>
                <a:ea typeface="Calibri" pitchFamily="34" charset="-122"/>
                <a:cs typeface="Calibri" pitchFamily="34" charset="-120"/>
              </a:rPr>
              <a:t>CSTR (2,6; TRL 9)</a:t>
            </a:r>
            <a:endParaRPr lang="en-US" sz="630" dirty="0"/>
          </a:p>
          <a:p>
            <a:pPr indent="0" marL="0">
              <a:buNone/>
            </a:pPr>
            <a:r>
              <a:rPr lang="en-US" sz="630" dirty="0">
                <a:solidFill>
                  <a:srgbClr val="14213D"/>
                </a:solidFill>
                <a:latin typeface="Calibri" pitchFamily="34" charset="0"/>
                <a:ea typeface="Calibri" pitchFamily="34" charset="-122"/>
                <a:cs typeface="Calibri" pitchFamily="34" charset="-120"/>
              </a:rPr>
              <a:t>Biometana BOOT (4,0; TRL 8)</a:t>
            </a:r>
            <a:endParaRPr lang="en-US" sz="630" dirty="0"/>
          </a:p>
          <a:p>
            <a:pPr indent="0" marL="0">
              <a:buNone/>
            </a:pPr>
            <a:r>
              <a:rPr lang="en-US" sz="630" dirty="0">
                <a:solidFill>
                  <a:srgbClr val="14213D"/>
                </a:solidFill>
                <a:latin typeface="Calibri" pitchFamily="34" charset="0"/>
                <a:ea typeface="Calibri" pitchFamily="34" charset="-122"/>
                <a:cs typeface="Calibri" pitchFamily="34" charset="-120"/>
              </a:rPr>
              <a:t>UASB/IC (2,8; TRL 6)</a:t>
            </a:r>
            <a:endParaRPr lang="en-US" sz="630" dirty="0"/>
          </a:p>
          <a:p>
            <a:pPr indent="0" marL="0">
              <a:buNone/>
            </a:pPr>
            <a:r>
              <a:rPr lang="en-US" sz="630" dirty="0">
                <a:solidFill>
                  <a:srgbClr val="14213D"/>
                </a:solidFill>
                <a:latin typeface="Calibri" pitchFamily="34" charset="0"/>
                <a:ea typeface="Calibri" pitchFamily="34" charset="-122"/>
                <a:cs typeface="Calibri" pitchFamily="34" charset="-120"/>
              </a:rPr>
              <a:t>AnMBR (5,0; TRL 5)</a:t>
            </a:r>
            <a:endParaRPr lang="en-US" sz="630" dirty="0"/>
          </a:p>
          <a:p>
            <a:pPr indent="0" marL="0">
              <a:buNone/>
            </a:pPr>
            <a:r>
              <a:rPr lang="en-US" sz="630" dirty="0">
                <a:solidFill>
                  <a:srgbClr val="14213D"/>
                </a:solidFill>
                <a:latin typeface="Calibri" pitchFamily="34" charset="0"/>
                <a:ea typeface="Calibri" pitchFamily="34" charset="-122"/>
                <a:cs typeface="Calibri" pitchFamily="34" charset="-120"/>
              </a:rPr>
              <a:t>Set kami (3,6; TRL 4)</a:t>
            </a:r>
            <a:endParaRPr lang="en-US" sz="630" dirty="0"/>
          </a:p>
        </p:txBody>
      </p:sp>
      <p:sp>
        <p:nvSpPr>
          <p:cNvPr id="27" name="teks-351"/>
          <p:cNvSpPr txBox="1"/>
          <p:nvPr/>
        </p:nvSpPr>
        <p:spPr>
          <a:xfrm>
            <a:off x="10149840" y="5303520"/>
            <a:ext cx="1691640" cy="457200"/>
          </a:xfrm>
          <a:prstGeom prst="rect">
            <a:avLst/>
          </a:prstGeom>
          <a:noFill/>
          <a:ln/>
        </p:spPr>
        <p:txBody>
          <a:bodyPr wrap="square" lIns="0" tIns="0" rIns="0" bIns="0" rtlCol="0" anchor="t"/>
          <a:lstStyle/>
          <a:p>
            <a:pPr indent="0" marL="0">
              <a:buNone/>
            </a:pPr>
            <a:r>
              <a:rPr lang="en-US" sz="630" b="1" dirty="0">
                <a:solidFill>
                  <a:srgbClr val="0C2464"/>
                </a:solidFill>
                <a:latin typeface="Calibri" pitchFamily="34" charset="0"/>
                <a:ea typeface="Calibri" pitchFamily="34" charset="-122"/>
                <a:cs typeface="Calibri" pitchFamily="34" charset="-120"/>
              </a:rPr>
              <a:t>Kami di kiri-bawah (TRL rendah, CAPEX menengah); pembeda ada di sumbu lain: modal PKS, risiko, portabilitas.</a:t>
            </a:r>
            <a:endParaRPr lang="en-US" sz="630" dirty="0"/>
          </a:p>
        </p:txBody>
      </p:sp>
      <p:sp>
        <p:nvSpPr>
          <p:cNvPr id="28" name="kotak-352"/>
          <p:cNvSpPr txBox="1"/>
          <p:nvPr/>
        </p:nvSpPr>
        <p:spPr>
          <a:xfrm>
            <a:off x="365760" y="6080760"/>
            <a:ext cx="11475720" cy="301752"/>
          </a:xfrm>
          <a:prstGeom prst="roundRect">
            <a:avLst>
              <a:gd name="adj" fmla="val 12121"/>
            </a:avLst>
          </a:prstGeom>
          <a:solidFill>
            <a:srgbClr val="E7F4E2"/>
          </a:solidFill>
          <a:ln w="9525">
            <a:solidFill>
              <a:srgbClr val="3E8E41"/>
            </a:solidFill>
          </a:ln>
        </p:spPr>
        <p:txBody>
          <a:bodyPr wrap="square" lIns="25400" tIns="76200" rIns="76200" bIns="25400" rtlCol="0" anchor="ctr"/>
          <a:lstStyle/>
          <a:p>
            <a:pPr algn="l" indent="0" marL="0">
              <a:buNone/>
            </a:pPr>
            <a:r>
              <a:rPr lang="en-US" sz="680" dirty="0">
                <a:solidFill>
                  <a:srgbClr val="14213D"/>
                </a:solidFill>
                <a:latin typeface="Calibri" pitchFamily="34" charset="0"/>
                <a:ea typeface="Calibri" pitchFamily="34" charset="-122"/>
                <a:cs typeface="Calibri" pitchFamily="34" charset="-120"/>
              </a:rPr>
              <a:t>Pasar awal: PKS independen 60 t TBS/jam, solar tergantikan ≥ 2 L/t, jaringan 20 kV ≤ 2 km (±57 PKS). Penetrasi: percontohan 2027, mitra EPC lokal, harga fee USD 1,25/t TBS di dalam jendela kesepakatan. Hambatan masuk: izin PLN, kontrak 20 tahun, kualifikasi PKS.</a:t>
            </a:r>
            <a:endParaRPr lang="en-US" sz="680" dirty="0"/>
          </a:p>
        </p:txBody>
      </p:sp>
      <p:sp>
        <p:nvSpPr>
          <p:cNvPr id="29" name="teks-353"/>
          <p:cNvSpPr txBox="1"/>
          <p:nvPr/>
        </p:nvSpPr>
        <p:spPr>
          <a:xfrm>
            <a:off x="365760" y="6419088"/>
            <a:ext cx="11109960" cy="246888"/>
          </a:xfrm>
          <a:prstGeom prst="rect">
            <a:avLst/>
          </a:prstGeom>
          <a:noFill/>
          <a:ln/>
        </p:spPr>
        <p:txBody>
          <a:bodyPr wrap="square" lIns="0" tIns="0" rIns="0" bIns="0" rtlCol="0" anchor="ctr"/>
          <a:lstStyle/>
          <a:p>
            <a:pPr indent="0" marL="0">
              <a:buNone/>
            </a:pPr>
            <a:r>
              <a:rPr lang="en-US" sz="590" dirty="0">
                <a:solidFill>
                  <a:srgbClr val="587888"/>
                </a:solidFill>
                <a:latin typeface="Calibri" pitchFamily="34" charset="0"/>
                <a:ea typeface="Calibri" pitchFamily="34" charset="-122"/>
                <a:cs typeface="Calibri" pitchFamily="34" charset="-120"/>
              </a:rPr>
              <a:t>Singkatan: TRL kesiapan teknologi; CSTR tangki berpengaduk; IUPTLS izin usaha tenaga listrik kepentingan sendiri; FID keputusan investasi akhir.</a:t>
            </a:r>
            <a:endParaRPr lang="en-US" sz="590" dirty="0"/>
          </a:p>
          <a:p>
            <a:pPr indent="0" marL="0">
              <a:buNone/>
            </a:pPr>
            <a:r>
              <a:rPr lang="en-US" sz="590" dirty="0">
                <a:solidFill>
                  <a:srgbClr val="587888"/>
                </a:solidFill>
                <a:latin typeface="Calibri" pitchFamily="34" charset="0"/>
                <a:ea typeface="Calibri" pitchFamily="34" charset="-122"/>
                <a:cs typeface="Calibri" pitchFamily="34" charset="-120"/>
              </a:rPr>
              <a:t>Sumber: research/R3 (pesaing), R6; skor tim (subjektif) diuji sensitivitas pada slide 2; Porter dan PESTLE dari fin_market.py.</a:t>
            </a:r>
            <a:endParaRPr lang="en-US" sz="59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nomor-354"/>
          <p:cNvSpPr txBox="1"/>
          <p:nvPr/>
        </p:nvSpPr>
        <p:spPr>
          <a:xfrm>
            <a:off x="365760" y="246888"/>
            <a:ext cx="384048" cy="384048"/>
          </a:xfrm>
          <a:prstGeom prst="rect">
            <a:avLst/>
          </a:prstGeom>
          <a:solidFill>
            <a:srgbClr val="0C2464"/>
          </a:solid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07</a:t>
            </a:r>
            <a:endParaRPr lang="en-US" sz="1300" dirty="0"/>
          </a:p>
        </p:txBody>
      </p:sp>
      <p:sp>
        <p:nvSpPr>
          <p:cNvPr id="3" name="kicker-355"/>
          <p:cNvSpPr txBox="1"/>
          <p:nvPr/>
        </p:nvSpPr>
        <p:spPr>
          <a:xfrm>
            <a:off x="841248" y="228600"/>
            <a:ext cx="8686800" cy="182880"/>
          </a:xfrm>
          <a:prstGeom prst="rect">
            <a:avLst/>
          </a:prstGeom>
          <a:noFill/>
          <a:ln/>
        </p:spPr>
        <p:txBody>
          <a:bodyPr wrap="square" lIns="0" tIns="0" rIns="0" bIns="0" rtlCol="0" anchor="ctr"/>
          <a:lstStyle/>
          <a:p>
            <a:pPr indent="0" marL="0">
              <a:buNone/>
            </a:pPr>
            <a:r>
              <a:rPr lang="en-US" sz="850" b="1" dirty="0">
                <a:solidFill>
                  <a:srgbClr val="3E8E41"/>
                </a:solidFill>
                <a:latin typeface="Arial" pitchFamily="34" charset="0"/>
                <a:ea typeface="Arial" pitchFamily="34" charset="-122"/>
                <a:cs typeface="Arial" pitchFamily="34" charset="-120"/>
              </a:rPr>
              <a:t>MODEL KEUANGAN</a:t>
            </a:r>
            <a:endParaRPr lang="en-US" sz="850" dirty="0"/>
          </a:p>
        </p:txBody>
      </p:sp>
      <p:sp>
        <p:nvSpPr>
          <p:cNvPr id="4" name="Text 0"/>
          <p:cNvSpPr/>
          <p:nvPr>
            <p:ph idx="100" type="title" hasCustomPrompt="1"/>
          </p:nvPr>
        </p:nvSpPr>
        <p:spPr>
          <a:xfrm>
            <a:off x="841248" y="411480"/>
            <a:ext cx="10972800" cy="566928"/>
          </a:xfrm>
          <a:prstGeom prst="rect">
            <a:avLst/>
          </a:prstGeom>
          <a:noFill/>
          <a:ln/>
        </p:spPr>
        <p:txBody>
          <a:bodyPr wrap="square" lIns="0" tIns="0" rIns="0" bIns="0" rtlCol="0" anchor="t"/>
          <a:lstStyle/>
          <a:p>
            <a:pPr algn="l" indent="0" marL="0">
              <a:buNone/>
            </a:pPr>
            <a:r>
              <a:rPr lang="en-US" sz="1600" b="1" dirty="0">
                <a:solidFill>
                  <a:srgbClr val="0C2464"/>
                </a:solidFill>
                <a:latin typeface="Arial" pitchFamily="34" charset="0"/>
                <a:ea typeface="Arial" pitchFamily="34" charset="-122"/>
                <a:cs typeface="Arial" pitchFamily="34" charset="-120"/>
              </a:rPr>
              <a:t>Keuangan: kasus dasar 60 t TBS/jam layak tipis (NPV USD 0,13 juta, IRR 10,3%) tetapi risiko-terkoreksi negatif; layak bersyarat pada solar ≥ 2 L/t TBS dan CAPEX terkuotasi</a:t>
            </a:r>
            <a:endParaRPr lang="en-US" sz="1600" dirty="0"/>
          </a:p>
        </p:txBody>
      </p:sp>
      <p:sp>
        <p:nvSpPr>
          <p:cNvPr id="5" name="kotak-356"/>
          <p:cNvSpPr/>
          <p:nvPr/>
        </p:nvSpPr>
        <p:spPr>
          <a:xfrm>
            <a:off x="365760" y="1097280"/>
            <a:ext cx="1389888" cy="502920"/>
          </a:xfrm>
          <a:prstGeom prst="roundRect">
            <a:avLst>
              <a:gd name="adj" fmla="val 7273"/>
            </a:avLst>
          </a:prstGeom>
          <a:solidFill>
            <a:srgbClr val="FFFFFF"/>
          </a:solidFill>
          <a:ln w="9525">
            <a:solidFill>
              <a:srgbClr val="C3D3E8"/>
            </a:solidFill>
            <a:prstDash val="solid"/>
          </a:ln>
        </p:spPr>
      </p:sp>
      <p:sp>
        <p:nvSpPr>
          <p:cNvPr id="6" name="teks-357"/>
          <p:cNvSpPr txBox="1"/>
          <p:nvPr/>
        </p:nvSpPr>
        <p:spPr>
          <a:xfrm>
            <a:off x="420624" y="1115568"/>
            <a:ext cx="1280160" cy="237744"/>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USD 5,85 jt</a:t>
            </a:r>
            <a:endParaRPr lang="en-US" sz="1100" dirty="0"/>
          </a:p>
        </p:txBody>
      </p:sp>
      <p:sp>
        <p:nvSpPr>
          <p:cNvPr id="7" name="teks-358"/>
          <p:cNvSpPr txBox="1"/>
          <p:nvPr/>
        </p:nvSpPr>
        <p:spPr>
          <a:xfrm>
            <a:off x="420624" y="1371600"/>
            <a:ext cx="1298448" cy="201168"/>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FCI (kelas 4: −20%/+40%)</a:t>
            </a:r>
            <a:endParaRPr lang="en-US" sz="630" dirty="0"/>
          </a:p>
        </p:txBody>
      </p:sp>
      <p:sp>
        <p:nvSpPr>
          <p:cNvPr id="8" name="kotak-359"/>
          <p:cNvSpPr/>
          <p:nvPr/>
        </p:nvSpPr>
        <p:spPr>
          <a:xfrm>
            <a:off x="1801368" y="1097280"/>
            <a:ext cx="1389888" cy="502920"/>
          </a:xfrm>
          <a:prstGeom prst="roundRect">
            <a:avLst>
              <a:gd name="adj" fmla="val 7273"/>
            </a:avLst>
          </a:prstGeom>
          <a:solidFill>
            <a:srgbClr val="FFFFFF"/>
          </a:solidFill>
          <a:ln w="9525">
            <a:solidFill>
              <a:srgbClr val="C3D3E8"/>
            </a:solidFill>
            <a:prstDash val="solid"/>
          </a:ln>
        </p:spPr>
      </p:sp>
      <p:sp>
        <p:nvSpPr>
          <p:cNvPr id="9" name="teks-360"/>
          <p:cNvSpPr txBox="1"/>
          <p:nvPr/>
        </p:nvSpPr>
        <p:spPr>
          <a:xfrm>
            <a:off x="1856232" y="1115568"/>
            <a:ext cx="1280160" cy="237744"/>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USD 0,13 jt</a:t>
            </a:r>
            <a:endParaRPr lang="en-US" sz="1100" dirty="0"/>
          </a:p>
        </p:txBody>
      </p:sp>
      <p:sp>
        <p:nvSpPr>
          <p:cNvPr id="10" name="teks-361"/>
          <p:cNvSpPr txBox="1"/>
          <p:nvPr/>
        </p:nvSpPr>
        <p:spPr>
          <a:xfrm>
            <a:off x="1856232" y="1371600"/>
            <a:ext cx="1298448" cy="201168"/>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NPV @ WACC 9,9%</a:t>
            </a:r>
            <a:endParaRPr lang="en-US" sz="630" dirty="0"/>
          </a:p>
        </p:txBody>
      </p:sp>
      <p:sp>
        <p:nvSpPr>
          <p:cNvPr id="11" name="kotak-362"/>
          <p:cNvSpPr/>
          <p:nvPr/>
        </p:nvSpPr>
        <p:spPr>
          <a:xfrm>
            <a:off x="3236976" y="1097280"/>
            <a:ext cx="1389888" cy="502920"/>
          </a:xfrm>
          <a:prstGeom prst="roundRect">
            <a:avLst>
              <a:gd name="adj" fmla="val 7273"/>
            </a:avLst>
          </a:prstGeom>
          <a:solidFill>
            <a:srgbClr val="FFFFFF"/>
          </a:solidFill>
          <a:ln w="9525">
            <a:solidFill>
              <a:srgbClr val="C3D3E8"/>
            </a:solidFill>
            <a:prstDash val="solid"/>
          </a:ln>
        </p:spPr>
      </p:sp>
      <p:sp>
        <p:nvSpPr>
          <p:cNvPr id="12" name="teks-363"/>
          <p:cNvSpPr txBox="1"/>
          <p:nvPr/>
        </p:nvSpPr>
        <p:spPr>
          <a:xfrm>
            <a:off x="3291840" y="1115568"/>
            <a:ext cx="1280160" cy="237744"/>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10,3%</a:t>
            </a:r>
            <a:endParaRPr lang="en-US" sz="1100" dirty="0"/>
          </a:p>
        </p:txBody>
      </p:sp>
      <p:sp>
        <p:nvSpPr>
          <p:cNvPr id="13" name="teks-364"/>
          <p:cNvSpPr txBox="1"/>
          <p:nvPr/>
        </p:nvSpPr>
        <p:spPr>
          <a:xfrm>
            <a:off x="3291840" y="1371600"/>
            <a:ext cx="1298448" cy="201168"/>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IRR proyek</a:t>
            </a:r>
            <a:endParaRPr lang="en-US" sz="630" dirty="0"/>
          </a:p>
        </p:txBody>
      </p:sp>
      <p:sp>
        <p:nvSpPr>
          <p:cNvPr id="14" name="kotak-365"/>
          <p:cNvSpPr/>
          <p:nvPr/>
        </p:nvSpPr>
        <p:spPr>
          <a:xfrm>
            <a:off x="4672584" y="1097280"/>
            <a:ext cx="1389888" cy="502920"/>
          </a:xfrm>
          <a:prstGeom prst="roundRect">
            <a:avLst>
              <a:gd name="adj" fmla="val 7273"/>
            </a:avLst>
          </a:prstGeom>
          <a:solidFill>
            <a:srgbClr val="FFFFFF"/>
          </a:solidFill>
          <a:ln w="9525">
            <a:solidFill>
              <a:srgbClr val="C3D3E8"/>
            </a:solidFill>
            <a:prstDash val="solid"/>
          </a:ln>
        </p:spPr>
      </p:sp>
      <p:sp>
        <p:nvSpPr>
          <p:cNvPr id="15" name="teks-366"/>
          <p:cNvSpPr txBox="1"/>
          <p:nvPr/>
        </p:nvSpPr>
        <p:spPr>
          <a:xfrm>
            <a:off x="4727448" y="1115568"/>
            <a:ext cx="1280160" cy="237744"/>
          </a:xfrm>
          <a:prstGeom prst="rect">
            <a:avLst/>
          </a:prstGeom>
          <a:noFill/>
          <a:ln/>
        </p:spPr>
        <p:txBody>
          <a:bodyPr wrap="square" lIns="0" tIns="0" rIns="0" bIns="0" rtlCol="0" anchor="ctr"/>
          <a:lstStyle/>
          <a:p>
            <a:pPr indent="0" marL="0">
              <a:buNone/>
            </a:pPr>
            <a:r>
              <a:rPr lang="en-US" sz="1100" b="1" dirty="0">
                <a:solidFill>
                  <a:srgbClr val="C8452F"/>
                </a:solidFill>
                <a:latin typeface="Arial" pitchFamily="34" charset="0"/>
                <a:ea typeface="Arial" pitchFamily="34" charset="-122"/>
                <a:cs typeface="Arial" pitchFamily="34" charset="-120"/>
              </a:rPr>
              <a:t>10,9%</a:t>
            </a:r>
            <a:endParaRPr lang="en-US" sz="1100" dirty="0"/>
          </a:p>
        </p:txBody>
      </p:sp>
      <p:sp>
        <p:nvSpPr>
          <p:cNvPr id="16" name="teks-367"/>
          <p:cNvSpPr txBox="1"/>
          <p:nvPr/>
        </p:nvSpPr>
        <p:spPr>
          <a:xfrm>
            <a:off x="4727448" y="1371600"/>
            <a:ext cx="1298448" cy="201168"/>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IRR ekuitas (&lt; 15%)</a:t>
            </a:r>
            <a:endParaRPr lang="en-US" sz="630" dirty="0"/>
          </a:p>
        </p:txBody>
      </p:sp>
      <p:sp>
        <p:nvSpPr>
          <p:cNvPr id="17" name="kotak-368"/>
          <p:cNvSpPr/>
          <p:nvPr/>
        </p:nvSpPr>
        <p:spPr>
          <a:xfrm>
            <a:off x="6108192" y="1097280"/>
            <a:ext cx="1389888" cy="502920"/>
          </a:xfrm>
          <a:prstGeom prst="roundRect">
            <a:avLst>
              <a:gd name="adj" fmla="val 7273"/>
            </a:avLst>
          </a:prstGeom>
          <a:solidFill>
            <a:srgbClr val="FFFFFF"/>
          </a:solidFill>
          <a:ln w="9525">
            <a:solidFill>
              <a:srgbClr val="C3D3E8"/>
            </a:solidFill>
            <a:prstDash val="solid"/>
          </a:ln>
        </p:spPr>
      </p:sp>
      <p:sp>
        <p:nvSpPr>
          <p:cNvPr id="18" name="teks-369"/>
          <p:cNvSpPr txBox="1"/>
          <p:nvPr/>
        </p:nvSpPr>
        <p:spPr>
          <a:xfrm>
            <a:off x="6163056" y="1115568"/>
            <a:ext cx="1280160" cy="237744"/>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7,1 th</a:t>
            </a:r>
            <a:endParaRPr lang="en-US" sz="1100" dirty="0"/>
          </a:p>
        </p:txBody>
      </p:sp>
      <p:sp>
        <p:nvSpPr>
          <p:cNvPr id="19" name="teks-370"/>
          <p:cNvSpPr txBox="1"/>
          <p:nvPr/>
        </p:nvSpPr>
        <p:spPr>
          <a:xfrm>
            <a:off x="6163056" y="1371600"/>
            <a:ext cx="1298448" cy="201168"/>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payback; terdiskonto 18,8</a:t>
            </a:r>
            <a:endParaRPr lang="en-US" sz="630" dirty="0"/>
          </a:p>
        </p:txBody>
      </p:sp>
      <p:sp>
        <p:nvSpPr>
          <p:cNvPr id="20" name="kotak-371"/>
          <p:cNvSpPr/>
          <p:nvPr/>
        </p:nvSpPr>
        <p:spPr>
          <a:xfrm>
            <a:off x="7543800" y="1097280"/>
            <a:ext cx="1389888" cy="502920"/>
          </a:xfrm>
          <a:prstGeom prst="roundRect">
            <a:avLst>
              <a:gd name="adj" fmla="val 7273"/>
            </a:avLst>
          </a:prstGeom>
          <a:solidFill>
            <a:srgbClr val="FFFFFF"/>
          </a:solidFill>
          <a:ln w="9525">
            <a:solidFill>
              <a:srgbClr val="C3D3E8"/>
            </a:solidFill>
            <a:prstDash val="solid"/>
          </a:ln>
        </p:spPr>
      </p:sp>
      <p:sp>
        <p:nvSpPr>
          <p:cNvPr id="21" name="teks-372"/>
          <p:cNvSpPr txBox="1"/>
          <p:nvPr/>
        </p:nvSpPr>
        <p:spPr>
          <a:xfrm>
            <a:off x="7598664" y="1115568"/>
            <a:ext cx="1280160" cy="237744"/>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1,31</a:t>
            </a:r>
            <a:endParaRPr lang="en-US" sz="1100" dirty="0"/>
          </a:p>
        </p:txBody>
      </p:sp>
      <p:sp>
        <p:nvSpPr>
          <p:cNvPr id="22" name="teks-373"/>
          <p:cNvSpPr txBox="1"/>
          <p:nvPr/>
        </p:nvSpPr>
        <p:spPr>
          <a:xfrm>
            <a:off x="7598664" y="1371600"/>
            <a:ext cx="1298448" cy="201168"/>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DSCR minimum (sizing 1,30)</a:t>
            </a:r>
            <a:endParaRPr lang="en-US" sz="630" dirty="0"/>
          </a:p>
        </p:txBody>
      </p:sp>
      <p:sp>
        <p:nvSpPr>
          <p:cNvPr id="23" name="kotak-374"/>
          <p:cNvSpPr/>
          <p:nvPr/>
        </p:nvSpPr>
        <p:spPr>
          <a:xfrm>
            <a:off x="8979408" y="1097280"/>
            <a:ext cx="1389888" cy="502920"/>
          </a:xfrm>
          <a:prstGeom prst="roundRect">
            <a:avLst>
              <a:gd name="adj" fmla="val 7273"/>
            </a:avLst>
          </a:prstGeom>
          <a:solidFill>
            <a:srgbClr val="FFFFFF"/>
          </a:solidFill>
          <a:ln w="9525">
            <a:solidFill>
              <a:srgbClr val="C3D3E8"/>
            </a:solidFill>
            <a:prstDash val="solid"/>
          </a:ln>
        </p:spPr>
      </p:sp>
      <p:sp>
        <p:nvSpPr>
          <p:cNvPr id="24" name="teks-375"/>
          <p:cNvSpPr txBox="1"/>
          <p:nvPr/>
        </p:nvSpPr>
        <p:spPr>
          <a:xfrm>
            <a:off x="9034272" y="1115568"/>
            <a:ext cx="1280160" cy="237744"/>
          </a:xfrm>
          <a:prstGeom prst="rect">
            <a:avLst/>
          </a:prstGeom>
          <a:noFill/>
          <a:ln/>
        </p:spPr>
        <p:txBody>
          <a:bodyPr wrap="square" lIns="0" tIns="0" rIns="0" bIns="0" rtlCol="0" anchor="ctr"/>
          <a:lstStyle/>
          <a:p>
            <a:pPr indent="0" marL="0">
              <a:buNone/>
            </a:pPr>
            <a:r>
              <a:rPr lang="en-US" sz="1100" b="1" dirty="0">
                <a:solidFill>
                  <a:srgbClr val="244C9C"/>
                </a:solidFill>
                <a:latin typeface="Arial" pitchFamily="34" charset="0"/>
                <a:ea typeface="Arial" pitchFamily="34" charset="-122"/>
                <a:cs typeface="Arial" pitchFamily="34" charset="-120"/>
              </a:rPr>
              <a:t>USD 0,186</a:t>
            </a:r>
            <a:endParaRPr lang="en-US" sz="1100" dirty="0"/>
          </a:p>
        </p:txBody>
      </p:sp>
      <p:sp>
        <p:nvSpPr>
          <p:cNvPr id="25" name="teks-376"/>
          <p:cNvSpPr txBox="1"/>
          <p:nvPr/>
        </p:nvSpPr>
        <p:spPr>
          <a:xfrm>
            <a:off x="9034272" y="1371600"/>
            <a:ext cx="1298448" cy="201168"/>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LCOE per kWh</a:t>
            </a:r>
            <a:endParaRPr lang="en-US" sz="630" dirty="0"/>
          </a:p>
        </p:txBody>
      </p:sp>
      <p:sp>
        <p:nvSpPr>
          <p:cNvPr id="26" name="kotak-377"/>
          <p:cNvSpPr/>
          <p:nvPr/>
        </p:nvSpPr>
        <p:spPr>
          <a:xfrm>
            <a:off x="10415016" y="1097280"/>
            <a:ext cx="1389888" cy="502920"/>
          </a:xfrm>
          <a:prstGeom prst="roundRect">
            <a:avLst>
              <a:gd name="adj" fmla="val 7273"/>
            </a:avLst>
          </a:prstGeom>
          <a:solidFill>
            <a:srgbClr val="FFFFFF"/>
          </a:solidFill>
          <a:ln w="9525">
            <a:solidFill>
              <a:srgbClr val="C3D3E8"/>
            </a:solidFill>
            <a:prstDash val="solid"/>
          </a:ln>
        </p:spPr>
      </p:sp>
      <p:sp>
        <p:nvSpPr>
          <p:cNvPr id="27" name="teks-378"/>
          <p:cNvSpPr txBox="1"/>
          <p:nvPr/>
        </p:nvSpPr>
        <p:spPr>
          <a:xfrm>
            <a:off x="10469880" y="1115568"/>
            <a:ext cx="1280160" cy="237744"/>
          </a:xfrm>
          <a:prstGeom prst="rect">
            <a:avLst/>
          </a:prstGeom>
          <a:noFill/>
          <a:ln/>
        </p:spPr>
        <p:txBody>
          <a:bodyPr wrap="square" lIns="0" tIns="0" rIns="0" bIns="0" rtlCol="0" anchor="ctr"/>
          <a:lstStyle/>
          <a:p>
            <a:pPr indent="0" marL="0">
              <a:buNone/>
            </a:pPr>
            <a:r>
              <a:rPr lang="en-US" sz="1100" b="1" dirty="0">
                <a:solidFill>
                  <a:srgbClr val="C8452F"/>
                </a:solidFill>
                <a:latin typeface="Arial" pitchFamily="34" charset="0"/>
                <a:ea typeface="Arial" pitchFamily="34" charset="-122"/>
                <a:cs typeface="Arial" pitchFamily="34" charset="-120"/>
              </a:rPr>
              <a:t>25%</a:t>
            </a:r>
            <a:endParaRPr lang="en-US" sz="1100" dirty="0"/>
          </a:p>
        </p:txBody>
      </p:sp>
      <p:sp>
        <p:nvSpPr>
          <p:cNvPr id="28" name="teks-379"/>
          <p:cNvSpPr txBox="1"/>
          <p:nvPr/>
        </p:nvSpPr>
        <p:spPr>
          <a:xfrm>
            <a:off x="10469880" y="1371600"/>
            <a:ext cx="1298448" cy="201168"/>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P(NPV &gt; 0), MC 4.000</a:t>
            </a:r>
            <a:endParaRPr lang="en-US" sz="630" dirty="0"/>
          </a:p>
        </p:txBody>
      </p:sp>
      <p:sp>
        <p:nvSpPr>
          <p:cNvPr id="29" name="teks-380"/>
          <p:cNvSpPr txBox="1"/>
          <p:nvPr/>
        </p:nvSpPr>
        <p:spPr>
          <a:xfrm>
            <a:off x="365760" y="1645920"/>
            <a:ext cx="11475720" cy="320040"/>
          </a:xfrm>
          <a:prstGeom prst="rect">
            <a:avLst/>
          </a:prstGeom>
          <a:noFill/>
          <a:ln/>
        </p:spPr>
        <p:txBody>
          <a:bodyPr wrap="square" lIns="0" tIns="0" rIns="0" bIns="0" rtlCol="0" anchor="t"/>
          <a:lstStyle/>
          <a:p>
            <a:pPr indent="0" marL="0">
              <a:buNone/>
            </a:pPr>
            <a:r>
              <a:rPr lang="en-US" sz="650" dirty="0">
                <a:solidFill>
                  <a:srgbClr val="587888"/>
                </a:solidFill>
                <a:latin typeface="Calibri" pitchFamily="34" charset="0"/>
                <a:ea typeface="Calibri" pitchFamily="34" charset="-122"/>
                <a:cs typeface="Calibri" pitchFamily="34" charset="-120"/>
              </a:rPr>
              <a:t>Dasar: 60 t TBS/jam + PM-12, umur 20 tahun (2028–2047), USD nominal, inflasi 2%, pajak 22% (PP 78/2019: penyusutan 8 tahun, tax allowance 30%), utang 58% pada 8% (10 tahun), ekuitas 15%, solar tergantikan 2,0 L/t TBS pada Rp 21.000/L, tarif PLN 9,81 USc (tahun 1–10), fee USD 1,25/t TBS, listrik PKS USD 0,20/kWh, karbon USD 5/t. Excel berumus hidup sama dengan model Python (selisih 0,00).</a:t>
            </a:r>
            <a:endParaRPr lang="en-US" sz="650" dirty="0"/>
          </a:p>
        </p:txBody>
      </p:sp>
      <p:sp>
        <p:nvSpPr>
          <p:cNvPr id="30" name="teks-381"/>
          <p:cNvSpPr txBox="1"/>
          <p:nvPr/>
        </p:nvSpPr>
        <p:spPr>
          <a:xfrm>
            <a:off x="365760" y="2011680"/>
            <a:ext cx="39319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Arus kas proyek (USD juta)</a:t>
            </a:r>
            <a:endParaRPr lang="en-US" sz="850" dirty="0"/>
          </a:p>
        </p:txBody>
      </p:sp>
      <p:sp>
        <p:nvSpPr>
          <p:cNvPr id="31" name="garis-382"/>
          <p:cNvSpPr/>
          <p:nvPr/>
        </p:nvSpPr>
        <p:spPr>
          <a:xfrm>
            <a:off x="365760" y="2203704"/>
            <a:ext cx="3931920" cy="0"/>
          </a:xfrm>
          <a:prstGeom prst="line">
            <a:avLst/>
          </a:prstGeom>
          <a:noFill/>
          <a:ln w="15875">
            <a:solidFill>
              <a:srgbClr val="64BC54"/>
            </a:solidFill>
            <a:prstDash val="solid"/>
          </a:ln>
        </p:spPr>
      </p:sp>
      <p:graphicFrame>
        <p:nvGraphicFramePr>
          <p:cNvPr id="32" name="Chart 0" descr=""/>
          <p:cNvGraphicFramePr/>
          <p:nvPr/>
        </p:nvGraphicFramePr>
        <p:xfrm>
          <a:off x="320040" y="2212848"/>
          <a:ext cx="4023360" cy="1965960"/>
        </p:xfrm>
        <a:graphic xmlns:a="http://schemas.openxmlformats.org/drawingml/2006/main">
          <a:graphicData uri="http://schemas.openxmlformats.org/drawingml/2006/chart">
            <c:chart xmlns:c="http://schemas.openxmlformats.org/drawingml/2006/chart" r:id="rId1"/>
          </a:graphicData>
        </a:graphic>
      </p:graphicFrame>
      <p:sp>
        <p:nvSpPr>
          <p:cNvPr id="33" name="teks-383"/>
          <p:cNvSpPr txBox="1"/>
          <p:nvPr/>
        </p:nvSpPr>
        <p:spPr>
          <a:xfrm>
            <a:off x="4434840" y="2011680"/>
            <a:ext cx="37490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Tornado NPV (USD juta): buruk ↔ baik</a:t>
            </a:r>
            <a:endParaRPr lang="en-US" sz="850" dirty="0"/>
          </a:p>
        </p:txBody>
      </p:sp>
      <p:sp>
        <p:nvSpPr>
          <p:cNvPr id="34" name="garis-384"/>
          <p:cNvSpPr/>
          <p:nvPr/>
        </p:nvSpPr>
        <p:spPr>
          <a:xfrm>
            <a:off x="4434840" y="2203704"/>
            <a:ext cx="3749040" cy="0"/>
          </a:xfrm>
          <a:prstGeom prst="line">
            <a:avLst/>
          </a:prstGeom>
          <a:noFill/>
          <a:ln w="15875">
            <a:solidFill>
              <a:srgbClr val="64BC54"/>
            </a:solidFill>
            <a:prstDash val="solid"/>
          </a:ln>
        </p:spPr>
      </p:sp>
      <p:graphicFrame>
        <p:nvGraphicFramePr>
          <p:cNvPr id="35" name="Chart 1" descr=""/>
          <p:cNvGraphicFramePr/>
          <p:nvPr/>
        </p:nvGraphicFramePr>
        <p:xfrm>
          <a:off x="4389120" y="2212848"/>
          <a:ext cx="3840480" cy="1965960"/>
        </p:xfrm>
        <a:graphic xmlns:a="http://schemas.openxmlformats.org/drawingml/2006/main">
          <a:graphicData uri="http://schemas.openxmlformats.org/drawingml/2006/chart">
            <c:chart xmlns:c="http://schemas.openxmlformats.org/drawingml/2006/chart" r:id="rId2"/>
          </a:graphicData>
        </a:graphic>
      </p:graphicFrame>
      <p:sp>
        <p:nvSpPr>
          <p:cNvPr id="36" name="teks-385"/>
          <p:cNvSpPr txBox="1"/>
          <p:nvPr/>
        </p:nvSpPr>
        <p:spPr>
          <a:xfrm>
            <a:off x="8366760" y="2011680"/>
            <a:ext cx="34747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Monte Carlo: P(NPV &gt; 0) per gerbang de-risking</a:t>
            </a:r>
            <a:endParaRPr lang="en-US" sz="850" dirty="0"/>
          </a:p>
        </p:txBody>
      </p:sp>
      <p:sp>
        <p:nvSpPr>
          <p:cNvPr id="37" name="garis-386"/>
          <p:cNvSpPr/>
          <p:nvPr/>
        </p:nvSpPr>
        <p:spPr>
          <a:xfrm>
            <a:off x="8366760" y="2203704"/>
            <a:ext cx="3474720" cy="0"/>
          </a:xfrm>
          <a:prstGeom prst="line">
            <a:avLst/>
          </a:prstGeom>
          <a:noFill/>
          <a:ln w="15875">
            <a:solidFill>
              <a:srgbClr val="64BC54"/>
            </a:solidFill>
            <a:prstDash val="solid"/>
          </a:ln>
        </p:spPr>
      </p:sp>
      <p:graphicFrame>
        <p:nvGraphicFramePr>
          <p:cNvPr id="38" name="Chart 2" descr=""/>
          <p:cNvGraphicFramePr/>
          <p:nvPr/>
        </p:nvGraphicFramePr>
        <p:xfrm>
          <a:off x="8321040" y="2212848"/>
          <a:ext cx="3566160" cy="1965960"/>
        </p:xfrm>
        <a:graphic xmlns:a="http://schemas.openxmlformats.org/drawingml/2006/main">
          <a:graphicData uri="http://schemas.openxmlformats.org/drawingml/2006/chart">
            <c:chart xmlns:c="http://schemas.openxmlformats.org/drawingml/2006/chart" r:id="rId3"/>
          </a:graphicData>
        </a:graphic>
      </p:graphicFrame>
      <p:sp>
        <p:nvSpPr>
          <p:cNvPr id="39" name="teks-387"/>
          <p:cNvSpPr txBox="1"/>
          <p:nvPr/>
        </p:nvSpPr>
        <p:spPr>
          <a:xfrm>
            <a:off x="365760" y="4251960"/>
            <a:ext cx="292608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CAPEX bottom-up (USD juta, 2026)</a:t>
            </a:r>
            <a:endParaRPr lang="en-US" sz="850" dirty="0"/>
          </a:p>
        </p:txBody>
      </p:sp>
      <p:sp>
        <p:nvSpPr>
          <p:cNvPr id="40" name="garis-388"/>
          <p:cNvSpPr/>
          <p:nvPr/>
        </p:nvSpPr>
        <p:spPr>
          <a:xfrm>
            <a:off x="365760" y="4443984"/>
            <a:ext cx="2926080" cy="0"/>
          </a:xfrm>
          <a:prstGeom prst="line">
            <a:avLst/>
          </a:prstGeom>
          <a:noFill/>
          <a:ln w="15875">
            <a:solidFill>
              <a:srgbClr val="64BC54"/>
            </a:solidFill>
            <a:prstDash val="solid"/>
          </a:ln>
        </p:spPr>
      </p:sp>
      <p:graphicFrame>
        <p:nvGraphicFramePr>
          <p:cNvPr id="8" name="tabel-389"/>
          <p:cNvGraphicFramePr>
            <a:graphicFrameLocks noGrp="1"/>
          </p:cNvGraphicFramePr>
          <p:nvPr>
            <p:extLst>
              <p:ext uri="{D42A27DB-BD31-4B8C-83A1-F6EECF244321}">
                <p14:modId xmlns:p14="http://schemas.microsoft.com/office/powerpoint/2010/main" val="1579011935"/>
              </p:ext>
            </p:extLst>
          </p:nvPr>
        </p:nvGraphicFramePr>
        <p:xfrm>
          <a:off x="365760" y="4480560"/>
          <a:ext cx="2926080" cy="914400"/>
        </p:xfrm>
        <a:graphic>
          <a:graphicData uri="http://schemas.openxmlformats.org/drawingml/2006/table">
            <a:tbl>
              <a:tblPr/>
              <a:tblGrid>
                <a:gridCol w="2286000"/>
                <a:gridCol w="640080"/>
              </a:tblGrid>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Peralatan terbeli (PEC)</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3,65</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Langsung: sipil, ereksi, lokasi, interkoneksi</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0,82</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Tak langsung: rekayasa 6%, izin, start-up</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0,31</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Kontingensi 20%</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0,96</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FCI 2026 (+ eskalasi, PPN, IDC)</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b="1" dirty="0">
                          <a:solidFill>
                            <a:srgbClr val="14213D"/>
                          </a:solidFill>
                          <a:latin typeface="Calibri" pitchFamily="34" charset="0"/>
                          <a:ea typeface="Calibri" pitchFamily="34" charset="-122"/>
                          <a:cs typeface="Calibri" pitchFamily="34" charset="-120"/>
                        </a:rPr>
                        <a:t>5,74</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42" name="teks-390"/>
          <p:cNvSpPr txBox="1"/>
          <p:nvPr/>
        </p:nvSpPr>
        <p:spPr>
          <a:xfrm>
            <a:off x="365760" y="5532120"/>
            <a:ext cx="2926080" cy="274320"/>
          </a:xfrm>
          <a:prstGeom prst="rect">
            <a:avLst/>
          </a:prstGeom>
          <a:noFill/>
          <a:ln/>
        </p:spPr>
        <p:txBody>
          <a:bodyPr wrap="square" lIns="0" tIns="0" rIns="0" bIns="0" rtlCol="0" anchor="t"/>
          <a:lstStyle/>
          <a:p>
            <a:pPr indent="0" marL="0">
              <a:buNone/>
            </a:pPr>
            <a:r>
              <a:rPr lang="en-US" sz="620" i="1" dirty="0">
                <a:solidFill>
                  <a:srgbClr val="587888"/>
                </a:solidFill>
                <a:latin typeface="Calibri" pitchFamily="34" charset="0"/>
                <a:ea typeface="Calibri" pitchFamily="34" charset="-122"/>
                <a:cs typeface="Calibri" pitchFamily="34" charset="-120"/>
              </a:rPr>
              <a:t>USD 3.587/kWe terpasang vs tangki CSTR USD 2.600; GFS USD 200/m³ belum dikuotasi.</a:t>
            </a:r>
            <a:endParaRPr lang="en-US" sz="620" dirty="0"/>
          </a:p>
        </p:txBody>
      </p:sp>
      <p:sp>
        <p:nvSpPr>
          <p:cNvPr id="43" name="teks-391"/>
          <p:cNvSpPr txBox="1"/>
          <p:nvPr/>
        </p:nvSpPr>
        <p:spPr>
          <a:xfrm>
            <a:off x="3429000" y="4251960"/>
            <a:ext cx="310896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Pendapatan dan biaya tahun penuh (USD ribu)</a:t>
            </a:r>
            <a:endParaRPr lang="en-US" sz="850" dirty="0"/>
          </a:p>
        </p:txBody>
      </p:sp>
      <p:sp>
        <p:nvSpPr>
          <p:cNvPr id="44" name="garis-392"/>
          <p:cNvSpPr/>
          <p:nvPr/>
        </p:nvSpPr>
        <p:spPr>
          <a:xfrm>
            <a:off x="3429000" y="4443984"/>
            <a:ext cx="3108960" cy="0"/>
          </a:xfrm>
          <a:prstGeom prst="line">
            <a:avLst/>
          </a:prstGeom>
          <a:noFill/>
          <a:ln w="15875">
            <a:solidFill>
              <a:srgbClr val="64BC54"/>
            </a:solidFill>
            <a:prstDash val="solid"/>
          </a:ln>
        </p:spPr>
      </p:sp>
      <p:graphicFrame>
        <p:nvGraphicFramePr>
          <p:cNvPr id="15" name="tabel-393"/>
          <p:cNvGraphicFramePr>
            <a:graphicFrameLocks noGrp="1"/>
          </p:cNvGraphicFramePr>
          <p:nvPr>
            <p:extLst>
              <p:ext uri="{D42A27DB-BD31-4B8C-83A1-F6EECF244321}">
                <p14:modId xmlns:p14="http://schemas.microsoft.com/office/powerpoint/2010/main" val="1579011935"/>
              </p:ext>
            </p:extLst>
          </p:nvPr>
        </p:nvGraphicFramePr>
        <p:xfrm>
          <a:off x="3429000" y="4480560"/>
          <a:ext cx="3108960" cy="914400"/>
        </p:xfrm>
        <a:graphic>
          <a:graphicData uri="http://schemas.openxmlformats.org/drawingml/2006/table">
            <a:tbl>
              <a:tblPr/>
              <a:tblGrid>
                <a:gridCol w="2377440"/>
                <a:gridCol w="731520"/>
              </a:tblGrid>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Jasa POME</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365</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Listrik ke PKS</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336</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Ekspor PLN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490</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Karbon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145</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Pendapatan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b="1" dirty="0">
                          <a:solidFill>
                            <a:srgbClr val="14213D"/>
                          </a:solidFill>
                          <a:latin typeface="Calibri" pitchFamily="34" charset="0"/>
                          <a:ea typeface="Calibri" pitchFamily="34" charset="-122"/>
                          <a:cs typeface="Calibri" pitchFamily="34" charset="-120"/>
                        </a:rPr>
                        <a:t>1.336</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OPEX + MRV</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dirty="0">
                          <a:solidFill>
                            <a:srgbClr val="14213D"/>
                          </a:solidFill>
                          <a:latin typeface="Calibri" pitchFamily="34" charset="0"/>
                          <a:ea typeface="Calibri" pitchFamily="34" charset="-122"/>
                          <a:cs typeface="Calibri" pitchFamily="34" charset="-120"/>
                        </a:rPr>
                        <a:t>−429</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01168">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EBITDA</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50" b="1" dirty="0">
                          <a:solidFill>
                            <a:srgbClr val="14213D"/>
                          </a:solidFill>
                          <a:latin typeface="Calibri" pitchFamily="34" charset="0"/>
                          <a:ea typeface="Calibri" pitchFamily="34" charset="-122"/>
                          <a:cs typeface="Calibri" pitchFamily="34" charset="-120"/>
                        </a:rPr>
                        <a:t>907</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46" name="teks-394"/>
          <p:cNvSpPr txBox="1"/>
          <p:nvPr/>
        </p:nvSpPr>
        <p:spPr>
          <a:xfrm>
            <a:off x="3429000" y="5943600"/>
            <a:ext cx="3108960" cy="274320"/>
          </a:xfrm>
          <a:prstGeom prst="rect">
            <a:avLst/>
          </a:prstGeom>
          <a:noFill/>
          <a:ln/>
        </p:spPr>
        <p:txBody>
          <a:bodyPr wrap="square" lIns="0" tIns="0" rIns="0" bIns="0" rtlCol="0" anchor="t"/>
          <a:lstStyle/>
          <a:p>
            <a:pPr indent="0" marL="0">
              <a:buNone/>
            </a:pPr>
            <a:r>
              <a:rPr lang="en-US" sz="630" b="1" dirty="0">
                <a:solidFill>
                  <a:srgbClr val="0C2464"/>
                </a:solidFill>
                <a:latin typeface="Calibri" pitchFamily="34" charset="0"/>
                <a:ea typeface="Calibri" pitchFamily="34" charset="-122"/>
                <a:cs typeface="Calibri" pitchFamily="34" charset="-120"/>
              </a:rPr>
              <a:t>Impas: fee USD 1,19/t TBS; tarif PLN 9,29 USc; karbon USD 4,0/t; produksi gas 91%; CAPEX +2%.</a:t>
            </a:r>
            <a:endParaRPr lang="en-US" sz="630" dirty="0"/>
          </a:p>
        </p:txBody>
      </p:sp>
      <p:sp>
        <p:nvSpPr>
          <p:cNvPr id="47" name="teks-395"/>
          <p:cNvSpPr txBox="1"/>
          <p:nvPr/>
        </p:nvSpPr>
        <p:spPr>
          <a:xfrm>
            <a:off x="6675120" y="4251960"/>
            <a:ext cx="516636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Skala minimum layak: NPV (USD juta) vs fee</a:t>
            </a:r>
            <a:endParaRPr lang="en-US" sz="850" dirty="0"/>
          </a:p>
        </p:txBody>
      </p:sp>
      <p:sp>
        <p:nvSpPr>
          <p:cNvPr id="48" name="garis-396"/>
          <p:cNvSpPr/>
          <p:nvPr/>
        </p:nvSpPr>
        <p:spPr>
          <a:xfrm>
            <a:off x="6675120" y="4443984"/>
            <a:ext cx="5166360" cy="0"/>
          </a:xfrm>
          <a:prstGeom prst="line">
            <a:avLst/>
          </a:prstGeom>
          <a:noFill/>
          <a:ln w="15875">
            <a:solidFill>
              <a:srgbClr val="64BC54"/>
            </a:solidFill>
            <a:prstDash val="solid"/>
          </a:ln>
        </p:spPr>
      </p:sp>
      <p:graphicFrame>
        <p:nvGraphicFramePr>
          <p:cNvPr id="22" name="tabel-397"/>
          <p:cNvGraphicFramePr>
            <a:graphicFrameLocks noGrp="1"/>
          </p:cNvGraphicFramePr>
          <p:nvPr>
            <p:extLst>
              <p:ext uri="{D42A27DB-BD31-4B8C-83A1-F6EECF244321}">
                <p14:modId xmlns:p14="http://schemas.microsoft.com/office/powerpoint/2010/main" val="1579011935"/>
              </p:ext>
            </p:extLst>
          </p:nvPr>
        </p:nvGraphicFramePr>
        <p:xfrm>
          <a:off x="6675120" y="4480560"/>
          <a:ext cx="5166360" cy="914400"/>
        </p:xfrm>
        <a:graphic>
          <a:graphicData uri="http://schemas.openxmlformats.org/drawingml/2006/table">
            <a:tbl>
              <a:tblPr/>
              <a:tblGrid>
                <a:gridCol w="1508760"/>
                <a:gridCol w="731520"/>
                <a:gridCol w="731520"/>
                <a:gridCol w="731520"/>
                <a:gridCol w="731520"/>
                <a:gridCol w="731520"/>
              </a:tblGrid>
              <a:tr h="210312">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t TBS/jam \ fee (USD/t)</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0,75</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1,00</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1,25</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1,50</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1,75</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10312">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30</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−1,76</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−1,43</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−1,12</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−0,83</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−0,54</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r>
              <a:tr h="210312">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45</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−1,41</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−0,97</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−0,55</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−0,12</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3E8E41"/>
                          </a:solidFill>
                          <a:latin typeface="Calibri" pitchFamily="34" charset="0"/>
                          <a:ea typeface="Calibri" pitchFamily="34" charset="-122"/>
                          <a:cs typeface="Calibri" pitchFamily="34" charset="-120"/>
                        </a:rPr>
                        <a:t>0,30</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E3F3DD"/>
                    </a:solidFill>
                  </a:tcPr>
                </a:tc>
              </a:tr>
              <a:tr h="210312">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60</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−1,00</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C8452F"/>
                          </a:solidFill>
                          <a:latin typeface="Calibri" pitchFamily="34" charset="0"/>
                          <a:ea typeface="Calibri" pitchFamily="34" charset="-122"/>
                          <a:cs typeface="Calibri" pitchFamily="34" charset="-120"/>
                        </a:rPr>
                        <a:t>−0,43</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BE6E2"/>
                    </a:solidFill>
                  </a:tcPr>
                </a:tc>
                <a:tc>
                  <a:txBody>
                    <a:bodyPr/>
                    <a:lstStyle/>
                    <a:p>
                      <a:pPr algn="ctr" indent="0" marL="0">
                        <a:buNone/>
                      </a:pPr>
                      <a:r>
                        <a:rPr lang="en-US" sz="680" b="1" dirty="0">
                          <a:solidFill>
                            <a:srgbClr val="3E8E41"/>
                          </a:solidFill>
                          <a:latin typeface="Calibri" pitchFamily="34" charset="0"/>
                          <a:ea typeface="Calibri" pitchFamily="34" charset="-122"/>
                          <a:cs typeface="Calibri" pitchFamily="34" charset="-120"/>
                        </a:rPr>
                        <a:t>0,13</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E3F3DD"/>
                    </a:solidFill>
                  </a:tcPr>
                </a:tc>
                <a:tc>
                  <a:txBody>
                    <a:bodyPr/>
                    <a:lstStyle/>
                    <a:p>
                      <a:pPr algn="ctr" indent="0" marL="0">
                        <a:buNone/>
                      </a:pPr>
                      <a:r>
                        <a:rPr lang="en-US" sz="680" b="1" dirty="0">
                          <a:solidFill>
                            <a:srgbClr val="3E8E41"/>
                          </a:solidFill>
                          <a:latin typeface="Calibri" pitchFamily="34" charset="0"/>
                          <a:ea typeface="Calibri" pitchFamily="34" charset="-122"/>
                          <a:cs typeface="Calibri" pitchFamily="34" charset="-120"/>
                        </a:rPr>
                        <a:t>0,69</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E3F3DD"/>
                    </a:solidFill>
                  </a:tcPr>
                </a:tc>
                <a:tc>
                  <a:txBody>
                    <a:bodyPr/>
                    <a:lstStyle/>
                    <a:p>
                      <a:pPr algn="ctr" indent="0" marL="0">
                        <a:buNone/>
                      </a:pPr>
                      <a:r>
                        <a:rPr lang="en-US" sz="680" b="1" dirty="0">
                          <a:solidFill>
                            <a:srgbClr val="3E8E41"/>
                          </a:solidFill>
                          <a:latin typeface="Calibri" pitchFamily="34" charset="0"/>
                          <a:ea typeface="Calibri" pitchFamily="34" charset="-122"/>
                          <a:cs typeface="Calibri" pitchFamily="34" charset="-120"/>
                        </a:rPr>
                        <a:t>1,24</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E3F3DD"/>
                    </a:solidFill>
                  </a:tcPr>
                </a:tc>
              </a:tr>
            </a:tbl>
          </a:graphicData>
        </a:graphic>
      </p:graphicFrame>
      <p:graphicFrame>
        <p:nvGraphicFramePr>
          <p:cNvPr id="29" name="tabel-398"/>
          <p:cNvGraphicFramePr>
            <a:graphicFrameLocks noGrp="1"/>
          </p:cNvGraphicFramePr>
          <p:nvPr>
            <p:extLst>
              <p:ext uri="{D42A27DB-BD31-4B8C-83A1-F6EECF244321}">
                <p14:modId xmlns:p14="http://schemas.microsoft.com/office/powerpoint/2010/main" val="1579011935"/>
              </p:ext>
            </p:extLst>
          </p:nvPr>
        </p:nvGraphicFramePr>
        <p:xfrm>
          <a:off x="6675120" y="5394960"/>
          <a:ext cx="5166360" cy="914400"/>
        </p:xfrm>
        <a:graphic>
          <a:graphicData uri="http://schemas.openxmlformats.org/drawingml/2006/table">
            <a:tbl>
              <a:tblPr/>
              <a:tblGrid>
                <a:gridCol w="2926080"/>
                <a:gridCol w="731520"/>
                <a:gridCol w="731520"/>
                <a:gridCol w="777240"/>
              </a:tblGrid>
              <a:tr h="155448">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Skenario</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NPV</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IRR</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DSCR</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155448">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Kasus target (solar tergantikan 3,0 L/t)</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0,86</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12,0%</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1,48</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55448">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Tanpa tangki ekualisasi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0,05</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10,0%</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1,31</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55448">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Solar tergantikan 1,0 L/t</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−0,66</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8,1%</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1,14</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55448">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Tarif excess power 7,44 USc</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−0,59</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8,4%</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1,07</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55448">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CAPEX -15% (hasil kuotasi)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1,04</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13,0%</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1,58</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51" name="teks-399"/>
          <p:cNvSpPr txBox="1"/>
          <p:nvPr/>
        </p:nvSpPr>
        <p:spPr>
          <a:xfrm>
            <a:off x="365760" y="6419088"/>
            <a:ext cx="11109960" cy="246888"/>
          </a:xfrm>
          <a:prstGeom prst="rect">
            <a:avLst/>
          </a:prstGeom>
          <a:noFill/>
          <a:ln/>
        </p:spPr>
        <p:txBody>
          <a:bodyPr wrap="square" lIns="0" tIns="0" rIns="0" bIns="0" rtlCol="0" anchor="ctr"/>
          <a:lstStyle/>
          <a:p>
            <a:pPr indent="0" marL="0">
              <a:buNone/>
            </a:pPr>
            <a:r>
              <a:rPr lang="en-US" sz="590" dirty="0">
                <a:solidFill>
                  <a:srgbClr val="587888"/>
                </a:solidFill>
                <a:latin typeface="Calibri" pitchFamily="34" charset="0"/>
                <a:ea typeface="Calibri" pitchFamily="34" charset="-122"/>
                <a:cs typeface="Calibri" pitchFamily="34" charset="-120"/>
              </a:rPr>
              <a:t>Singkatan: FCI biaya modal tetap; FCFF arus kas bebas proyek; WACC biaya modal rata-rata tertimbang; DSCR rasio cakupan layanan utang; LCOE biaya listrik terlevelisasi; MC Monte Carlo; G0–G3 gerbang tahap.</a:t>
            </a:r>
            <a:endParaRPr lang="en-US" sz="590" dirty="0"/>
          </a:p>
          <a:p>
            <a:pPr indent="0" marL="0">
              <a:buNone/>
            </a:pPr>
            <a:r>
              <a:rPr lang="en-US" sz="590" dirty="0">
                <a:solidFill>
                  <a:srgbClr val="587888"/>
                </a:solidFill>
                <a:latin typeface="Calibri" pitchFamily="34" charset="0"/>
                <a:ea typeface="Calibri" pitchFamily="34" charset="-122"/>
                <a:cs typeface="Calibri" pitchFamily="34" charset="-120"/>
              </a:rPr>
              <a:t>Sumber: BG_Model_Keuangan.xlsx (rumus hidup), finance/fin_core.py v4, deck/export_data.py; Monte Carlo 4.000 iterasi (segitiga/lognormal, lihat lembar Monte Carlo); research/R2, R6.</a:t>
            </a:r>
            <a:endParaRPr lang="en-US" sz="59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nomor-400"/>
          <p:cNvSpPr txBox="1"/>
          <p:nvPr/>
        </p:nvSpPr>
        <p:spPr>
          <a:xfrm>
            <a:off x="365760" y="246888"/>
            <a:ext cx="384048" cy="384048"/>
          </a:xfrm>
          <a:prstGeom prst="rect">
            <a:avLst/>
          </a:prstGeom>
          <a:solidFill>
            <a:srgbClr val="0C2464"/>
          </a:solid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08</a:t>
            </a:r>
            <a:endParaRPr lang="en-US" sz="1300" dirty="0"/>
          </a:p>
        </p:txBody>
      </p:sp>
      <p:sp>
        <p:nvSpPr>
          <p:cNvPr id="3" name="kicker-401"/>
          <p:cNvSpPr txBox="1"/>
          <p:nvPr/>
        </p:nvSpPr>
        <p:spPr>
          <a:xfrm>
            <a:off x="841248" y="228600"/>
            <a:ext cx="8686800" cy="182880"/>
          </a:xfrm>
          <a:prstGeom prst="rect">
            <a:avLst/>
          </a:prstGeom>
          <a:noFill/>
          <a:ln/>
        </p:spPr>
        <p:txBody>
          <a:bodyPr wrap="square" lIns="0" tIns="0" rIns="0" bIns="0" rtlCol="0" anchor="ctr"/>
          <a:lstStyle/>
          <a:p>
            <a:pPr indent="0" marL="0">
              <a:buNone/>
            </a:pPr>
            <a:r>
              <a:rPr lang="en-US" sz="850" b="1" dirty="0">
                <a:solidFill>
                  <a:srgbClr val="3E8E41"/>
                </a:solidFill>
                <a:latin typeface="Arial" pitchFamily="34" charset="0"/>
                <a:ea typeface="Arial" pitchFamily="34" charset="-122"/>
                <a:cs typeface="Arial" pitchFamily="34" charset="-120"/>
              </a:rPr>
              <a:t>RENCANA IMPLEMENTASI</a:t>
            </a:r>
            <a:endParaRPr lang="en-US" sz="850" dirty="0"/>
          </a:p>
        </p:txBody>
      </p:sp>
      <p:sp>
        <p:nvSpPr>
          <p:cNvPr id="4" name="Text 0"/>
          <p:cNvSpPr/>
          <p:nvPr>
            <p:ph idx="100" type="title" hasCustomPrompt="1"/>
          </p:nvPr>
        </p:nvSpPr>
        <p:spPr>
          <a:xfrm>
            <a:off x="841248" y="411480"/>
            <a:ext cx="10972800" cy="566928"/>
          </a:xfrm>
          <a:prstGeom prst="rect">
            <a:avLst/>
          </a:prstGeom>
          <a:noFill/>
          <a:ln/>
        </p:spPr>
        <p:txBody>
          <a:bodyPr wrap="square" lIns="0" tIns="0" rIns="0" bIns="0" rtlCol="0" anchor="t"/>
          <a:lstStyle/>
          <a:p>
            <a:pPr algn="l" indent="0" marL="0">
              <a:buNone/>
            </a:pPr>
            <a:r>
              <a:rPr lang="en-US" sz="1600" b="1" dirty="0">
                <a:solidFill>
                  <a:srgbClr val="0C2464"/>
                </a:solidFill>
                <a:latin typeface="Arial" pitchFamily="34" charset="0"/>
                <a:ea typeface="Arial" pitchFamily="34" charset="-122"/>
                <a:cs typeface="Arial" pitchFamily="34" charset="-120"/>
              </a:rPr>
              <a:t>Implementasi: empat gerbang go/no-go dalam 30 bulan menaikkan TRL 4 → 7 dan P(NPV &gt; 0) dari 25% menjadi 45%, dengan anggaran pengembangan USD 1,3 juta</a:t>
            </a:r>
            <a:endParaRPr lang="en-US" sz="1600" dirty="0"/>
          </a:p>
        </p:txBody>
      </p:sp>
      <p:sp>
        <p:nvSpPr>
          <p:cNvPr id="5" name="teks-402"/>
          <p:cNvSpPr txBox="1"/>
          <p:nvPr/>
        </p:nvSpPr>
        <p:spPr>
          <a:xfrm>
            <a:off x="365760" y="1078992"/>
            <a:ext cx="73152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Gantt dan gerbang tahap (kuartal 4/2026 – 2029)</a:t>
            </a:r>
            <a:endParaRPr lang="en-US" sz="850" dirty="0"/>
          </a:p>
        </p:txBody>
      </p:sp>
      <p:sp>
        <p:nvSpPr>
          <p:cNvPr id="6" name="garis-403"/>
          <p:cNvSpPr/>
          <p:nvPr/>
        </p:nvSpPr>
        <p:spPr>
          <a:xfrm>
            <a:off x="365760" y="1271016"/>
            <a:ext cx="7315200" cy="0"/>
          </a:xfrm>
          <a:prstGeom prst="line">
            <a:avLst/>
          </a:prstGeom>
          <a:noFill/>
          <a:ln w="15875">
            <a:solidFill>
              <a:srgbClr val="64BC54"/>
            </a:solidFill>
            <a:prstDash val="solid"/>
          </a:ln>
        </p:spPr>
      </p:sp>
      <p:sp>
        <p:nvSpPr>
          <p:cNvPr id="7" name="kotak-404"/>
          <p:cNvSpPr txBox="1"/>
          <p:nvPr/>
        </p:nvSpPr>
        <p:spPr>
          <a:xfrm>
            <a:off x="2286000"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K4-26</a:t>
            </a:r>
            <a:endParaRPr lang="en-US" sz="600" dirty="0"/>
          </a:p>
        </p:txBody>
      </p:sp>
      <p:sp>
        <p:nvSpPr>
          <p:cNvPr id="8" name="kotak-405"/>
          <p:cNvSpPr txBox="1"/>
          <p:nvPr/>
        </p:nvSpPr>
        <p:spPr>
          <a:xfrm>
            <a:off x="2779776"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K1-27</a:t>
            </a:r>
            <a:endParaRPr lang="en-US" sz="600" dirty="0"/>
          </a:p>
        </p:txBody>
      </p:sp>
      <p:sp>
        <p:nvSpPr>
          <p:cNvPr id="9" name="kotak-406"/>
          <p:cNvSpPr txBox="1"/>
          <p:nvPr/>
        </p:nvSpPr>
        <p:spPr>
          <a:xfrm>
            <a:off x="3273552"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K2</a:t>
            </a:r>
            <a:endParaRPr lang="en-US" sz="600" dirty="0"/>
          </a:p>
        </p:txBody>
      </p:sp>
      <p:sp>
        <p:nvSpPr>
          <p:cNvPr id="10" name="kotak-407"/>
          <p:cNvSpPr txBox="1"/>
          <p:nvPr/>
        </p:nvSpPr>
        <p:spPr>
          <a:xfrm>
            <a:off x="3767328"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K3</a:t>
            </a:r>
            <a:endParaRPr lang="en-US" sz="600" dirty="0"/>
          </a:p>
        </p:txBody>
      </p:sp>
      <p:sp>
        <p:nvSpPr>
          <p:cNvPr id="11" name="kotak-408"/>
          <p:cNvSpPr txBox="1"/>
          <p:nvPr/>
        </p:nvSpPr>
        <p:spPr>
          <a:xfrm>
            <a:off x="4261104"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K4</a:t>
            </a:r>
            <a:endParaRPr lang="en-US" sz="600" dirty="0"/>
          </a:p>
        </p:txBody>
      </p:sp>
      <p:sp>
        <p:nvSpPr>
          <p:cNvPr id="12" name="kotak-409"/>
          <p:cNvSpPr txBox="1"/>
          <p:nvPr/>
        </p:nvSpPr>
        <p:spPr>
          <a:xfrm>
            <a:off x="4754880"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K1-28</a:t>
            </a:r>
            <a:endParaRPr lang="en-US" sz="600" dirty="0"/>
          </a:p>
        </p:txBody>
      </p:sp>
      <p:sp>
        <p:nvSpPr>
          <p:cNvPr id="13" name="kotak-410"/>
          <p:cNvSpPr txBox="1"/>
          <p:nvPr/>
        </p:nvSpPr>
        <p:spPr>
          <a:xfrm>
            <a:off x="5248656"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K2</a:t>
            </a:r>
            <a:endParaRPr lang="en-US" sz="600" dirty="0"/>
          </a:p>
        </p:txBody>
      </p:sp>
      <p:sp>
        <p:nvSpPr>
          <p:cNvPr id="14" name="kotak-411"/>
          <p:cNvSpPr txBox="1"/>
          <p:nvPr/>
        </p:nvSpPr>
        <p:spPr>
          <a:xfrm>
            <a:off x="5742432"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K3</a:t>
            </a:r>
            <a:endParaRPr lang="en-US" sz="600" dirty="0"/>
          </a:p>
        </p:txBody>
      </p:sp>
      <p:sp>
        <p:nvSpPr>
          <p:cNvPr id="15" name="kotak-412"/>
          <p:cNvSpPr txBox="1"/>
          <p:nvPr/>
        </p:nvSpPr>
        <p:spPr>
          <a:xfrm>
            <a:off x="6236208"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K4</a:t>
            </a:r>
            <a:endParaRPr lang="en-US" sz="600" dirty="0"/>
          </a:p>
        </p:txBody>
      </p:sp>
      <p:sp>
        <p:nvSpPr>
          <p:cNvPr id="16" name="kotak-413"/>
          <p:cNvSpPr txBox="1"/>
          <p:nvPr/>
        </p:nvSpPr>
        <p:spPr>
          <a:xfrm>
            <a:off x="6729984"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K1-29</a:t>
            </a:r>
            <a:endParaRPr lang="en-US" sz="600" dirty="0"/>
          </a:p>
        </p:txBody>
      </p:sp>
      <p:sp>
        <p:nvSpPr>
          <p:cNvPr id="17" name="kotak-414"/>
          <p:cNvSpPr txBox="1"/>
          <p:nvPr/>
        </p:nvSpPr>
        <p:spPr>
          <a:xfrm>
            <a:off x="7223760" y="1325880"/>
            <a:ext cx="475488" cy="182880"/>
          </a:xfrm>
          <a:prstGeom prst="roundRect">
            <a:avLst>
              <a:gd name="adj" fmla="val 10000"/>
            </a:avLst>
          </a:prstGeom>
          <a:solidFill>
            <a:srgbClr val="0C2464"/>
          </a:solidFill>
          <a:ln>
            <a:solidFill>
              <a:srgbClr val="0C2464"/>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K2</a:t>
            </a:r>
            <a:endParaRPr lang="en-US" sz="600" dirty="0"/>
          </a:p>
        </p:txBody>
      </p:sp>
      <p:sp>
        <p:nvSpPr>
          <p:cNvPr id="18" name="teks-415"/>
          <p:cNvSpPr txBox="1"/>
          <p:nvPr/>
        </p:nvSpPr>
        <p:spPr>
          <a:xfrm>
            <a:off x="365760" y="1783080"/>
            <a:ext cx="1920240" cy="237744"/>
          </a:xfrm>
          <a:prstGeom prst="rect">
            <a:avLst/>
          </a:prstGeom>
          <a:noFill/>
          <a:ln/>
        </p:spPr>
        <p:txBody>
          <a:bodyPr wrap="square" lIns="0" tIns="0" rIns="0" bIns="0" rtlCol="0" anchor="ctr"/>
          <a:lstStyle/>
          <a:p>
            <a:pPr indent="0" marL="0">
              <a:buNone/>
            </a:pPr>
            <a:r>
              <a:rPr lang="en-US" sz="630" dirty="0">
                <a:solidFill>
                  <a:srgbClr val="14213D"/>
                </a:solidFill>
                <a:latin typeface="Calibri" pitchFamily="34" charset="0"/>
                <a:ea typeface="Calibri" pitchFamily="34" charset="-122"/>
                <a:cs typeface="Calibri" pitchFamily="34" charset="-120"/>
              </a:rPr>
              <a:t>Data solar/POME PKS mitra (G0)</a:t>
            </a:r>
            <a:endParaRPr lang="en-US" sz="630" dirty="0"/>
          </a:p>
        </p:txBody>
      </p:sp>
      <p:sp>
        <p:nvSpPr>
          <p:cNvPr id="19" name="kotak-416"/>
          <p:cNvSpPr txBox="1"/>
          <p:nvPr/>
        </p:nvSpPr>
        <p:spPr>
          <a:xfrm>
            <a:off x="2286000" y="1810512"/>
            <a:ext cx="969264" cy="182880"/>
          </a:xfrm>
          <a:prstGeom prst="roundRect">
            <a:avLst>
              <a:gd name="adj" fmla="val 15000"/>
            </a:avLst>
          </a:prstGeom>
          <a:solidFill>
            <a:srgbClr val="6898C8"/>
          </a:solidFill>
          <a:ln>
            <a:solidFill>
              <a:srgbClr val="6898C8"/>
            </a:solidFill>
          </a:ln>
        </p:spPr>
        <p:txBody>
          <a:bodyPr wrap="square" lIns="12700" tIns="38100" rIns="38100" bIns="12700" rtlCol="0" anchor="ctr"/>
          <a:lstStyle/>
          <a:p>
            <a:pPr algn="ctr" indent="0" marL="0">
              <a:buNone/>
            </a:pPr>
            <a:endParaRPr lang="en-US" sz="900" dirty="0"/>
          </a:p>
        </p:txBody>
      </p:sp>
      <p:sp>
        <p:nvSpPr>
          <p:cNvPr id="20" name="teks-417"/>
          <p:cNvSpPr txBox="1"/>
          <p:nvPr/>
        </p:nvSpPr>
        <p:spPr>
          <a:xfrm>
            <a:off x="365760" y="2029968"/>
            <a:ext cx="1920240" cy="237744"/>
          </a:xfrm>
          <a:prstGeom prst="rect">
            <a:avLst/>
          </a:prstGeom>
          <a:noFill/>
          <a:ln/>
        </p:spPr>
        <p:txBody>
          <a:bodyPr wrap="square" lIns="0" tIns="0" rIns="0" bIns="0" rtlCol="0" anchor="ctr"/>
          <a:lstStyle/>
          <a:p>
            <a:pPr indent="0" marL="0">
              <a:buNone/>
            </a:pPr>
            <a:r>
              <a:rPr lang="en-US" sz="630" dirty="0">
                <a:solidFill>
                  <a:srgbClr val="14213D"/>
                </a:solidFill>
                <a:latin typeface="Calibri" pitchFamily="34" charset="0"/>
                <a:ea typeface="Calibri" pitchFamily="34" charset="-122"/>
                <a:cs typeface="Calibri" pitchFamily="34" charset="-120"/>
              </a:rPr>
              <a:t>Uji laboratorium semikontinu 55 °C</a:t>
            </a:r>
            <a:endParaRPr lang="en-US" sz="630" dirty="0"/>
          </a:p>
        </p:txBody>
      </p:sp>
      <p:sp>
        <p:nvSpPr>
          <p:cNvPr id="21" name="kotak-418"/>
          <p:cNvSpPr txBox="1"/>
          <p:nvPr/>
        </p:nvSpPr>
        <p:spPr>
          <a:xfrm>
            <a:off x="2286000" y="2057400"/>
            <a:ext cx="1463040" cy="182880"/>
          </a:xfrm>
          <a:prstGeom prst="roundRect">
            <a:avLst>
              <a:gd name="adj" fmla="val 15000"/>
            </a:avLst>
          </a:prstGeom>
          <a:solidFill>
            <a:srgbClr val="6898C8"/>
          </a:solidFill>
          <a:ln>
            <a:solidFill>
              <a:srgbClr val="6898C8"/>
            </a:solidFill>
          </a:ln>
        </p:spPr>
        <p:txBody>
          <a:bodyPr wrap="square" lIns="12700" tIns="38100" rIns="38100" bIns="12700" rtlCol="0" anchor="ctr"/>
          <a:lstStyle/>
          <a:p>
            <a:pPr algn="ctr" indent="0" marL="0">
              <a:buNone/>
            </a:pPr>
            <a:endParaRPr lang="en-US" sz="900" dirty="0"/>
          </a:p>
        </p:txBody>
      </p:sp>
      <p:sp>
        <p:nvSpPr>
          <p:cNvPr id="22" name="teks-419"/>
          <p:cNvSpPr txBox="1"/>
          <p:nvPr/>
        </p:nvSpPr>
        <p:spPr>
          <a:xfrm>
            <a:off x="365760" y="2276856"/>
            <a:ext cx="1920240" cy="237744"/>
          </a:xfrm>
          <a:prstGeom prst="rect">
            <a:avLst/>
          </a:prstGeom>
          <a:noFill/>
          <a:ln/>
        </p:spPr>
        <p:txBody>
          <a:bodyPr wrap="square" lIns="0" tIns="0" rIns="0" bIns="0" rtlCol="0" anchor="ctr"/>
          <a:lstStyle/>
          <a:p>
            <a:pPr indent="0" marL="0">
              <a:buNone/>
            </a:pPr>
            <a:r>
              <a:rPr lang="en-US" sz="630" dirty="0">
                <a:solidFill>
                  <a:srgbClr val="14213D"/>
                </a:solidFill>
                <a:latin typeface="Calibri" pitchFamily="34" charset="0"/>
                <a:ea typeface="Calibri" pitchFamily="34" charset="-122"/>
                <a:cs typeface="Calibri" pitchFamily="34" charset="-120"/>
              </a:rPr>
              <a:t>Kuotasi vendor + FEED + HAZOP (G1–G2)</a:t>
            </a:r>
            <a:endParaRPr lang="en-US" sz="630" dirty="0"/>
          </a:p>
        </p:txBody>
      </p:sp>
      <p:sp>
        <p:nvSpPr>
          <p:cNvPr id="23" name="kotak-420"/>
          <p:cNvSpPr txBox="1"/>
          <p:nvPr/>
        </p:nvSpPr>
        <p:spPr>
          <a:xfrm>
            <a:off x="2779776" y="2304288"/>
            <a:ext cx="1956816" cy="182880"/>
          </a:xfrm>
          <a:prstGeom prst="roundRect">
            <a:avLst>
              <a:gd name="adj" fmla="val 15000"/>
            </a:avLst>
          </a:prstGeom>
          <a:solidFill>
            <a:srgbClr val="244C9C"/>
          </a:solidFill>
          <a:ln>
            <a:solidFill>
              <a:srgbClr val="244C9C"/>
            </a:solidFill>
          </a:ln>
        </p:spPr>
        <p:txBody>
          <a:bodyPr wrap="square" lIns="12700" tIns="38100" rIns="38100" bIns="12700" rtlCol="0" anchor="ctr"/>
          <a:lstStyle/>
          <a:p>
            <a:pPr algn="ctr" indent="0" marL="0">
              <a:buNone/>
            </a:pPr>
            <a:endParaRPr lang="en-US" sz="900" dirty="0"/>
          </a:p>
        </p:txBody>
      </p:sp>
      <p:sp>
        <p:nvSpPr>
          <p:cNvPr id="24" name="teks-421"/>
          <p:cNvSpPr txBox="1"/>
          <p:nvPr/>
        </p:nvSpPr>
        <p:spPr>
          <a:xfrm>
            <a:off x="365760" y="2523744"/>
            <a:ext cx="1920240" cy="237744"/>
          </a:xfrm>
          <a:prstGeom prst="rect">
            <a:avLst/>
          </a:prstGeom>
          <a:noFill/>
          <a:ln/>
        </p:spPr>
        <p:txBody>
          <a:bodyPr wrap="square" lIns="0" tIns="0" rIns="0" bIns="0" rtlCol="0" anchor="ctr"/>
          <a:lstStyle/>
          <a:p>
            <a:pPr indent="0" marL="0">
              <a:buNone/>
            </a:pPr>
            <a:r>
              <a:rPr lang="en-US" sz="630" dirty="0">
                <a:solidFill>
                  <a:srgbClr val="14213D"/>
                </a:solidFill>
                <a:latin typeface="Calibri" pitchFamily="34" charset="0"/>
                <a:ea typeface="Calibri" pitchFamily="34" charset="-122"/>
                <a:cs typeface="Calibri" pitchFamily="34" charset="-120"/>
              </a:rPr>
              <a:t>Perizinan: PBG, SLO, IUPTLS/PJBL, UKL-UPL</a:t>
            </a:r>
            <a:endParaRPr lang="en-US" sz="630" dirty="0"/>
          </a:p>
        </p:txBody>
      </p:sp>
      <p:sp>
        <p:nvSpPr>
          <p:cNvPr id="25" name="kotak-422"/>
          <p:cNvSpPr txBox="1"/>
          <p:nvPr/>
        </p:nvSpPr>
        <p:spPr>
          <a:xfrm>
            <a:off x="2779776" y="2551176"/>
            <a:ext cx="2944368" cy="182880"/>
          </a:xfrm>
          <a:prstGeom prst="roundRect">
            <a:avLst>
              <a:gd name="adj" fmla="val 15000"/>
            </a:avLst>
          </a:prstGeom>
          <a:solidFill>
            <a:srgbClr val="244C9C"/>
          </a:solidFill>
          <a:ln>
            <a:solidFill>
              <a:srgbClr val="244C9C"/>
            </a:solidFill>
          </a:ln>
        </p:spPr>
        <p:txBody>
          <a:bodyPr wrap="square" lIns="12700" tIns="38100" rIns="38100" bIns="12700" rtlCol="0" anchor="ctr"/>
          <a:lstStyle/>
          <a:p>
            <a:pPr algn="ctr" indent="0" marL="0">
              <a:buNone/>
            </a:pPr>
            <a:endParaRPr lang="en-US" sz="900" dirty="0"/>
          </a:p>
        </p:txBody>
      </p:sp>
      <p:sp>
        <p:nvSpPr>
          <p:cNvPr id="26" name="teks-423"/>
          <p:cNvSpPr txBox="1"/>
          <p:nvPr/>
        </p:nvSpPr>
        <p:spPr>
          <a:xfrm>
            <a:off x="365760" y="2770632"/>
            <a:ext cx="1920240" cy="237744"/>
          </a:xfrm>
          <a:prstGeom prst="rect">
            <a:avLst/>
          </a:prstGeom>
          <a:noFill/>
          <a:ln/>
        </p:spPr>
        <p:txBody>
          <a:bodyPr wrap="square" lIns="0" tIns="0" rIns="0" bIns="0" rtlCol="0" anchor="ctr"/>
          <a:lstStyle/>
          <a:p>
            <a:pPr indent="0" marL="0">
              <a:buNone/>
            </a:pPr>
            <a:r>
              <a:rPr lang="en-US" sz="630" dirty="0">
                <a:solidFill>
                  <a:srgbClr val="14213D"/>
                </a:solidFill>
                <a:latin typeface="Calibri" pitchFamily="34" charset="0"/>
                <a:ea typeface="Calibri" pitchFamily="34" charset="-122"/>
                <a:cs typeface="Calibri" pitchFamily="34" charset="-120"/>
              </a:rPr>
              <a:t>Pilot 10–20 m³ di PKS (TRL 6)</a:t>
            </a:r>
            <a:endParaRPr lang="en-US" sz="630" dirty="0"/>
          </a:p>
        </p:txBody>
      </p:sp>
      <p:sp>
        <p:nvSpPr>
          <p:cNvPr id="27" name="kotak-424"/>
          <p:cNvSpPr txBox="1"/>
          <p:nvPr/>
        </p:nvSpPr>
        <p:spPr>
          <a:xfrm>
            <a:off x="3767328" y="2798064"/>
            <a:ext cx="2450592" cy="182880"/>
          </a:xfrm>
          <a:prstGeom prst="roundRect">
            <a:avLst>
              <a:gd name="adj" fmla="val 15000"/>
            </a:avLst>
          </a:prstGeom>
          <a:solidFill>
            <a:srgbClr val="3E8E41"/>
          </a:solidFill>
          <a:ln>
            <a:solidFill>
              <a:srgbClr val="3E8E41"/>
            </a:solidFill>
          </a:ln>
        </p:spPr>
        <p:txBody>
          <a:bodyPr wrap="square" lIns="12700" tIns="38100" rIns="38100" bIns="12700" rtlCol="0" anchor="ctr"/>
          <a:lstStyle/>
          <a:p>
            <a:pPr algn="ctr" indent="0" marL="0">
              <a:buNone/>
            </a:pPr>
            <a:endParaRPr lang="en-US" sz="900" dirty="0"/>
          </a:p>
        </p:txBody>
      </p:sp>
      <p:sp>
        <p:nvSpPr>
          <p:cNvPr id="28" name="teks-425"/>
          <p:cNvSpPr txBox="1"/>
          <p:nvPr/>
        </p:nvSpPr>
        <p:spPr>
          <a:xfrm>
            <a:off x="365760" y="3017520"/>
            <a:ext cx="1920240" cy="237744"/>
          </a:xfrm>
          <a:prstGeom prst="rect">
            <a:avLst/>
          </a:prstGeom>
          <a:noFill/>
          <a:ln/>
        </p:spPr>
        <p:txBody>
          <a:bodyPr wrap="square" lIns="0" tIns="0" rIns="0" bIns="0" rtlCol="0" anchor="ctr"/>
          <a:lstStyle/>
          <a:p>
            <a:pPr indent="0" marL="0">
              <a:buNone/>
            </a:pPr>
            <a:r>
              <a:rPr lang="en-US" sz="630" dirty="0">
                <a:solidFill>
                  <a:srgbClr val="14213D"/>
                </a:solidFill>
                <a:latin typeface="Calibri" pitchFamily="34" charset="0"/>
                <a:ea typeface="Calibri" pitchFamily="34" charset="-122"/>
                <a:cs typeface="Calibri" pitchFamily="34" charset="-120"/>
              </a:rPr>
              <a:t>Pengadaan (genset 6–9 bulan) dan fabrikasi</a:t>
            </a:r>
            <a:endParaRPr lang="en-US" sz="630" dirty="0"/>
          </a:p>
        </p:txBody>
      </p:sp>
      <p:sp>
        <p:nvSpPr>
          <p:cNvPr id="29" name="kotak-426"/>
          <p:cNvSpPr txBox="1"/>
          <p:nvPr/>
        </p:nvSpPr>
        <p:spPr>
          <a:xfrm>
            <a:off x="4754880" y="3044952"/>
            <a:ext cx="1956816" cy="182880"/>
          </a:xfrm>
          <a:prstGeom prst="roundRect">
            <a:avLst>
              <a:gd name="adj" fmla="val 15000"/>
            </a:avLst>
          </a:prstGeom>
          <a:solidFill>
            <a:srgbClr val="6898C8"/>
          </a:solidFill>
          <a:ln>
            <a:solidFill>
              <a:srgbClr val="6898C8"/>
            </a:solidFill>
          </a:ln>
        </p:spPr>
        <p:txBody>
          <a:bodyPr wrap="square" lIns="12700" tIns="38100" rIns="38100" bIns="12700" rtlCol="0" anchor="ctr"/>
          <a:lstStyle/>
          <a:p>
            <a:pPr algn="ctr" indent="0" marL="0">
              <a:buNone/>
            </a:pPr>
            <a:endParaRPr lang="en-US" sz="900" dirty="0"/>
          </a:p>
        </p:txBody>
      </p:sp>
      <p:sp>
        <p:nvSpPr>
          <p:cNvPr id="30" name="teks-427"/>
          <p:cNvSpPr txBox="1"/>
          <p:nvPr/>
        </p:nvSpPr>
        <p:spPr>
          <a:xfrm>
            <a:off x="365760" y="3264408"/>
            <a:ext cx="1920240" cy="237744"/>
          </a:xfrm>
          <a:prstGeom prst="rect">
            <a:avLst/>
          </a:prstGeom>
          <a:noFill/>
          <a:ln/>
        </p:spPr>
        <p:txBody>
          <a:bodyPr wrap="square" lIns="0" tIns="0" rIns="0" bIns="0" rtlCol="0" anchor="ctr"/>
          <a:lstStyle/>
          <a:p>
            <a:pPr indent="0" marL="0">
              <a:buNone/>
            </a:pPr>
            <a:r>
              <a:rPr lang="en-US" sz="630" dirty="0">
                <a:solidFill>
                  <a:srgbClr val="14213D"/>
                </a:solidFill>
                <a:latin typeface="Calibri" pitchFamily="34" charset="0"/>
                <a:ea typeface="Calibri" pitchFamily="34" charset="-122"/>
                <a:cs typeface="Calibri" pitchFamily="34" charset="-120"/>
              </a:rPr>
              <a:t>Konstruksi set 1 dan komisioning</a:t>
            </a:r>
            <a:endParaRPr lang="en-US" sz="630" dirty="0"/>
          </a:p>
        </p:txBody>
      </p:sp>
      <p:sp>
        <p:nvSpPr>
          <p:cNvPr id="31" name="kotak-428"/>
          <p:cNvSpPr txBox="1"/>
          <p:nvPr/>
        </p:nvSpPr>
        <p:spPr>
          <a:xfrm>
            <a:off x="5742432" y="3291840"/>
            <a:ext cx="1463040" cy="182880"/>
          </a:xfrm>
          <a:prstGeom prst="roundRect">
            <a:avLst>
              <a:gd name="adj" fmla="val 15000"/>
            </a:avLst>
          </a:prstGeom>
          <a:solidFill>
            <a:srgbClr val="244C9C"/>
          </a:solidFill>
          <a:ln>
            <a:solidFill>
              <a:srgbClr val="244C9C"/>
            </a:solidFill>
          </a:ln>
        </p:spPr>
        <p:txBody>
          <a:bodyPr wrap="square" lIns="12700" tIns="38100" rIns="38100" bIns="12700" rtlCol="0" anchor="ctr"/>
          <a:lstStyle/>
          <a:p>
            <a:pPr algn="ctr" indent="0" marL="0">
              <a:buNone/>
            </a:pPr>
            <a:endParaRPr lang="en-US" sz="900" dirty="0"/>
          </a:p>
        </p:txBody>
      </p:sp>
      <p:sp>
        <p:nvSpPr>
          <p:cNvPr id="32" name="teks-429"/>
          <p:cNvSpPr txBox="1"/>
          <p:nvPr/>
        </p:nvSpPr>
        <p:spPr>
          <a:xfrm>
            <a:off x="365760" y="3511296"/>
            <a:ext cx="1920240" cy="237744"/>
          </a:xfrm>
          <a:prstGeom prst="rect">
            <a:avLst/>
          </a:prstGeom>
          <a:noFill/>
          <a:ln/>
        </p:spPr>
        <p:txBody>
          <a:bodyPr wrap="square" lIns="0" tIns="0" rIns="0" bIns="0" rtlCol="0" anchor="ctr"/>
          <a:lstStyle/>
          <a:p>
            <a:pPr indent="0" marL="0">
              <a:buNone/>
            </a:pPr>
            <a:r>
              <a:rPr lang="en-US" sz="630" dirty="0">
                <a:solidFill>
                  <a:srgbClr val="14213D"/>
                </a:solidFill>
                <a:latin typeface="Calibri" pitchFamily="34" charset="0"/>
                <a:ea typeface="Calibri" pitchFamily="34" charset="-122"/>
                <a:cs typeface="Calibri" pitchFamily="34" charset="-120"/>
              </a:rPr>
              <a:t>Operasi demonstrasi (TRL 7) dan MRV karbon</a:t>
            </a:r>
            <a:endParaRPr lang="en-US" sz="630" dirty="0"/>
          </a:p>
        </p:txBody>
      </p:sp>
      <p:sp>
        <p:nvSpPr>
          <p:cNvPr id="33" name="kotak-430"/>
          <p:cNvSpPr txBox="1"/>
          <p:nvPr/>
        </p:nvSpPr>
        <p:spPr>
          <a:xfrm>
            <a:off x="6729984" y="3538728"/>
            <a:ext cx="969264" cy="182880"/>
          </a:xfrm>
          <a:prstGeom prst="roundRect">
            <a:avLst>
              <a:gd name="adj" fmla="val 15000"/>
            </a:avLst>
          </a:prstGeom>
          <a:solidFill>
            <a:srgbClr val="3E8E41"/>
          </a:solidFill>
          <a:ln>
            <a:solidFill>
              <a:srgbClr val="3E8E41"/>
            </a:solidFill>
          </a:ln>
        </p:spPr>
        <p:txBody>
          <a:bodyPr wrap="square" lIns="12700" tIns="38100" rIns="38100" bIns="12700" rtlCol="0" anchor="ctr"/>
          <a:lstStyle/>
          <a:p>
            <a:pPr algn="ctr" indent="0" marL="0">
              <a:buNone/>
            </a:pPr>
            <a:endParaRPr lang="en-US" sz="900" dirty="0"/>
          </a:p>
        </p:txBody>
      </p:sp>
      <p:sp>
        <p:nvSpPr>
          <p:cNvPr id="34" name="kotak-431"/>
          <p:cNvSpPr txBox="1"/>
          <p:nvPr/>
        </p:nvSpPr>
        <p:spPr>
          <a:xfrm>
            <a:off x="3163824" y="1536192"/>
            <a:ext cx="274320" cy="182880"/>
          </a:xfrm>
          <a:prstGeom prst="roundRect">
            <a:avLst>
              <a:gd name="adj" fmla="val 50000"/>
            </a:avLst>
          </a:prstGeom>
          <a:solidFill>
            <a:srgbClr val="C8452F"/>
          </a:solidFill>
          <a:ln>
            <a:solidFill>
              <a:srgbClr val="C8452F"/>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G0</a:t>
            </a:r>
            <a:endParaRPr lang="en-US" sz="600" dirty="0"/>
          </a:p>
        </p:txBody>
      </p:sp>
      <p:sp>
        <p:nvSpPr>
          <p:cNvPr id="35" name="garis-432"/>
          <p:cNvSpPr/>
          <p:nvPr/>
        </p:nvSpPr>
        <p:spPr>
          <a:xfrm>
            <a:off x="3300984" y="1719072"/>
            <a:ext cx="0" cy="2075688"/>
          </a:xfrm>
          <a:prstGeom prst="line">
            <a:avLst/>
          </a:prstGeom>
          <a:noFill/>
          <a:ln w="9525">
            <a:solidFill>
              <a:srgbClr val="C8452F"/>
            </a:solidFill>
            <a:prstDash val="dash"/>
          </a:ln>
        </p:spPr>
      </p:sp>
      <p:sp>
        <p:nvSpPr>
          <p:cNvPr id="36" name="kotak-433"/>
          <p:cNvSpPr txBox="1"/>
          <p:nvPr/>
        </p:nvSpPr>
        <p:spPr>
          <a:xfrm>
            <a:off x="4645152" y="1536192"/>
            <a:ext cx="274320" cy="182880"/>
          </a:xfrm>
          <a:prstGeom prst="roundRect">
            <a:avLst>
              <a:gd name="adj" fmla="val 50000"/>
            </a:avLst>
          </a:prstGeom>
          <a:solidFill>
            <a:srgbClr val="C8452F"/>
          </a:solidFill>
          <a:ln>
            <a:solidFill>
              <a:srgbClr val="C8452F"/>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G1</a:t>
            </a:r>
            <a:endParaRPr lang="en-US" sz="600" dirty="0"/>
          </a:p>
        </p:txBody>
      </p:sp>
      <p:sp>
        <p:nvSpPr>
          <p:cNvPr id="37" name="garis-434"/>
          <p:cNvSpPr/>
          <p:nvPr/>
        </p:nvSpPr>
        <p:spPr>
          <a:xfrm>
            <a:off x="4782312" y="1719072"/>
            <a:ext cx="0" cy="2075688"/>
          </a:xfrm>
          <a:prstGeom prst="line">
            <a:avLst/>
          </a:prstGeom>
          <a:noFill/>
          <a:ln w="9525">
            <a:solidFill>
              <a:srgbClr val="C8452F"/>
            </a:solidFill>
            <a:prstDash val="dash"/>
          </a:ln>
        </p:spPr>
      </p:sp>
      <p:sp>
        <p:nvSpPr>
          <p:cNvPr id="38" name="kotak-435"/>
          <p:cNvSpPr txBox="1"/>
          <p:nvPr/>
        </p:nvSpPr>
        <p:spPr>
          <a:xfrm>
            <a:off x="6126480" y="1536192"/>
            <a:ext cx="274320" cy="182880"/>
          </a:xfrm>
          <a:prstGeom prst="roundRect">
            <a:avLst>
              <a:gd name="adj" fmla="val 50000"/>
            </a:avLst>
          </a:prstGeom>
          <a:solidFill>
            <a:srgbClr val="C8452F"/>
          </a:solidFill>
          <a:ln>
            <a:solidFill>
              <a:srgbClr val="C8452F"/>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G2</a:t>
            </a:r>
            <a:endParaRPr lang="en-US" sz="600" dirty="0"/>
          </a:p>
        </p:txBody>
      </p:sp>
      <p:sp>
        <p:nvSpPr>
          <p:cNvPr id="39" name="garis-436"/>
          <p:cNvSpPr/>
          <p:nvPr/>
        </p:nvSpPr>
        <p:spPr>
          <a:xfrm>
            <a:off x="6263640" y="1719072"/>
            <a:ext cx="0" cy="2075688"/>
          </a:xfrm>
          <a:prstGeom prst="line">
            <a:avLst/>
          </a:prstGeom>
          <a:noFill/>
          <a:ln w="9525">
            <a:solidFill>
              <a:srgbClr val="C8452F"/>
            </a:solidFill>
            <a:prstDash val="dash"/>
          </a:ln>
        </p:spPr>
      </p:sp>
      <p:sp>
        <p:nvSpPr>
          <p:cNvPr id="40" name="kotak-437"/>
          <p:cNvSpPr txBox="1"/>
          <p:nvPr/>
        </p:nvSpPr>
        <p:spPr>
          <a:xfrm>
            <a:off x="7360920" y="1536192"/>
            <a:ext cx="274320" cy="182880"/>
          </a:xfrm>
          <a:prstGeom prst="roundRect">
            <a:avLst>
              <a:gd name="adj" fmla="val 50000"/>
            </a:avLst>
          </a:prstGeom>
          <a:solidFill>
            <a:srgbClr val="C8452F"/>
          </a:solidFill>
          <a:ln>
            <a:solidFill>
              <a:srgbClr val="C8452F"/>
            </a:solidFill>
          </a:ln>
        </p:spPr>
        <p:txBody>
          <a:bodyPr wrap="square" lIns="0" tIns="0" rIns="0" bIns="0" rtlCol="0" anchor="ctr"/>
          <a:lstStyle/>
          <a:p>
            <a:pPr algn="ctr" indent="0" marL="0">
              <a:buNone/>
            </a:pPr>
            <a:r>
              <a:rPr lang="en-US" sz="600" b="1" dirty="0">
                <a:solidFill>
                  <a:srgbClr val="FFFFFF"/>
                </a:solidFill>
                <a:latin typeface="Calibri" pitchFamily="34" charset="0"/>
                <a:ea typeface="Calibri" pitchFamily="34" charset="-122"/>
                <a:cs typeface="Calibri" pitchFamily="34" charset="-120"/>
              </a:rPr>
              <a:t>G3</a:t>
            </a:r>
            <a:endParaRPr lang="en-US" sz="600" dirty="0"/>
          </a:p>
        </p:txBody>
      </p:sp>
      <p:sp>
        <p:nvSpPr>
          <p:cNvPr id="41" name="garis-438"/>
          <p:cNvSpPr/>
          <p:nvPr/>
        </p:nvSpPr>
        <p:spPr>
          <a:xfrm>
            <a:off x="7498080" y="1719072"/>
            <a:ext cx="0" cy="2075688"/>
          </a:xfrm>
          <a:prstGeom prst="line">
            <a:avLst/>
          </a:prstGeom>
          <a:noFill/>
          <a:ln w="9525">
            <a:solidFill>
              <a:srgbClr val="C8452F"/>
            </a:solidFill>
            <a:prstDash val="dash"/>
          </a:ln>
        </p:spPr>
      </p:sp>
      <p:sp>
        <p:nvSpPr>
          <p:cNvPr id="42" name="teks-439"/>
          <p:cNvSpPr txBox="1"/>
          <p:nvPr/>
        </p:nvSpPr>
        <p:spPr>
          <a:xfrm>
            <a:off x="365760" y="3794760"/>
            <a:ext cx="7315200" cy="164592"/>
          </a:xfrm>
          <a:prstGeom prst="rect">
            <a:avLst/>
          </a:prstGeom>
          <a:noFill/>
          <a:ln/>
        </p:spPr>
        <p:txBody>
          <a:bodyPr wrap="square" lIns="0" tIns="0" rIns="0" bIns="0" rtlCol="0" anchor="t"/>
          <a:lstStyle/>
          <a:p>
            <a:pPr indent="0" marL="0">
              <a:buNone/>
            </a:pPr>
            <a:r>
              <a:rPr lang="en-US" sz="650" b="1" dirty="0">
                <a:solidFill>
                  <a:srgbClr val="C8452F"/>
                </a:solidFill>
                <a:latin typeface="Calibri" pitchFamily="34" charset="0"/>
                <a:ea typeface="Calibri" pitchFamily="34" charset="-122"/>
                <a:cs typeface="Calibri" pitchFamily="34" charset="-120"/>
              </a:rPr>
              <a:t>Jalur kritis: kuotasi/FEED → perizinan PLN dan IUPTLS → genset (6–9 bulan) → konstruksi.</a:t>
            </a:r>
            <a:endParaRPr lang="en-US" sz="650" dirty="0"/>
          </a:p>
        </p:txBody>
      </p:sp>
      <p:sp>
        <p:nvSpPr>
          <p:cNvPr id="43" name="teks-440"/>
          <p:cNvSpPr txBox="1"/>
          <p:nvPr/>
        </p:nvSpPr>
        <p:spPr>
          <a:xfrm>
            <a:off x="365760" y="4023360"/>
            <a:ext cx="73152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Gerbang tahap dan kriteria go/no-go</a:t>
            </a:r>
            <a:endParaRPr lang="en-US" sz="850" dirty="0"/>
          </a:p>
        </p:txBody>
      </p:sp>
      <p:sp>
        <p:nvSpPr>
          <p:cNvPr id="44" name="garis-441"/>
          <p:cNvSpPr/>
          <p:nvPr/>
        </p:nvSpPr>
        <p:spPr>
          <a:xfrm>
            <a:off x="365760" y="4215384"/>
            <a:ext cx="7315200" cy="0"/>
          </a:xfrm>
          <a:prstGeom prst="line">
            <a:avLst/>
          </a:prstGeom>
          <a:noFill/>
          <a:ln w="15875">
            <a:solidFill>
              <a:srgbClr val="64BC54"/>
            </a:solidFill>
            <a:prstDash val="solid"/>
          </a:ln>
        </p:spPr>
      </p:sp>
      <p:graphicFrame>
        <p:nvGraphicFramePr>
          <p:cNvPr id="9" name="tabel-442"/>
          <p:cNvGraphicFramePr>
            <a:graphicFrameLocks noGrp="1"/>
          </p:cNvGraphicFramePr>
          <p:nvPr>
            <p:extLst>
              <p:ext uri="{D42A27DB-BD31-4B8C-83A1-F6EECF244321}">
                <p14:modId xmlns:p14="http://schemas.microsoft.com/office/powerpoint/2010/main" val="1579011935"/>
              </p:ext>
            </p:extLst>
          </p:nvPr>
        </p:nvGraphicFramePr>
        <p:xfrm>
          <a:off x="365760" y="4251960"/>
          <a:ext cx="7315200" cy="914400"/>
        </p:xfrm>
        <a:graphic>
          <a:graphicData uri="http://schemas.openxmlformats.org/drawingml/2006/table">
            <a:tbl>
              <a:tblPr/>
              <a:tblGrid>
                <a:gridCol w="1097280"/>
                <a:gridCol w="5394960"/>
                <a:gridCol w="822960"/>
              </a:tblGrid>
              <a:tr h="256032">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Gerbang</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l" indent="0" marL="0">
                        <a:buNone/>
                      </a:pPr>
                      <a:r>
                        <a:rPr lang="en-US" sz="650" b="1" dirty="0">
                          <a:solidFill>
                            <a:srgbClr val="FFFFFF"/>
                          </a:solidFill>
                          <a:latin typeface="Calibri" pitchFamily="34" charset="0"/>
                          <a:ea typeface="Calibri" pitchFamily="34" charset="-122"/>
                          <a:cs typeface="Calibri" pitchFamily="34" charset="-120"/>
                        </a:rPr>
                        <a:t>Kriteria go</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50" b="1" dirty="0">
                          <a:solidFill>
                            <a:srgbClr val="FFFFFF"/>
                          </a:solidFill>
                          <a:latin typeface="Calibri" pitchFamily="34" charset="0"/>
                          <a:ea typeface="Calibri" pitchFamily="34" charset="-122"/>
                          <a:cs typeface="Calibri" pitchFamily="34" charset="-120"/>
                        </a:rPr>
                        <a:t>P(NPV&gt;0)</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56032">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G0 Data PKS</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solar tergantikan terukur ≥ 2,0 L/t TBS, jaringan 20 kV ≤ 2 km, beban TBS ≥ 70%</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50" dirty="0">
                          <a:solidFill>
                            <a:srgbClr val="14213D"/>
                          </a:solidFill>
                          <a:latin typeface="Calibri" pitchFamily="34" charset="0"/>
                          <a:ea typeface="Calibri" pitchFamily="34" charset="-122"/>
                          <a:cs typeface="Calibri" pitchFamily="34" charset="-120"/>
                        </a:rPr>
                        <a:t>24%</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56032">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G1 Kuotasi</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FCI ≤ USD 6,0 juta (±12%); GFS dan genset dikuotasi 3 vendor</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50" dirty="0">
                          <a:solidFill>
                            <a:srgbClr val="14213D"/>
                          </a:solidFill>
                          <a:latin typeface="Calibri" pitchFamily="34" charset="0"/>
                          <a:ea typeface="Calibri" pitchFamily="34" charset="-122"/>
                          <a:cs typeface="Calibri" pitchFamily="34" charset="-120"/>
                        </a:rPr>
                        <a:t>35%</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56032">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G2 FEED dan hukum</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HAZOP tanpa risiko tinggi; struktur kontrak jasa energi dan tarif dikonfirmasi ESDM/PLN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50" dirty="0">
                          <a:solidFill>
                            <a:srgbClr val="14213D"/>
                          </a:solidFill>
                          <a:latin typeface="Calibri" pitchFamily="34" charset="0"/>
                          <a:ea typeface="Calibri" pitchFamily="34" charset="-122"/>
                          <a:cs typeface="Calibri" pitchFamily="34" charset="-120"/>
                        </a:rPr>
                        <a:t>46%</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56032">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G3 Pilot</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COD ≥ 65% pada OLR ≥ 8; settler ≥ 85%; H₂S ≤ 50 ppm; kontrak 20 tahun ditandatangani</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50" dirty="0">
                          <a:solidFill>
                            <a:srgbClr val="14213D"/>
                          </a:solidFill>
                          <a:latin typeface="Calibri" pitchFamily="34" charset="0"/>
                          <a:ea typeface="Calibri" pitchFamily="34" charset="-122"/>
                          <a:cs typeface="Calibri" pitchFamily="34" charset="-120"/>
                        </a:rPr>
                        <a:t>45%</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46" name="teks-443"/>
          <p:cNvSpPr txBox="1"/>
          <p:nvPr/>
        </p:nvSpPr>
        <p:spPr>
          <a:xfrm>
            <a:off x="365760" y="5577840"/>
            <a:ext cx="7315200" cy="365760"/>
          </a:xfrm>
          <a:prstGeom prst="rect">
            <a:avLst/>
          </a:prstGeom>
          <a:noFill/>
          <a:ln/>
        </p:spPr>
        <p:txBody>
          <a:bodyPr wrap="square" lIns="0" tIns="0" rIns="0" bIns="0" rtlCol="0" anchor="t"/>
          <a:lstStyle/>
          <a:p>
            <a:pPr indent="0" marL="0">
              <a:buNone/>
            </a:pPr>
            <a:r>
              <a:rPr lang="en-US" sz="650" dirty="0">
                <a:solidFill>
                  <a:srgbClr val="14213D"/>
                </a:solidFill>
                <a:latin typeface="Calibri" pitchFamily="34" charset="0"/>
                <a:ea typeface="Calibri" pitchFamily="34" charset="-122"/>
                <a:cs typeface="Calibri" pitchFamily="34" charset="-120"/>
              </a:rPr>
              <a:t>WBS: (1) data dan uji, (2) rekayasa dan izin, (3) pengadaan, (4) konstruksi dan komisioning, (5) operasi dan MRV. Kesiapan operasi: SOP, pelatihan 10 operator, rencana perawatan genset, tanggap darurat gas, suku cadang genset 90 hari.</a:t>
            </a:r>
            <a:endParaRPr lang="en-US" sz="650" dirty="0"/>
          </a:p>
        </p:txBody>
      </p:sp>
      <p:sp>
        <p:nvSpPr>
          <p:cNvPr id="47" name="teks-444"/>
          <p:cNvSpPr txBox="1"/>
          <p:nvPr/>
        </p:nvSpPr>
        <p:spPr>
          <a:xfrm>
            <a:off x="7863840" y="1078992"/>
            <a:ext cx="39776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RACI (R pelaksana, A penanggung jawab, C konsultasi, I diberi tahu)</a:t>
            </a:r>
            <a:endParaRPr lang="en-US" sz="850" dirty="0"/>
          </a:p>
        </p:txBody>
      </p:sp>
      <p:sp>
        <p:nvSpPr>
          <p:cNvPr id="48" name="garis-445"/>
          <p:cNvSpPr/>
          <p:nvPr/>
        </p:nvSpPr>
        <p:spPr>
          <a:xfrm>
            <a:off x="7863840" y="1271016"/>
            <a:ext cx="3977640" cy="0"/>
          </a:xfrm>
          <a:prstGeom prst="line">
            <a:avLst/>
          </a:prstGeom>
          <a:noFill/>
          <a:ln w="15875">
            <a:solidFill>
              <a:srgbClr val="64BC54"/>
            </a:solidFill>
            <a:prstDash val="solid"/>
          </a:ln>
        </p:spPr>
      </p:sp>
      <p:graphicFrame>
        <p:nvGraphicFramePr>
          <p:cNvPr id="17" name="tabel-446"/>
          <p:cNvGraphicFramePr>
            <a:graphicFrameLocks noGrp="1"/>
          </p:cNvGraphicFramePr>
          <p:nvPr>
            <p:extLst>
              <p:ext uri="{D42A27DB-BD31-4B8C-83A1-F6EECF244321}">
                <p14:modId xmlns:p14="http://schemas.microsoft.com/office/powerpoint/2010/main" val="1579011935"/>
              </p:ext>
            </p:extLst>
          </p:nvPr>
        </p:nvGraphicFramePr>
        <p:xfrm>
          <a:off x="7863840" y="1307592"/>
          <a:ext cx="3977640" cy="914400"/>
        </p:xfrm>
        <a:graphic>
          <a:graphicData uri="http://schemas.openxmlformats.org/drawingml/2006/table">
            <a:tbl>
              <a:tblPr/>
              <a:tblGrid>
                <a:gridCol w="1737360"/>
                <a:gridCol w="548640"/>
                <a:gridCol w="548640"/>
                <a:gridCol w="548640"/>
                <a:gridCol w="594360"/>
              </a:tblGrid>
              <a:tr h="182880">
                <a:tc>
                  <a:txBody>
                    <a:bodyPr/>
                    <a:lstStyle/>
                    <a:p>
                      <a:pPr algn="l" indent="0" marL="0">
                        <a:buNone/>
                      </a:pPr>
                      <a:r>
                        <a:rPr lang="en-US" sz="640" b="1" dirty="0">
                          <a:solidFill>
                            <a:srgbClr val="FFFFFF"/>
                          </a:solidFill>
                          <a:latin typeface="Calibri" pitchFamily="34" charset="0"/>
                          <a:ea typeface="Calibri" pitchFamily="34" charset="-122"/>
                          <a:cs typeface="Calibri" pitchFamily="34" charset="-120"/>
                        </a:rPr>
                        <a:t>Kegiatan</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Tim</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PKS</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EPC</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40" b="1" dirty="0">
                          <a:solidFill>
                            <a:srgbClr val="FFFFFF"/>
                          </a:solidFill>
                          <a:latin typeface="Calibri" pitchFamily="34" charset="0"/>
                          <a:ea typeface="Calibri" pitchFamily="34" charset="-122"/>
                          <a:cs typeface="Calibri" pitchFamily="34" charset="-120"/>
                        </a:rPr>
                        <a:t>Lab</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182880">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Data solar/POME</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A</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R</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Uji dan pilot</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A</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C</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R</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FEED dan HAZOP</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A</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C</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R</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Izin ESDM/PLN/KLH</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R</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A</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C</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Pengadaan dan konstruksi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A</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C</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R</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182880">
                <a:tc>
                  <a:txBody>
                    <a:bodyPr/>
                    <a:lstStyle/>
                    <a:p>
                      <a:pPr algn="l" indent="0" marL="0">
                        <a:buNone/>
                      </a:pPr>
                      <a:r>
                        <a:rPr lang="en-US" sz="640" dirty="0">
                          <a:solidFill>
                            <a:srgbClr val="14213D"/>
                          </a:solidFill>
                          <a:latin typeface="Calibri" pitchFamily="34" charset="0"/>
                          <a:ea typeface="Calibri" pitchFamily="34" charset="-122"/>
                          <a:cs typeface="Calibri" pitchFamily="34" charset="-120"/>
                        </a:rPr>
                        <a:t>Operasi dan MRV</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R</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C</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C</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ctr" indent="0" marL="0">
                        <a:buNone/>
                      </a:pPr>
                      <a:r>
                        <a:rPr lang="en-US" sz="640" dirty="0">
                          <a:solidFill>
                            <a:srgbClr val="14213D"/>
                          </a:solidFill>
                          <a:latin typeface="Calibri" pitchFamily="34" charset="0"/>
                          <a:ea typeface="Calibri" pitchFamily="34" charset="-122"/>
                          <a:cs typeface="Calibri" pitchFamily="34" charset="-120"/>
                        </a:rPr>
                        <a:t>I</a:t>
                      </a:r>
                      <a:endParaRPr lang="en-US" sz="64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50" name="teks-447"/>
          <p:cNvSpPr txBox="1"/>
          <p:nvPr/>
        </p:nvSpPr>
        <p:spPr>
          <a:xfrm>
            <a:off x="7863840" y="2697480"/>
            <a:ext cx="39776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Registri risiko utama</a:t>
            </a:r>
            <a:endParaRPr lang="en-US" sz="850" dirty="0"/>
          </a:p>
        </p:txBody>
      </p:sp>
      <p:sp>
        <p:nvSpPr>
          <p:cNvPr id="51" name="garis-448"/>
          <p:cNvSpPr/>
          <p:nvPr/>
        </p:nvSpPr>
        <p:spPr>
          <a:xfrm>
            <a:off x="7863840" y="2889504"/>
            <a:ext cx="3977640" cy="0"/>
          </a:xfrm>
          <a:prstGeom prst="line">
            <a:avLst/>
          </a:prstGeom>
          <a:noFill/>
          <a:ln w="15875">
            <a:solidFill>
              <a:srgbClr val="64BC54"/>
            </a:solidFill>
            <a:prstDash val="solid"/>
          </a:ln>
        </p:spPr>
      </p:sp>
      <p:graphicFrame>
        <p:nvGraphicFramePr>
          <p:cNvPr id="25" name="tabel-449"/>
          <p:cNvGraphicFramePr>
            <a:graphicFrameLocks noGrp="1"/>
          </p:cNvGraphicFramePr>
          <p:nvPr>
            <p:extLst>
              <p:ext uri="{D42A27DB-BD31-4B8C-83A1-F6EECF244321}">
                <p14:modId xmlns:p14="http://schemas.microsoft.com/office/powerpoint/2010/main" val="1579011935"/>
              </p:ext>
            </p:extLst>
          </p:nvPr>
        </p:nvGraphicFramePr>
        <p:xfrm>
          <a:off x="7863840" y="2926080"/>
          <a:ext cx="3977640" cy="914400"/>
        </p:xfrm>
        <a:graphic>
          <a:graphicData uri="http://schemas.openxmlformats.org/drawingml/2006/table">
            <a:tbl>
              <a:tblPr/>
              <a:tblGrid>
                <a:gridCol w="1188720"/>
                <a:gridCol w="365760"/>
                <a:gridCol w="2423160"/>
              </a:tblGrid>
              <a:tr h="228600">
                <a:tc>
                  <a:txBody>
                    <a:bodyPr/>
                    <a:lstStyle/>
                    <a:p>
                      <a:pPr algn="ctr" indent="0" marL="0">
                        <a:buNone/>
                      </a:pPr>
                      <a:r>
                        <a:rPr lang="en-US" sz="610" b="1" dirty="0">
                          <a:solidFill>
                            <a:srgbClr val="FFFFFF"/>
                          </a:solidFill>
                          <a:latin typeface="Calibri" pitchFamily="34" charset="0"/>
                          <a:ea typeface="Calibri" pitchFamily="34" charset="-122"/>
                          <a:cs typeface="Calibri" pitchFamily="34" charset="-120"/>
                        </a:rPr>
                        <a:t>Risiko</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10" b="1" dirty="0">
                          <a:solidFill>
                            <a:srgbClr val="FFFFFF"/>
                          </a:solidFill>
                          <a:latin typeface="Calibri" pitchFamily="34" charset="0"/>
                          <a:ea typeface="Calibri" pitchFamily="34" charset="-122"/>
                          <a:cs typeface="Calibri" pitchFamily="34" charset="-120"/>
                        </a:rPr>
                        <a:t>L·D</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10" b="1" dirty="0">
                          <a:solidFill>
                            <a:srgbClr val="FFFFFF"/>
                          </a:solidFill>
                          <a:latin typeface="Calibri" pitchFamily="34" charset="0"/>
                          <a:ea typeface="Calibri" pitchFamily="34" charset="-122"/>
                          <a:cs typeface="Calibri" pitchFamily="34" charset="-120"/>
                        </a:rPr>
                        <a:t>Mitigasi, pemilik</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28600">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Tarif/izin jual listrik</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4·4</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konfirmasi tertulis ESDM, kontrak jasa (hukum)</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28600">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CAPEX &gt; USD 6 juta</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3·4</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kuotasi 3 vendor (pengadaan)</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28600">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Kinerja termofilik</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3·5</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pilot dan jaminan bertahap (teknis)</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28600">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Solar &lt; 1,5 L/t</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3·4</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gerbang G0 (komersial)</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28600">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PKS tutup/putus kontrak</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2·4</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10" dirty="0">
                          <a:solidFill>
                            <a:srgbClr val="14213D"/>
                          </a:solidFill>
                          <a:latin typeface="Calibri" pitchFamily="34" charset="0"/>
                          <a:ea typeface="Calibri" pitchFamily="34" charset="-122"/>
                          <a:cs typeface="Calibri" pitchFamily="34" charset="-120"/>
                        </a:rPr>
                        <a:t>relokasi set, agunan (keuangan)</a:t>
                      </a:r>
                      <a:endParaRPr lang="en-US" sz="61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53" name="teks-450"/>
          <p:cNvSpPr txBox="1"/>
          <p:nvPr/>
        </p:nvSpPr>
        <p:spPr>
          <a:xfrm>
            <a:off x="7863840" y="4434840"/>
            <a:ext cx="39776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Perizinan (terverifikasi sebagian)</a:t>
            </a:r>
            <a:endParaRPr lang="en-US" sz="850" dirty="0"/>
          </a:p>
        </p:txBody>
      </p:sp>
      <p:sp>
        <p:nvSpPr>
          <p:cNvPr id="54" name="garis-451"/>
          <p:cNvSpPr/>
          <p:nvPr/>
        </p:nvSpPr>
        <p:spPr>
          <a:xfrm>
            <a:off x="7863840" y="4626864"/>
            <a:ext cx="3977640" cy="0"/>
          </a:xfrm>
          <a:prstGeom prst="line">
            <a:avLst/>
          </a:prstGeom>
          <a:noFill/>
          <a:ln w="15875">
            <a:solidFill>
              <a:srgbClr val="64BC54"/>
            </a:solidFill>
            <a:prstDash val="solid"/>
          </a:ln>
        </p:spPr>
      </p:sp>
      <p:sp>
        <p:nvSpPr>
          <p:cNvPr id="55" name="teks-452"/>
          <p:cNvSpPr txBox="1"/>
          <p:nvPr/>
        </p:nvSpPr>
        <p:spPr>
          <a:xfrm>
            <a:off x="7863840" y="4663440"/>
            <a:ext cx="3977640" cy="68580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PBG/SLF (pemda) · persetujuan lingkungan UKL-UPL dan persetujuan teknis air limbah (KLH) · izin usaha penyediaan tenaga listrik IUPTLS/IUPTLU dan PJBL (ESDM, PLN) · SLO (LIT; ≤ 4 hari kerja setelah inspeksi) · K3 bejana tekan dan listrik (Kemnaker) · ISPO (2027) · registrasi karbon SRN/Verra. Lama proses belum terverifikasi.</a:t>
            </a:r>
            <a:endParaRPr lang="en-US" sz="630" dirty="0"/>
          </a:p>
        </p:txBody>
      </p:sp>
      <p:sp>
        <p:nvSpPr>
          <p:cNvPr id="56" name="teks-453"/>
          <p:cNvSpPr txBox="1"/>
          <p:nvPr/>
        </p:nvSpPr>
        <p:spPr>
          <a:xfrm>
            <a:off x="7863840" y="5349240"/>
            <a:ext cx="39776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Anggaran pengembangan (USD ribu)</a:t>
            </a:r>
            <a:endParaRPr lang="en-US" sz="850" dirty="0"/>
          </a:p>
        </p:txBody>
      </p:sp>
      <p:sp>
        <p:nvSpPr>
          <p:cNvPr id="57" name="garis-454"/>
          <p:cNvSpPr/>
          <p:nvPr/>
        </p:nvSpPr>
        <p:spPr>
          <a:xfrm>
            <a:off x="7863840" y="5541264"/>
            <a:ext cx="3977640" cy="0"/>
          </a:xfrm>
          <a:prstGeom prst="line">
            <a:avLst/>
          </a:prstGeom>
          <a:noFill/>
          <a:ln w="15875">
            <a:solidFill>
              <a:srgbClr val="64BC54"/>
            </a:solidFill>
            <a:prstDash val="solid"/>
          </a:ln>
        </p:spPr>
      </p:sp>
      <p:graphicFrame>
        <p:nvGraphicFramePr>
          <p:cNvPr id="58" name="Chart 0" descr=""/>
          <p:cNvGraphicFramePr/>
          <p:nvPr/>
        </p:nvGraphicFramePr>
        <p:xfrm>
          <a:off x="7772400" y="5532120"/>
          <a:ext cx="2103120" cy="868680"/>
        </p:xfrm>
        <a:graphic xmlns:a="http://schemas.openxmlformats.org/drawingml/2006/main">
          <a:graphicData uri="http://schemas.openxmlformats.org/drawingml/2006/chart">
            <c:chart xmlns:c="http://schemas.openxmlformats.org/drawingml/2006/chart" r:id="rId1"/>
          </a:graphicData>
        </a:graphic>
      </p:graphicFrame>
      <p:sp>
        <p:nvSpPr>
          <p:cNvPr id="59" name="teks-455"/>
          <p:cNvSpPr txBox="1"/>
          <p:nvPr/>
        </p:nvSpPr>
        <p:spPr>
          <a:xfrm>
            <a:off x="9921240" y="5532120"/>
            <a:ext cx="1920240" cy="82296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Uji lab dan pilot 480 · FEED/HAZOP 220 · izin dan hukum 130 · kuotasi dan MRV 160 · tim 310 = 1.300 (usulan; belum ada komitmen dana).</a:t>
            </a:r>
            <a:endParaRPr lang="en-US" sz="630" dirty="0"/>
          </a:p>
        </p:txBody>
      </p:sp>
      <p:sp>
        <p:nvSpPr>
          <p:cNvPr id="60" name="teks-456"/>
          <p:cNvSpPr txBox="1"/>
          <p:nvPr/>
        </p:nvSpPr>
        <p:spPr>
          <a:xfrm>
            <a:off x="365760" y="6419088"/>
            <a:ext cx="11109960" cy="246888"/>
          </a:xfrm>
          <a:prstGeom prst="rect">
            <a:avLst/>
          </a:prstGeom>
          <a:noFill/>
          <a:ln/>
        </p:spPr>
        <p:txBody>
          <a:bodyPr wrap="square" lIns="0" tIns="0" rIns="0" bIns="0" rtlCol="0" anchor="ctr"/>
          <a:lstStyle/>
          <a:p>
            <a:pPr indent="0" marL="0">
              <a:buNone/>
            </a:pPr>
            <a:r>
              <a:rPr lang="en-US" sz="590" dirty="0">
                <a:solidFill>
                  <a:srgbClr val="587888"/>
                </a:solidFill>
                <a:latin typeface="Calibri" pitchFamily="34" charset="0"/>
                <a:ea typeface="Calibri" pitchFamily="34" charset="-122"/>
                <a:cs typeface="Calibri" pitchFamily="34" charset="-120"/>
              </a:rPr>
              <a:t>Singkatan: FEED desain rekayasa awal; WBS struktur rincian kerja; RACI matriks tanggung jawab; L·D peluang × dampak; LIT lembaga inspeksi teknik; MRV pemantauan, pelaporan, verifikasi.</a:t>
            </a:r>
            <a:endParaRPr lang="en-US" sz="590" dirty="0"/>
          </a:p>
          <a:p>
            <a:pPr indent="0" marL="0">
              <a:buNone/>
            </a:pPr>
            <a:r>
              <a:rPr lang="en-US" sz="590" dirty="0">
                <a:solidFill>
                  <a:srgbClr val="587888"/>
                </a:solidFill>
                <a:latin typeface="Calibri" pitchFamily="34" charset="0"/>
                <a:ea typeface="Calibri" pitchFamily="34" charset="-122"/>
                <a:cs typeface="Calibri" pitchFamily="34" charset="-120"/>
              </a:rPr>
              <a:t>Sumber: usulan tim; jangka waktu dari research/R4, R6 (SLO FAQ Ditjen Gatrik 2024). Mitra: PKS mitra, kontraktor EPC, laboratorium universitas, vendor genset/GFS belum terikat (prospektif).</a:t>
            </a:r>
            <a:endParaRPr lang="en-US" sz="59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nomor-457"/>
          <p:cNvSpPr txBox="1"/>
          <p:nvPr/>
        </p:nvSpPr>
        <p:spPr>
          <a:xfrm>
            <a:off x="365760" y="246888"/>
            <a:ext cx="384048" cy="384048"/>
          </a:xfrm>
          <a:prstGeom prst="rect">
            <a:avLst/>
          </a:prstGeom>
          <a:solidFill>
            <a:srgbClr val="0C2464"/>
          </a:solid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09</a:t>
            </a:r>
            <a:endParaRPr lang="en-US" sz="1300" dirty="0"/>
          </a:p>
        </p:txBody>
      </p:sp>
      <p:sp>
        <p:nvSpPr>
          <p:cNvPr id="3" name="kicker-458"/>
          <p:cNvSpPr txBox="1"/>
          <p:nvPr/>
        </p:nvSpPr>
        <p:spPr>
          <a:xfrm>
            <a:off x="841248" y="228600"/>
            <a:ext cx="8686800" cy="182880"/>
          </a:xfrm>
          <a:prstGeom prst="rect">
            <a:avLst/>
          </a:prstGeom>
          <a:noFill/>
          <a:ln/>
        </p:spPr>
        <p:txBody>
          <a:bodyPr wrap="square" lIns="0" tIns="0" rIns="0" bIns="0" rtlCol="0" anchor="ctr"/>
          <a:lstStyle/>
          <a:p>
            <a:pPr indent="0" marL="0">
              <a:buNone/>
            </a:pPr>
            <a:r>
              <a:rPr lang="en-US" sz="850" b="1" dirty="0">
                <a:solidFill>
                  <a:srgbClr val="3E8E41"/>
                </a:solidFill>
                <a:latin typeface="Arial" pitchFamily="34" charset="0"/>
                <a:ea typeface="Arial" pitchFamily="34" charset="-122"/>
                <a:cs typeface="Arial" pitchFamily="34" charset="-120"/>
              </a:rPr>
              <a:t>PELUANG BISNIS DAN DAMPAK</a:t>
            </a:r>
            <a:endParaRPr lang="en-US" sz="850" dirty="0"/>
          </a:p>
        </p:txBody>
      </p:sp>
      <p:sp>
        <p:nvSpPr>
          <p:cNvPr id="4" name="Text 0"/>
          <p:cNvSpPr/>
          <p:nvPr>
            <p:ph idx="100" type="title" hasCustomPrompt="1"/>
          </p:nvPr>
        </p:nvSpPr>
        <p:spPr>
          <a:xfrm>
            <a:off x="841248" y="411480"/>
            <a:ext cx="10972800" cy="566928"/>
          </a:xfrm>
          <a:prstGeom prst="rect">
            <a:avLst/>
          </a:prstGeom>
          <a:noFill/>
          <a:ln/>
        </p:spPr>
        <p:txBody>
          <a:bodyPr wrap="square" lIns="0" tIns="0" rIns="0" bIns="0" rtlCol="0" anchor="t"/>
          <a:lstStyle/>
          <a:p>
            <a:pPr algn="l" indent="0" marL="0">
              <a:buNone/>
            </a:pPr>
            <a:r>
              <a:rPr lang="en-US" sz="1600" b="1" dirty="0">
                <a:solidFill>
                  <a:srgbClr val="0C2464"/>
                </a:solidFill>
                <a:latin typeface="Arial" pitchFamily="34" charset="0"/>
                <a:ea typeface="Arial" pitchFamily="34" charset="-122"/>
                <a:cs typeface="Arial" pitchFamily="34" charset="-120"/>
              </a:rPr>
              <a:t>Peluang dan dampak: SAM ±57 PKS (USD 73 juta/tahun) dan 10 set pada 2034 menghindari ±320 ribu tCO₂e/tahun; margin tipis menuntut gerbang sebelum modal besar</a:t>
            </a:r>
            <a:endParaRPr lang="en-US" sz="1600" dirty="0"/>
          </a:p>
        </p:txBody>
      </p:sp>
      <p:sp>
        <p:nvSpPr>
          <p:cNvPr id="5" name="teks-459"/>
          <p:cNvSpPr txBox="1"/>
          <p:nvPr/>
        </p:nvSpPr>
        <p:spPr>
          <a:xfrm>
            <a:off x="365760" y="1078992"/>
            <a:ext cx="39319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Ukuran pasar bottom-up (set setara 60 t TBS/jam)</a:t>
            </a:r>
            <a:endParaRPr lang="en-US" sz="850" dirty="0"/>
          </a:p>
        </p:txBody>
      </p:sp>
      <p:sp>
        <p:nvSpPr>
          <p:cNvPr id="6" name="garis-460"/>
          <p:cNvSpPr/>
          <p:nvPr/>
        </p:nvSpPr>
        <p:spPr>
          <a:xfrm>
            <a:off x="365760" y="1271016"/>
            <a:ext cx="3931920" cy="0"/>
          </a:xfrm>
          <a:prstGeom prst="line">
            <a:avLst/>
          </a:prstGeom>
          <a:noFill/>
          <a:ln w="15875">
            <a:solidFill>
              <a:srgbClr val="64BC54"/>
            </a:solidFill>
            <a:prstDash val="solid"/>
          </a:ln>
        </p:spPr>
      </p:sp>
      <p:sp>
        <p:nvSpPr>
          <p:cNvPr id="7" name="kotak-461"/>
          <p:cNvSpPr txBox="1"/>
          <p:nvPr/>
        </p:nvSpPr>
        <p:spPr>
          <a:xfrm>
            <a:off x="365760" y="1325880"/>
            <a:ext cx="3931920" cy="457200"/>
          </a:xfrm>
          <a:prstGeom prst="roundRect">
            <a:avLst>
              <a:gd name="adj" fmla="val 8000"/>
            </a:avLst>
          </a:prstGeom>
          <a:solidFill>
            <a:srgbClr val="0C2464"/>
          </a:solidFill>
          <a:ln>
            <a:solidFill>
              <a:srgbClr val="0C2464"/>
            </a:solidFill>
          </a:ln>
        </p:spPr>
        <p:txBody>
          <a:bodyPr wrap="square" lIns="12700" tIns="38100" rIns="38100" bIns="127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TAM: 756 set</a:t>
            </a:r>
            <a:endParaRPr lang="en-US" sz="900" dirty="0"/>
          </a:p>
          <a:p>
            <a:pPr algn="ctr" indent="0" marL="0">
              <a:buNone/>
            </a:pPr>
            <a:r>
              <a:rPr lang="en-US" sz="680" dirty="0">
                <a:solidFill>
                  <a:srgbClr val="FFFFFF"/>
                </a:solidFill>
                <a:latin typeface="Calibri" pitchFamily="34" charset="0"/>
                <a:ea typeface="Calibri" pitchFamily="34" charset="-122"/>
                <a:cs typeface="Calibri" pitchFamily="34" charset="-120"/>
              </a:rPr>
              <a:t>USD 960 juta/tahun · 1.210 MWe</a:t>
            </a:r>
            <a:endParaRPr lang="en-US" sz="900" dirty="0"/>
          </a:p>
        </p:txBody>
      </p:sp>
      <p:sp>
        <p:nvSpPr>
          <p:cNvPr id="8" name="kotak-462"/>
          <p:cNvSpPr txBox="1"/>
          <p:nvPr/>
        </p:nvSpPr>
        <p:spPr>
          <a:xfrm>
            <a:off x="731520" y="1837944"/>
            <a:ext cx="3200400" cy="457200"/>
          </a:xfrm>
          <a:prstGeom prst="roundRect">
            <a:avLst>
              <a:gd name="adj" fmla="val 8000"/>
            </a:avLst>
          </a:prstGeom>
          <a:solidFill>
            <a:srgbClr val="244C9C"/>
          </a:solidFill>
          <a:ln>
            <a:solidFill>
              <a:srgbClr val="244C9C"/>
            </a:solidFill>
          </a:ln>
        </p:spPr>
        <p:txBody>
          <a:bodyPr wrap="square" lIns="12700" tIns="38100" rIns="38100" bIns="127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SAM-luas: 636 set</a:t>
            </a:r>
            <a:endParaRPr lang="en-US" sz="900" dirty="0"/>
          </a:p>
          <a:p>
            <a:pPr algn="ctr" indent="0" marL="0">
              <a:buNone/>
            </a:pPr>
            <a:r>
              <a:rPr lang="en-US" sz="680" dirty="0">
                <a:solidFill>
                  <a:srgbClr val="FFFFFF"/>
                </a:solidFill>
                <a:latin typeface="Calibri" pitchFamily="34" charset="0"/>
                <a:ea typeface="Calibri" pitchFamily="34" charset="-122"/>
                <a:cs typeface="Calibri" pitchFamily="34" charset="-120"/>
              </a:rPr>
              <a:t>USD 807 juta/tahun · 1.017 MWe</a:t>
            </a:r>
            <a:endParaRPr lang="en-US" sz="900" dirty="0"/>
          </a:p>
        </p:txBody>
      </p:sp>
      <p:sp>
        <p:nvSpPr>
          <p:cNvPr id="9" name="kotak-463"/>
          <p:cNvSpPr txBox="1"/>
          <p:nvPr/>
        </p:nvSpPr>
        <p:spPr>
          <a:xfrm>
            <a:off x="1097280" y="2350008"/>
            <a:ext cx="2468880" cy="457200"/>
          </a:xfrm>
          <a:prstGeom prst="roundRect">
            <a:avLst>
              <a:gd name="adj" fmla="val 8000"/>
            </a:avLst>
          </a:prstGeom>
          <a:solidFill>
            <a:srgbClr val="3E8E41"/>
          </a:solidFill>
          <a:ln>
            <a:solidFill>
              <a:srgbClr val="3E8E41"/>
            </a:solidFill>
          </a:ln>
        </p:spPr>
        <p:txBody>
          <a:bodyPr wrap="square" lIns="12700" tIns="38100" rIns="38100" bIns="127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SAM: 57 set</a:t>
            </a:r>
            <a:endParaRPr lang="en-US" sz="900" dirty="0"/>
          </a:p>
          <a:p>
            <a:pPr algn="ctr" indent="0" marL="0">
              <a:buNone/>
            </a:pPr>
            <a:r>
              <a:rPr lang="en-US" sz="680" dirty="0">
                <a:solidFill>
                  <a:srgbClr val="FFFFFF"/>
                </a:solidFill>
                <a:latin typeface="Calibri" pitchFamily="34" charset="0"/>
                <a:ea typeface="Calibri" pitchFamily="34" charset="-122"/>
                <a:cs typeface="Calibri" pitchFamily="34" charset="-120"/>
              </a:rPr>
              <a:t>USD 73 juta/tahun · 92 MWe</a:t>
            </a:r>
            <a:endParaRPr lang="en-US" sz="900" dirty="0"/>
          </a:p>
        </p:txBody>
      </p:sp>
      <p:sp>
        <p:nvSpPr>
          <p:cNvPr id="10" name="kotak-464"/>
          <p:cNvSpPr txBox="1"/>
          <p:nvPr/>
        </p:nvSpPr>
        <p:spPr>
          <a:xfrm>
            <a:off x="1463040" y="2862072"/>
            <a:ext cx="1737360" cy="457200"/>
          </a:xfrm>
          <a:prstGeom prst="roundRect">
            <a:avLst>
              <a:gd name="adj" fmla="val 8000"/>
            </a:avLst>
          </a:prstGeom>
          <a:solidFill>
            <a:srgbClr val="54B4CC"/>
          </a:solidFill>
          <a:ln>
            <a:solidFill>
              <a:srgbClr val="54B4CC"/>
            </a:solidFill>
          </a:ln>
        </p:spPr>
        <p:txBody>
          <a:bodyPr wrap="square" lIns="12700" tIns="38100" rIns="38100" bIns="127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SOM 2034: 10 set</a:t>
            </a:r>
            <a:endParaRPr lang="en-US" sz="900" dirty="0"/>
          </a:p>
          <a:p>
            <a:pPr algn="ctr" indent="0" marL="0">
              <a:buNone/>
            </a:pPr>
            <a:r>
              <a:rPr lang="en-US" sz="680" dirty="0">
                <a:solidFill>
                  <a:srgbClr val="FFFFFF"/>
                </a:solidFill>
                <a:latin typeface="Calibri" pitchFamily="34" charset="0"/>
                <a:ea typeface="Calibri" pitchFamily="34" charset="-122"/>
                <a:cs typeface="Calibri" pitchFamily="34" charset="-120"/>
              </a:rPr>
              <a:t>USD 13 juta/tahun · 16 MWe</a:t>
            </a:r>
            <a:endParaRPr lang="en-US" sz="900" dirty="0"/>
          </a:p>
        </p:txBody>
      </p:sp>
      <p:sp>
        <p:nvSpPr>
          <p:cNvPr id="11" name="teks-465"/>
          <p:cNvSpPr txBox="1"/>
          <p:nvPr/>
        </p:nvSpPr>
        <p:spPr>
          <a:xfrm>
            <a:off x="365760" y="3401568"/>
            <a:ext cx="3931920" cy="548640"/>
          </a:xfrm>
          <a:prstGeom prst="rect">
            <a:avLst/>
          </a:prstGeom>
          <a:noFill/>
          <a:ln/>
        </p:spPr>
        <p:txBody>
          <a:bodyPr wrap="square" lIns="0" tIns="0" rIns="0" bIns="0" rtlCol="0" anchor="t"/>
          <a:lstStyle/>
          <a:p>
            <a:pPr indent="0" marL="0">
              <a:buNone/>
            </a:pPr>
            <a:r>
              <a:rPr lang="en-US" sz="640" dirty="0">
                <a:solidFill>
                  <a:srgbClr val="14213D"/>
                </a:solidFill>
                <a:latin typeface="Calibri" pitchFamily="34" charset="0"/>
                <a:ea typeface="Calibri" pitchFamily="34" charset="-122"/>
                <a:cs typeface="Calibri" pitchFamily="34" charset="-120"/>
              </a:rPr>
              <a:t>TAM: PKS tanpa penangkap (±1.150). SAM-luas: + 30–60 t/jam, Sumatera/Kalimantan. SAM: + solar ≥ 2 L/t (20%) × jaringan ≤ 2 km (60%) × bebas program grup (75%): hipotesis, dikoreksi di gerbang G0. SOM: 10 set = 17% SAM, 22% laju bangun PLTBg nasional.</a:t>
            </a:r>
            <a:endParaRPr lang="en-US" sz="640" dirty="0"/>
          </a:p>
        </p:txBody>
      </p:sp>
      <p:sp>
        <p:nvSpPr>
          <p:cNvPr id="12" name="teks-466"/>
          <p:cNvSpPr txBox="1"/>
          <p:nvPr/>
        </p:nvSpPr>
        <p:spPr>
          <a:xfrm>
            <a:off x="365760" y="4023360"/>
            <a:ext cx="393192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Tawaran kepada pemodal</a:t>
            </a:r>
            <a:endParaRPr lang="en-US" sz="850" dirty="0"/>
          </a:p>
        </p:txBody>
      </p:sp>
      <p:sp>
        <p:nvSpPr>
          <p:cNvPr id="13" name="garis-467"/>
          <p:cNvSpPr/>
          <p:nvPr/>
        </p:nvSpPr>
        <p:spPr>
          <a:xfrm>
            <a:off x="365760" y="4215384"/>
            <a:ext cx="3931920" cy="0"/>
          </a:xfrm>
          <a:prstGeom prst="line">
            <a:avLst/>
          </a:prstGeom>
          <a:noFill/>
          <a:ln w="15875">
            <a:solidFill>
              <a:srgbClr val="64BC54"/>
            </a:solidFill>
            <a:prstDash val="solid"/>
          </a:ln>
        </p:spPr>
      </p:sp>
      <p:graphicFrame>
        <p:nvGraphicFramePr>
          <p:cNvPr id="10" name="tabel-468"/>
          <p:cNvGraphicFramePr>
            <a:graphicFrameLocks noGrp="1"/>
          </p:cNvGraphicFramePr>
          <p:nvPr>
            <p:extLst>
              <p:ext uri="{D42A27DB-BD31-4B8C-83A1-F6EECF244321}">
                <p14:modId xmlns:p14="http://schemas.microsoft.com/office/powerpoint/2010/main" val="1579011935"/>
              </p:ext>
            </p:extLst>
          </p:nvPr>
        </p:nvGraphicFramePr>
        <p:xfrm>
          <a:off x="365760" y="4251960"/>
          <a:ext cx="3931920" cy="914400"/>
        </p:xfrm>
        <a:graphic>
          <a:graphicData uri="http://schemas.openxmlformats.org/drawingml/2006/table">
            <a:tbl>
              <a:tblPr/>
              <a:tblGrid>
                <a:gridCol w="1463040"/>
                <a:gridCol w="2468880"/>
              </a:tblGrid>
              <a:tr h="210312">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Unit pertama (60 t/jam)</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60" b="1" dirty="0">
                          <a:solidFill>
                            <a:srgbClr val="FFFFFF"/>
                          </a:solidFill>
                          <a:latin typeface="Calibri" pitchFamily="34" charset="0"/>
                          <a:ea typeface="Calibri" pitchFamily="34" charset="-122"/>
                          <a:cs typeface="Calibri" pitchFamily="34" charset="-120"/>
                        </a:rPr>
                        <a:t>Nilai</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1031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Kebutuhan dana puncak</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USD 6,5 juta (utang 58%)</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IRR proyek · ekuitas</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10,3% · 10,9%</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Unit ke-10 (belajar)</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IRR 13,5%, NPV USD 1,20 juta</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Armada 10 set</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puncak USD 43 juta; NPV USD −5,2 juta</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10312">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Impas korporasi</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±11 set (overhead PV USD 7,9 juta)</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15" name="teks-469"/>
          <p:cNvSpPr txBox="1"/>
          <p:nvPr/>
        </p:nvSpPr>
        <p:spPr>
          <a:xfrm>
            <a:off x="365760" y="5623560"/>
            <a:ext cx="3931920" cy="365760"/>
          </a:xfrm>
          <a:prstGeom prst="rect">
            <a:avLst/>
          </a:prstGeom>
          <a:noFill/>
          <a:ln/>
        </p:spPr>
        <p:txBody>
          <a:bodyPr wrap="square" lIns="0" tIns="0" rIns="0" bIns="0" rtlCol="0" anchor="t"/>
          <a:lstStyle/>
          <a:p>
            <a:pPr indent="0" marL="0">
              <a:buNone/>
            </a:pPr>
            <a:r>
              <a:rPr lang="en-US" sz="640" b="1" dirty="0">
                <a:solidFill>
                  <a:srgbClr val="0C2464"/>
                </a:solidFill>
                <a:latin typeface="Calibri" pitchFamily="34" charset="0"/>
                <a:ea typeface="Calibri" pitchFamily="34" charset="-122"/>
                <a:cs typeface="Calibri" pitchFamily="34" charset="-120"/>
              </a:rPr>
              <a:t>Cocok untuk dana infrastruktur hijau dan pembiayaan campuran (hibah risiko pilot), bukan modal ventura: IRR ekuitas di bawah biaya ekuitas 15%.</a:t>
            </a:r>
            <a:endParaRPr lang="en-US" sz="640" dirty="0"/>
          </a:p>
        </p:txBody>
      </p:sp>
      <p:sp>
        <p:nvSpPr>
          <p:cNvPr id="16" name="teks-470"/>
          <p:cNvSpPr txBox="1"/>
          <p:nvPr/>
        </p:nvSpPr>
        <p:spPr>
          <a:xfrm>
            <a:off x="4480560" y="1078992"/>
            <a:ext cx="36576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Dampak yang dapat diukur per set 60 t TBS/jam</a:t>
            </a:r>
            <a:endParaRPr lang="en-US" sz="850" dirty="0"/>
          </a:p>
        </p:txBody>
      </p:sp>
      <p:sp>
        <p:nvSpPr>
          <p:cNvPr id="17" name="garis-471"/>
          <p:cNvSpPr/>
          <p:nvPr/>
        </p:nvSpPr>
        <p:spPr>
          <a:xfrm>
            <a:off x="4480560" y="1271016"/>
            <a:ext cx="3657600" cy="0"/>
          </a:xfrm>
          <a:prstGeom prst="line">
            <a:avLst/>
          </a:prstGeom>
          <a:noFill/>
          <a:ln w="15875">
            <a:solidFill>
              <a:srgbClr val="64BC54"/>
            </a:solidFill>
            <a:prstDash val="solid"/>
          </a:ln>
        </p:spPr>
      </p:sp>
      <p:graphicFrame>
        <p:nvGraphicFramePr>
          <p:cNvPr id="19" name="tabel-472"/>
          <p:cNvGraphicFramePr>
            <a:graphicFrameLocks noGrp="1"/>
          </p:cNvGraphicFramePr>
          <p:nvPr>
            <p:extLst>
              <p:ext uri="{D42A27DB-BD31-4B8C-83A1-F6EECF244321}">
                <p14:modId xmlns:p14="http://schemas.microsoft.com/office/powerpoint/2010/main" val="1579011935"/>
              </p:ext>
            </p:extLst>
          </p:nvPr>
        </p:nvGraphicFramePr>
        <p:xfrm>
          <a:off x="4480560" y="1307592"/>
          <a:ext cx="3657600" cy="914400"/>
        </p:xfrm>
        <a:graphic>
          <a:graphicData uri="http://schemas.openxmlformats.org/drawingml/2006/table">
            <a:tbl>
              <a:tblPr/>
              <a:tblGrid>
                <a:gridCol w="1005840"/>
                <a:gridCol w="1691640"/>
                <a:gridCol w="960120"/>
              </a:tblGrid>
              <a:tr h="274320">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Tujuan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Hasil terukur</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Metode</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SDG 13 aksi iklim</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32.001 tCO₂e/tahun (−96%)</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AMS-III.H, UF 0,89</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SDG 7 energi bersih</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6,5 GWh/tahun; 1,55 ke PKS</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simulasi 365 hari</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SDG 7/13 solar</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 465 ribu L/tahun tergantikan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1,55 GWh × 0,30 L/kWh</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SDG 8 pekerjaan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10 pekerja lokal</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rencana staf</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SDG 6 air</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BOD efluen 1.543 mg/L, tanpa buang ke sungai</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uji lab (G3)</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Tata kelola (ESG)</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K3: HAZOP, SOP; pemantauan emisi dan efluen terbuka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G2, G3</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19" name="teks-473"/>
          <p:cNvSpPr txBox="1"/>
          <p:nvPr/>
        </p:nvSpPr>
        <p:spPr>
          <a:xfrm>
            <a:off x="4480560" y="3383280"/>
            <a:ext cx="36576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Hasil keberlanjutan awal (LCA gerbang-ke-gerbang)</a:t>
            </a:r>
            <a:endParaRPr lang="en-US" sz="850" dirty="0"/>
          </a:p>
        </p:txBody>
      </p:sp>
      <p:sp>
        <p:nvSpPr>
          <p:cNvPr id="20" name="garis-474"/>
          <p:cNvSpPr/>
          <p:nvPr/>
        </p:nvSpPr>
        <p:spPr>
          <a:xfrm>
            <a:off x="4480560" y="3575304"/>
            <a:ext cx="3657600" cy="0"/>
          </a:xfrm>
          <a:prstGeom prst="line">
            <a:avLst/>
          </a:prstGeom>
          <a:noFill/>
          <a:ln w="15875">
            <a:solidFill>
              <a:srgbClr val="64BC54"/>
            </a:solidFill>
            <a:prstDash val="solid"/>
          </a:ln>
        </p:spPr>
      </p:sp>
      <p:graphicFrame>
        <p:nvGraphicFramePr>
          <p:cNvPr id="21" name="Chart 0" descr=""/>
          <p:cNvGraphicFramePr/>
          <p:nvPr/>
        </p:nvGraphicFramePr>
        <p:xfrm>
          <a:off x="4434840" y="3584448"/>
          <a:ext cx="3749040" cy="1737360"/>
        </p:xfrm>
        <a:graphic xmlns:a="http://schemas.openxmlformats.org/drawingml/2006/main">
          <a:graphicData uri="http://schemas.openxmlformats.org/drawingml/2006/chart">
            <c:chart xmlns:c="http://schemas.openxmlformats.org/drawingml/2006/chart" r:id="rId1"/>
          </a:graphicData>
        </a:graphic>
      </p:graphicFrame>
      <p:sp>
        <p:nvSpPr>
          <p:cNvPr id="22" name="teks-475"/>
          <p:cNvSpPr txBox="1"/>
          <p:nvPr/>
        </p:nvSpPr>
        <p:spPr>
          <a:xfrm>
            <a:off x="4480560" y="5349240"/>
            <a:ext cx="3657600" cy="502920"/>
          </a:xfrm>
          <a:prstGeom prst="rect">
            <a:avLst/>
          </a:prstGeom>
          <a:noFill/>
          <a:ln/>
        </p:spPr>
        <p:txBody>
          <a:bodyPr wrap="square" lIns="0" tIns="0" rIns="0" bIns="0" rtlCol="0" anchor="t"/>
          <a:lstStyle/>
          <a:p>
            <a:pPr indent="0" marL="0">
              <a:buNone/>
            </a:pPr>
            <a:r>
              <a:rPr lang="en-US" sz="630" dirty="0">
                <a:solidFill>
                  <a:srgbClr val="14213D"/>
                </a:solidFill>
                <a:latin typeface="Calibri" pitchFamily="34" charset="0"/>
                <a:ea typeface="Calibri" pitchFamily="34" charset="-122"/>
                <a:cs typeface="Calibri" pitchFamily="34" charset="-120"/>
              </a:rPr>
              <a:t>Titik panas: efluen di kolam polishing (MCF 0,3; uji pada 0,8 akan memangkas kredit ±1,3 ribu t). Manfaat tambahan tidak dimonetisasi (tanpa hitung ganda): ekspor listrik 3.996 tCO₂e, solar 1.247 tCO₂e per tahun.</a:t>
            </a:r>
            <a:endParaRPr lang="en-US" sz="630" dirty="0"/>
          </a:p>
        </p:txBody>
      </p:sp>
      <p:sp>
        <p:nvSpPr>
          <p:cNvPr id="23" name="teks-476"/>
          <p:cNvSpPr txBox="1"/>
          <p:nvPr/>
        </p:nvSpPr>
        <p:spPr>
          <a:xfrm>
            <a:off x="8321040" y="1078992"/>
            <a:ext cx="35204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Trade-off ekonomi dan lingkungan</a:t>
            </a:r>
            <a:endParaRPr lang="en-US" sz="850" dirty="0"/>
          </a:p>
        </p:txBody>
      </p:sp>
      <p:sp>
        <p:nvSpPr>
          <p:cNvPr id="24" name="garis-477"/>
          <p:cNvSpPr/>
          <p:nvPr/>
        </p:nvSpPr>
        <p:spPr>
          <a:xfrm>
            <a:off x="8321040" y="1271016"/>
            <a:ext cx="3520440" cy="0"/>
          </a:xfrm>
          <a:prstGeom prst="line">
            <a:avLst/>
          </a:prstGeom>
          <a:noFill/>
          <a:ln w="15875">
            <a:solidFill>
              <a:srgbClr val="64BC54"/>
            </a:solidFill>
            <a:prstDash val="solid"/>
          </a:ln>
        </p:spPr>
      </p:sp>
      <p:graphicFrame>
        <p:nvGraphicFramePr>
          <p:cNvPr id="28" name="tabel-478"/>
          <p:cNvGraphicFramePr>
            <a:graphicFrameLocks noGrp="1"/>
          </p:cNvGraphicFramePr>
          <p:nvPr>
            <p:extLst>
              <p:ext uri="{D42A27DB-BD31-4B8C-83A1-F6EECF244321}">
                <p14:modId xmlns:p14="http://schemas.microsoft.com/office/powerpoint/2010/main" val="1579011935"/>
              </p:ext>
            </p:extLst>
          </p:nvPr>
        </p:nvGraphicFramePr>
        <p:xfrm>
          <a:off x="8321040" y="1307592"/>
          <a:ext cx="3520440" cy="914400"/>
        </p:xfrm>
        <a:graphic>
          <a:graphicData uri="http://schemas.openxmlformats.org/drawingml/2006/table">
            <a:tbl>
              <a:tblPr/>
              <a:tblGrid>
                <a:gridCol w="1188720"/>
                <a:gridCol w="1234440"/>
                <a:gridCol w="1097280"/>
              </a:tblGrid>
              <a:tr h="301752">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Pilihan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Ekonomi</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30" b="1" dirty="0">
                          <a:solidFill>
                            <a:srgbClr val="FFFFFF"/>
                          </a:solidFill>
                          <a:latin typeface="Calibri" pitchFamily="34" charset="0"/>
                          <a:ea typeface="Calibri" pitchFamily="34" charset="-122"/>
                          <a:cs typeface="Calibri" pitchFamily="34" charset="-120"/>
                        </a:rPr>
                        <a:t>Lingkungan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301752">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Tangki ekualisasi PM-12</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NPV +0,08; PKS hemat +6,7 poin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solar tergantikan ↑ 27%</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301752">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Efluen ke kolam polishing</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tanpa biaya baru</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emisi CH₄ sisa 777 t</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301752">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Ekspor PLN tanpa karbon ganda</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47% pendapatan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grid −4.000 t (tak diklaim)</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301752">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Kredit karbon USD 5/t</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5,5% pendapatan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30" dirty="0">
                          <a:solidFill>
                            <a:srgbClr val="14213D"/>
                          </a:solidFill>
                          <a:latin typeface="Calibri" pitchFamily="34" charset="0"/>
                          <a:ea typeface="Calibri" pitchFamily="34" charset="-122"/>
                          <a:cs typeface="Calibri" pitchFamily="34" charset="-120"/>
                        </a:rPr>
                        <a:t>bukan penentu kelayakan</a:t>
                      </a:r>
                      <a:endParaRPr lang="en-US" sz="63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26" name="teks-479"/>
          <p:cNvSpPr txBox="1"/>
          <p:nvPr/>
        </p:nvSpPr>
        <p:spPr>
          <a:xfrm>
            <a:off x="8321040" y="3017520"/>
            <a:ext cx="35204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Penjualan armada (set operasi)</a:t>
            </a:r>
            <a:endParaRPr lang="en-US" sz="850" dirty="0"/>
          </a:p>
        </p:txBody>
      </p:sp>
      <p:sp>
        <p:nvSpPr>
          <p:cNvPr id="27" name="garis-480"/>
          <p:cNvSpPr/>
          <p:nvPr/>
        </p:nvSpPr>
        <p:spPr>
          <a:xfrm>
            <a:off x="8321040" y="3209544"/>
            <a:ext cx="3520440" cy="0"/>
          </a:xfrm>
          <a:prstGeom prst="line">
            <a:avLst/>
          </a:prstGeom>
          <a:noFill/>
          <a:ln w="15875">
            <a:solidFill>
              <a:srgbClr val="64BC54"/>
            </a:solidFill>
            <a:prstDash val="solid"/>
          </a:ln>
        </p:spPr>
      </p:sp>
      <p:graphicFrame>
        <p:nvGraphicFramePr>
          <p:cNvPr id="28" name="Chart 1" descr=""/>
          <p:cNvGraphicFramePr/>
          <p:nvPr/>
        </p:nvGraphicFramePr>
        <p:xfrm>
          <a:off x="8275320" y="3218688"/>
          <a:ext cx="3611880" cy="1737360"/>
        </p:xfrm>
        <a:graphic xmlns:a="http://schemas.openxmlformats.org/drawingml/2006/main">
          <a:graphicData uri="http://schemas.openxmlformats.org/drawingml/2006/chart">
            <c:chart xmlns:c="http://schemas.openxmlformats.org/drawingml/2006/chart" r:id="rId2"/>
          </a:graphicData>
        </a:graphic>
      </p:graphicFrame>
      <p:sp>
        <p:nvSpPr>
          <p:cNvPr id="29" name="teks-481"/>
          <p:cNvSpPr txBox="1"/>
          <p:nvPr/>
        </p:nvSpPr>
        <p:spPr>
          <a:xfrm>
            <a:off x="8321040" y="5029200"/>
            <a:ext cx="3520440" cy="365760"/>
          </a:xfrm>
          <a:prstGeom prst="rect">
            <a:avLst/>
          </a:prstGeom>
          <a:noFill/>
          <a:ln/>
        </p:spPr>
        <p:txBody>
          <a:bodyPr wrap="square" lIns="0" tIns="0" rIns="0" bIns="0" rtlCol="0" anchor="t"/>
          <a:lstStyle/>
          <a:p>
            <a:pPr indent="0" marL="0">
              <a:buNone/>
            </a:pPr>
            <a:r>
              <a:rPr lang="en-US" sz="640" dirty="0">
                <a:solidFill>
                  <a:srgbClr val="14213D"/>
                </a:solidFill>
                <a:latin typeface="Calibri" pitchFamily="34" charset="0"/>
                <a:ea typeface="Calibri" pitchFamily="34" charset="-122"/>
                <a:cs typeface="Calibri" pitchFamily="34" charset="-120"/>
              </a:rPr>
              <a:t>2027–2034: 8 tahun penggelaran, 10 set (1·1·1·1·1·1·2·2). Dampak armada puncak: 304 ribu tCO₂e dikreditkan per tahun.</a:t>
            </a:r>
            <a:endParaRPr lang="en-US" sz="640" dirty="0"/>
          </a:p>
        </p:txBody>
      </p:sp>
      <p:sp>
        <p:nvSpPr>
          <p:cNvPr id="30" name="teks-482"/>
          <p:cNvSpPr txBox="1"/>
          <p:nvPr/>
        </p:nvSpPr>
        <p:spPr>
          <a:xfrm>
            <a:off x="365760" y="6419088"/>
            <a:ext cx="11109960" cy="246888"/>
          </a:xfrm>
          <a:prstGeom prst="rect">
            <a:avLst/>
          </a:prstGeom>
          <a:noFill/>
          <a:ln/>
        </p:spPr>
        <p:txBody>
          <a:bodyPr wrap="square" lIns="0" tIns="0" rIns="0" bIns="0" rtlCol="0" anchor="ctr"/>
          <a:lstStyle/>
          <a:p>
            <a:pPr indent="0" marL="0">
              <a:buNone/>
            </a:pPr>
            <a:r>
              <a:rPr lang="en-US" sz="590" dirty="0">
                <a:solidFill>
                  <a:srgbClr val="587888"/>
                </a:solidFill>
                <a:latin typeface="Calibri" pitchFamily="34" charset="0"/>
                <a:ea typeface="Calibri" pitchFamily="34" charset="-122"/>
                <a:cs typeface="Calibri" pitchFamily="34" charset="-120"/>
              </a:rPr>
              <a:t>Singkatan: SAM pasar yang dapat dilayani; SOM pasar yang dapat dicapai; LCA penilaian daur hidup; MCF faktor koreksi metana; MRV pemantauan, pelaporan, verifikasi; PLTBg pembangkit listrik tenaga biogas.</a:t>
            </a:r>
            <a:endParaRPr lang="en-US" sz="590" dirty="0"/>
          </a:p>
          <a:p>
            <a:pPr indent="0" marL="0">
              <a:buNone/>
            </a:pPr>
            <a:r>
              <a:rPr lang="en-US" sz="590" dirty="0">
                <a:solidFill>
                  <a:srgbClr val="587888"/>
                </a:solidFill>
                <a:latin typeface="Calibri" pitchFamily="34" charset="0"/>
                <a:ea typeface="Calibri" pitchFamily="34" charset="-122"/>
                <a:cs typeface="Calibri" pitchFamily="34" charset="-120"/>
              </a:rPr>
              <a:t>Sumber: fin_market.py, fin_core.py (armada), neraca proses Rev 2; faktor baja 1,9 kgCO₂e/kg (ICE v3, asumsi); research/R1, R3.</a:t>
            </a:r>
            <a:endParaRPr lang="en-US" sz="59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nomor-483"/>
          <p:cNvSpPr txBox="1"/>
          <p:nvPr/>
        </p:nvSpPr>
        <p:spPr>
          <a:xfrm>
            <a:off x="365760" y="246888"/>
            <a:ext cx="384048" cy="384048"/>
          </a:xfrm>
          <a:prstGeom prst="rect">
            <a:avLst/>
          </a:prstGeom>
          <a:solidFill>
            <a:srgbClr val="0C2464"/>
          </a:solid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3" name="kicker-484"/>
          <p:cNvSpPr txBox="1"/>
          <p:nvPr/>
        </p:nvSpPr>
        <p:spPr>
          <a:xfrm>
            <a:off x="841248" y="228600"/>
            <a:ext cx="8686800" cy="182880"/>
          </a:xfrm>
          <a:prstGeom prst="rect">
            <a:avLst/>
          </a:prstGeom>
          <a:noFill/>
          <a:ln/>
        </p:spPr>
        <p:txBody>
          <a:bodyPr wrap="square" lIns="0" tIns="0" rIns="0" bIns="0" rtlCol="0" anchor="ctr"/>
          <a:lstStyle/>
          <a:p>
            <a:pPr indent="0" marL="0">
              <a:buNone/>
            </a:pPr>
            <a:r>
              <a:rPr lang="en-US" sz="850" b="1" dirty="0">
                <a:solidFill>
                  <a:srgbClr val="3E8E41"/>
                </a:solidFill>
                <a:latin typeface="Arial" pitchFamily="34" charset="0"/>
                <a:ea typeface="Arial" pitchFamily="34" charset="-122"/>
                <a:cs typeface="Arial" pitchFamily="34" charset="-120"/>
              </a:rPr>
              <a:t>KESIMPULAN</a:t>
            </a:r>
            <a:endParaRPr lang="en-US" sz="850" dirty="0"/>
          </a:p>
        </p:txBody>
      </p:sp>
      <p:sp>
        <p:nvSpPr>
          <p:cNvPr id="4" name="Text 0"/>
          <p:cNvSpPr/>
          <p:nvPr>
            <p:ph idx="100" type="title" hasCustomPrompt="1"/>
          </p:nvPr>
        </p:nvSpPr>
        <p:spPr>
          <a:xfrm>
            <a:off x="841248" y="411480"/>
            <a:ext cx="10972800" cy="566928"/>
          </a:xfrm>
          <a:prstGeom prst="rect">
            <a:avLst/>
          </a:prstGeom>
          <a:noFill/>
          <a:ln/>
        </p:spPr>
        <p:txBody>
          <a:bodyPr wrap="square" lIns="0" tIns="0" rIns="0" bIns="0" rtlCol="0" anchor="t"/>
          <a:lstStyle/>
          <a:p>
            <a:pPr algn="l" indent="0" marL="0">
              <a:buNone/>
            </a:pPr>
            <a:r>
              <a:rPr lang="en-US" sz="1600" b="1" dirty="0">
                <a:solidFill>
                  <a:srgbClr val="0C2464"/>
                </a:solidFill>
                <a:latin typeface="Arial" pitchFamily="34" charset="0"/>
                <a:ea typeface="Arial" pitchFamily="34" charset="-122"/>
                <a:cs typeface="Arial" pitchFamily="34" charset="-120"/>
              </a:rPr>
              <a:t>Kesimpulan: konsep layak teknis dan berdampak besar, tetapi layak komersial hanya bersyarat; langkah berikutnya adalah pilot dan kuotasi dengan dana pengembangan USD 1,3 juta</a:t>
            </a:r>
            <a:endParaRPr lang="en-US" sz="1600" dirty="0"/>
          </a:p>
        </p:txBody>
      </p:sp>
      <p:sp>
        <p:nvSpPr>
          <p:cNvPr id="5" name="teks-485"/>
          <p:cNvSpPr txBox="1"/>
          <p:nvPr/>
        </p:nvSpPr>
        <p:spPr>
          <a:xfrm>
            <a:off x="365760" y="1078992"/>
            <a:ext cx="55778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Tesis investasi dan komersialisasi</a:t>
            </a:r>
            <a:endParaRPr lang="en-US" sz="850" dirty="0"/>
          </a:p>
        </p:txBody>
      </p:sp>
      <p:sp>
        <p:nvSpPr>
          <p:cNvPr id="6" name="garis-486"/>
          <p:cNvSpPr/>
          <p:nvPr/>
        </p:nvSpPr>
        <p:spPr>
          <a:xfrm>
            <a:off x="365760" y="1271016"/>
            <a:ext cx="5577840" cy="0"/>
          </a:xfrm>
          <a:prstGeom prst="line">
            <a:avLst/>
          </a:prstGeom>
          <a:noFill/>
          <a:ln w="15875">
            <a:solidFill>
              <a:srgbClr val="64BC54"/>
            </a:solidFill>
            <a:prstDash val="solid"/>
          </a:ln>
        </p:spPr>
      </p:sp>
      <p:sp>
        <p:nvSpPr>
          <p:cNvPr id="7" name="teks-487"/>
          <p:cNvSpPr txBox="1"/>
          <p:nvPr/>
        </p:nvSpPr>
        <p:spPr>
          <a:xfrm>
            <a:off x="365760" y="1325880"/>
            <a:ext cx="5577840" cy="777240"/>
          </a:xfrm>
          <a:prstGeom prst="rect">
            <a:avLst/>
          </a:prstGeom>
          <a:noFill/>
          <a:ln/>
        </p:spPr>
        <p:txBody>
          <a:bodyPr wrap="square" lIns="0" tIns="0" rIns="0" bIns="0" rtlCol="0" anchor="t"/>
          <a:lstStyle/>
          <a:p>
            <a:pPr indent="0" marL="0">
              <a:buNone/>
            </a:pPr>
            <a:r>
              <a:rPr lang="en-US" sz="800" b="1" dirty="0">
                <a:solidFill>
                  <a:srgbClr val="14213D"/>
                </a:solidFill>
                <a:latin typeface="Calibri" pitchFamily="34" charset="0"/>
                <a:ea typeface="Calibri" pitchFamily="34" charset="-122"/>
                <a:cs typeface="Calibri" pitchFamily="34" charset="-120"/>
              </a:rPr>
              <a:t>Mengapa penting: </a:t>
            </a:r>
            <a:pPr indent="0" marL="0">
              <a:buNone/>
            </a:pPr>
            <a:r>
              <a:rPr lang="en-US" sz="800" dirty="0">
                <a:solidFill>
                  <a:srgbClr val="14213D"/>
                </a:solidFill>
                <a:latin typeface="Calibri" pitchFamily="34" charset="0"/>
                <a:ea typeface="Calibri" pitchFamily="34" charset="-122"/>
                <a:cs typeface="Calibri" pitchFamily="34" charset="-120"/>
              </a:rPr>
              <a:t>±1.150 PKS melepas ≈ 26 juta tCO₂e/tahun metana. </a:t>
            </a:r>
            <a:pPr indent="0" marL="0">
              <a:buNone/>
            </a:pPr>
            <a:r>
              <a:rPr lang="en-US" sz="800" b="1" dirty="0">
                <a:solidFill>
                  <a:srgbClr val="14213D"/>
                </a:solidFill>
                <a:latin typeface="Calibri" pitchFamily="34" charset="0"/>
                <a:ea typeface="Calibri" pitchFamily="34" charset="-122"/>
                <a:cs typeface="Calibri" pitchFamily="34" charset="-120"/>
              </a:rPr>
              <a:t>Mengapa kredibel: </a:t>
            </a:r>
            <a:pPr indent="0" marL="0">
              <a:buNone/>
            </a:pPr>
            <a:r>
              <a:rPr lang="en-US" sz="800" dirty="0">
                <a:solidFill>
                  <a:srgbClr val="14213D"/>
                </a:solidFill>
                <a:latin typeface="Calibri" pitchFamily="34" charset="0"/>
                <a:ea typeface="Calibri" pitchFamily="34" charset="-122"/>
                <a:cs typeface="Calibri" pitchFamily="34" charset="-120"/>
              </a:rPr>
              <a:t>neraca massa menutup, genset dan tangki GFS matang, reaktor 5 hari; TRL 4 jujur. </a:t>
            </a:r>
            <a:pPr indent="0" marL="0">
              <a:buNone/>
            </a:pPr>
            <a:r>
              <a:rPr lang="en-US" sz="800" b="1" dirty="0">
                <a:solidFill>
                  <a:srgbClr val="14213D"/>
                </a:solidFill>
                <a:latin typeface="Calibri" pitchFamily="34" charset="0"/>
                <a:ea typeface="Calibri" pitchFamily="34" charset="-122"/>
                <a:cs typeface="Calibri" pitchFamily="34" charset="-120"/>
              </a:rPr>
              <a:t>Mengapa PKS mau: </a:t>
            </a:r>
            <a:pPr indent="0" marL="0">
              <a:buNone/>
            </a:pPr>
            <a:r>
              <a:rPr lang="en-US" sz="800" dirty="0">
                <a:solidFill>
                  <a:srgbClr val="14213D"/>
                </a:solidFill>
                <a:latin typeface="Calibri" pitchFamily="34" charset="0"/>
                <a:ea typeface="Calibri" pitchFamily="34" charset="-122"/>
                <a:cs typeface="Calibri" pitchFamily="34" charset="-120"/>
              </a:rPr>
              <a:t>modal nol, biaya POME USD 3,00 vs 3,14/t TBS, risiko di operator. </a:t>
            </a:r>
            <a:pPr indent="0" marL="0">
              <a:buNone/>
            </a:pPr>
            <a:r>
              <a:rPr lang="en-US" sz="800" b="1" dirty="0">
                <a:solidFill>
                  <a:srgbClr val="14213D"/>
                </a:solidFill>
                <a:latin typeface="Calibri" pitchFamily="34" charset="0"/>
                <a:ea typeface="Calibri" pitchFamily="34" charset="-122"/>
                <a:cs typeface="Calibri" pitchFamily="34" charset="-120"/>
              </a:rPr>
              <a:t>Mengapa ekonomi bisa jalan: </a:t>
            </a:r>
            <a:pPr indent="0" marL="0">
              <a:buNone/>
            </a:pPr>
            <a:r>
              <a:rPr lang="en-US" sz="800" dirty="0">
                <a:solidFill>
                  <a:srgbClr val="14213D"/>
                </a:solidFill>
                <a:latin typeface="Calibri" pitchFamily="34" charset="0"/>
                <a:ea typeface="Calibri" pitchFamily="34" charset="-122"/>
                <a:cs typeface="Calibri" pitchFamily="34" charset="-120"/>
              </a:rPr>
              <a:t>60 t/jam, fee USD 1,25/t, solar tergantikan ≥ 2 L/t memberi IRR 10,3% dan DSCR 1,31.</a:t>
            </a:r>
            <a:endParaRPr lang="en-US" sz="800" dirty="0"/>
          </a:p>
        </p:txBody>
      </p:sp>
      <p:sp>
        <p:nvSpPr>
          <p:cNvPr id="8" name="teks-488"/>
          <p:cNvSpPr txBox="1"/>
          <p:nvPr/>
        </p:nvSpPr>
        <p:spPr>
          <a:xfrm>
            <a:off x="365760" y="2194560"/>
            <a:ext cx="55778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Lima pembeda terbukti</a:t>
            </a:r>
            <a:endParaRPr lang="en-US" sz="850" dirty="0"/>
          </a:p>
        </p:txBody>
      </p:sp>
      <p:sp>
        <p:nvSpPr>
          <p:cNvPr id="9" name="garis-489"/>
          <p:cNvSpPr/>
          <p:nvPr/>
        </p:nvSpPr>
        <p:spPr>
          <a:xfrm>
            <a:off x="365760" y="2386584"/>
            <a:ext cx="5577840" cy="0"/>
          </a:xfrm>
          <a:prstGeom prst="line">
            <a:avLst/>
          </a:prstGeom>
          <a:noFill/>
          <a:ln w="15875">
            <a:solidFill>
              <a:srgbClr val="64BC54"/>
            </a:solidFill>
            <a:prstDash val="solid"/>
          </a:ln>
        </p:spPr>
      </p:sp>
      <p:graphicFrame>
        <p:nvGraphicFramePr>
          <p:cNvPr id="11" name="tabel-490"/>
          <p:cNvGraphicFramePr>
            <a:graphicFrameLocks noGrp="1"/>
          </p:cNvGraphicFramePr>
          <p:nvPr>
            <p:extLst>
              <p:ext uri="{D42A27DB-BD31-4B8C-83A1-F6EECF244321}">
                <p14:modId xmlns:p14="http://schemas.microsoft.com/office/powerpoint/2010/main" val="1579011935"/>
              </p:ext>
            </p:extLst>
          </p:nvPr>
        </p:nvGraphicFramePr>
        <p:xfrm>
          <a:off x="365760" y="2423160"/>
          <a:ext cx="5577840" cy="914400"/>
        </p:xfrm>
        <a:graphic>
          <a:graphicData uri="http://schemas.openxmlformats.org/drawingml/2006/table">
            <a:tbl>
              <a:tblPr/>
              <a:tblGrid>
                <a:gridCol w="2103120"/>
                <a:gridCol w="3474720"/>
              </a:tblGrid>
              <a:tr h="237744">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Pembeda</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80" b="1" dirty="0">
                          <a:solidFill>
                            <a:srgbClr val="FFFFFF"/>
                          </a:solidFill>
                          <a:latin typeface="Calibri" pitchFamily="34" charset="0"/>
                          <a:ea typeface="Calibri" pitchFamily="34" charset="-122"/>
                          <a:cs typeface="Calibri" pitchFamily="34" charset="-120"/>
                        </a:rPr>
                        <a:t>Bukti</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37744">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Modal PKS nol, risiko di operator</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Model Keputusan PKS: D USD 3,00 vs A 3,14/t; B/C butuh USD 3,5–4,0 juta</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37744">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Reaktor 5 hari, plot kecil</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HRT 5 vs 25–40 hari; 0,38 ha; 21 kontainer</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37744">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Dapat dipindah</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kerugian turun USD 1,18 juta bila PKS tutup tahun 8</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37744">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Emisi −96%</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32.001 tCO₂e/tahun per set</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37744">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Model keuangan terbuka</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80" dirty="0">
                          <a:solidFill>
                            <a:srgbClr val="14213D"/>
                          </a:solidFill>
                          <a:latin typeface="Calibri" pitchFamily="34" charset="0"/>
                          <a:ea typeface="Calibri" pitchFamily="34" charset="-122"/>
                          <a:cs typeface="Calibri" pitchFamily="34" charset="-120"/>
                        </a:rPr>
                        <a:t>Excel berumus hidup = Python (selisih 0,00); angka deck dibaca dari model</a:t>
                      </a:r>
                      <a:endParaRPr lang="en-US" sz="68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11" name="teks-491"/>
          <p:cNvSpPr txBox="1"/>
          <p:nvPr/>
        </p:nvSpPr>
        <p:spPr>
          <a:xfrm>
            <a:off x="365760" y="3977640"/>
            <a:ext cx="557784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Kartu skor (1–5)</a:t>
            </a:r>
            <a:endParaRPr lang="en-US" sz="850" dirty="0"/>
          </a:p>
        </p:txBody>
      </p:sp>
      <p:sp>
        <p:nvSpPr>
          <p:cNvPr id="12" name="garis-492"/>
          <p:cNvSpPr/>
          <p:nvPr/>
        </p:nvSpPr>
        <p:spPr>
          <a:xfrm>
            <a:off x="365760" y="4169664"/>
            <a:ext cx="5577840" cy="0"/>
          </a:xfrm>
          <a:prstGeom prst="line">
            <a:avLst/>
          </a:prstGeom>
          <a:noFill/>
          <a:ln w="15875">
            <a:solidFill>
              <a:srgbClr val="64BC54"/>
            </a:solidFill>
            <a:prstDash val="solid"/>
          </a:ln>
        </p:spPr>
      </p:sp>
      <p:sp>
        <p:nvSpPr>
          <p:cNvPr id="13" name="teks-493"/>
          <p:cNvSpPr txBox="1"/>
          <p:nvPr/>
        </p:nvSpPr>
        <p:spPr>
          <a:xfrm>
            <a:off x="365760" y="4224528"/>
            <a:ext cx="1371600" cy="237744"/>
          </a:xfrm>
          <a:prstGeom prst="rect">
            <a:avLst/>
          </a:prstGeom>
          <a:noFill/>
          <a:ln/>
        </p:spPr>
        <p:txBody>
          <a:bodyPr wrap="square" lIns="0" tIns="0" rIns="0" bIns="0" rtlCol="0" anchor="ctr"/>
          <a:lstStyle/>
          <a:p>
            <a:pPr indent="0" marL="0">
              <a:buNone/>
            </a:pPr>
            <a:r>
              <a:rPr lang="en-US" sz="720" b="1" dirty="0">
                <a:solidFill>
                  <a:srgbClr val="14213D"/>
                </a:solidFill>
                <a:latin typeface="Calibri" pitchFamily="34" charset="0"/>
                <a:ea typeface="Calibri" pitchFamily="34" charset="-122"/>
                <a:cs typeface="Calibri" pitchFamily="34" charset="-120"/>
              </a:rPr>
              <a:t>Kelayakan teknis</a:t>
            </a:r>
            <a:endParaRPr lang="en-US" sz="720" dirty="0"/>
          </a:p>
        </p:txBody>
      </p:sp>
      <p:sp>
        <p:nvSpPr>
          <p:cNvPr id="14" name="kotak-494"/>
          <p:cNvSpPr txBox="1"/>
          <p:nvPr/>
        </p:nvSpPr>
        <p:spPr>
          <a:xfrm>
            <a:off x="1783080" y="4261104"/>
            <a:ext cx="2286000" cy="164592"/>
          </a:xfrm>
          <a:prstGeom prst="roundRect">
            <a:avLst>
              <a:gd name="adj" fmla="val 11111"/>
            </a:avLst>
          </a:prstGeom>
          <a:solidFill>
            <a:srgbClr val="ECF3FA"/>
          </a:solidFill>
          <a:ln w="9525">
            <a:solidFill>
              <a:srgbClr val="C3D3E8"/>
            </a:solidFill>
          </a:ln>
        </p:spPr>
        <p:txBody>
          <a:bodyPr wrap="square" lIns="12700" tIns="38100" rIns="38100" bIns="12700" rtlCol="0" anchor="ctr"/>
          <a:lstStyle/>
          <a:p>
            <a:pPr algn="ctr" indent="0" marL="0">
              <a:buNone/>
            </a:pPr>
            <a:endParaRPr lang="en-US" sz="900" dirty="0"/>
          </a:p>
        </p:txBody>
      </p:sp>
      <p:sp>
        <p:nvSpPr>
          <p:cNvPr id="15" name="kotak-495"/>
          <p:cNvSpPr txBox="1"/>
          <p:nvPr/>
        </p:nvSpPr>
        <p:spPr>
          <a:xfrm>
            <a:off x="1783080" y="4261104"/>
            <a:ext cx="1371600" cy="164592"/>
          </a:xfrm>
          <a:prstGeom prst="roundRect">
            <a:avLst>
              <a:gd name="adj" fmla="val 11111"/>
            </a:avLst>
          </a:prstGeom>
          <a:solidFill>
            <a:srgbClr val="244C9C"/>
          </a:solidFill>
          <a:ln>
            <a:solidFill>
              <a:srgbClr val="244C9C"/>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3,0</a:t>
            </a:r>
            <a:endParaRPr lang="en-US" sz="650" dirty="0"/>
          </a:p>
        </p:txBody>
      </p:sp>
      <p:sp>
        <p:nvSpPr>
          <p:cNvPr id="16" name="teks-496"/>
          <p:cNvSpPr txBox="1"/>
          <p:nvPr/>
        </p:nvSpPr>
        <p:spPr>
          <a:xfrm>
            <a:off x="4160520" y="4224528"/>
            <a:ext cx="1783080" cy="237744"/>
          </a:xfrm>
          <a:prstGeom prst="rect">
            <a:avLst/>
          </a:prstGeom>
          <a:noFill/>
          <a:ln/>
        </p:spPr>
        <p:txBody>
          <a:bodyPr wrap="square" lIns="0" tIns="0" rIns="0" bIns="0" rtlCol="0" anchor="ctr"/>
          <a:lstStyle/>
          <a:p>
            <a:pPr indent="0" marL="0">
              <a:buNone/>
            </a:pPr>
            <a:r>
              <a:rPr lang="en-US" sz="650" dirty="0">
                <a:solidFill>
                  <a:srgbClr val="587888"/>
                </a:solidFill>
                <a:latin typeface="Calibri" pitchFamily="34" charset="0"/>
                <a:ea typeface="Calibri" pitchFamily="34" charset="-122"/>
                <a:cs typeface="Calibri" pitchFamily="34" charset="-120"/>
              </a:rPr>
              <a:t>TRL 4; neraca menutup</a:t>
            </a:r>
            <a:endParaRPr lang="en-US" sz="650" dirty="0"/>
          </a:p>
        </p:txBody>
      </p:sp>
      <p:sp>
        <p:nvSpPr>
          <p:cNvPr id="17" name="teks-497"/>
          <p:cNvSpPr txBox="1"/>
          <p:nvPr/>
        </p:nvSpPr>
        <p:spPr>
          <a:xfrm>
            <a:off x="365760" y="4498848"/>
            <a:ext cx="1371600" cy="237744"/>
          </a:xfrm>
          <a:prstGeom prst="rect">
            <a:avLst/>
          </a:prstGeom>
          <a:noFill/>
          <a:ln/>
        </p:spPr>
        <p:txBody>
          <a:bodyPr wrap="square" lIns="0" tIns="0" rIns="0" bIns="0" rtlCol="0" anchor="ctr"/>
          <a:lstStyle/>
          <a:p>
            <a:pPr indent="0" marL="0">
              <a:buNone/>
            </a:pPr>
            <a:r>
              <a:rPr lang="en-US" sz="720" b="1" dirty="0">
                <a:solidFill>
                  <a:srgbClr val="14213D"/>
                </a:solidFill>
                <a:latin typeface="Calibri" pitchFamily="34" charset="0"/>
                <a:ea typeface="Calibri" pitchFamily="34" charset="-122"/>
                <a:cs typeface="Calibri" pitchFamily="34" charset="-120"/>
              </a:rPr>
              <a:t>Daya tarik ekonomi</a:t>
            </a:r>
            <a:endParaRPr lang="en-US" sz="720" dirty="0"/>
          </a:p>
        </p:txBody>
      </p:sp>
      <p:sp>
        <p:nvSpPr>
          <p:cNvPr id="18" name="kotak-498"/>
          <p:cNvSpPr txBox="1"/>
          <p:nvPr/>
        </p:nvSpPr>
        <p:spPr>
          <a:xfrm>
            <a:off x="1783080" y="4535424"/>
            <a:ext cx="2286000" cy="164592"/>
          </a:xfrm>
          <a:prstGeom prst="roundRect">
            <a:avLst>
              <a:gd name="adj" fmla="val 11111"/>
            </a:avLst>
          </a:prstGeom>
          <a:solidFill>
            <a:srgbClr val="ECF3FA"/>
          </a:solidFill>
          <a:ln w="9525">
            <a:solidFill>
              <a:srgbClr val="C3D3E8"/>
            </a:solidFill>
          </a:ln>
        </p:spPr>
        <p:txBody>
          <a:bodyPr wrap="square" lIns="12700" tIns="38100" rIns="38100" bIns="12700" rtlCol="0" anchor="ctr"/>
          <a:lstStyle/>
          <a:p>
            <a:pPr algn="ctr" indent="0" marL="0">
              <a:buNone/>
            </a:pPr>
            <a:endParaRPr lang="en-US" sz="900" dirty="0"/>
          </a:p>
        </p:txBody>
      </p:sp>
      <p:sp>
        <p:nvSpPr>
          <p:cNvPr id="19" name="kotak-499"/>
          <p:cNvSpPr txBox="1"/>
          <p:nvPr/>
        </p:nvSpPr>
        <p:spPr>
          <a:xfrm>
            <a:off x="1783080" y="4535424"/>
            <a:ext cx="1143000" cy="164592"/>
          </a:xfrm>
          <a:prstGeom prst="roundRect">
            <a:avLst>
              <a:gd name="adj" fmla="val 11111"/>
            </a:avLst>
          </a:prstGeom>
          <a:solidFill>
            <a:srgbClr val="E0A526"/>
          </a:solidFill>
          <a:ln>
            <a:solidFill>
              <a:srgbClr val="E0A526"/>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2,5</a:t>
            </a:r>
            <a:endParaRPr lang="en-US" sz="650" dirty="0"/>
          </a:p>
        </p:txBody>
      </p:sp>
      <p:sp>
        <p:nvSpPr>
          <p:cNvPr id="20" name="teks-500"/>
          <p:cNvSpPr txBox="1"/>
          <p:nvPr/>
        </p:nvSpPr>
        <p:spPr>
          <a:xfrm>
            <a:off x="4160520" y="4498848"/>
            <a:ext cx="1783080" cy="237744"/>
          </a:xfrm>
          <a:prstGeom prst="rect">
            <a:avLst/>
          </a:prstGeom>
          <a:noFill/>
          <a:ln/>
        </p:spPr>
        <p:txBody>
          <a:bodyPr wrap="square" lIns="0" tIns="0" rIns="0" bIns="0" rtlCol="0" anchor="ctr"/>
          <a:lstStyle/>
          <a:p>
            <a:pPr indent="0" marL="0">
              <a:buNone/>
            </a:pPr>
            <a:r>
              <a:rPr lang="en-US" sz="650" dirty="0">
                <a:solidFill>
                  <a:srgbClr val="587888"/>
                </a:solidFill>
                <a:latin typeface="Calibri" pitchFamily="34" charset="0"/>
                <a:ea typeface="Calibri" pitchFamily="34" charset="-122"/>
                <a:cs typeface="Calibri" pitchFamily="34" charset="-120"/>
              </a:rPr>
              <a:t>IRR ≈ WACC; MC negatif</a:t>
            </a:r>
            <a:endParaRPr lang="en-US" sz="650" dirty="0"/>
          </a:p>
        </p:txBody>
      </p:sp>
      <p:sp>
        <p:nvSpPr>
          <p:cNvPr id="21" name="teks-501"/>
          <p:cNvSpPr txBox="1"/>
          <p:nvPr/>
        </p:nvSpPr>
        <p:spPr>
          <a:xfrm>
            <a:off x="365760" y="4773168"/>
            <a:ext cx="1371600" cy="237744"/>
          </a:xfrm>
          <a:prstGeom prst="rect">
            <a:avLst/>
          </a:prstGeom>
          <a:noFill/>
          <a:ln/>
        </p:spPr>
        <p:txBody>
          <a:bodyPr wrap="square" lIns="0" tIns="0" rIns="0" bIns="0" rtlCol="0" anchor="ctr"/>
          <a:lstStyle/>
          <a:p>
            <a:pPr indent="0" marL="0">
              <a:buNone/>
            </a:pPr>
            <a:r>
              <a:rPr lang="en-US" sz="720" b="1" dirty="0">
                <a:solidFill>
                  <a:srgbClr val="14213D"/>
                </a:solidFill>
                <a:latin typeface="Calibri" pitchFamily="34" charset="0"/>
                <a:ea typeface="Calibri" pitchFamily="34" charset="-122"/>
                <a:cs typeface="Calibri" pitchFamily="34" charset="-120"/>
              </a:rPr>
              <a:t>Kesiapan pasar</a:t>
            </a:r>
            <a:endParaRPr lang="en-US" sz="720" dirty="0"/>
          </a:p>
        </p:txBody>
      </p:sp>
      <p:sp>
        <p:nvSpPr>
          <p:cNvPr id="22" name="kotak-502"/>
          <p:cNvSpPr txBox="1"/>
          <p:nvPr/>
        </p:nvSpPr>
        <p:spPr>
          <a:xfrm>
            <a:off x="1783080" y="4809744"/>
            <a:ext cx="2286000" cy="164592"/>
          </a:xfrm>
          <a:prstGeom prst="roundRect">
            <a:avLst>
              <a:gd name="adj" fmla="val 11111"/>
            </a:avLst>
          </a:prstGeom>
          <a:solidFill>
            <a:srgbClr val="ECF3FA"/>
          </a:solidFill>
          <a:ln w="9525">
            <a:solidFill>
              <a:srgbClr val="C3D3E8"/>
            </a:solidFill>
          </a:ln>
        </p:spPr>
        <p:txBody>
          <a:bodyPr wrap="square" lIns="12700" tIns="38100" rIns="38100" bIns="12700" rtlCol="0" anchor="ctr"/>
          <a:lstStyle/>
          <a:p>
            <a:pPr algn="ctr" indent="0" marL="0">
              <a:buNone/>
            </a:pPr>
            <a:endParaRPr lang="en-US" sz="900" dirty="0"/>
          </a:p>
        </p:txBody>
      </p:sp>
      <p:sp>
        <p:nvSpPr>
          <p:cNvPr id="23" name="kotak-503"/>
          <p:cNvSpPr txBox="1"/>
          <p:nvPr/>
        </p:nvSpPr>
        <p:spPr>
          <a:xfrm>
            <a:off x="1783080" y="4809744"/>
            <a:ext cx="1143000" cy="164592"/>
          </a:xfrm>
          <a:prstGeom prst="roundRect">
            <a:avLst>
              <a:gd name="adj" fmla="val 11111"/>
            </a:avLst>
          </a:prstGeom>
          <a:solidFill>
            <a:srgbClr val="E0A526"/>
          </a:solidFill>
          <a:ln>
            <a:solidFill>
              <a:srgbClr val="E0A526"/>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2,5</a:t>
            </a:r>
            <a:endParaRPr lang="en-US" sz="650" dirty="0"/>
          </a:p>
        </p:txBody>
      </p:sp>
      <p:sp>
        <p:nvSpPr>
          <p:cNvPr id="24" name="teks-504"/>
          <p:cNvSpPr txBox="1"/>
          <p:nvPr/>
        </p:nvSpPr>
        <p:spPr>
          <a:xfrm>
            <a:off x="4160520" y="4773168"/>
            <a:ext cx="1783080" cy="237744"/>
          </a:xfrm>
          <a:prstGeom prst="rect">
            <a:avLst/>
          </a:prstGeom>
          <a:noFill/>
          <a:ln/>
        </p:spPr>
        <p:txBody>
          <a:bodyPr wrap="square" lIns="0" tIns="0" rIns="0" bIns="0" rtlCol="0" anchor="ctr"/>
          <a:lstStyle/>
          <a:p>
            <a:pPr indent="0" marL="0">
              <a:buNone/>
            </a:pPr>
            <a:r>
              <a:rPr lang="en-US" sz="650" dirty="0">
                <a:solidFill>
                  <a:srgbClr val="587888"/>
                </a:solidFill>
                <a:latin typeface="Calibri" pitchFamily="34" charset="0"/>
                <a:ea typeface="Calibri" pitchFamily="34" charset="-122"/>
                <a:cs typeface="Calibri" pitchFamily="34" charset="-120"/>
              </a:rPr>
              <a:t>SAM ±57; hipotesis</a:t>
            </a:r>
            <a:endParaRPr lang="en-US" sz="650" dirty="0"/>
          </a:p>
        </p:txBody>
      </p:sp>
      <p:sp>
        <p:nvSpPr>
          <p:cNvPr id="25" name="teks-505"/>
          <p:cNvSpPr txBox="1"/>
          <p:nvPr/>
        </p:nvSpPr>
        <p:spPr>
          <a:xfrm>
            <a:off x="365760" y="5047488"/>
            <a:ext cx="1371600" cy="237744"/>
          </a:xfrm>
          <a:prstGeom prst="rect">
            <a:avLst/>
          </a:prstGeom>
          <a:noFill/>
          <a:ln/>
        </p:spPr>
        <p:txBody>
          <a:bodyPr wrap="square" lIns="0" tIns="0" rIns="0" bIns="0" rtlCol="0" anchor="ctr"/>
          <a:lstStyle/>
          <a:p>
            <a:pPr indent="0" marL="0">
              <a:buNone/>
            </a:pPr>
            <a:r>
              <a:rPr lang="en-US" sz="720" b="1" dirty="0">
                <a:solidFill>
                  <a:srgbClr val="14213D"/>
                </a:solidFill>
                <a:latin typeface="Calibri" pitchFamily="34" charset="0"/>
                <a:ea typeface="Calibri" pitchFamily="34" charset="-122"/>
                <a:cs typeface="Calibri" pitchFamily="34" charset="-120"/>
              </a:rPr>
              <a:t>Keberlanjutan</a:t>
            </a:r>
            <a:endParaRPr lang="en-US" sz="720" dirty="0"/>
          </a:p>
        </p:txBody>
      </p:sp>
      <p:sp>
        <p:nvSpPr>
          <p:cNvPr id="26" name="kotak-506"/>
          <p:cNvSpPr txBox="1"/>
          <p:nvPr/>
        </p:nvSpPr>
        <p:spPr>
          <a:xfrm>
            <a:off x="1783080" y="5084064"/>
            <a:ext cx="2286000" cy="164592"/>
          </a:xfrm>
          <a:prstGeom prst="roundRect">
            <a:avLst>
              <a:gd name="adj" fmla="val 11111"/>
            </a:avLst>
          </a:prstGeom>
          <a:solidFill>
            <a:srgbClr val="ECF3FA"/>
          </a:solidFill>
          <a:ln w="9525">
            <a:solidFill>
              <a:srgbClr val="C3D3E8"/>
            </a:solidFill>
          </a:ln>
        </p:spPr>
        <p:txBody>
          <a:bodyPr wrap="square" lIns="12700" tIns="38100" rIns="38100" bIns="12700" rtlCol="0" anchor="ctr"/>
          <a:lstStyle/>
          <a:p>
            <a:pPr algn="ctr" indent="0" marL="0">
              <a:buNone/>
            </a:pPr>
            <a:endParaRPr lang="en-US" sz="900" dirty="0"/>
          </a:p>
        </p:txBody>
      </p:sp>
      <p:sp>
        <p:nvSpPr>
          <p:cNvPr id="27" name="kotak-507"/>
          <p:cNvSpPr txBox="1"/>
          <p:nvPr/>
        </p:nvSpPr>
        <p:spPr>
          <a:xfrm>
            <a:off x="1783080" y="5084064"/>
            <a:ext cx="2057400" cy="164592"/>
          </a:xfrm>
          <a:prstGeom prst="roundRect">
            <a:avLst>
              <a:gd name="adj" fmla="val 11111"/>
            </a:avLst>
          </a:prstGeom>
          <a:solidFill>
            <a:srgbClr val="3E8E41"/>
          </a:solidFill>
          <a:ln>
            <a:solidFill>
              <a:srgbClr val="3E8E41"/>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4,5</a:t>
            </a:r>
            <a:endParaRPr lang="en-US" sz="650" dirty="0"/>
          </a:p>
        </p:txBody>
      </p:sp>
      <p:sp>
        <p:nvSpPr>
          <p:cNvPr id="28" name="teks-508"/>
          <p:cNvSpPr txBox="1"/>
          <p:nvPr/>
        </p:nvSpPr>
        <p:spPr>
          <a:xfrm>
            <a:off x="4160520" y="5047488"/>
            <a:ext cx="1783080" cy="237744"/>
          </a:xfrm>
          <a:prstGeom prst="rect">
            <a:avLst/>
          </a:prstGeom>
          <a:noFill/>
          <a:ln/>
        </p:spPr>
        <p:txBody>
          <a:bodyPr wrap="square" lIns="0" tIns="0" rIns="0" bIns="0" rtlCol="0" anchor="ctr"/>
          <a:lstStyle/>
          <a:p>
            <a:pPr indent="0" marL="0">
              <a:buNone/>
            </a:pPr>
            <a:r>
              <a:rPr lang="en-US" sz="650" dirty="0">
                <a:solidFill>
                  <a:srgbClr val="587888"/>
                </a:solidFill>
                <a:latin typeface="Calibri" pitchFamily="34" charset="0"/>
                <a:ea typeface="Calibri" pitchFamily="34" charset="-122"/>
                <a:cs typeface="Calibri" pitchFamily="34" charset="-120"/>
              </a:rPr>
              <a:t>−96% metana</a:t>
            </a:r>
            <a:endParaRPr lang="en-US" sz="650" dirty="0"/>
          </a:p>
        </p:txBody>
      </p:sp>
      <p:sp>
        <p:nvSpPr>
          <p:cNvPr id="29" name="teks-509"/>
          <p:cNvSpPr txBox="1"/>
          <p:nvPr/>
        </p:nvSpPr>
        <p:spPr>
          <a:xfrm>
            <a:off x="365760" y="5321808"/>
            <a:ext cx="1371600" cy="237744"/>
          </a:xfrm>
          <a:prstGeom prst="rect">
            <a:avLst/>
          </a:prstGeom>
          <a:noFill/>
          <a:ln/>
        </p:spPr>
        <p:txBody>
          <a:bodyPr wrap="square" lIns="0" tIns="0" rIns="0" bIns="0" rtlCol="0" anchor="ctr"/>
          <a:lstStyle/>
          <a:p>
            <a:pPr indent="0" marL="0">
              <a:buNone/>
            </a:pPr>
            <a:r>
              <a:rPr lang="en-US" sz="720" b="1" dirty="0">
                <a:solidFill>
                  <a:srgbClr val="14213D"/>
                </a:solidFill>
                <a:latin typeface="Calibri" pitchFamily="34" charset="0"/>
                <a:ea typeface="Calibri" pitchFamily="34" charset="-122"/>
                <a:cs typeface="Calibri" pitchFamily="34" charset="-120"/>
              </a:rPr>
              <a:t>Risiko implementasi</a:t>
            </a:r>
            <a:endParaRPr lang="en-US" sz="720" dirty="0"/>
          </a:p>
        </p:txBody>
      </p:sp>
      <p:sp>
        <p:nvSpPr>
          <p:cNvPr id="30" name="kotak-510"/>
          <p:cNvSpPr txBox="1"/>
          <p:nvPr/>
        </p:nvSpPr>
        <p:spPr>
          <a:xfrm>
            <a:off x="1783080" y="5358384"/>
            <a:ext cx="2286000" cy="164592"/>
          </a:xfrm>
          <a:prstGeom prst="roundRect">
            <a:avLst>
              <a:gd name="adj" fmla="val 11111"/>
            </a:avLst>
          </a:prstGeom>
          <a:solidFill>
            <a:srgbClr val="ECF3FA"/>
          </a:solidFill>
          <a:ln w="9525">
            <a:solidFill>
              <a:srgbClr val="C3D3E8"/>
            </a:solidFill>
          </a:ln>
        </p:spPr>
        <p:txBody>
          <a:bodyPr wrap="square" lIns="12700" tIns="38100" rIns="38100" bIns="12700" rtlCol="0" anchor="ctr"/>
          <a:lstStyle/>
          <a:p>
            <a:pPr algn="ctr" indent="0" marL="0">
              <a:buNone/>
            </a:pPr>
            <a:endParaRPr lang="en-US" sz="900" dirty="0"/>
          </a:p>
        </p:txBody>
      </p:sp>
      <p:sp>
        <p:nvSpPr>
          <p:cNvPr id="31" name="kotak-511"/>
          <p:cNvSpPr txBox="1"/>
          <p:nvPr/>
        </p:nvSpPr>
        <p:spPr>
          <a:xfrm>
            <a:off x="1783080" y="5358384"/>
            <a:ext cx="914400" cy="164592"/>
          </a:xfrm>
          <a:prstGeom prst="roundRect">
            <a:avLst>
              <a:gd name="adj" fmla="val 11111"/>
            </a:avLst>
          </a:prstGeom>
          <a:solidFill>
            <a:srgbClr val="E0A526"/>
          </a:solidFill>
          <a:ln>
            <a:solidFill>
              <a:srgbClr val="E0A526"/>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2,0</a:t>
            </a:r>
            <a:endParaRPr lang="en-US" sz="650" dirty="0"/>
          </a:p>
        </p:txBody>
      </p:sp>
      <p:sp>
        <p:nvSpPr>
          <p:cNvPr id="32" name="teks-512"/>
          <p:cNvSpPr txBox="1"/>
          <p:nvPr/>
        </p:nvSpPr>
        <p:spPr>
          <a:xfrm>
            <a:off x="4160520" y="5321808"/>
            <a:ext cx="1783080" cy="237744"/>
          </a:xfrm>
          <a:prstGeom prst="rect">
            <a:avLst/>
          </a:prstGeom>
          <a:noFill/>
          <a:ln/>
        </p:spPr>
        <p:txBody>
          <a:bodyPr wrap="square" lIns="0" tIns="0" rIns="0" bIns="0" rtlCol="0" anchor="ctr"/>
          <a:lstStyle/>
          <a:p>
            <a:pPr indent="0" marL="0">
              <a:buNone/>
            </a:pPr>
            <a:r>
              <a:rPr lang="en-US" sz="650" dirty="0">
                <a:solidFill>
                  <a:srgbClr val="587888"/>
                </a:solidFill>
                <a:latin typeface="Calibri" pitchFamily="34" charset="0"/>
                <a:ea typeface="Calibri" pitchFamily="34" charset="-122"/>
                <a:cs typeface="Calibri" pitchFamily="34" charset="-120"/>
              </a:rPr>
              <a:t>izin PLN, kinerja</a:t>
            </a:r>
            <a:endParaRPr lang="en-US" sz="650" dirty="0"/>
          </a:p>
        </p:txBody>
      </p:sp>
      <p:sp>
        <p:nvSpPr>
          <p:cNvPr id="33" name="teks-513"/>
          <p:cNvSpPr txBox="1"/>
          <p:nvPr/>
        </p:nvSpPr>
        <p:spPr>
          <a:xfrm>
            <a:off x="6126480" y="1078992"/>
            <a:ext cx="57150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Uji penentang (red-team): titik terlemah</a:t>
            </a:r>
            <a:endParaRPr lang="en-US" sz="850" dirty="0"/>
          </a:p>
        </p:txBody>
      </p:sp>
      <p:sp>
        <p:nvSpPr>
          <p:cNvPr id="34" name="garis-514"/>
          <p:cNvSpPr/>
          <p:nvPr/>
        </p:nvSpPr>
        <p:spPr>
          <a:xfrm>
            <a:off x="6126480" y="1271016"/>
            <a:ext cx="5715000" cy="0"/>
          </a:xfrm>
          <a:prstGeom prst="line">
            <a:avLst/>
          </a:prstGeom>
          <a:noFill/>
          <a:ln w="15875">
            <a:solidFill>
              <a:srgbClr val="64BC54"/>
            </a:solidFill>
            <a:prstDash val="solid"/>
          </a:ln>
        </p:spPr>
      </p:sp>
      <p:graphicFrame>
        <p:nvGraphicFramePr>
          <p:cNvPr id="21" name="tabel-515"/>
          <p:cNvGraphicFramePr>
            <a:graphicFrameLocks noGrp="1"/>
          </p:cNvGraphicFramePr>
          <p:nvPr>
            <p:extLst>
              <p:ext uri="{D42A27DB-BD31-4B8C-83A1-F6EECF244321}">
                <p14:modId xmlns:p14="http://schemas.microsoft.com/office/powerpoint/2010/main" val="1579011935"/>
              </p:ext>
            </p:extLst>
          </p:nvPr>
        </p:nvGraphicFramePr>
        <p:xfrm>
          <a:off x="6126480" y="1307592"/>
          <a:ext cx="5715000" cy="914400"/>
        </p:xfrm>
        <a:graphic>
          <a:graphicData uri="http://schemas.openxmlformats.org/drawingml/2006/table">
            <a:tbl>
              <a:tblPr/>
              <a:tblGrid>
                <a:gridCol w="914400"/>
                <a:gridCol w="2788920"/>
                <a:gridCol w="2011680"/>
              </a:tblGrid>
              <a:tr h="274320">
                <a:tc>
                  <a:txBody>
                    <a:bodyPr/>
                    <a:lstStyle/>
                    <a:p>
                      <a:pPr algn="ctr" indent="0" marL="0">
                        <a:buNone/>
                      </a:pPr>
                      <a:r>
                        <a:rPr lang="en-US" sz="650" b="1" dirty="0">
                          <a:solidFill>
                            <a:srgbClr val="FFFFFF"/>
                          </a:solidFill>
                          <a:latin typeface="Calibri" pitchFamily="34" charset="0"/>
                          <a:ea typeface="Calibri" pitchFamily="34" charset="-122"/>
                          <a:cs typeface="Calibri" pitchFamily="34" charset="-120"/>
                        </a:rPr>
                        <a:t>Aspek</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50" b="1" dirty="0">
                          <a:solidFill>
                            <a:srgbClr val="FFFFFF"/>
                          </a:solidFill>
                          <a:latin typeface="Calibri" pitchFamily="34" charset="0"/>
                          <a:ea typeface="Calibri" pitchFamily="34" charset="-122"/>
                          <a:cs typeface="Calibri" pitchFamily="34" charset="-120"/>
                        </a:rPr>
                        <a:t>Titik terlemah</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ctr" indent="0" marL="0">
                        <a:buNone/>
                      </a:pPr>
                      <a:r>
                        <a:rPr lang="en-US" sz="650" b="1" dirty="0">
                          <a:solidFill>
                            <a:srgbClr val="FFFFFF"/>
                          </a:solidFill>
                          <a:latin typeface="Calibri" pitchFamily="34" charset="0"/>
                          <a:ea typeface="Calibri" pitchFamily="34" charset="-122"/>
                          <a:cs typeface="Calibri" pitchFamily="34" charset="-120"/>
                        </a:rPr>
                        <a:t>Penanganan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7432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Asumsi teknis</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OLR 9,9 &gt; 8 rekomendasi; belum ada skala penuh</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pilot dan uji OLR 6 → 10 (G3)</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Input keuangan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GFS USD 200/m³ tanpa kuotasi; solar 2,0 L/t turunan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kuotasi 3 vendor, log solar (G0–G1)</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Klaim pesaing</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murah bagi PKS hanya pada solar ≥ 2 L/t; B/C lebih murah bila PKS punya modal</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pasar awal hanya PKS tanpa modal</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Eksekusi</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struktur jual listrik dan tarif belum pasti</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konfirmasi ESDM/PLN (G2)</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74320">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Keberlanjutan</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MCF efluen 0,3 belum diukur</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50" dirty="0">
                          <a:solidFill>
                            <a:srgbClr val="14213D"/>
                          </a:solidFill>
                          <a:latin typeface="Calibri" pitchFamily="34" charset="0"/>
                          <a:ea typeface="Calibri" pitchFamily="34" charset="-122"/>
                          <a:cs typeface="Calibri" pitchFamily="34" charset="-120"/>
                        </a:rPr>
                        <a:t>ukur di pilot; uji 0,8</a:t>
                      </a:r>
                      <a:endParaRPr lang="en-US" sz="65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36" name="teks-516"/>
          <p:cNvSpPr txBox="1"/>
          <p:nvPr/>
        </p:nvSpPr>
        <p:spPr>
          <a:xfrm>
            <a:off x="6126480" y="3108960"/>
            <a:ext cx="5715000" cy="182880"/>
          </a:xfrm>
          <a:prstGeom prst="rect">
            <a:avLst/>
          </a:prstGeom>
          <a:noFill/>
          <a:ln/>
        </p:spPr>
        <p:txBody>
          <a:bodyPr wrap="square" lIns="0" tIns="0" rIns="0" bIns="0" rtlCol="0" anchor="ctr"/>
          <a:lstStyle/>
          <a:p>
            <a:pPr indent="0" marL="0">
              <a:buNone/>
            </a:pPr>
            <a:r>
              <a:rPr lang="en-US" sz="850" b="1" dirty="0">
                <a:solidFill>
                  <a:srgbClr val="0C2464"/>
                </a:solidFill>
                <a:latin typeface="Arial" pitchFamily="34" charset="0"/>
                <a:ea typeface="Arial" pitchFamily="34" charset="-122"/>
                <a:cs typeface="Arial" pitchFamily="34" charset="-120"/>
              </a:rPr>
              <a:t>Langkah berikutnya dan kebutuhan dana</a:t>
            </a:r>
            <a:endParaRPr lang="en-US" sz="850" dirty="0"/>
          </a:p>
        </p:txBody>
      </p:sp>
      <p:sp>
        <p:nvSpPr>
          <p:cNvPr id="37" name="garis-517"/>
          <p:cNvSpPr/>
          <p:nvPr/>
        </p:nvSpPr>
        <p:spPr>
          <a:xfrm>
            <a:off x="6126480" y="3300984"/>
            <a:ext cx="5715000" cy="0"/>
          </a:xfrm>
          <a:prstGeom prst="line">
            <a:avLst/>
          </a:prstGeom>
          <a:noFill/>
          <a:ln w="15875">
            <a:solidFill>
              <a:srgbClr val="64BC54"/>
            </a:solidFill>
            <a:prstDash val="solid"/>
          </a:ln>
        </p:spPr>
      </p:sp>
      <p:graphicFrame>
        <p:nvGraphicFramePr>
          <p:cNvPr id="31" name="tabel-518"/>
          <p:cNvGraphicFramePr>
            <a:graphicFrameLocks noGrp="1"/>
          </p:cNvGraphicFramePr>
          <p:nvPr>
            <p:extLst>
              <p:ext uri="{D42A27DB-BD31-4B8C-83A1-F6EECF244321}">
                <p14:modId xmlns:p14="http://schemas.microsoft.com/office/powerpoint/2010/main" val="1579011935"/>
              </p:ext>
            </p:extLst>
          </p:nvPr>
        </p:nvGraphicFramePr>
        <p:xfrm>
          <a:off x="6126480" y="3337560"/>
          <a:ext cx="5715000" cy="914400"/>
        </p:xfrm>
        <a:graphic>
          <a:graphicData uri="http://schemas.openxmlformats.org/drawingml/2006/table">
            <a:tbl>
              <a:tblPr/>
              <a:tblGrid>
                <a:gridCol w="2194560"/>
                <a:gridCol w="2880360"/>
                <a:gridCol w="640080"/>
              </a:tblGrid>
              <a:tr h="228600">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Langkah (≤ 30 bulan)</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l" indent="0" marL="0">
                        <a:buNone/>
                      </a:pPr>
                      <a:r>
                        <a:rPr lang="en-US" sz="660" b="1" dirty="0">
                          <a:solidFill>
                            <a:srgbClr val="FFFFFF"/>
                          </a:solidFill>
                          <a:latin typeface="Calibri" pitchFamily="34" charset="0"/>
                          <a:ea typeface="Calibri" pitchFamily="34" charset="-122"/>
                          <a:cs typeface="Calibri" pitchFamily="34" charset="-120"/>
                        </a:rPr>
                        <a:t>Hasil terukur</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c>
                  <a:txBody>
                    <a:bodyPr/>
                    <a:lstStyle/>
                    <a:p>
                      <a:pPr algn="r" indent="0" marL="0">
                        <a:buNone/>
                      </a:pPr>
                      <a:r>
                        <a:rPr lang="en-US" sz="660" b="1" dirty="0">
                          <a:solidFill>
                            <a:srgbClr val="FFFFFF"/>
                          </a:solidFill>
                          <a:latin typeface="Calibri" pitchFamily="34" charset="0"/>
                          <a:ea typeface="Calibri" pitchFamily="34" charset="-122"/>
                          <a:cs typeface="Calibri" pitchFamily="34" charset="-120"/>
                        </a:rPr>
                        <a:t>USD ribu</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0C2464"/>
                    </a:solidFill>
                  </a:tcPr>
                </a:tc>
              </a:tr>
              <a:tr h="228600">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1 Data PKS mitra 12 bulan</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solar ≥ 2,0 L/t; beban TBS ≥ 70%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60" dirty="0">
                          <a:solidFill>
                            <a:srgbClr val="14213D"/>
                          </a:solidFill>
                          <a:latin typeface="Calibri" pitchFamily="34" charset="0"/>
                          <a:ea typeface="Calibri" pitchFamily="34" charset="-122"/>
                          <a:cs typeface="Calibri" pitchFamily="34" charset="-120"/>
                        </a:rPr>
                        <a:t>60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28600">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2 Uji lab + pilot 10–20 m³</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COD ≥ 65%; TRL 6</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60" dirty="0">
                          <a:solidFill>
                            <a:srgbClr val="14213D"/>
                          </a:solidFill>
                          <a:latin typeface="Calibri" pitchFamily="34" charset="0"/>
                          <a:ea typeface="Calibri" pitchFamily="34" charset="-122"/>
                          <a:cs typeface="Calibri" pitchFamily="34" charset="-120"/>
                        </a:rPr>
                        <a:t>480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28600">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3 Kuotasi + FEED + HAZOP</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FCI ≤ USD 6,0 juta</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60" dirty="0">
                          <a:solidFill>
                            <a:srgbClr val="14213D"/>
                          </a:solidFill>
                          <a:latin typeface="Calibri" pitchFamily="34" charset="0"/>
                          <a:ea typeface="Calibri" pitchFamily="34" charset="-122"/>
                          <a:cs typeface="Calibri" pitchFamily="34" charset="-120"/>
                        </a:rPr>
                        <a:t>380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28600">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4 Izin dan kepastian hukum</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PJBL dan IUPTLS terkonfirmasi</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60" dirty="0">
                          <a:solidFill>
                            <a:srgbClr val="14213D"/>
                          </a:solidFill>
                          <a:latin typeface="Calibri" pitchFamily="34" charset="0"/>
                          <a:ea typeface="Calibri" pitchFamily="34" charset="-122"/>
                          <a:cs typeface="Calibri" pitchFamily="34" charset="-120"/>
                        </a:rPr>
                        <a:t>130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28600">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5 Tim dan MRV karbon</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r>
                        <a:rPr lang="en-US" sz="660" dirty="0">
                          <a:solidFill>
                            <a:srgbClr val="14213D"/>
                          </a:solidFill>
                          <a:latin typeface="Calibri" pitchFamily="34" charset="0"/>
                          <a:ea typeface="Calibri" pitchFamily="34" charset="-122"/>
                          <a:cs typeface="Calibri" pitchFamily="34" charset="-120"/>
                        </a:rPr>
                        <a:t>set 1 siap FID</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60" dirty="0">
                          <a:solidFill>
                            <a:srgbClr val="14213D"/>
                          </a:solidFill>
                          <a:latin typeface="Calibri" pitchFamily="34" charset="0"/>
                          <a:ea typeface="Calibri" pitchFamily="34" charset="-122"/>
                          <a:cs typeface="Calibri" pitchFamily="34" charset="-120"/>
                        </a:rPr>
                        <a:t>250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r h="228600">
                <a:tc>
                  <a:txBody>
                    <a:bodyPr/>
                    <a:lstStyle/>
                    <a:p>
                      <a:pPr algn="l" indent="0" marL="0">
                        <a:buNone/>
                      </a:pPr>
                      <a:r>
                        <a:rPr lang="en-US" sz="660" b="1" dirty="0">
                          <a:solidFill>
                            <a:srgbClr val="14213D"/>
                          </a:solidFill>
                          <a:latin typeface="Calibri" pitchFamily="34" charset="0"/>
                          <a:ea typeface="Calibri" pitchFamily="34" charset="-122"/>
                          <a:cs typeface="Calibri" pitchFamily="34" charset="-120"/>
                        </a:rPr>
                        <a:t>Total usulan (belum berkomitmen)</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l" indent="0" marL="0">
                        <a:buNone/>
                      </a:pP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c>
                  <a:txBody>
                    <a:bodyPr/>
                    <a:lstStyle/>
                    <a:p>
                      <a:pPr algn="r" indent="0" marL="0">
                        <a:buNone/>
                      </a:pPr>
                      <a:r>
                        <a:rPr lang="en-US" sz="660" b="1" dirty="0">
                          <a:solidFill>
                            <a:srgbClr val="14213D"/>
                          </a:solidFill>
                          <a:latin typeface="Calibri" pitchFamily="34" charset="0"/>
                          <a:ea typeface="Calibri" pitchFamily="34" charset="-122"/>
                          <a:cs typeface="Calibri" pitchFamily="34" charset="-120"/>
                        </a:rPr>
                        <a:t>1.300</a:t>
                      </a:r>
                      <a:endParaRPr lang="en-US" sz="660" dirty="0">
                        <a:latin typeface="Calibri" charset="0"/>
                        <a:ea typeface="Calibri" charset="0"/>
                        <a:cs typeface="Calibri" charset="0"/>
                      </a:endParaRPr>
                    </a:p>
                  </a:txBody>
                  <a:tcPr marL="38100" marR="38100" marT="12700" marB="12700" anchor="ctr">
                    <a:lnL w="6350" cap="flat" cmpd="sng" algn="ctr">
                      <a:solidFill>
                        <a:srgbClr val="C3D3E8"/>
                      </a:solidFill>
                      <a:prstDash val="solid"/>
                      <a:round/>
                      <a:headEnd type="none" w="med" len="med"/>
                      <a:tailEnd type="none" w="med" len="med"/>
                    </a:lnL>
                    <a:lnR w="6350" cap="flat" cmpd="sng" algn="ctr">
                      <a:solidFill>
                        <a:srgbClr val="C3D3E8"/>
                      </a:solidFill>
                      <a:prstDash val="solid"/>
                      <a:round/>
                      <a:headEnd type="none" w="med" len="med"/>
                      <a:tailEnd type="none" w="med" len="med"/>
                    </a:lnR>
                    <a:lnT w="6350" cap="flat" cmpd="sng" algn="ctr">
                      <a:solidFill>
                        <a:srgbClr val="C3D3E8"/>
                      </a:solidFill>
                      <a:prstDash val="solid"/>
                      <a:round/>
                      <a:headEnd type="none" w="med" len="med"/>
                      <a:tailEnd type="none" w="med" len="med"/>
                    </a:lnT>
                    <a:lnB w="6350" cap="flat" cmpd="sng" algn="ctr">
                      <a:solidFill>
                        <a:srgbClr val="C3D3E8"/>
                      </a:solidFill>
                      <a:prstDash val="solid"/>
                      <a:round/>
                      <a:headEnd type="none" w="med" len="med"/>
                      <a:tailEnd type="none" w="med" len="med"/>
                    </a:lnB>
                    <a:solidFill>
                      <a:srgbClr val="FFFFFF"/>
                    </a:solidFill>
                  </a:tcPr>
                </a:tc>
              </a:tr>
            </a:tbl>
          </a:graphicData>
        </a:graphic>
      </p:graphicFrame>
      <p:sp>
        <p:nvSpPr>
          <p:cNvPr id="39" name="kotak-519"/>
          <p:cNvSpPr txBox="1"/>
          <p:nvPr/>
        </p:nvSpPr>
        <p:spPr>
          <a:xfrm>
            <a:off x="6126480" y="5074920"/>
            <a:ext cx="5715000" cy="1143000"/>
          </a:xfrm>
          <a:prstGeom prst="roundRect">
            <a:avLst>
              <a:gd name="adj" fmla="val 4000"/>
            </a:avLst>
          </a:prstGeom>
          <a:solidFill>
            <a:srgbClr val="FFFFFF"/>
          </a:solidFill>
          <a:ln w="15875">
            <a:solidFill>
              <a:srgbClr val="0C2464"/>
            </a:solidFill>
          </a:ln>
        </p:spPr>
        <p:txBody>
          <a:bodyPr wrap="square" lIns="50800" tIns="101600" rIns="101600" bIns="50800" rtlCol="0" anchor="ctr"/>
          <a:lstStyle/>
          <a:p>
            <a:pPr algn="l" indent="0" marL="0">
              <a:buNone/>
            </a:pPr>
            <a:r>
              <a:rPr lang="en-US" sz="800" b="1" dirty="0">
                <a:solidFill>
                  <a:srgbClr val="3E8E41"/>
                </a:solidFill>
                <a:latin typeface="Calibri" pitchFamily="34" charset="0"/>
                <a:ea typeface="Calibri" pitchFamily="34" charset="-122"/>
                <a:cs typeface="Calibri" pitchFamily="34" charset="-120"/>
              </a:rPr>
              <a:t>Penutup: </a:t>
            </a:r>
            <a:pPr algn="l" indent="0" marL="0">
              <a:buNone/>
            </a:pPr>
            <a:r>
              <a:rPr lang="en-US" sz="800" dirty="0">
                <a:solidFill>
                  <a:srgbClr val="14213D"/>
                </a:solidFill>
                <a:latin typeface="Calibri" pitchFamily="34" charset="0"/>
                <a:ea typeface="Calibri" pitchFamily="34" charset="-122"/>
                <a:cs typeface="Calibri" pitchFamily="34" charset="-120"/>
              </a:rPr>
              <a:t>metana POME sudah bisa ditangkap; yang belum ada adalah cara PKS membayarnya tanpa menanggung risiko. Satu set 60 t TBS/jam menghindari ≈ 32 ribu tCO₂e per tahun. Dengan empat gerbang, kami hanya membangun bila data PKS, kuotasi, dan izin membuktikannya.</a:t>
            </a:r>
            <a:endParaRPr lang="en-US" sz="800" dirty="0"/>
          </a:p>
        </p:txBody>
      </p:sp>
      <p:sp>
        <p:nvSpPr>
          <p:cNvPr id="40" name="teks-520"/>
          <p:cNvSpPr txBox="1"/>
          <p:nvPr/>
        </p:nvSpPr>
        <p:spPr>
          <a:xfrm>
            <a:off x="365760" y="6419088"/>
            <a:ext cx="11109960" cy="246888"/>
          </a:xfrm>
          <a:prstGeom prst="rect">
            <a:avLst/>
          </a:prstGeom>
          <a:noFill/>
          <a:ln/>
        </p:spPr>
        <p:txBody>
          <a:bodyPr wrap="square" lIns="0" tIns="0" rIns="0" bIns="0" rtlCol="0" anchor="ctr"/>
          <a:lstStyle/>
          <a:p>
            <a:pPr indent="0" marL="0">
              <a:buNone/>
            </a:pPr>
            <a:r>
              <a:rPr lang="en-US" sz="590" dirty="0">
                <a:solidFill>
                  <a:srgbClr val="587888"/>
                </a:solidFill>
                <a:latin typeface="Calibri" pitchFamily="34" charset="0"/>
                <a:ea typeface="Calibri" pitchFamily="34" charset="-122"/>
                <a:cs typeface="Calibri" pitchFamily="34" charset="-120"/>
              </a:rPr>
              <a:t>Singkatan: TRL tingkat kesiapan teknologi; OLR laju beban organik; FID keputusan investasi akhir; PJBL perjanjian jual beli listrik; MCF faktor koreksi metana; FEED desain rekayasa awal.</a:t>
            </a:r>
            <a:endParaRPr lang="en-US" sz="590" dirty="0"/>
          </a:p>
          <a:p>
            <a:pPr indent="0" marL="0">
              <a:buNone/>
            </a:pPr>
            <a:r>
              <a:rPr lang="en-US" sz="590" dirty="0">
                <a:solidFill>
                  <a:srgbClr val="587888"/>
                </a:solidFill>
                <a:latin typeface="Calibri" pitchFamily="34" charset="0"/>
                <a:ea typeface="Calibri" pitchFamily="34" charset="-122"/>
                <a:cs typeface="Calibri" pitchFamily="34" charset="-120"/>
              </a:rPr>
              <a:t>Sumber: ringkasan slide 2–9; skor kartu adalah penilaian tim berdasarkan bukti pada slide terkait.</a:t>
            </a:r>
            <a:endParaRPr lang="en-US" sz="590" dirty="0"/>
          </a:p>
        </p:txBody>
      </p:sp>
      <p:sp>
        <p:nvSpPr>
          <p:cNvPr id="25" name="Slide Number Placeholder 0"/>
          <p:cNvSpPr>
            <a:spLocks noGrp="1"/>
          </p:cNvSpPr>
          <p:nvPr>
            <p:ph type="sldNum" sz="quarter" idx="4294967295"/>
          </p:nvPr>
        </p:nvSpPr>
        <p:spPr>
          <a:xfrm>
            <a:off x="11338560" y="6675120"/>
            <a:ext cx="502920" cy="128016"/>
          </a:xfrm>
          <a:prstGeom prst="rect">
            <a:avLst/>
          </a:prstGeom>
          <a:extLst>
            <a:ext uri="{C572A759-6A51-4108-AA02-DFA0A04FC94B}">
              <ma14:wrappingTextBoxFlag xmlns:ma14="http://schemas.microsoft.com/office/mac/drawingml/2011/main" val="0"/>
            </a:ext>
          </a:extLst>
        </p:spPr>
        <p:txBody>
          <a:bodyPr/>
          <a:lstStyle>
            <a:lvl1pPr>
              <a:defRPr sz="700">
                <a:solidFill>
                  <a:srgbClr val="0C246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EIC 2026 Malataxtax">
  <a:themeElements>
    <a:clrScheme name="EIC 2026 Malataxtax">
      <a:dk1>
        <a:srgbClr val="14213D"/>
      </a:dk1>
      <a:lt1>
        <a:srgbClr val="FFFFFF"/>
      </a:lt1>
      <a:dk2>
        <a:srgbClr val="0C2464"/>
      </a:dk2>
      <a:lt2>
        <a:srgbClr val="ECF3FA"/>
      </a:lt2>
      <a:accent1>
        <a:srgbClr val="244C9C"/>
      </a:accent1>
      <a:accent2>
        <a:srgbClr val="64BC54"/>
      </a:accent2>
      <a:accent3>
        <a:srgbClr val="54B4CC"/>
      </a:accent3>
      <a:accent4>
        <a:srgbClr val="D4DC54"/>
      </a:accent4>
      <a:accent5>
        <a:srgbClr val="6898C8"/>
      </a:accent5>
      <a:accent6>
        <a:srgbClr val="587888"/>
      </a:accent6>
      <a:hlink>
        <a:srgbClr val="244C9C"/>
      </a:hlink>
      <a:folHlink>
        <a:srgbClr val="0C2464"/>
      </a:folHlink>
    </a:clrScheme>
    <a:fontScheme name="EIC 2026 Malataxtax">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Malataxtax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Biogas sebagai Layanan: Pengolah POME Termofilik Modular untuk PKS</dc:title>
  <dc:subject>EIC 2026 - Energy Business Plan Competition, Subtema 3</dc:subject>
  <dc:creator>Tim Malataxtax</dc:creator>
  <cp:lastModifiedBy>Tim Malataxtax</cp:lastModifiedBy>
  <cp:revision>1</cp:revision>
  <dcterms:created xsi:type="dcterms:W3CDTF">2026-10-16T13:55:51Z</dcterms:created>
  <dcterms:modified xsi:type="dcterms:W3CDTF">2026-10-16T13:55:51Z</dcterms:modified>
</cp:coreProperties>
</file>