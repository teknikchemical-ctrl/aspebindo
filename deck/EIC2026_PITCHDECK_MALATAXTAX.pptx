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mpul" id="{9ee25776-1044-1ac6-00ce-65ae89b2fc86}">
          <p14:sldIdLst>
            <p14:sldId id="256"/>
          </p14:sldIdLst>
        </p14:section>
        <p14:section name="Latar belakang dan masalah" id="{72a63fc3-bd3d-3edb-9796-3fa817c7bf3e}">
          <p14:sldIdLst>
            <p14:sldId id="257"/>
          </p14:sldIdLst>
        </p14:section>
        <p14:section name="Solusi: konsep" id="{752d0f27-5c09-5cd9-b40a-6fa97ce463e5}">
          <p14:sldIdLst>
            <p14:sldId id="258"/>
          </p14:sldIdLst>
        </p14:section>
        <p14:section name="Solusi: validitas teknis" id="{946bdb9b-5483-142b-aeb0-c576b8fc3929}">
          <p14:sldIdLst>
            <p14:sldId id="259"/>
          </p14:sldIdLst>
        </p14:section>
        <p14:section name="Solusi: desain produk" id="{6fdc61f9-189a-7f3b-b883-d4ee2f39a16b}">
          <p14:sldIdLst>
            <p14:sldId id="260"/>
          </p14:sldIdLst>
        </p14:section>
        <p14:section name="Analisis pesaing" id="{5ed2dcf3-4889-7620-ee5f-d59892515d88}">
          <p14:sldIdLst>
            <p14:sldId id="261"/>
          </p14:sldIdLst>
        </p14:section>
        <p14:section name="Model keuangan" id="{07e86e05-1a23-5d55-bb2e-aa216d2369a8}">
          <p14:sldIdLst>
            <p14:sldId id="262"/>
          </p14:sldIdLst>
        </p14:section>
        <p14:section name="Rencana implementasi" id="{6956d961-3229-ab91-1d2e-b0b9553100b2}">
          <p14:sldIdLst>
            <p14:sldId id="263"/>
          </p14:sldIdLst>
        </p14:section>
        <p14:section name="Peluang bisnis dan dampak" id="{b3f2d363-94ee-d841-6846-af6c6bfa710e}">
          <p14:sldIdLst>
            <p14:sldId id="264"/>
          </p14:sldIdLst>
        </p14:section>
        <p14:section name="Kesimpulan" id="{afc24dd2-70fe-636e-27d0-c563f3c9f32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[$-421]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5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A5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EF2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452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E8E4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Energi biogas (LHV)</c:v>
                  </c:pt>
                  <c:pt idx="1">
                    <c:v>Listrik kotor</c:v>
                  </c:pt>
                  <c:pt idx="2">
                    <c:v>Panas selubung</c:v>
                  </c:pt>
                  <c:pt idx="3">
                    <c:v>Panas gas buang</c:v>
                  </c:pt>
                  <c:pt idx="4">
                    <c:v>Rugi radiasi dan sisa</c:v>
                  </c:pt>
                  <c:pt idx="5">
                    <c:v>Pemakaian sendiri</c:v>
                  </c:pt>
                  <c:pt idx="6">
                    <c:v>Listrik neto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2866.5130113140112</c:v>
                </c:pt>
                <c:pt idx="1">
                  <c:v>1126.5831692787917</c:v>
                </c:pt>
                <c:pt idx="2">
                  <c:v>716.6282528285028</c:v>
                </c:pt>
                <c:pt idx="3">
                  <c:v>688.3762174374532</c:v>
                </c:pt>
                <c:pt idx="4">
                  <c:v>334.9253717692635</c:v>
                </c:pt>
                <c:pt idx="5">
                  <c:v>101.58183030730822</c:v>
                </c:pt>
                <c:pt idx="6">
                  <c:v>1025.0013389714836</c:v>
                </c:pt>
              </c:numCache>
            </c:numRef>
          </c:val>
        </c:ser>
        <c:dLbls>
          <c:numFmt formatCode="[$-421]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Daya neto (kW)</c:v>
                </c:pt>
              </c:strCache>
            </c:strRef>
          </c:tx>
          <c:spPr>
            <a:solidFill>
              <a:srgbClr val="1F4E9E"/>
            </a:solidFill>
            <a:ln w="15875" cap="flat">
              <a:solidFill>
                <a:srgbClr val="1F4E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9E"/>
              </a:solidFill>
              <a:ln w="9525" cap="flat">
                <a:solidFill>
                  <a:srgbClr val="1F4E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Sheet1!$A$2:$A$366</c:f>
              <c:multiLvlStrCache>
                <c:ptCount val="365"/>
                <c:lvl>
                  <c:pt idx="0">
                    <c:v>Jan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</c:v>
                  </c:pt>
                  <c:pt idx="4">
                    <c:v>     </c:v>
                  </c:pt>
                  <c:pt idx="5">
                    <c:v>      </c:v>
                  </c:pt>
                  <c:pt idx="6">
                    <c:v>       </c:v>
                  </c:pt>
                  <c:pt idx="7">
                    <c:v>        </c:v>
                  </c:pt>
                  <c:pt idx="8">
                    <c:v>         </c:v>
                  </c:pt>
                  <c:pt idx="9">
                    <c:v>          </c:v>
                  </c:pt>
                  <c:pt idx="10">
                    <c:v>           </c:v>
                  </c:pt>
                  <c:pt idx="11">
                    <c:v>            </c:v>
                  </c:pt>
                  <c:pt idx="12">
                    <c:v>             </c:v>
                  </c:pt>
                  <c:pt idx="13">
                    <c:v>              </c:v>
                  </c:pt>
                  <c:pt idx="14">
                    <c:v>               </c:v>
                  </c:pt>
                  <c:pt idx="15">
                    <c:v>                </c:v>
                  </c:pt>
                  <c:pt idx="16">
                    <c:v>                 </c:v>
                  </c:pt>
                  <c:pt idx="17">
                    <c:v>                  </c:v>
                  </c:pt>
                  <c:pt idx="18">
                    <c:v>                   </c:v>
                  </c:pt>
                  <c:pt idx="19">
                    <c:v>                    </c:v>
                  </c:pt>
                  <c:pt idx="20">
                    <c:v>                     </c:v>
                  </c:pt>
                  <c:pt idx="21">
                    <c:v>                      </c:v>
                  </c:pt>
                  <c:pt idx="22">
                    <c:v>                       </c:v>
                  </c:pt>
                  <c:pt idx="23">
                    <c:v>                        </c:v>
                  </c:pt>
                  <c:pt idx="24">
                    <c:v>                         </c:v>
                  </c:pt>
                  <c:pt idx="25">
                    <c:v>                          </c:v>
                  </c:pt>
                  <c:pt idx="26">
                    <c:v>                           </c:v>
                  </c:pt>
                  <c:pt idx="27">
                    <c:v>                            </c:v>
                  </c:pt>
                  <c:pt idx="28">
                    <c:v>                             </c:v>
                  </c:pt>
                  <c:pt idx="29">
                    <c:v> </c:v>
                  </c:pt>
                  <c:pt idx="30">
                    <c:v>Feb</c:v>
                  </c:pt>
                  <c:pt idx="31">
                    <c:v>   </c:v>
                  </c:pt>
                  <c:pt idx="32">
                    <c:v>    </c:v>
                  </c:pt>
                  <c:pt idx="33">
                    <c:v>     </c:v>
                  </c:pt>
                  <c:pt idx="34">
                    <c:v>      </c:v>
                  </c:pt>
                  <c:pt idx="35">
                    <c:v>       </c:v>
                  </c:pt>
                  <c:pt idx="36">
                    <c:v>        </c:v>
                  </c:pt>
                  <c:pt idx="37">
                    <c:v>         </c:v>
                  </c:pt>
                  <c:pt idx="38">
                    <c:v>          </c:v>
                  </c:pt>
                  <c:pt idx="39">
                    <c:v>           </c:v>
                  </c:pt>
                  <c:pt idx="40">
                    <c:v>            </c:v>
                  </c:pt>
                  <c:pt idx="41">
                    <c:v>             </c:v>
                  </c:pt>
                  <c:pt idx="42">
                    <c:v>              </c:v>
                  </c:pt>
                  <c:pt idx="43">
                    <c:v>               </c:v>
                  </c:pt>
                  <c:pt idx="44">
                    <c:v>                </c:v>
                  </c:pt>
                  <c:pt idx="45">
                    <c:v>                 </c:v>
                  </c:pt>
                  <c:pt idx="46">
                    <c:v>                  </c:v>
                  </c:pt>
                  <c:pt idx="47">
                    <c:v>                   </c:v>
                  </c:pt>
                  <c:pt idx="48">
                    <c:v>                    </c:v>
                  </c:pt>
                  <c:pt idx="49">
                    <c:v>                     </c:v>
                  </c:pt>
                  <c:pt idx="50">
                    <c:v>                      </c:v>
                  </c:pt>
                  <c:pt idx="51">
                    <c:v>                       </c:v>
                  </c:pt>
                  <c:pt idx="52">
                    <c:v>                        </c:v>
                  </c:pt>
                  <c:pt idx="53">
                    <c:v>                         </c:v>
                  </c:pt>
                  <c:pt idx="54">
                    <c:v>                          </c:v>
                  </c:pt>
                  <c:pt idx="55">
                    <c:v>                           </c:v>
                  </c:pt>
                  <c:pt idx="56">
                    <c:v>                            </c:v>
                  </c:pt>
                  <c:pt idx="57">
                    <c:v>                             </c:v>
                  </c:pt>
                  <c:pt idx="58">
                    <c:v> </c:v>
                  </c:pt>
                  <c:pt idx="59">
                    <c:v>  </c:v>
                  </c:pt>
                  <c:pt idx="60">
                    <c:v>Mar</c:v>
                  </c:pt>
                  <c:pt idx="61">
                    <c:v>    </c:v>
                  </c:pt>
                  <c:pt idx="62">
                    <c:v>     </c:v>
                  </c:pt>
                  <c:pt idx="63">
                    <c:v>      </c:v>
                  </c:pt>
                  <c:pt idx="64">
                    <c:v>       </c:v>
                  </c:pt>
                  <c:pt idx="65">
                    <c:v>        </c:v>
                  </c:pt>
                  <c:pt idx="66">
                    <c:v>         </c:v>
                  </c:pt>
                  <c:pt idx="67">
                    <c:v>          </c:v>
                  </c:pt>
                  <c:pt idx="68">
                    <c:v>           </c:v>
                  </c:pt>
                  <c:pt idx="69">
                    <c:v>            </c:v>
                  </c:pt>
                  <c:pt idx="70">
                    <c:v>             </c:v>
                  </c:pt>
                  <c:pt idx="71">
                    <c:v>              </c:v>
                  </c:pt>
                  <c:pt idx="72">
                    <c:v>               </c:v>
                  </c:pt>
                  <c:pt idx="73">
                    <c:v>                </c:v>
                  </c:pt>
                  <c:pt idx="74">
                    <c:v>                 </c:v>
                  </c:pt>
                  <c:pt idx="75">
                    <c:v>                  </c:v>
                  </c:pt>
                  <c:pt idx="76">
                    <c:v>                   </c:v>
                  </c:pt>
                  <c:pt idx="77">
                    <c:v>                    </c:v>
                  </c:pt>
                  <c:pt idx="78">
                    <c:v>                     </c:v>
                  </c:pt>
                  <c:pt idx="79">
                    <c:v>                      </c:v>
                  </c:pt>
                  <c:pt idx="80">
                    <c:v>                       </c:v>
                  </c:pt>
                  <c:pt idx="81">
                    <c:v>                        </c:v>
                  </c:pt>
                  <c:pt idx="82">
                    <c:v>                         </c:v>
                  </c:pt>
                  <c:pt idx="83">
                    <c:v>                          </c:v>
                  </c:pt>
                  <c:pt idx="84">
                    <c:v>                           </c:v>
                  </c:pt>
                  <c:pt idx="85">
                    <c:v>                            </c:v>
                  </c:pt>
                  <c:pt idx="86">
                    <c:v>                             </c:v>
                  </c:pt>
                  <c:pt idx="87">
                    <c:v> </c:v>
                  </c:pt>
                  <c:pt idx="88">
                    <c:v>  </c:v>
                  </c:pt>
                  <c:pt idx="89">
                    <c:v>   </c:v>
                  </c:pt>
                  <c:pt idx="90">
                    <c:v>Apr</c:v>
                  </c:pt>
                  <c:pt idx="91">
                    <c:v>     </c:v>
                  </c:pt>
                  <c:pt idx="92">
                    <c:v>      </c:v>
                  </c:pt>
                  <c:pt idx="93">
                    <c:v>       </c:v>
                  </c:pt>
                  <c:pt idx="94">
                    <c:v>        </c:v>
                  </c:pt>
                  <c:pt idx="95">
                    <c:v>         </c:v>
                  </c:pt>
                  <c:pt idx="96">
                    <c:v>          </c:v>
                  </c:pt>
                  <c:pt idx="97">
                    <c:v>           </c:v>
                  </c:pt>
                  <c:pt idx="98">
                    <c:v>            </c:v>
                  </c:pt>
                  <c:pt idx="99">
                    <c:v>             </c:v>
                  </c:pt>
                  <c:pt idx="100">
                    <c:v>              </c:v>
                  </c:pt>
                  <c:pt idx="101">
                    <c:v>               </c:v>
                  </c:pt>
                  <c:pt idx="102">
                    <c:v>                </c:v>
                  </c:pt>
                  <c:pt idx="103">
                    <c:v>                 </c:v>
                  </c:pt>
                  <c:pt idx="104">
                    <c:v>                  </c:v>
                  </c:pt>
                  <c:pt idx="105">
                    <c:v>                   </c:v>
                  </c:pt>
                  <c:pt idx="106">
                    <c:v>                    </c:v>
                  </c:pt>
                  <c:pt idx="107">
                    <c:v>                     </c:v>
                  </c:pt>
                  <c:pt idx="108">
                    <c:v>                      </c:v>
                  </c:pt>
                  <c:pt idx="109">
                    <c:v>                       </c:v>
                  </c:pt>
                  <c:pt idx="110">
                    <c:v>                        </c:v>
                  </c:pt>
                  <c:pt idx="111">
                    <c:v>                         </c:v>
                  </c:pt>
                  <c:pt idx="112">
                    <c:v>                          </c:v>
                  </c:pt>
                  <c:pt idx="113">
                    <c:v>                           </c:v>
                  </c:pt>
                  <c:pt idx="114">
                    <c:v>                            </c:v>
                  </c:pt>
                  <c:pt idx="115">
                    <c:v>                             </c:v>
                  </c:pt>
                  <c:pt idx="116">
                    <c:v> </c:v>
                  </c:pt>
                  <c:pt idx="117">
                    <c:v>  </c:v>
                  </c:pt>
                  <c:pt idx="118">
                    <c:v>   </c:v>
                  </c:pt>
                  <c:pt idx="119">
                    <c:v>    </c:v>
                  </c:pt>
                  <c:pt idx="120">
                    <c:v>Mei</c:v>
                  </c:pt>
                  <c:pt idx="121">
                    <c:v>      </c:v>
                  </c:pt>
                  <c:pt idx="122">
                    <c:v>       </c:v>
                  </c:pt>
                  <c:pt idx="123">
                    <c:v>        </c:v>
                  </c:pt>
                  <c:pt idx="124">
                    <c:v>         </c:v>
                  </c:pt>
                  <c:pt idx="125">
                    <c:v>          </c:v>
                  </c:pt>
                  <c:pt idx="126">
                    <c:v>           </c:v>
                  </c:pt>
                  <c:pt idx="127">
                    <c:v>            </c:v>
                  </c:pt>
                  <c:pt idx="128">
                    <c:v>             </c:v>
                  </c:pt>
                  <c:pt idx="129">
                    <c:v>              </c:v>
                  </c:pt>
                  <c:pt idx="130">
                    <c:v>               </c:v>
                  </c:pt>
                  <c:pt idx="131">
                    <c:v>                </c:v>
                  </c:pt>
                  <c:pt idx="132">
                    <c:v>                 </c:v>
                  </c:pt>
                  <c:pt idx="133">
                    <c:v>                  </c:v>
                  </c:pt>
                  <c:pt idx="134">
                    <c:v>                   </c:v>
                  </c:pt>
                  <c:pt idx="135">
                    <c:v>                    </c:v>
                  </c:pt>
                  <c:pt idx="136">
                    <c:v>                     </c:v>
                  </c:pt>
                  <c:pt idx="137">
                    <c:v>                      </c:v>
                  </c:pt>
                  <c:pt idx="138">
                    <c:v>                       </c:v>
                  </c:pt>
                  <c:pt idx="139">
                    <c:v>                        </c:v>
                  </c:pt>
                  <c:pt idx="140">
                    <c:v>                         </c:v>
                  </c:pt>
                  <c:pt idx="141">
                    <c:v>                          </c:v>
                  </c:pt>
                  <c:pt idx="142">
                    <c:v>                           </c:v>
                  </c:pt>
                  <c:pt idx="143">
                    <c:v>                            </c:v>
                  </c:pt>
                  <c:pt idx="144">
                    <c:v>                             </c:v>
                  </c:pt>
                  <c:pt idx="145">
                    <c:v> </c:v>
                  </c:pt>
                  <c:pt idx="146">
                    <c:v>  </c:v>
                  </c:pt>
                  <c:pt idx="147">
                    <c:v>   </c:v>
                  </c:pt>
                  <c:pt idx="148">
                    <c:v>    </c:v>
                  </c:pt>
                  <c:pt idx="149">
                    <c:v>     </c:v>
                  </c:pt>
                  <c:pt idx="150">
                    <c:v>Jun</c:v>
                  </c:pt>
                  <c:pt idx="151">
                    <c:v>       </c:v>
                  </c:pt>
                  <c:pt idx="152">
                    <c:v>        </c:v>
                  </c:pt>
                  <c:pt idx="153">
                    <c:v>         </c:v>
                  </c:pt>
                  <c:pt idx="154">
                    <c:v>          </c:v>
                  </c:pt>
                  <c:pt idx="155">
                    <c:v>           </c:v>
                  </c:pt>
                  <c:pt idx="156">
                    <c:v>            </c:v>
                  </c:pt>
                  <c:pt idx="157">
                    <c:v>             </c:v>
                  </c:pt>
                  <c:pt idx="158">
                    <c:v>              </c:v>
                  </c:pt>
                  <c:pt idx="159">
                    <c:v>               </c:v>
                  </c:pt>
                  <c:pt idx="160">
                    <c:v>                </c:v>
                  </c:pt>
                  <c:pt idx="161">
                    <c:v>                 </c:v>
                  </c:pt>
                  <c:pt idx="162">
                    <c:v>                  </c:v>
                  </c:pt>
                  <c:pt idx="163">
                    <c:v>                   </c:v>
                  </c:pt>
                  <c:pt idx="164">
                    <c:v>                    </c:v>
                  </c:pt>
                  <c:pt idx="165">
                    <c:v>                     </c:v>
                  </c:pt>
                  <c:pt idx="166">
                    <c:v>                      </c:v>
                  </c:pt>
                  <c:pt idx="167">
                    <c:v>                       </c:v>
                  </c:pt>
                  <c:pt idx="168">
                    <c:v>                        </c:v>
                  </c:pt>
                  <c:pt idx="169">
                    <c:v>                         </c:v>
                  </c:pt>
                  <c:pt idx="170">
                    <c:v>                          </c:v>
                  </c:pt>
                  <c:pt idx="171">
                    <c:v>                           </c:v>
                  </c:pt>
                  <c:pt idx="172">
                    <c:v>                            </c:v>
                  </c:pt>
                  <c:pt idx="173">
                    <c:v>                             </c:v>
                  </c:pt>
                  <c:pt idx="174">
                    <c:v> </c:v>
                  </c:pt>
                  <c:pt idx="175">
                    <c:v>  </c:v>
                  </c:pt>
                  <c:pt idx="176">
                    <c:v>   </c:v>
                  </c:pt>
                  <c:pt idx="177">
                    <c:v>    </c:v>
                  </c:pt>
                  <c:pt idx="178">
                    <c:v>     </c:v>
                  </c:pt>
                  <c:pt idx="179">
                    <c:v>      </c:v>
                  </c:pt>
                  <c:pt idx="180">
                    <c:v>Jul</c:v>
                  </c:pt>
                  <c:pt idx="181">
                    <c:v>        </c:v>
                  </c:pt>
                  <c:pt idx="182">
                    <c:v>         </c:v>
                  </c:pt>
                  <c:pt idx="183">
                    <c:v>          </c:v>
                  </c:pt>
                  <c:pt idx="184">
                    <c:v>           </c:v>
                  </c:pt>
                  <c:pt idx="185">
                    <c:v>            </c:v>
                  </c:pt>
                  <c:pt idx="186">
                    <c:v>             </c:v>
                  </c:pt>
                  <c:pt idx="187">
                    <c:v>              </c:v>
                  </c:pt>
                  <c:pt idx="188">
                    <c:v>               </c:v>
                  </c:pt>
                  <c:pt idx="189">
                    <c:v>                </c:v>
                  </c:pt>
                  <c:pt idx="190">
                    <c:v>                 </c:v>
                  </c:pt>
                  <c:pt idx="191">
                    <c:v>                  </c:v>
                  </c:pt>
                  <c:pt idx="192">
                    <c:v>                   </c:v>
                  </c:pt>
                  <c:pt idx="193">
                    <c:v>                    </c:v>
                  </c:pt>
                  <c:pt idx="194">
                    <c:v>                     </c:v>
                  </c:pt>
                  <c:pt idx="195">
                    <c:v>                      </c:v>
                  </c:pt>
                  <c:pt idx="196">
                    <c:v>                       </c:v>
                  </c:pt>
                  <c:pt idx="197">
                    <c:v>                        </c:v>
                  </c:pt>
                  <c:pt idx="198">
                    <c:v>                         </c:v>
                  </c:pt>
                  <c:pt idx="199">
                    <c:v>                          </c:v>
                  </c:pt>
                  <c:pt idx="200">
                    <c:v>                           </c:v>
                  </c:pt>
                  <c:pt idx="201">
                    <c:v>                            </c:v>
                  </c:pt>
                  <c:pt idx="202">
                    <c:v>                             </c:v>
                  </c:pt>
                  <c:pt idx="203">
                    <c:v> </c:v>
                  </c:pt>
                  <c:pt idx="204">
                    <c:v>  </c:v>
                  </c:pt>
                  <c:pt idx="205">
                    <c:v>   </c:v>
                  </c:pt>
                  <c:pt idx="206">
                    <c:v>    </c:v>
                  </c:pt>
                  <c:pt idx="207">
                    <c:v>     </c:v>
                  </c:pt>
                  <c:pt idx="208">
                    <c:v>      </c:v>
                  </c:pt>
                  <c:pt idx="209">
                    <c:v>       </c:v>
                  </c:pt>
                  <c:pt idx="210">
                    <c:v>Agu</c:v>
                  </c:pt>
                  <c:pt idx="211">
                    <c:v>         </c:v>
                  </c:pt>
                  <c:pt idx="212">
                    <c:v>          </c:v>
                  </c:pt>
                  <c:pt idx="213">
                    <c:v>           </c:v>
                  </c:pt>
                  <c:pt idx="214">
                    <c:v>            </c:v>
                  </c:pt>
                  <c:pt idx="215">
                    <c:v>             </c:v>
                  </c:pt>
                  <c:pt idx="216">
                    <c:v>              </c:v>
                  </c:pt>
                  <c:pt idx="217">
                    <c:v>               </c:v>
                  </c:pt>
                  <c:pt idx="218">
                    <c:v>                </c:v>
                  </c:pt>
                  <c:pt idx="219">
                    <c:v>                 </c:v>
                  </c:pt>
                  <c:pt idx="220">
                    <c:v>                  </c:v>
                  </c:pt>
                  <c:pt idx="221">
                    <c:v>                   </c:v>
                  </c:pt>
                  <c:pt idx="222">
                    <c:v>                    </c:v>
                  </c:pt>
                  <c:pt idx="223">
                    <c:v>                     </c:v>
                  </c:pt>
                  <c:pt idx="224">
                    <c:v>                      </c:v>
                  </c:pt>
                  <c:pt idx="225">
                    <c:v>                       </c:v>
                  </c:pt>
                  <c:pt idx="226">
                    <c:v>                        </c:v>
                  </c:pt>
                  <c:pt idx="227">
                    <c:v>                         </c:v>
                  </c:pt>
                  <c:pt idx="228">
                    <c:v>                          </c:v>
                  </c:pt>
                  <c:pt idx="229">
                    <c:v>                           </c:v>
                  </c:pt>
                  <c:pt idx="230">
                    <c:v>                            </c:v>
                  </c:pt>
                  <c:pt idx="231">
                    <c:v>                             </c:v>
                  </c:pt>
                  <c:pt idx="232">
                    <c:v> </c:v>
                  </c:pt>
                  <c:pt idx="233">
                    <c:v>  </c:v>
                  </c:pt>
                  <c:pt idx="234">
                    <c:v>   </c:v>
                  </c:pt>
                  <c:pt idx="235">
                    <c:v>    </c:v>
                  </c:pt>
                  <c:pt idx="236">
                    <c:v>     </c:v>
                  </c:pt>
                  <c:pt idx="237">
                    <c:v>      </c:v>
                  </c:pt>
                  <c:pt idx="238">
                    <c:v>       </c:v>
                  </c:pt>
                  <c:pt idx="239">
                    <c:v>        </c:v>
                  </c:pt>
                  <c:pt idx="240">
                    <c:v>Sep</c:v>
                  </c:pt>
                  <c:pt idx="241">
                    <c:v>          </c:v>
                  </c:pt>
                  <c:pt idx="242">
                    <c:v>           </c:v>
                  </c:pt>
                  <c:pt idx="243">
                    <c:v>            </c:v>
                  </c:pt>
                  <c:pt idx="244">
                    <c:v>             </c:v>
                  </c:pt>
                  <c:pt idx="245">
                    <c:v>              </c:v>
                  </c:pt>
                  <c:pt idx="246">
                    <c:v>               </c:v>
                  </c:pt>
                  <c:pt idx="247">
                    <c:v>                </c:v>
                  </c:pt>
                  <c:pt idx="248">
                    <c:v>                 </c:v>
                  </c:pt>
                  <c:pt idx="249">
                    <c:v>                  </c:v>
                  </c:pt>
                  <c:pt idx="250">
                    <c:v>                   </c:v>
                  </c:pt>
                  <c:pt idx="251">
                    <c:v>                    </c:v>
                  </c:pt>
                  <c:pt idx="252">
                    <c:v>                     </c:v>
                  </c:pt>
                  <c:pt idx="253">
                    <c:v>                      </c:v>
                  </c:pt>
                  <c:pt idx="254">
                    <c:v>                       </c:v>
                  </c:pt>
                  <c:pt idx="255">
                    <c:v>                        </c:v>
                  </c:pt>
                  <c:pt idx="256">
                    <c:v>                         </c:v>
                  </c:pt>
                  <c:pt idx="257">
                    <c:v>                          </c:v>
                  </c:pt>
                  <c:pt idx="258">
                    <c:v>                           </c:v>
                  </c:pt>
                  <c:pt idx="259">
                    <c:v>                            </c:v>
                  </c:pt>
                  <c:pt idx="260">
                    <c:v>                             </c:v>
                  </c:pt>
                  <c:pt idx="261">
                    <c:v> </c:v>
                  </c:pt>
                  <c:pt idx="262">
                    <c:v>  </c:v>
                  </c:pt>
                  <c:pt idx="263">
                    <c:v>   </c:v>
                  </c:pt>
                  <c:pt idx="264">
                    <c:v>    </c:v>
                  </c:pt>
                  <c:pt idx="265">
                    <c:v>     </c:v>
                  </c:pt>
                  <c:pt idx="266">
                    <c:v>      </c:v>
                  </c:pt>
                  <c:pt idx="267">
                    <c:v>       </c:v>
                  </c:pt>
                  <c:pt idx="268">
                    <c:v>        </c:v>
                  </c:pt>
                  <c:pt idx="269">
                    <c:v>         </c:v>
                  </c:pt>
                  <c:pt idx="270">
                    <c:v>Okt</c:v>
                  </c:pt>
                  <c:pt idx="271">
                    <c:v>           </c:v>
                  </c:pt>
                  <c:pt idx="272">
                    <c:v>            </c:v>
                  </c:pt>
                  <c:pt idx="273">
                    <c:v>             </c:v>
                  </c:pt>
                  <c:pt idx="274">
                    <c:v>              </c:v>
                  </c:pt>
                  <c:pt idx="275">
                    <c:v>               </c:v>
                  </c:pt>
                  <c:pt idx="276">
                    <c:v>                </c:v>
                  </c:pt>
                  <c:pt idx="277">
                    <c:v>                 </c:v>
                  </c:pt>
                  <c:pt idx="278">
                    <c:v>                  </c:v>
                  </c:pt>
                  <c:pt idx="279">
                    <c:v>                   </c:v>
                  </c:pt>
                  <c:pt idx="280">
                    <c:v>                    </c:v>
                  </c:pt>
                  <c:pt idx="281">
                    <c:v>                     </c:v>
                  </c:pt>
                  <c:pt idx="282">
                    <c:v>                      </c:v>
                  </c:pt>
                  <c:pt idx="283">
                    <c:v>                       </c:v>
                  </c:pt>
                  <c:pt idx="284">
                    <c:v>                        </c:v>
                  </c:pt>
                  <c:pt idx="285">
                    <c:v>                         </c:v>
                  </c:pt>
                  <c:pt idx="286">
                    <c:v>                          </c:v>
                  </c:pt>
                  <c:pt idx="287">
                    <c:v>                           </c:v>
                  </c:pt>
                  <c:pt idx="288">
                    <c:v>                            </c:v>
                  </c:pt>
                  <c:pt idx="289">
                    <c:v>                             </c:v>
                  </c:pt>
                  <c:pt idx="290">
                    <c:v> </c:v>
                  </c:pt>
                  <c:pt idx="291">
                    <c:v>  </c:v>
                  </c:pt>
                  <c:pt idx="292">
                    <c:v>   </c:v>
                  </c:pt>
                  <c:pt idx="293">
                    <c:v>    </c:v>
                  </c:pt>
                  <c:pt idx="294">
                    <c:v>     </c:v>
                  </c:pt>
                  <c:pt idx="295">
                    <c:v>      </c:v>
                  </c:pt>
                  <c:pt idx="296">
                    <c:v>       </c:v>
                  </c:pt>
                  <c:pt idx="297">
                    <c:v>        </c:v>
                  </c:pt>
                  <c:pt idx="298">
                    <c:v>         </c:v>
                  </c:pt>
                  <c:pt idx="299">
                    <c:v>          </c:v>
                  </c:pt>
                  <c:pt idx="300">
                    <c:v>Nov</c:v>
                  </c:pt>
                  <c:pt idx="301">
                    <c:v>            </c:v>
                  </c:pt>
                  <c:pt idx="302">
                    <c:v>             </c:v>
                  </c:pt>
                  <c:pt idx="303">
                    <c:v>              </c:v>
                  </c:pt>
                  <c:pt idx="304">
                    <c:v>               </c:v>
                  </c:pt>
                  <c:pt idx="305">
                    <c:v>                </c:v>
                  </c:pt>
                  <c:pt idx="306">
                    <c:v>                 </c:v>
                  </c:pt>
                  <c:pt idx="307">
                    <c:v>                  </c:v>
                  </c:pt>
                  <c:pt idx="308">
                    <c:v>                   </c:v>
                  </c:pt>
                  <c:pt idx="309">
                    <c:v>                    </c:v>
                  </c:pt>
                  <c:pt idx="310">
                    <c:v>                     </c:v>
                  </c:pt>
                  <c:pt idx="311">
                    <c:v>                      </c:v>
                  </c:pt>
                  <c:pt idx="312">
                    <c:v>                       </c:v>
                  </c:pt>
                  <c:pt idx="313">
                    <c:v>                        </c:v>
                  </c:pt>
                  <c:pt idx="314">
                    <c:v>                         </c:v>
                  </c:pt>
                  <c:pt idx="315">
                    <c:v>                          </c:v>
                  </c:pt>
                  <c:pt idx="316">
                    <c:v>                           </c:v>
                  </c:pt>
                  <c:pt idx="317">
                    <c:v>                            </c:v>
                  </c:pt>
                  <c:pt idx="318">
                    <c:v>                             </c:v>
                  </c:pt>
                  <c:pt idx="319">
                    <c:v> </c:v>
                  </c:pt>
                  <c:pt idx="320">
                    <c:v>  </c:v>
                  </c:pt>
                  <c:pt idx="321">
                    <c:v>   </c:v>
                  </c:pt>
                  <c:pt idx="322">
                    <c:v>    </c:v>
                  </c:pt>
                  <c:pt idx="323">
                    <c:v>     </c:v>
                  </c:pt>
                  <c:pt idx="324">
                    <c:v>      </c:v>
                  </c:pt>
                  <c:pt idx="325">
                    <c:v>       </c:v>
                  </c:pt>
                  <c:pt idx="326">
                    <c:v>        </c:v>
                  </c:pt>
                  <c:pt idx="327">
                    <c:v>         </c:v>
                  </c:pt>
                  <c:pt idx="328">
                    <c:v>          </c:v>
                  </c:pt>
                  <c:pt idx="329">
                    <c:v>           </c:v>
                  </c:pt>
                  <c:pt idx="330">
                    <c:v>Des</c:v>
                  </c:pt>
                  <c:pt idx="331">
                    <c:v>             </c:v>
                  </c:pt>
                  <c:pt idx="332">
                    <c:v>              </c:v>
                  </c:pt>
                  <c:pt idx="333">
                    <c:v>               </c:v>
                  </c:pt>
                  <c:pt idx="334">
                    <c:v>                </c:v>
                  </c:pt>
                  <c:pt idx="335">
                    <c:v>                 </c:v>
                  </c:pt>
                  <c:pt idx="336">
                    <c:v>                  </c:v>
                  </c:pt>
                  <c:pt idx="337">
                    <c:v>                   </c:v>
                  </c:pt>
                  <c:pt idx="338">
                    <c:v>                    </c:v>
                  </c:pt>
                  <c:pt idx="339">
                    <c:v>                     </c:v>
                  </c:pt>
                  <c:pt idx="340">
                    <c:v>                      </c:v>
                  </c:pt>
                  <c:pt idx="341">
                    <c:v>                       </c:v>
                  </c:pt>
                  <c:pt idx="342">
                    <c:v>                        </c:v>
                  </c:pt>
                  <c:pt idx="343">
                    <c:v>                         </c:v>
                  </c:pt>
                  <c:pt idx="344">
                    <c:v>                          </c:v>
                  </c:pt>
                  <c:pt idx="345">
                    <c:v>                           </c:v>
                  </c:pt>
                  <c:pt idx="346">
                    <c:v>                            </c:v>
                  </c:pt>
                  <c:pt idx="347">
                    <c:v>                             </c:v>
                  </c:pt>
                  <c:pt idx="348">
                    <c:v> </c:v>
                  </c:pt>
                  <c:pt idx="349">
                    <c:v>  </c:v>
                  </c:pt>
                  <c:pt idx="350">
                    <c:v>   </c:v>
                  </c:pt>
                  <c:pt idx="351">
                    <c:v>    </c:v>
                  </c:pt>
                  <c:pt idx="352">
                    <c:v>     </c:v>
                  </c:pt>
                  <c:pt idx="353">
                    <c:v>      </c:v>
                  </c:pt>
                  <c:pt idx="354">
                    <c:v>       </c:v>
                  </c:pt>
                  <c:pt idx="355">
                    <c:v>        </c:v>
                  </c:pt>
                  <c:pt idx="356">
                    <c:v>         </c:v>
                  </c:pt>
                  <c:pt idx="357">
                    <c:v>          </c:v>
                  </c:pt>
                  <c:pt idx="358">
                    <c:v>           </c:v>
                  </c:pt>
                  <c:pt idx="359">
                    <c:v>            </c:v>
                  </c:pt>
                  <c:pt idx="360">
                    <c:v/>
                  </c:pt>
                  <c:pt idx="361">
                    <c:v>              </c:v>
                  </c:pt>
                  <c:pt idx="362">
                    <c:v>               </c:v>
                  </c:pt>
                  <c:pt idx="363">
                    <c:v>                </c:v>
                  </c:pt>
                  <c:pt idx="364">
                    <c:v>                 </c:v>
                  </c:pt>
                </c:lvl>
              </c:multiLvlStrCache>
            </c:multiLvlStrRef>
          </c:cat>
          <c:val>
            <c:numRef>
              <c:f>Sheet1!$B$2:$B$366</c:f>
              <c:numCache>
                <c:formatCode>General</c:formatCode>
                <c:ptCount val="365"/>
                <c:pt idx="0">
                  <c:v>768.3679784506738</c:v>
                </c:pt>
                <c:pt idx="1">
                  <c:v>763.2545828010383</c:v>
                </c:pt>
                <c:pt idx="2">
                  <c:v>760.9399207561969</c:v>
                </c:pt>
                <c:pt idx="3">
                  <c:v>741.9042489344962</c:v>
                </c:pt>
                <c:pt idx="4">
                  <c:v>736.6707429605493</c:v>
                </c:pt>
                <c:pt idx="5">
                  <c:v>748.9226313386926</c:v>
                </c:pt>
                <c:pt idx="6">
                  <c:v>100.28755994972609</c:v>
                </c:pt>
                <c:pt idx="7">
                  <c:v>689.1907113260268</c:v>
                </c:pt>
                <c:pt idx="8">
                  <c:v>725.4320258104126</c:v>
                </c:pt>
                <c:pt idx="9">
                  <c:v>743.2892647603974</c:v>
                </c:pt>
                <c:pt idx="10">
                  <c:v>783.2617714640689</c:v>
                </c:pt>
                <c:pt idx="11">
                  <c:v>755.655398580899</c:v>
                </c:pt>
                <c:pt idx="12">
                  <c:v>719.3832367035254</c:v>
                </c:pt>
                <c:pt idx="13">
                  <c:v>96.84564614656418</c:v>
                </c:pt>
                <c:pt idx="14">
                  <c:v>594.5971465285724</c:v>
                </c:pt>
                <c:pt idx="15">
                  <c:v>704.6486690218399</c:v>
                </c:pt>
                <c:pt idx="16">
                  <c:v>718.9335650448468</c:v>
                </c:pt>
                <c:pt idx="17">
                  <c:v>726.9798915334072</c:v>
                </c:pt>
                <c:pt idx="18">
                  <c:v>728.4529281290777</c:v>
                </c:pt>
                <c:pt idx="19">
                  <c:v>761.5821092511812</c:v>
                </c:pt>
                <c:pt idx="20">
                  <c:v>101.46306653009907</c:v>
                </c:pt>
                <c:pt idx="21">
                  <c:v>629.9803988149001</c:v>
                </c:pt>
                <c:pt idx="22">
                  <c:v>800.7070579388101</c:v>
                </c:pt>
                <c:pt idx="23">
                  <c:v>796.1419763618175</c:v>
                </c:pt>
                <c:pt idx="24">
                  <c:v>801.0513677851748</c:v>
                </c:pt>
                <c:pt idx="25">
                  <c:v>747.6867416420181</c:v>
                </c:pt>
                <c:pt idx="26">
                  <c:v>695.5633444432325</c:v>
                </c:pt>
                <c:pt idx="27">
                  <c:v>93.96406777415741</c:v>
                </c:pt>
                <c:pt idx="28">
                  <c:v>628.048656928941</c:v>
                </c:pt>
                <c:pt idx="29">
                  <c:v>723.8472558429917</c:v>
                </c:pt>
                <c:pt idx="30">
                  <c:v>700.4356537863368</c:v>
                </c:pt>
                <c:pt idx="31">
                  <c:v>679.4801467684202</c:v>
                </c:pt>
                <c:pt idx="32">
                  <c:v>707.6476955713072</c:v>
                </c:pt>
                <c:pt idx="33">
                  <c:v>640.025797676147</c:v>
                </c:pt>
                <c:pt idx="34">
                  <c:v>86.92471751507424</c:v>
                </c:pt>
                <c:pt idx="35">
                  <c:v>519.0128344503712</c:v>
                </c:pt>
                <c:pt idx="36">
                  <c:v>590.3866450460995</c:v>
                </c:pt>
                <c:pt idx="37">
                  <c:v>600.5765262444633</c:v>
                </c:pt>
                <c:pt idx="38">
                  <c:v>592.3791243062188</c:v>
                </c:pt>
                <c:pt idx="39">
                  <c:v>622.8170178627206</c:v>
                </c:pt>
                <c:pt idx="40">
                  <c:v>83.85070839398463</c:v>
                </c:pt>
                <c:pt idx="41">
                  <c:v>11.701921700195044</c:v>
                </c:pt>
                <c:pt idx="42">
                  <c:v>-2.2836900373969407</c:v>
                </c:pt>
                <c:pt idx="43">
                  <c:v>-5.5773619422948535</c:v>
                </c:pt>
                <c:pt idx="44">
                  <c:v>-6.741675830192069</c:v>
                </c:pt>
                <c:pt idx="45">
                  <c:v>-7.447121803592676</c:v>
                </c:pt>
                <c:pt idx="46">
                  <c:v>-8.038961382843869</c:v>
                </c:pt>
                <c:pt idx="47">
                  <c:v>-8.591285217498298</c:v>
                </c:pt>
                <c:pt idx="48">
                  <c:v>-9.12060590709358</c:v>
                </c:pt>
                <c:pt idx="49">
                  <c:v>-9.630981569677049</c:v>
                </c:pt>
                <c:pt idx="50">
                  <c:v>-10.123650906226699</c:v>
                </c:pt>
                <c:pt idx="51">
                  <c:v>-10.599240543710229</c:v>
                </c:pt>
                <c:pt idx="52">
                  <c:v>-11.058263085448704</c:v>
                </c:pt>
                <c:pt idx="53">
                  <c:v>-11.501218936656224</c:v>
                </c:pt>
                <c:pt idx="54">
                  <c:v>484.2919188654207</c:v>
                </c:pt>
                <c:pt idx="55">
                  <c:v>64.738679934338</c:v>
                </c:pt>
                <c:pt idx="56">
                  <c:v>480.55585219629995</c:v>
                </c:pt>
                <c:pt idx="57">
                  <c:v>547.0422257824972</c:v>
                </c:pt>
                <c:pt idx="58">
                  <c:v>535.9210540601863</c:v>
                </c:pt>
                <c:pt idx="59">
                  <c:v>579.4691547732244</c:v>
                </c:pt>
                <c:pt idx="60">
                  <c:v>547.3319690563219</c:v>
                </c:pt>
                <c:pt idx="61">
                  <c:v>514.0333239906743</c:v>
                </c:pt>
                <c:pt idx="62">
                  <c:v>69.26574861953189</c:v>
                </c:pt>
                <c:pt idx="63">
                  <c:v>505.01307612686617</c:v>
                </c:pt>
                <c:pt idx="64">
                  <c:v>525.7264348207375</c:v>
                </c:pt>
                <c:pt idx="65">
                  <c:v>581.9246505487791</c:v>
                </c:pt>
                <c:pt idx="66">
                  <c:v>608.0149121639197</c:v>
                </c:pt>
                <c:pt idx="67">
                  <c:v>577.8330080300808</c:v>
                </c:pt>
                <c:pt idx="68">
                  <c:v>540.3603161329995</c:v>
                </c:pt>
                <c:pt idx="69">
                  <c:v>72.81258720884821</c:v>
                </c:pt>
                <c:pt idx="70">
                  <c:v>520.5767316102854</c:v>
                </c:pt>
                <c:pt idx="71">
                  <c:v>506.62484104448833</c:v>
                </c:pt>
                <c:pt idx="72">
                  <c:v>524.9086352940059</c:v>
                </c:pt>
                <c:pt idx="73">
                  <c:v>492.44161632671046</c:v>
                </c:pt>
                <c:pt idx="74">
                  <c:v>520.1653599551869</c:v>
                </c:pt>
                <c:pt idx="75">
                  <c:v>504.4034729187239</c:v>
                </c:pt>
                <c:pt idx="76">
                  <c:v>68.10393310864534</c:v>
                </c:pt>
                <c:pt idx="77">
                  <c:v>415.24248914583933</c:v>
                </c:pt>
                <c:pt idx="78">
                  <c:v>497.61308450619384</c:v>
                </c:pt>
                <c:pt idx="79">
                  <c:v>482.1615709059359</c:v>
                </c:pt>
                <c:pt idx="80">
                  <c:v>500.0439556132919</c:v>
                </c:pt>
                <c:pt idx="81">
                  <c:v>487.93079572197496</c:v>
                </c:pt>
                <c:pt idx="82">
                  <c:v>509.6225916989912</c:v>
                </c:pt>
                <c:pt idx="83">
                  <c:v>68.57672631311047</c:v>
                </c:pt>
                <c:pt idx="84">
                  <c:v>442.8731677577808</c:v>
                </c:pt>
                <c:pt idx="85">
                  <c:v>483.3639529847185</c:v>
                </c:pt>
                <c:pt idx="86">
                  <c:v>485.2195583703452</c:v>
                </c:pt>
                <c:pt idx="87">
                  <c:v>515.8523297273598</c:v>
                </c:pt>
                <c:pt idx="88">
                  <c:v>520.21747480627</c:v>
                </c:pt>
                <c:pt idx="89">
                  <c:v>512.37445768151</c:v>
                </c:pt>
                <c:pt idx="90">
                  <c:v>62.98856658688169</c:v>
                </c:pt>
                <c:pt idx="91">
                  <c:v>495.22909703851343</c:v>
                </c:pt>
                <c:pt idx="92">
                  <c:v>513.8956540031567</c:v>
                </c:pt>
                <c:pt idx="93">
                  <c:v>544.7290509297571</c:v>
                </c:pt>
                <c:pt idx="94">
                  <c:v>569.506969325249</c:v>
                </c:pt>
                <c:pt idx="95">
                  <c:v>600.5908935258185</c:v>
                </c:pt>
                <c:pt idx="96">
                  <c:v>573.72133956595</c:v>
                </c:pt>
                <c:pt idx="97">
                  <c:v>76.99504177300308</c:v>
                </c:pt>
                <c:pt idx="98">
                  <c:v>517.1119639193201</c:v>
                </c:pt>
                <c:pt idx="99">
                  <c:v>530.4988694408237</c:v>
                </c:pt>
                <c:pt idx="100">
                  <c:v>535.2575243993851</c:v>
                </c:pt>
                <c:pt idx="101">
                  <c:v>514.247550627038</c:v>
                </c:pt>
                <c:pt idx="102">
                  <c:v>492.4920812607673</c:v>
                </c:pt>
                <c:pt idx="103">
                  <c:v>521.1091442876542</c:v>
                </c:pt>
                <c:pt idx="104">
                  <c:v>70.12839031850828</c:v>
                </c:pt>
                <c:pt idx="105">
                  <c:v>452.0376351321714</c:v>
                </c:pt>
                <c:pt idx="106">
                  <c:v>513.1738233099393</c:v>
                </c:pt>
                <c:pt idx="107">
                  <c:v>501.44882995777505</c:v>
                </c:pt>
                <c:pt idx="108">
                  <c:v>528.7047295727264</c:v>
                </c:pt>
                <c:pt idx="109">
                  <c:v>538.6308780116776</c:v>
                </c:pt>
                <c:pt idx="110">
                  <c:v>542.8312269176494</c:v>
                </c:pt>
                <c:pt idx="111">
                  <c:v>72.96168218590942</c:v>
                </c:pt>
                <c:pt idx="112">
                  <c:v>481.21165528299036</c:v>
                </c:pt>
                <c:pt idx="113">
                  <c:v>511.48912894132417</c:v>
                </c:pt>
                <c:pt idx="114">
                  <c:v>511.39657505529107</c:v>
                </c:pt>
                <c:pt idx="115">
                  <c:v>508.2458830335086</c:v>
                </c:pt>
                <c:pt idx="116">
                  <c:v>513.949688699804</c:v>
                </c:pt>
                <c:pt idx="117">
                  <c:v>545.8196136193272</c:v>
                </c:pt>
                <c:pt idx="118">
                  <c:v>73.20653671344436</c:v>
                </c:pt>
                <c:pt idx="119">
                  <c:v>479.64915575970997</c:v>
                </c:pt>
                <c:pt idx="120">
                  <c:v>515.5009712424625</c:v>
                </c:pt>
                <c:pt idx="121">
                  <c:v>502.5275425926084</c:v>
                </c:pt>
                <c:pt idx="122">
                  <c:v>490.4358795806644</c:v>
                </c:pt>
                <c:pt idx="123">
                  <c:v>514.9599476323913</c:v>
                </c:pt>
                <c:pt idx="124">
                  <c:v>482.757927811433</c:v>
                </c:pt>
                <c:pt idx="125">
                  <c:v>65.25636233230091</c:v>
                </c:pt>
                <c:pt idx="126">
                  <c:v>444.86741152833537</c:v>
                </c:pt>
                <c:pt idx="127">
                  <c:v>491.2117635032437</c:v>
                </c:pt>
                <c:pt idx="128">
                  <c:v>492.54262736438756</c:v>
                </c:pt>
                <c:pt idx="129">
                  <c:v>501.41111811257167</c:v>
                </c:pt>
                <c:pt idx="130">
                  <c:v>505.9461506925079</c:v>
                </c:pt>
                <c:pt idx="131">
                  <c:v>537.235894512656</c:v>
                </c:pt>
                <c:pt idx="132">
                  <c:v>72.07772528907613</c:v>
                </c:pt>
                <c:pt idx="133">
                  <c:v>491.76893440583234</c:v>
                </c:pt>
                <c:pt idx="134">
                  <c:v>547.371722988313</c:v>
                </c:pt>
                <c:pt idx="135">
                  <c:v>557.8870081937662</c:v>
                </c:pt>
                <c:pt idx="136">
                  <c:v>542.5066245664198</c:v>
                </c:pt>
                <c:pt idx="137">
                  <c:v>528.9203807406616</c:v>
                </c:pt>
                <c:pt idx="138">
                  <c:v>537.6919068775023</c:v>
                </c:pt>
                <c:pt idx="139">
                  <c:v>72.31867434109895</c:v>
                </c:pt>
                <c:pt idx="140">
                  <c:v>506.6885677805927</c:v>
                </c:pt>
                <c:pt idx="141">
                  <c:v>515.2468337905409</c:v>
                </c:pt>
                <c:pt idx="142">
                  <c:v>531.9234925858658</c:v>
                </c:pt>
                <c:pt idx="143">
                  <c:v>523.4314682295322</c:v>
                </c:pt>
                <c:pt idx="144">
                  <c:v>554.4827798011347</c:v>
                </c:pt>
                <c:pt idx="145">
                  <c:v>526.6481293276889</c:v>
                </c:pt>
                <c:pt idx="146">
                  <c:v>71.04191468460567</c:v>
                </c:pt>
                <c:pt idx="147">
                  <c:v>504.6828997594883</c:v>
                </c:pt>
                <c:pt idx="148">
                  <c:v>503.8743633597673</c:v>
                </c:pt>
                <c:pt idx="149">
                  <c:v>506.0232141559187</c:v>
                </c:pt>
                <c:pt idx="150">
                  <c:v>520.9146741428152</c:v>
                </c:pt>
                <c:pt idx="151">
                  <c:v>532.45837537827</c:v>
                </c:pt>
                <c:pt idx="152">
                  <c:v>572.375952342696</c:v>
                </c:pt>
                <c:pt idx="153">
                  <c:v>76.65820996324365</c:v>
                </c:pt>
                <c:pt idx="154">
                  <c:v>517.3108445180361</c:v>
                </c:pt>
                <c:pt idx="155">
                  <c:v>568.7192894255738</c:v>
                </c:pt>
                <c:pt idx="156">
                  <c:v>558.8795140209793</c:v>
                </c:pt>
                <c:pt idx="157">
                  <c:v>556.8598944468981</c:v>
                </c:pt>
                <c:pt idx="158">
                  <c:v>565.4524723639123</c:v>
                </c:pt>
                <c:pt idx="159">
                  <c:v>555.2460218946713</c:v>
                </c:pt>
                <c:pt idx="160">
                  <c:v>74.72645299875771</c:v>
                </c:pt>
                <c:pt idx="161">
                  <c:v>516.6048641198687</c:v>
                </c:pt>
                <c:pt idx="162">
                  <c:v>483.2522401297569</c:v>
                </c:pt>
                <c:pt idx="163">
                  <c:v>543.3139974497193</c:v>
                </c:pt>
                <c:pt idx="164">
                  <c:v>560.6924402356055</c:v>
                </c:pt>
                <c:pt idx="165">
                  <c:v>559.7074134312039</c:v>
                </c:pt>
                <c:pt idx="166">
                  <c:v>562.4193409177924</c:v>
                </c:pt>
                <c:pt idx="167">
                  <c:v>75.59397928109385</c:v>
                </c:pt>
                <c:pt idx="168">
                  <c:v>483.2125387090579</c:v>
                </c:pt>
                <c:pt idx="169">
                  <c:v>552.411209769747</c:v>
                </c:pt>
                <c:pt idx="170">
                  <c:v>583.665909273985</c:v>
                </c:pt>
                <c:pt idx="171">
                  <c:v>560.9765289317653</c:v>
                </c:pt>
                <c:pt idx="172">
                  <c:v>550.5847736715809</c:v>
                </c:pt>
                <c:pt idx="173">
                  <c:v>558.3331451540107</c:v>
                </c:pt>
                <c:pt idx="174">
                  <c:v>75.10981365473529</c:v>
                </c:pt>
                <c:pt idx="175">
                  <c:v>517.3785480493924</c:v>
                </c:pt>
                <c:pt idx="176">
                  <c:v>569.5800339777295</c:v>
                </c:pt>
                <c:pt idx="177">
                  <c:v>647.8532512511367</c:v>
                </c:pt>
                <c:pt idx="178">
                  <c:v>640.3119689819579</c:v>
                </c:pt>
                <c:pt idx="179">
                  <c:v>665.5186731710307</c:v>
                </c:pt>
                <c:pt idx="180">
                  <c:v>618.5448549596725</c:v>
                </c:pt>
                <c:pt idx="181">
                  <c:v>83.0837004362628</c:v>
                </c:pt>
                <c:pt idx="182">
                  <c:v>561.6575634412004</c:v>
                </c:pt>
                <c:pt idx="183">
                  <c:v>648.7529293716711</c:v>
                </c:pt>
                <c:pt idx="184">
                  <c:v>669.4636852865103</c:v>
                </c:pt>
                <c:pt idx="185">
                  <c:v>659.5531885165461</c:v>
                </c:pt>
                <c:pt idx="186">
                  <c:v>651.1955974258855</c:v>
                </c:pt>
                <c:pt idx="187">
                  <c:v>662.0603665641988</c:v>
                </c:pt>
                <c:pt idx="188">
                  <c:v>88.51366208532389</c:v>
                </c:pt>
                <c:pt idx="189">
                  <c:v>573.2590975397471</c:v>
                </c:pt>
                <c:pt idx="190">
                  <c:v>658.7921117758942</c:v>
                </c:pt>
                <c:pt idx="191">
                  <c:v>686.325454355043</c:v>
                </c:pt>
                <c:pt idx="192">
                  <c:v>665.3593608812168</c:v>
                </c:pt>
                <c:pt idx="193">
                  <c:v>713.1206748946536</c:v>
                </c:pt>
                <c:pt idx="194">
                  <c:v>756.8233337318247</c:v>
                </c:pt>
                <c:pt idx="195">
                  <c:v>100.24320407063104</c:v>
                </c:pt>
                <c:pt idx="196">
                  <c:v>638.5180202716053</c:v>
                </c:pt>
                <c:pt idx="197">
                  <c:v>729.4199109784643</c:v>
                </c:pt>
                <c:pt idx="198">
                  <c:v>794.083488541718</c:v>
                </c:pt>
                <c:pt idx="199">
                  <c:v>796.3627185287343</c:v>
                </c:pt>
                <c:pt idx="200">
                  <c:v>805.421406633429</c:v>
                </c:pt>
                <c:pt idx="201">
                  <c:v>783.1547904722538</c:v>
                </c:pt>
                <c:pt idx="202">
                  <c:v>104.15520894697393</c:v>
                </c:pt>
                <c:pt idx="203">
                  <c:v>620.9157113422502</c:v>
                </c:pt>
                <c:pt idx="204">
                  <c:v>662.6671602999752</c:v>
                </c:pt>
                <c:pt idx="205">
                  <c:v>687.8327721938701</c:v>
                </c:pt>
                <c:pt idx="206">
                  <c:v>710.9515338013115</c:v>
                </c:pt>
                <c:pt idx="207">
                  <c:v>783.6388727104147</c:v>
                </c:pt>
                <c:pt idx="208">
                  <c:v>744.5240366271519</c:v>
                </c:pt>
                <c:pt idx="209">
                  <c:v>99.5244261565706</c:v>
                </c:pt>
                <c:pt idx="210">
                  <c:v>628.3460306043693</c:v>
                </c:pt>
                <c:pt idx="211">
                  <c:v>719.9666099085298</c:v>
                </c:pt>
                <c:pt idx="212">
                  <c:v>767.1870366707143</c:v>
                </c:pt>
                <c:pt idx="213">
                  <c:v>748.8141585806724</c:v>
                </c:pt>
                <c:pt idx="214">
                  <c:v>739.741356054417</c:v>
                </c:pt>
                <c:pt idx="215">
                  <c:v>780.2598977319311</c:v>
                </c:pt>
                <c:pt idx="216">
                  <c:v>103.67149475076526</c:v>
                </c:pt>
                <c:pt idx="217">
                  <c:v>695.9858708710666</c:v>
                </c:pt>
                <c:pt idx="218">
                  <c:v>799.2423285683936</c:v>
                </c:pt>
                <c:pt idx="219">
                  <c:v>824.1385079127409</c:v>
                </c:pt>
                <c:pt idx="220">
                  <c:v>818.410563460687</c:v>
                </c:pt>
                <c:pt idx="221">
                  <c:v>894.5215980506484</c:v>
                </c:pt>
                <c:pt idx="222">
                  <c:v>906.7211549465997</c:v>
                </c:pt>
                <c:pt idx="223">
                  <c:v>119.4578979420724</c:v>
                </c:pt>
                <c:pt idx="224">
                  <c:v>791.1910735594537</c:v>
                </c:pt>
                <c:pt idx="225">
                  <c:v>847.881791472239</c:v>
                </c:pt>
                <c:pt idx="226">
                  <c:v>847.4257314173817</c:v>
                </c:pt>
                <c:pt idx="227">
                  <c:v>776.6775371901394</c:v>
                </c:pt>
                <c:pt idx="228">
                  <c:v>798.1340190536421</c:v>
                </c:pt>
                <c:pt idx="229">
                  <c:v>778.106568545312</c:v>
                </c:pt>
                <c:pt idx="230">
                  <c:v>104.33450356615134</c:v>
                </c:pt>
                <c:pt idx="231">
                  <c:v>731.8626573061446</c:v>
                </c:pt>
                <c:pt idx="232">
                  <c:v>832.9928304718644</c:v>
                </c:pt>
                <c:pt idx="233">
                  <c:v>858.5256129010415</c:v>
                </c:pt>
                <c:pt idx="234">
                  <c:v>833.0357429156068</c:v>
                </c:pt>
                <c:pt idx="235">
                  <c:v>816.3113346695466</c:v>
                </c:pt>
                <c:pt idx="236">
                  <c:v>847.8709627452538</c:v>
                </c:pt>
                <c:pt idx="237">
                  <c:v>112.61645906042243</c:v>
                </c:pt>
                <c:pt idx="238">
                  <c:v>754.9232307131343</c:v>
                </c:pt>
                <c:pt idx="239">
                  <c:v>854.4302622675655</c:v>
                </c:pt>
                <c:pt idx="240">
                  <c:v>841.0987282849369</c:v>
                </c:pt>
                <c:pt idx="241">
                  <c:v>883.8231221979801</c:v>
                </c:pt>
                <c:pt idx="242">
                  <c:v>890.7489840726731</c:v>
                </c:pt>
                <c:pt idx="243">
                  <c:v>924.0311659808438</c:v>
                </c:pt>
                <c:pt idx="244">
                  <c:v>121.98898765930551</c:v>
                </c:pt>
                <c:pt idx="245">
                  <c:v>836.1631390145508</c:v>
                </c:pt>
                <c:pt idx="246">
                  <c:v>928.2232337066281</c:v>
                </c:pt>
                <c:pt idx="247">
                  <c:v>970.4147471164976</c:v>
                </c:pt>
                <c:pt idx="248">
                  <c:v>1011.3173134004821</c:v>
                </c:pt>
                <c:pt idx="249">
                  <c:v>1009.968668501452</c:v>
                </c:pt>
                <c:pt idx="250">
                  <c:v>999.5012293789945</c:v>
                </c:pt>
                <c:pt idx="251">
                  <c:v>132.558182467527</c:v>
                </c:pt>
                <c:pt idx="252">
                  <c:v>860.8360137886293</c:v>
                </c:pt>
                <c:pt idx="253">
                  <c:v>913.3194308581984</c:v>
                </c:pt>
                <c:pt idx="254">
                  <c:v>902.6445791164641</c:v>
                </c:pt>
                <c:pt idx="255">
                  <c:v>879.1516187487257</c:v>
                </c:pt>
                <c:pt idx="256">
                  <c:v>869.5969310430788</c:v>
                </c:pt>
                <c:pt idx="257">
                  <c:v>893.4627663450083</c:v>
                </c:pt>
                <c:pt idx="258">
                  <c:v>119.01288760865603</c:v>
                </c:pt>
                <c:pt idx="259">
                  <c:v>789.7793727375507</c:v>
                </c:pt>
                <c:pt idx="260">
                  <c:v>841.4912400456568</c:v>
                </c:pt>
                <c:pt idx="261">
                  <c:v>827.719208260239</c:v>
                </c:pt>
                <c:pt idx="262">
                  <c:v>829.0964901110323</c:v>
                </c:pt>
                <c:pt idx="263">
                  <c:v>885.844754198015</c:v>
                </c:pt>
                <c:pt idx="264">
                  <c:v>920.1450676930714</c:v>
                </c:pt>
                <c:pt idx="265">
                  <c:v>121.86036777297481</c:v>
                </c:pt>
                <c:pt idx="266">
                  <c:v>783.1089228363907</c:v>
                </c:pt>
                <c:pt idx="267">
                  <c:v>847.4054812405365</c:v>
                </c:pt>
                <c:pt idx="268">
                  <c:v>883.3636269446132</c:v>
                </c:pt>
                <c:pt idx="269">
                  <c:v>955.8326545897456</c:v>
                </c:pt>
                <c:pt idx="270">
                  <c:v>971.3042455617422</c:v>
                </c:pt>
                <c:pt idx="271">
                  <c:v>989.1008479304521</c:v>
                </c:pt>
                <c:pt idx="272">
                  <c:v>130.90287385861208</c:v>
                </c:pt>
                <c:pt idx="273">
                  <c:v>922.0248589290394</c:v>
                </c:pt>
                <c:pt idx="274">
                  <c:v>1033.3116376380851</c:v>
                </c:pt>
                <c:pt idx="275">
                  <c:v>1027.3556040510973</c:v>
                </c:pt>
                <c:pt idx="276">
                  <c:v>1006.726927455662</c:v>
                </c:pt>
                <c:pt idx="277">
                  <c:v>1030.0150431785357</c:v>
                </c:pt>
                <c:pt idx="278">
                  <c:v>989.37058414144</c:v>
                </c:pt>
                <c:pt idx="279">
                  <c:v>131.93456641993475</c:v>
                </c:pt>
                <c:pt idx="280">
                  <c:v>809.8853153270122</c:v>
                </c:pt>
                <c:pt idx="281">
                  <c:v>892.7228089409297</c:v>
                </c:pt>
                <c:pt idx="282">
                  <c:v>880.7963076220808</c:v>
                </c:pt>
                <c:pt idx="283">
                  <c:v>899.7822272691212</c:v>
                </c:pt>
                <c:pt idx="284">
                  <c:v>883.0389483852543</c:v>
                </c:pt>
                <c:pt idx="285">
                  <c:v>942.6209940581105</c:v>
                </c:pt>
                <c:pt idx="286">
                  <c:v>124.94474199140527</c:v>
                </c:pt>
                <c:pt idx="287">
                  <c:v>750.7757148871733</c:v>
                </c:pt>
                <c:pt idx="288">
                  <c:v>879.2513400841874</c:v>
                </c:pt>
                <c:pt idx="289">
                  <c:v>900.5160616756109</c:v>
                </c:pt>
                <c:pt idx="290">
                  <c:v>933.1710541457816</c:v>
                </c:pt>
                <c:pt idx="291">
                  <c:v>962.7356824089919</c:v>
                </c:pt>
                <c:pt idx="292">
                  <c:v>971.4035283339122</c:v>
                </c:pt>
                <c:pt idx="293">
                  <c:v>128.8163913905642</c:v>
                </c:pt>
                <c:pt idx="294">
                  <c:v>827.6786620970863</c:v>
                </c:pt>
                <c:pt idx="295">
                  <c:v>876.2131969777753</c:v>
                </c:pt>
                <c:pt idx="296">
                  <c:v>906.2688841602496</c:v>
                </c:pt>
                <c:pt idx="297">
                  <c:v>945.5988029297345</c:v>
                </c:pt>
                <c:pt idx="298">
                  <c:v>958.4729157865055</c:v>
                </c:pt>
                <c:pt idx="299">
                  <c:v>957.8561228788726</c:v>
                </c:pt>
                <c:pt idx="300">
                  <c:v>127.11704357042953</c:v>
                </c:pt>
                <c:pt idx="301">
                  <c:v>817.3308241181071</c:v>
                </c:pt>
                <c:pt idx="302">
                  <c:v>892.323270290525</c:v>
                </c:pt>
                <c:pt idx="303">
                  <c:v>987.4870523324672</c:v>
                </c:pt>
                <c:pt idx="304">
                  <c:v>956.0163335126454</c:v>
                </c:pt>
                <c:pt idx="305">
                  <c:v>947.0310198542654</c:v>
                </c:pt>
                <c:pt idx="306">
                  <c:v>973.9987717251194</c:v>
                </c:pt>
                <c:pt idx="307">
                  <c:v>129.24074898565652</c:v>
                </c:pt>
                <c:pt idx="308">
                  <c:v>832.4250069465675</c:v>
                </c:pt>
                <c:pt idx="309">
                  <c:v>958.2623637485259</c:v>
                </c:pt>
                <c:pt idx="310">
                  <c:v>984.2641751082633</c:v>
                </c:pt>
                <c:pt idx="311">
                  <c:v>959.1846441675023</c:v>
                </c:pt>
                <c:pt idx="312">
                  <c:v>998.777178751973</c:v>
                </c:pt>
                <c:pt idx="313">
                  <c:v>1030.6537218446267</c:v>
                </c:pt>
                <c:pt idx="314">
                  <c:v>136.98089457370511</c:v>
                </c:pt>
                <c:pt idx="315">
                  <c:v>880.6515304484444</c:v>
                </c:pt>
                <c:pt idx="316">
                  <c:v>923.5127011427477</c:v>
                </c:pt>
                <c:pt idx="317">
                  <c:v>913.5348255096472</c:v>
                </c:pt>
                <c:pt idx="318">
                  <c:v>951.7585201933632</c:v>
                </c:pt>
                <c:pt idx="319">
                  <c:v>927.8611797577696</c:v>
                </c:pt>
                <c:pt idx="320">
                  <c:v>978.3379421537993</c:v>
                </c:pt>
                <c:pt idx="321">
                  <c:v>129.87094939203547</c:v>
                </c:pt>
                <c:pt idx="322">
                  <c:v>814.9927087012977</c:v>
                </c:pt>
                <c:pt idx="323">
                  <c:v>894.9992359101507</c:v>
                </c:pt>
                <c:pt idx="324">
                  <c:v>917.8953131217825</c:v>
                </c:pt>
                <c:pt idx="325">
                  <c:v>862.3740501372705</c:v>
                </c:pt>
                <c:pt idx="326">
                  <c:v>825.1245711136277</c:v>
                </c:pt>
                <c:pt idx="327">
                  <c:v>843.5648105188219</c:v>
                </c:pt>
                <c:pt idx="328">
                  <c:v>113.13708073774269</c:v>
                </c:pt>
                <c:pt idx="329">
                  <c:v>781.7087250660909</c:v>
                </c:pt>
                <c:pt idx="330">
                  <c:v>878.2717969173037</c:v>
                </c:pt>
                <c:pt idx="331">
                  <c:v>870.1096759368874</c:v>
                </c:pt>
                <c:pt idx="332">
                  <c:v>899.5974884291131</c:v>
                </c:pt>
                <c:pt idx="333">
                  <c:v>931.6481056367558</c:v>
                </c:pt>
                <c:pt idx="334">
                  <c:v>938.9899613963297</c:v>
                </c:pt>
                <c:pt idx="335">
                  <c:v>124.42942082276461</c:v>
                </c:pt>
                <c:pt idx="336">
                  <c:v>777.4438742803163</c:v>
                </c:pt>
                <c:pt idx="337">
                  <c:v>867.9053499497309</c:v>
                </c:pt>
                <c:pt idx="338">
                  <c:v>879.3137564454967</c:v>
                </c:pt>
                <c:pt idx="339">
                  <c:v>845.8336991533221</c:v>
                </c:pt>
                <c:pt idx="340">
                  <c:v>832.0994151199175</c:v>
                </c:pt>
                <c:pt idx="341">
                  <c:v>789.0273252756592</c:v>
                </c:pt>
                <c:pt idx="342">
                  <c:v>106.49451928068181</c:v>
                </c:pt>
                <c:pt idx="343">
                  <c:v>675.2007071545863</c:v>
                </c:pt>
                <c:pt idx="344">
                  <c:v>827.6683266779745</c:v>
                </c:pt>
                <c:pt idx="345">
                  <c:v>770.3209140296923</c:v>
                </c:pt>
                <c:pt idx="346">
                  <c:v>763.666623949035</c:v>
                </c:pt>
                <c:pt idx="347">
                  <c:v>738.1653164289673</c:v>
                </c:pt>
                <c:pt idx="348">
                  <c:v>806.0428213372371</c:v>
                </c:pt>
                <c:pt idx="349">
                  <c:v>107.45439987366629</c:v>
                </c:pt>
                <c:pt idx="350">
                  <c:v>716.8076877213641</c:v>
                </c:pt>
                <c:pt idx="351">
                  <c:v>841.1017368769885</c:v>
                </c:pt>
                <c:pt idx="352">
                  <c:v>898.3018210334839</c:v>
                </c:pt>
                <c:pt idx="353">
                  <c:v>888.7958805706901</c:v>
                </c:pt>
                <c:pt idx="354">
                  <c:v>898.3334656160675</c:v>
                </c:pt>
                <c:pt idx="355">
                  <c:v>928.3696498576332</c:v>
                </c:pt>
                <c:pt idx="356">
                  <c:v>122.54429213821294</c:v>
                </c:pt>
                <c:pt idx="357">
                  <c:v>729.2904311898542</c:v>
                </c:pt>
                <c:pt idx="358">
                  <c:v>882.5283049997333</c:v>
                </c:pt>
                <c:pt idx="359">
                  <c:v>922.5427515592849</c:v>
                </c:pt>
                <c:pt idx="360">
                  <c:v>869.6509769875148</c:v>
                </c:pt>
                <c:pt idx="361">
                  <c:v>813.3623229773551</c:v>
                </c:pt>
                <c:pt idx="362">
                  <c:v>877.6966390457796</c:v>
                </c:pt>
                <c:pt idx="363">
                  <c:v>116.44292617609949</c:v>
                </c:pt>
                <c:pt idx="364">
                  <c:v>711.606209036783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60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CF4"/>
              </a:solidFill>
              <a:prstDash val="solid"/>
              <a:round/>
            </a:ln>
          </c:spPr>
        </c:majorGridlines>
        <c:numFmt formatCode="[$-421]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MWh neto per blok 30 hari</c:v>
                </c:pt>
              </c:strCache>
            </c:strRef>
          </c:tx>
          <c:spPr>
            <a:solidFill>
              <a:srgbClr val="2B9F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465.28929512530414</c:v>
                </c:pt>
                <c:pt idx="1">
                  <c:v>202.23704682649614</c:v>
                </c:pt>
                <c:pt idx="2">
                  <c:v>326.41518653256304</c:v>
                </c:pt>
                <c:pt idx="3">
                  <c:v>321.4382203006818</c:v>
                </c:pt>
                <c:pt idx="4">
                  <c:v>327.34176570680086</c:v>
                </c:pt>
                <c:pt idx="5">
                  <c:v>355.3469369197685</c:v>
                </c:pt>
                <c:pt idx="6">
                  <c:v>426.1900522281842</c:v>
                </c:pt>
                <c:pt idx="7">
                  <c:v>507.18683577380415</c:v>
                </c:pt>
                <c:pt idx="8">
                  <c:v>568.1642139772911</c:v>
                </c:pt>
                <c:pt idx="9">
                  <c:v>591.950325372359</c:v>
                </c:pt>
                <c:pt idx="10">
                  <c:v>563.7700126424395</c:v>
                </c:pt>
                <c:pt idx="11">
                  <c:v>534.19918847181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CF4"/>
              </a:solidFill>
              <a:prstDash val="solid"/>
              <a:round/>
            </a:ln>
          </c:spPr>
        </c:majorGridlines>
        <c:numFmt formatCode="[$-421]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Calibri"/>
              </a:defRPr>
            </a:pPr>
            <a:r>
              <a:rPr sz="800" b="0" i="0" u="none" strike="noStrike">
                <a:solidFill>
                  <a:srgbClr val="5B6B7F"/>
                </a:solidFill>
                <a:latin typeface="Calibri"/>
              </a:rPr>
              <a:t>Korelasi peringkat (ρ) terhadap daya neto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Korelasi peringkat dengan daya neto</c:v>
                </c:pt>
              </c:strCache>
            </c:strRef>
          </c:tx>
          <c:spPr>
            <a:solidFill>
              <a:srgbClr val="1F4E9E"/>
            </a:solidFill>
            <a:effectLst/>
          </c:spPr>
          <c:invertIfNegative val="0"/>
          <c:dLbls>
            <c:numFmt formatCode="[$-421]#,##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52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COD POME</c:v>
                  </c:pt>
                  <c:pt idx="1">
                    <c:v>Beban TBS PKS</c:v>
                  </c:pt>
                  <c:pt idx="2">
                    <c:v>Volume POME/t TBS</c:v>
                  </c:pt>
                  <c:pt idx="3">
                    <c:v>Kation POME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0.5553465959162244</c:v>
                </c:pt>
                <c:pt idx="1">
                  <c:v>0.5421249507809424</c:v>
                </c:pt>
                <c:pt idx="2">
                  <c:v>0.13125138282114263</c:v>
                </c:pt>
                <c:pt idx="3">
                  <c:v>-0.08481615510096938</c:v>
                </c:pt>
              </c:numCache>
            </c:numRef>
          </c:val>
        </c:ser>
        <c:dLbls>
          <c:numFmt formatCode="[$-421]#,##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Sampul. Satu set 60 t TBS/jam menghindari ≈ 32.001 tCO2e per tahun (−96% dari kolam terbuka; AMS-III.H, UF 0,89, GWP 28) tanpa modal pabrik. Model 3D (CadQuery) dari neraca proses; modul acuan 45 t TBS/jam, konfigurasi komersial 60 t TBS/jam.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Latar belakang. SCQA: situasi (1.300 PKS, hanya 11% menangkap metana), komplikasi (kolam terbuka ≈ 26 juta tCO2e/tahun; biogas milik sendiri mahal dan berisiko), pertanyaan, jawaban (layanan BOO).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Konsep: urutan proses dari POME sampai listrik; modularitas 2/3/4 tangki identik; hanya skala 60 t TBS/jam yang layak pada asumsi dasar.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Validitas teknis (modul acuan 45 t TBS/jam; skala 60 t/jam = ×4/3 karena HRT, SRT, dan beban per tangki identik). Neraca massa menutup 0,0002%; energi neto 1.025 kW; ketidakpastian dari 400 sampel Monte 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Desain produk. Semua gambar dihasilkan dari model parametrik yang sama dengan neraca proses (pfd/, cad/). Modul acuan 45 t TBS/jam: 3 reaktor GFS, 2 genset 600 kWe, plot 99,65 × 37,7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Pesaing. Sumber: research/R3 (reNIKOLA, KIS, Pertamina NRE, Aiken Kakoki, TSE, AANE, program grup Wilmar/Musim Mas/Asian Agri, Veolia/Kubota). Skor berbobot K1-K7 (bobot: biaya POME 25%, modal PKS 20%, risiko kinerja 15%, kematangan 15%, lahan dan waktu 10%, metana dan bau 10%, dapat dipindah 5%); K2-K7 adalah penilaian tim. Peringkat 1 pada 78% dari 20.000 variasi bobot Dirichlet dan 7/7 uji bobot +-50%. Kelemahan yang dikelola: kematangan (TRL 4, pilot G3), CAPEX per kWe lebih tinggi dari tangki CSTR (TSE USD 1,8 juta/MW) sehingga skala dan kurva belajar menjadi kunci.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Keuangan. Konfigurasi 60 t TBS/jam + PM-12. Kasus target = kasus awal + solar tergantikan 3,0 L/t (G0) + CAPEX -15% (G1, hasil kuotasi) + fee USD 1,35/t (G2, di dalam jendela 0,67-1,84) + karbon USD 8,3/t; selebihnya identik. Kasus awal (solar 2,0 L/t, fee 1,25, karbon 5,0, tanpa potongan CAPEX): NPV USD 0,13 juta, IRR 10,3%, payback 7,1 tahun, peluang NPV positif Monte Carlo 25% (naik setelah tiap gerbang). Semua angka dari model Excel berumus hidup dan Python (fin_core.py, deck/export_target.py). Batas aman kasus target: NPV tetap positif sampai beban PKS 54%, fee USD 0,26/t, CAPEX +47%, produksi gas 23% dari desain.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Implementasi. Gantt, peta risiko (peluang x dampak, penilaian tim), KPI, gerbang tahap, dan anggaran usulan USD 1,3 juta (G0 150, G1 340, G2 400, G3 410 ribu). NPV dan IRR per gerbang dihitung kumulatif: kasus awal -&gt; G0 solar 3,0 L/t -&gt; G1 CAPEX -15% -&gt; G2 fee 1,35 -&gt; karbon 8,3. RACI: tim A untuk data, FEED, konstruksi; PKS A untuk izin lahan; EPC R untuk FEED dan konstruksi; laboratorium R untuk uji. Perizinan: PBG/SLF (pemda, bulan 18); UKL-UPL dan persetujuan teknis air limbah (KLH/DLH, bulan 18); IUPTLS/IUPTLU, PJBL, SLO (ESDM, PLN, LIT, bulan 24); K3 bejana tekan (Kemnaker, bulan 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Peluang bisnis dan dampak. Pasar bottom-up per filter (filter solar, jaringan, dan program grup adalah hipotesis yang divalidasi di G0). Peta NPV dan hemat PKS dihitung pada kasus target (CAPEX -15%, karbon 8,3). Armada 10 set (2027-2034); NPV armada setelah overhead holding. Skenario yang menurunkan NPV (tanpa ekspor PLN, tanpa jasa POME, modul 30-45 t/jam) ada di BG_Model_Keuangan.xlsx.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Kesimpulan. Pesan utama, ketahanan kasus target, peta jalan gerbang, dan permintaan. Titik yang dikelola lewat gerbang (uji penentang): OLR 9,9 di atas rekomendasi 8 (pilot G3); harga tangki GFS USD 200/m3 belum dikuotasi (G1); opsi B/C lebih murah bila PKS punya modal (kami menang pada modal nol); struktur jual listrik dan tarif (G2); MCF efluen 0,3 belum diukur (pilot). Kasus awal: NPV USD 0,13 juta, IRR 10,3%, payback 7,1 tahun.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PU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3" name="Shape 0"/>
          <p:cNvSpPr/>
          <p:nvPr/>
        </p:nvSpPr>
        <p:spPr>
          <a:xfrm>
            <a:off x="411480" y="1033272"/>
            <a:ext cx="11384280" cy="0"/>
          </a:xfrm>
          <a:prstGeom prst="line">
            <a:avLst/>
          </a:prstGeom>
          <a:noFill/>
          <a:ln w="19050">
            <a:solidFill>
              <a:srgbClr val="2B9FC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25328" y="274320"/>
            <a:ext cx="420624" cy="420624"/>
          </a:xfrm>
          <a:prstGeom prst="rect">
            <a:avLst>
              <a:gd name="adj" fmla="val 17391"/>
            </a:avLst>
          </a:prstGeom>
          <a:solidFill>
            <a:srgbClr val="0C2464"/>
          </a:solidFill>
          <a:ln/>
        </p:spPr>
      </p:sp>
      <p:sp>
        <p:nvSpPr>
          <p:cNvPr id="5" name="Text 2"/>
          <p:cNvSpPr/>
          <p:nvPr/>
        </p:nvSpPr>
        <p:spPr>
          <a:xfrm>
            <a:off x="10625328" y="274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100816" y="2743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MALATAXTAX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100816" y="4937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 2026 · Business Plan</a:t>
            </a:r>
            <a:endParaRPr lang="en-US" sz="6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ar-sampul" descr="/home/user/aspebindo/deck/img/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kotak-1"/>
          <p:cNvSpPr txBox="1"/>
          <p:nvPr/>
        </p:nvSpPr>
        <p:spPr>
          <a:xfrm>
            <a:off x="502920" y="411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ks-2"/>
          <p:cNvSpPr txBox="1"/>
          <p:nvPr/>
        </p:nvSpPr>
        <p:spPr>
          <a:xfrm>
            <a:off x="1051560" y="411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MALATAXTAX</a:t>
            </a:r>
            <a:endParaRPr lang="en-US" sz="1200" dirty="0"/>
          </a:p>
        </p:txBody>
      </p:sp>
      <p:sp>
        <p:nvSpPr>
          <p:cNvPr id="5" name="teks-3"/>
          <p:cNvSpPr txBox="1"/>
          <p:nvPr/>
        </p:nvSpPr>
        <p:spPr>
          <a:xfrm>
            <a:off x="1051560" y="6492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Business Plan Competition · EIC 2026</a:t>
            </a:r>
            <a:endParaRPr lang="en-US" sz="900" dirty="0"/>
          </a:p>
        </p:txBody>
      </p:sp>
      <p:sp>
        <p:nvSpPr>
          <p:cNvPr id="6" name="kotak-4"/>
          <p:cNvSpPr txBox="1"/>
          <p:nvPr/>
        </p:nvSpPr>
        <p:spPr>
          <a:xfrm>
            <a:off x="502920" y="1188720"/>
            <a:ext cx="4251960" cy="256032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>
            <a:solidFill>
              <a:srgbClr val="8CC6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SUBTEMA 3 · EKONOMI SIRKULAR DAN SOLUSI LINGKUNGAN</a:t>
            </a:r>
            <a:endParaRPr lang="en-US" sz="850" dirty="0"/>
          </a:p>
        </p:txBody>
      </p:sp>
      <p:sp>
        <p:nvSpPr>
          <p:cNvPr id="7" name="teks-5"/>
          <p:cNvSpPr txBox="1"/>
          <p:nvPr/>
        </p:nvSpPr>
        <p:spPr>
          <a:xfrm>
            <a:off x="502920" y="1600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kolam limbah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7FD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 pembangkit listrik</a:t>
            </a:r>
            <a:endParaRPr lang="en-US" sz="3000" dirty="0"/>
          </a:p>
        </p:txBody>
      </p:sp>
      <p:sp>
        <p:nvSpPr>
          <p:cNvPr id="8" name="teks-6"/>
          <p:cNvSpPr txBox="1"/>
          <p:nvPr/>
        </p:nvSpPr>
        <p:spPr>
          <a:xfrm>
            <a:off x="502920" y="29260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Biogas sebagai Layanan: pengolah POME termofilik modular untuk pabrik kelapa sawit</a:t>
            </a:r>
            <a:endParaRPr lang="en-US" sz="1300" dirty="0"/>
          </a:p>
        </p:txBody>
      </p:sp>
      <p:sp>
        <p:nvSpPr>
          <p:cNvPr id="9" name="teks-7"/>
          <p:cNvSpPr txBox="1"/>
          <p:nvPr/>
        </p:nvSpPr>
        <p:spPr>
          <a:xfrm>
            <a:off x="502920" y="3611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tahun, satu pabrik sawit besar melepas ±33 ribu ton CO₂e metana dari kolam limbahnya. Kami menangkap gas itu, mengubahnya menjadi listrik, dan membiarkan pabrik membayar per ton buah yang diolah, tanpa mengeluarkan modal.</a:t>
            </a:r>
            <a:endParaRPr lang="en-US" sz="1150" dirty="0"/>
          </a:p>
        </p:txBody>
      </p:sp>
      <p:sp>
        <p:nvSpPr>
          <p:cNvPr id="10" name="kotak-8"/>
          <p:cNvSpPr/>
          <p:nvPr/>
        </p:nvSpPr>
        <p:spPr>
          <a:xfrm>
            <a:off x="502920" y="475488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ks-9"/>
          <p:cNvSpPr txBox="1"/>
          <p:nvPr/>
        </p:nvSpPr>
        <p:spPr>
          <a:xfrm>
            <a:off x="548640" y="48097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−96%</a:t>
            </a:r>
            <a:endParaRPr lang="en-US" sz="2000" dirty="0"/>
          </a:p>
        </p:txBody>
      </p:sp>
      <p:sp>
        <p:nvSpPr>
          <p:cNvPr id="12" name="teks-10"/>
          <p:cNvSpPr txBox="1"/>
          <p:nvPr/>
        </p:nvSpPr>
        <p:spPr>
          <a:xfrm>
            <a:off x="594360" y="5303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 metana kolam POME dihindari</a:t>
            </a:r>
            <a:endParaRPr lang="en-US" sz="850" dirty="0"/>
          </a:p>
        </p:txBody>
      </p:sp>
      <p:sp>
        <p:nvSpPr>
          <p:cNvPr id="13" name="kotak-11"/>
          <p:cNvSpPr/>
          <p:nvPr/>
        </p:nvSpPr>
        <p:spPr>
          <a:xfrm>
            <a:off x="2286000" y="475488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ks-12"/>
          <p:cNvSpPr txBox="1"/>
          <p:nvPr/>
        </p:nvSpPr>
        <p:spPr>
          <a:xfrm>
            <a:off x="2331720" y="48097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0</a:t>
            </a:r>
            <a:endParaRPr lang="en-US" sz="2000" dirty="0"/>
          </a:p>
        </p:txBody>
      </p:sp>
      <p:sp>
        <p:nvSpPr>
          <p:cNvPr id="15" name="teks-13"/>
          <p:cNvSpPr txBox="1"/>
          <p:nvPr/>
        </p:nvSpPr>
        <p:spPr>
          <a:xfrm>
            <a:off x="2377440" y="5303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dari pabrik (skema BOO)</a:t>
            </a:r>
            <a:endParaRPr lang="en-US" sz="850" dirty="0"/>
          </a:p>
        </p:txBody>
      </p:sp>
      <p:sp>
        <p:nvSpPr>
          <p:cNvPr id="16" name="kotak-14"/>
          <p:cNvSpPr/>
          <p:nvPr/>
        </p:nvSpPr>
        <p:spPr>
          <a:xfrm>
            <a:off x="4069080" y="4754880"/>
            <a:ext cx="1691640" cy="1005840"/>
          </a:xfrm>
          <a:prstGeom prst="roundRect">
            <a:avLst>
              <a:gd name="adj" fmla="val 545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ks-15"/>
          <p:cNvSpPr txBox="1"/>
          <p:nvPr/>
        </p:nvSpPr>
        <p:spPr>
          <a:xfrm>
            <a:off x="4114800" y="48097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GWh</a:t>
            </a:r>
            <a:endParaRPr lang="en-US" sz="2000" dirty="0"/>
          </a:p>
        </p:txBody>
      </p:sp>
      <p:sp>
        <p:nvSpPr>
          <p:cNvPr id="18" name="teks-16"/>
          <p:cNvSpPr txBox="1"/>
          <p:nvPr/>
        </p:nvSpPr>
        <p:spPr>
          <a:xfrm>
            <a:off x="4160520" y="5303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listrik neto per tahun per set</a:t>
            </a:r>
            <a:endParaRPr lang="en-US" sz="850" dirty="0"/>
          </a:p>
        </p:txBody>
      </p:sp>
      <p:sp>
        <p:nvSpPr>
          <p:cNvPr id="19" name="teks-17"/>
          <p:cNvSpPr txBox="1"/>
          <p:nvPr/>
        </p:nvSpPr>
        <p:spPr>
          <a:xfrm>
            <a:off x="502920" y="5989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Malataxtax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lengkap 1] · [Nama lengkap 2] · [Nama lengkap 3]  |  [Nama perguruan tinggi]</a:t>
            </a:r>
            <a:endParaRPr lang="en-US" sz="900" dirty="0"/>
          </a:p>
        </p:txBody>
      </p:sp>
      <p:sp>
        <p:nvSpPr>
          <p:cNvPr id="20" name="kotak-18"/>
          <p:cNvSpPr txBox="1"/>
          <p:nvPr/>
        </p:nvSpPr>
        <p:spPr>
          <a:xfrm>
            <a:off x="10100302" y="182384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kotak-19"/>
          <p:cNvSpPr txBox="1"/>
          <p:nvPr/>
        </p:nvSpPr>
        <p:spPr>
          <a:xfrm>
            <a:off x="9833609" y="312877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kotak-20"/>
          <p:cNvSpPr txBox="1"/>
          <p:nvPr/>
        </p:nvSpPr>
        <p:spPr>
          <a:xfrm>
            <a:off x="9271648" y="170002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kotak-21"/>
          <p:cNvSpPr txBox="1"/>
          <p:nvPr/>
        </p:nvSpPr>
        <p:spPr>
          <a:xfrm>
            <a:off x="13195850" y="2623947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kotak-22"/>
          <p:cNvSpPr txBox="1"/>
          <p:nvPr/>
        </p:nvSpPr>
        <p:spPr>
          <a:xfrm>
            <a:off x="11957631" y="314782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kotak-23"/>
          <p:cNvSpPr/>
          <p:nvPr/>
        </p:nvSpPr>
        <p:spPr>
          <a:xfrm>
            <a:off x="7452360" y="228600"/>
            <a:ext cx="4343400" cy="1508760"/>
          </a:xfrm>
          <a:prstGeom prst="roundRect">
            <a:avLst>
              <a:gd name="adj" fmla="val 303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ks-24"/>
          <p:cNvSpPr txBox="1"/>
          <p:nvPr/>
        </p:nvSpPr>
        <p:spPr>
          <a:xfrm>
            <a:off x="7589520" y="2743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integrasi dengan PKS</a:t>
            </a:r>
            <a:endParaRPr lang="en-US" sz="950" dirty="0"/>
          </a:p>
        </p:txBody>
      </p:sp>
      <p:sp>
        <p:nvSpPr>
          <p:cNvPr id="27" name="kotak-25"/>
          <p:cNvSpPr txBox="1"/>
          <p:nvPr/>
        </p:nvSpPr>
        <p:spPr>
          <a:xfrm>
            <a:off x="7589520" y="56692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teks-26"/>
          <p:cNvSpPr txBox="1"/>
          <p:nvPr/>
        </p:nvSpPr>
        <p:spPr>
          <a:xfrm>
            <a:off x="7863840" y="548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 85 °C dari fat pit ke praolah</a:t>
            </a:r>
            <a:endParaRPr lang="en-US" sz="900" dirty="0"/>
          </a:p>
        </p:txBody>
      </p:sp>
      <p:sp>
        <p:nvSpPr>
          <p:cNvPr id="29" name="kotak-27"/>
          <p:cNvSpPr txBox="1"/>
          <p:nvPr/>
        </p:nvSpPr>
        <p:spPr>
          <a:xfrm>
            <a:off x="7589520" y="79552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ks-28"/>
          <p:cNvSpPr txBox="1"/>
          <p:nvPr/>
        </p:nvSpPr>
        <p:spPr>
          <a:xfrm>
            <a:off x="7863840" y="777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biogas di bekas kolam, 0,38 ha</a:t>
            </a:r>
            <a:endParaRPr lang="en-US" sz="900" dirty="0"/>
          </a:p>
        </p:txBody>
      </p:sp>
      <p:sp>
        <p:nvSpPr>
          <p:cNvPr id="31" name="kotak-29"/>
          <p:cNvSpPr txBox="1"/>
          <p:nvPr/>
        </p:nvSpPr>
        <p:spPr>
          <a:xfrm>
            <a:off x="7589520" y="102412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ks-30"/>
          <p:cNvSpPr txBox="1"/>
          <p:nvPr/>
        </p:nvSpPr>
        <p:spPr>
          <a:xfrm>
            <a:off x="7863840" y="1005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Listrik ke rumah mesin PKS dan jaringan PLN</a:t>
            </a:r>
            <a:endParaRPr lang="en-US" sz="900" dirty="0"/>
          </a:p>
        </p:txBody>
      </p:sp>
      <p:sp>
        <p:nvSpPr>
          <p:cNvPr id="33" name="kotak-31"/>
          <p:cNvSpPr txBox="1"/>
          <p:nvPr/>
        </p:nvSpPr>
        <p:spPr>
          <a:xfrm>
            <a:off x="7589520" y="125272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ks-32"/>
          <p:cNvSpPr txBox="1"/>
          <p:nvPr/>
        </p:nvSpPr>
        <p:spPr>
          <a:xfrm>
            <a:off x="7863840" y="1234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Efluen ke kolam polishing</a:t>
            </a:r>
            <a:endParaRPr lang="en-US" sz="900" dirty="0"/>
          </a:p>
        </p:txBody>
      </p:sp>
      <p:sp>
        <p:nvSpPr>
          <p:cNvPr id="35" name="kotak-33"/>
          <p:cNvSpPr txBox="1"/>
          <p:nvPr/>
        </p:nvSpPr>
        <p:spPr>
          <a:xfrm>
            <a:off x="7589520" y="148132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ks-34"/>
          <p:cNvSpPr txBox="1"/>
          <p:nvPr/>
        </p:nvSpPr>
        <p:spPr>
          <a:xfrm>
            <a:off x="7863840" y="1463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Kolam anaerobik lama (±1,1 ha) dibebaskan</a:t>
            </a:r>
            <a:endParaRPr lang="en-US" sz="900" dirty="0"/>
          </a:p>
        </p:txBody>
      </p:sp>
      <p:sp>
        <p:nvSpPr>
          <p:cNvPr id="37" name="kotak-35"/>
          <p:cNvSpPr/>
          <p:nvPr/>
        </p:nvSpPr>
        <p:spPr>
          <a:xfrm>
            <a:off x="8458200" y="4594860"/>
            <a:ext cx="3383280" cy="19431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render-produk" descr="/home/user/aspebindo/cad/out/render/DIORAMA_produk_r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640580"/>
            <a:ext cx="3291840" cy="1851660"/>
          </a:xfrm>
          <a:prstGeom prst="rect">
            <a:avLst/>
          </a:prstGeom>
        </p:spPr>
      </p:pic>
      <p:sp>
        <p:nvSpPr>
          <p:cNvPr id="39" name="kotak-36"/>
          <p:cNvSpPr txBox="1"/>
          <p:nvPr/>
        </p:nvSpPr>
        <p:spPr>
          <a:xfrm>
            <a:off x="8503920" y="6236208"/>
            <a:ext cx="3291840" cy="256032"/>
          </a:xfrm>
          <a:prstGeom prst="rect">
            <a:avLst/>
          </a:prstGeom>
          <a:solidFill>
            <a:srgbClr val="0C2464">
              <a:alpha val="85000"/>
            </a:srgbClr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biogas modular, dapat dipindahkan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Metana POME dari ±1.150 PKS lepas ke udara karena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dan risiko kinerja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bukan karena teknologinya belum ada</a:t>
            </a:r>
            <a:endParaRPr lang="en-US" sz="1900" dirty="0"/>
          </a:p>
        </p:txBody>
      </p:sp>
      <p:sp>
        <p:nvSpPr>
          <p:cNvPr id="3" name="kotak-37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38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39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40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41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42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43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44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kotak-45"/>
          <p:cNvSpPr txBox="1"/>
          <p:nvPr/>
        </p:nvSpPr>
        <p:spPr>
          <a:xfrm>
            <a:off x="411480" y="1143000"/>
            <a:ext cx="2779776" cy="201168"/>
          </a:xfrm>
          <a:prstGeom prst="roundRect">
            <a:avLst>
              <a:gd name="adj" fmla="val 18182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SITUASI</a:t>
            </a:r>
            <a:endParaRPr lang="en-US" sz="900" dirty="0"/>
          </a:p>
        </p:txBody>
      </p:sp>
      <p:sp>
        <p:nvSpPr>
          <p:cNvPr id="13" name="kotak-46"/>
          <p:cNvSpPr/>
          <p:nvPr/>
        </p:nvSpPr>
        <p:spPr>
          <a:xfrm>
            <a:off x="411480" y="1344168"/>
            <a:ext cx="27797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14" name="teks-47"/>
          <p:cNvSpPr txBox="1"/>
          <p:nvPr/>
        </p:nvSpPr>
        <p:spPr>
          <a:xfrm>
            <a:off x="502920" y="1362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±1.150 PKS</a:t>
            </a:r>
            <a:endParaRPr lang="en-US" sz="1400" dirty="0"/>
          </a:p>
        </p:txBody>
      </p:sp>
      <p:sp>
        <p:nvSpPr>
          <p:cNvPr id="15" name="teks-48"/>
          <p:cNvSpPr txBox="1"/>
          <p:nvPr/>
        </p:nvSpPr>
        <p:spPr>
          <a:xfrm>
            <a:off x="502920" y="16459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±1.300 PKS belum menangkap metana POME (±150 juta m³ POME per tahun)</a:t>
            </a:r>
            <a:endParaRPr lang="en-US" sz="880" dirty="0"/>
          </a:p>
        </p:txBody>
      </p:sp>
      <p:sp>
        <p:nvSpPr>
          <p:cNvPr id="16" name="kotak-49"/>
          <p:cNvSpPr txBox="1"/>
          <p:nvPr/>
        </p:nvSpPr>
        <p:spPr>
          <a:xfrm>
            <a:off x="3282696" y="1143000"/>
            <a:ext cx="2779776" cy="201168"/>
          </a:xfrm>
          <a:prstGeom prst="roundRect">
            <a:avLst>
              <a:gd name="adj" fmla="val 18182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KOMPLIKASI</a:t>
            </a:r>
            <a:endParaRPr lang="en-US" sz="900" dirty="0"/>
          </a:p>
        </p:txBody>
      </p:sp>
      <p:sp>
        <p:nvSpPr>
          <p:cNvPr id="17" name="kotak-50"/>
          <p:cNvSpPr/>
          <p:nvPr/>
        </p:nvSpPr>
        <p:spPr>
          <a:xfrm>
            <a:off x="3282696" y="1344168"/>
            <a:ext cx="27797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1F4E9E"/>
            </a:solidFill>
            <a:prstDash val="solid"/>
          </a:ln>
        </p:spPr>
      </p:sp>
      <p:sp>
        <p:nvSpPr>
          <p:cNvPr id="18" name="teks-51"/>
          <p:cNvSpPr txBox="1"/>
          <p:nvPr/>
        </p:nvSpPr>
        <p:spPr>
          <a:xfrm>
            <a:off x="3374136" y="1362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26 juta tCO₂e</a:t>
            </a:r>
            <a:endParaRPr lang="en-US" sz="1400" dirty="0"/>
          </a:p>
        </p:txBody>
      </p:sp>
      <p:sp>
        <p:nvSpPr>
          <p:cNvPr id="19" name="teks-52"/>
          <p:cNvSpPr txBox="1"/>
          <p:nvPr/>
        </p:nvSpPr>
        <p:spPr>
          <a:xfrm>
            <a:off x="3374136" y="16459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tahun lepas dari kolam; biogas milik sendiri USD 3,5–4,0 juta per set dan berisiko</a:t>
            </a:r>
            <a:endParaRPr lang="en-US" sz="880" dirty="0"/>
          </a:p>
        </p:txBody>
      </p:sp>
      <p:sp>
        <p:nvSpPr>
          <p:cNvPr id="20" name="kotak-53"/>
          <p:cNvSpPr txBox="1"/>
          <p:nvPr/>
        </p:nvSpPr>
        <p:spPr>
          <a:xfrm>
            <a:off x="6153912" y="1143000"/>
            <a:ext cx="2779776" cy="201168"/>
          </a:xfrm>
          <a:prstGeom prst="roundRect">
            <a:avLst>
              <a:gd name="adj" fmla="val 18182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</a:t>
            </a:r>
            <a:endParaRPr lang="en-US" sz="900" dirty="0"/>
          </a:p>
        </p:txBody>
      </p:sp>
      <p:sp>
        <p:nvSpPr>
          <p:cNvPr id="21" name="kotak-54"/>
          <p:cNvSpPr/>
          <p:nvPr/>
        </p:nvSpPr>
        <p:spPr>
          <a:xfrm>
            <a:off x="6153912" y="1344168"/>
            <a:ext cx="27797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22" name="teks-55"/>
          <p:cNvSpPr txBox="1"/>
          <p:nvPr/>
        </p:nvSpPr>
        <p:spPr>
          <a:xfrm>
            <a:off x="6245352" y="1362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caranya?</a:t>
            </a:r>
            <a:endParaRPr lang="en-US" sz="1400" dirty="0"/>
          </a:p>
        </p:txBody>
      </p:sp>
      <p:sp>
        <p:nvSpPr>
          <p:cNvPr id="23" name="teks-56"/>
          <p:cNvSpPr txBox="1"/>
          <p:nvPr/>
        </p:nvSpPr>
        <p:spPr>
          <a:xfrm>
            <a:off x="6245352" y="16459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PKS menangkap metana tanpa modal dan tanpa risiko kinerja, dengan biaya tidak melebihi kolam?</a:t>
            </a:r>
            <a:endParaRPr lang="en-US" sz="880" dirty="0"/>
          </a:p>
        </p:txBody>
      </p:sp>
      <p:sp>
        <p:nvSpPr>
          <p:cNvPr id="24" name="kotak-57"/>
          <p:cNvSpPr txBox="1"/>
          <p:nvPr/>
        </p:nvSpPr>
        <p:spPr>
          <a:xfrm>
            <a:off x="9025128" y="1143000"/>
            <a:ext cx="2779776" cy="201168"/>
          </a:xfrm>
          <a:prstGeom prst="roundRect">
            <a:avLst>
              <a:gd name="adj" fmla="val 18182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</a:t>
            </a:r>
            <a:endParaRPr lang="en-US" sz="900" dirty="0"/>
          </a:p>
        </p:txBody>
      </p:sp>
      <p:sp>
        <p:nvSpPr>
          <p:cNvPr id="25" name="kotak-58"/>
          <p:cNvSpPr/>
          <p:nvPr/>
        </p:nvSpPr>
        <p:spPr>
          <a:xfrm>
            <a:off x="9025128" y="1344168"/>
            <a:ext cx="27797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3E8E41"/>
            </a:solidFill>
            <a:prstDash val="solid"/>
          </a:ln>
        </p:spPr>
      </p:sp>
      <p:sp>
        <p:nvSpPr>
          <p:cNvPr id="26" name="teks-59"/>
          <p:cNvSpPr txBox="1"/>
          <p:nvPr/>
        </p:nvSpPr>
        <p:spPr>
          <a:xfrm>
            <a:off x="9116568" y="1362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0 modal PKS</a:t>
            </a:r>
            <a:endParaRPr lang="en-US" sz="1400" dirty="0"/>
          </a:p>
        </p:txBody>
      </p:sp>
      <p:sp>
        <p:nvSpPr>
          <p:cNvPr id="27" name="teks-60"/>
          <p:cNvSpPr txBox="1"/>
          <p:nvPr/>
        </p:nvSpPr>
        <p:spPr>
          <a:xfrm>
            <a:off x="9116568" y="1645920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BOO: set termofilik modular dibayar per t TBS dan per kWh (slide 3–7)</a:t>
            </a:r>
            <a:endParaRPr lang="en-US" sz="880" dirty="0"/>
          </a:p>
        </p:txBody>
      </p:sp>
      <p:sp>
        <p:nvSpPr>
          <p:cNvPr id="28" name="kotak-61"/>
          <p:cNvSpPr txBox="1"/>
          <p:nvPr/>
        </p:nvSpPr>
        <p:spPr>
          <a:xfrm>
            <a:off x="411480" y="2130552"/>
            <a:ext cx="2240280" cy="237744"/>
          </a:xfrm>
          <a:prstGeom prst="roundRect">
            <a:avLst>
              <a:gd name="adj" fmla="val 1538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1000" dirty="0"/>
          </a:p>
        </p:txBody>
      </p:sp>
      <p:sp>
        <p:nvSpPr>
          <p:cNvPr id="29" name="kotak-62"/>
          <p:cNvSpPr txBox="1"/>
          <p:nvPr/>
        </p:nvSpPr>
        <p:spPr>
          <a:xfrm>
            <a:off x="2743200" y="2130552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Sub-masalah</a:t>
            </a:r>
            <a:endParaRPr lang="en-US" sz="1000" dirty="0"/>
          </a:p>
        </p:txBody>
      </p:sp>
      <p:sp>
        <p:nvSpPr>
          <p:cNvPr id="30" name="kotak-63"/>
          <p:cNvSpPr txBox="1"/>
          <p:nvPr/>
        </p:nvSpPr>
        <p:spPr>
          <a:xfrm>
            <a:off x="4846320" y="2130552"/>
            <a:ext cx="3657600" cy="237744"/>
          </a:xfrm>
          <a:prstGeom prst="roundRect">
            <a:avLst>
              <a:gd name="adj" fmla="val 15385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masalah (terukur)</a:t>
            </a:r>
            <a:endParaRPr lang="en-US" sz="1000" dirty="0"/>
          </a:p>
        </p:txBody>
      </p:sp>
      <p:sp>
        <p:nvSpPr>
          <p:cNvPr id="31" name="kotak-64"/>
          <p:cNvSpPr txBox="1"/>
          <p:nvPr/>
        </p:nvSpPr>
        <p:spPr>
          <a:xfrm>
            <a:off x="8595360" y="2130552"/>
            <a:ext cx="3154680" cy="237744"/>
          </a:xfrm>
          <a:prstGeom prst="roundRect">
            <a:avLst>
              <a:gd name="adj" fmla="val 15385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solusi</a:t>
            </a:r>
            <a:endParaRPr lang="en-US" sz="1000" dirty="0"/>
          </a:p>
        </p:txBody>
      </p:sp>
      <p:sp>
        <p:nvSpPr>
          <p:cNvPr id="32" name="kotak-65"/>
          <p:cNvSpPr txBox="1"/>
          <p:nvPr/>
        </p:nvSpPr>
        <p:spPr>
          <a:xfrm>
            <a:off x="411480" y="2404872"/>
            <a:ext cx="2240280" cy="1682496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PKS independen dapat menangkap metana POME tanpa modal dan tanpa menanggung risiko kinerja, dengan biaya tidak melebihi kolam?</a:t>
            </a:r>
            <a:endParaRPr lang="en-US" sz="1000" dirty="0"/>
          </a:p>
        </p:txBody>
      </p:sp>
      <p:sp>
        <p:nvSpPr>
          <p:cNvPr id="33" name="kotak-66"/>
          <p:cNvSpPr txBox="1"/>
          <p:nvPr/>
        </p:nvSpPr>
        <p:spPr>
          <a:xfrm>
            <a:off x="2743200" y="2404872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000" dirty="0"/>
          </a:p>
        </p:txBody>
      </p:sp>
      <p:sp>
        <p:nvSpPr>
          <p:cNvPr id="34" name="kotak-67"/>
          <p:cNvSpPr txBox="1"/>
          <p:nvPr/>
        </p:nvSpPr>
        <p:spPr>
          <a:xfrm>
            <a:off x="4846320" y="2404872"/>
            <a:ext cx="3657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1F4E9E"/>
            </a:solidFill>
          </a:ln>
        </p:spPr>
        <p:txBody>
          <a:bodyPr wrap="square" lIns="12700" tIns="63500" rIns="63500" bIns="12700" rtlCol="0" anchor="ctr"/>
          <a:lstStyle/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Kolam terbuka: 100% CH₄ lepas, 33.457 tCO₂e/tahun per PKS 60 t/jam</a:t>
            </a:r>
            <a:endParaRPr lang="en-US" sz="850" dirty="0"/>
          </a:p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Reaktor konvensional: HRT 25–40 hari, lahan luas</a:t>
            </a:r>
            <a:endParaRPr lang="en-US" sz="850" dirty="0"/>
          </a:p>
        </p:txBody>
      </p:sp>
      <p:sp>
        <p:nvSpPr>
          <p:cNvPr id="35" name="kotak-68"/>
          <p:cNvSpPr txBox="1"/>
          <p:nvPr/>
        </p:nvSpPr>
        <p:spPr>
          <a:xfrm>
            <a:off x="8595360" y="2404872"/>
            <a:ext cx="3154680" cy="393192"/>
          </a:xfrm>
          <a:prstGeom prst="roundRect">
            <a:avLst>
              <a:gd name="adj" fmla="val 9302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Reaktor kontak termofilik: HRT 5 hari, tangki GFS dibaut</a:t>
            </a:r>
            <a:endParaRPr lang="en-US" sz="900" dirty="0"/>
          </a:p>
        </p:txBody>
      </p:sp>
      <p:sp>
        <p:nvSpPr>
          <p:cNvPr id="36" name="garis-69"/>
          <p:cNvSpPr/>
          <p:nvPr/>
        </p:nvSpPr>
        <p:spPr>
          <a:xfrm flipV="1">
            <a:off x="2651760" y="2601468"/>
            <a:ext cx="91440" cy="644652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37" name="garis-70"/>
          <p:cNvSpPr/>
          <p:nvPr/>
        </p:nvSpPr>
        <p:spPr>
          <a:xfrm>
            <a:off x="4754880" y="2601468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8" name="garis-71"/>
          <p:cNvSpPr/>
          <p:nvPr/>
        </p:nvSpPr>
        <p:spPr>
          <a:xfrm>
            <a:off x="8503920" y="2601468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9" name="kotak-72"/>
          <p:cNvSpPr txBox="1"/>
          <p:nvPr/>
        </p:nvSpPr>
        <p:spPr>
          <a:xfrm>
            <a:off x="2743200" y="2834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</a:t>
            </a:r>
            <a:endParaRPr lang="en-US" sz="1000" dirty="0"/>
          </a:p>
        </p:txBody>
      </p:sp>
      <p:sp>
        <p:nvSpPr>
          <p:cNvPr id="40" name="kotak-73"/>
          <p:cNvSpPr txBox="1"/>
          <p:nvPr/>
        </p:nvSpPr>
        <p:spPr>
          <a:xfrm>
            <a:off x="4846320" y="2834640"/>
            <a:ext cx="3657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1F4E9E"/>
            </a:solidFill>
          </a:ln>
        </p:spPr>
        <p:txBody>
          <a:bodyPr wrap="square" lIns="12700" tIns="63500" rIns="63500" bIns="12700" rtlCol="0" anchor="ctr"/>
          <a:lstStyle/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USD 3,5–4,0 juta per set; kinerja tidak dijamin</a:t>
            </a:r>
            <a:endParaRPr lang="en-US" sz="850" dirty="0"/>
          </a:p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 kecil: tarif 9,81 USc/kWh, karbon USD 3–5/t</a:t>
            </a:r>
            <a:endParaRPr lang="en-US" sz="850" dirty="0"/>
          </a:p>
        </p:txBody>
      </p:sp>
      <p:sp>
        <p:nvSpPr>
          <p:cNvPr id="41" name="kotak-74"/>
          <p:cNvSpPr txBox="1"/>
          <p:nvPr/>
        </p:nvSpPr>
        <p:spPr>
          <a:xfrm>
            <a:off x="8595360" y="2834640"/>
            <a:ext cx="3154680" cy="393192"/>
          </a:xfrm>
          <a:prstGeom prst="roundRect">
            <a:avLst>
              <a:gd name="adj" fmla="val 9302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BOO: modal PKS nol; pendapatan jasa + listrik + karbon</a:t>
            </a:r>
            <a:endParaRPr lang="en-US" sz="900" dirty="0"/>
          </a:p>
        </p:txBody>
      </p:sp>
      <p:sp>
        <p:nvSpPr>
          <p:cNvPr id="42" name="garis-75"/>
          <p:cNvSpPr/>
          <p:nvPr/>
        </p:nvSpPr>
        <p:spPr>
          <a:xfrm flipV="1">
            <a:off x="2651760" y="3031236"/>
            <a:ext cx="91440" cy="214884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43" name="garis-76"/>
          <p:cNvSpPr/>
          <p:nvPr/>
        </p:nvSpPr>
        <p:spPr>
          <a:xfrm>
            <a:off x="4754880" y="3031236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44" name="garis-77"/>
          <p:cNvSpPr/>
          <p:nvPr/>
        </p:nvSpPr>
        <p:spPr>
          <a:xfrm>
            <a:off x="8503920" y="3031236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45" name="kotak-78"/>
          <p:cNvSpPr txBox="1"/>
          <p:nvPr/>
        </p:nvSpPr>
        <p:spPr>
          <a:xfrm>
            <a:off x="2743200" y="3264408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 dan pasar</a:t>
            </a:r>
            <a:endParaRPr lang="en-US" sz="1000" dirty="0"/>
          </a:p>
        </p:txBody>
      </p:sp>
      <p:sp>
        <p:nvSpPr>
          <p:cNvPr id="46" name="kotak-79"/>
          <p:cNvSpPr txBox="1"/>
          <p:nvPr/>
        </p:nvSpPr>
        <p:spPr>
          <a:xfrm>
            <a:off x="4846320" y="3264408"/>
            <a:ext cx="3657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1F4E9E"/>
            </a:solidFill>
          </a:ln>
        </p:spPr>
        <p:txBody>
          <a:bodyPr wrap="square" lIns="12700" tIns="63500" rIns="63500" bIns="12700" rtlCol="0" anchor="ctr"/>
          <a:lstStyle/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mandat penangkapan metana (ISPO bioenergi 2027)</a:t>
            </a:r>
            <a:endParaRPr lang="en-US" sz="850" dirty="0"/>
          </a:p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Izin jual listrik dan PJBL lambat</a:t>
            </a:r>
            <a:endParaRPr lang="en-US" sz="850" dirty="0"/>
          </a:p>
        </p:txBody>
      </p:sp>
      <p:sp>
        <p:nvSpPr>
          <p:cNvPr id="47" name="kotak-80"/>
          <p:cNvSpPr txBox="1"/>
          <p:nvPr/>
        </p:nvSpPr>
        <p:spPr>
          <a:xfrm>
            <a:off x="8595360" y="3264408"/>
            <a:ext cx="3154680" cy="393192"/>
          </a:xfrm>
          <a:prstGeom prst="roundRect">
            <a:avLst>
              <a:gd name="adj" fmla="val 9302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jasa energi; gerbang izin sebelum modal</a:t>
            </a:r>
            <a:endParaRPr lang="en-US" sz="900" dirty="0"/>
          </a:p>
        </p:txBody>
      </p:sp>
      <p:sp>
        <p:nvSpPr>
          <p:cNvPr id="48" name="garis-81"/>
          <p:cNvSpPr/>
          <p:nvPr/>
        </p:nvSpPr>
        <p:spPr>
          <a:xfrm>
            <a:off x="2651760" y="3246120"/>
            <a:ext cx="91440" cy="214884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49" name="garis-82"/>
          <p:cNvSpPr/>
          <p:nvPr/>
        </p:nvSpPr>
        <p:spPr>
          <a:xfrm>
            <a:off x="4754880" y="3461004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50" name="garis-83"/>
          <p:cNvSpPr/>
          <p:nvPr/>
        </p:nvSpPr>
        <p:spPr>
          <a:xfrm>
            <a:off x="8503920" y="3461004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51" name="kotak-84"/>
          <p:cNvSpPr txBox="1"/>
          <p:nvPr/>
        </p:nvSpPr>
        <p:spPr>
          <a:xfrm>
            <a:off x="2743200" y="3694176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</a:t>
            </a:r>
            <a:endParaRPr lang="en-US" sz="1000" dirty="0"/>
          </a:p>
        </p:txBody>
      </p:sp>
      <p:sp>
        <p:nvSpPr>
          <p:cNvPr id="52" name="kotak-85"/>
          <p:cNvSpPr txBox="1"/>
          <p:nvPr/>
        </p:nvSpPr>
        <p:spPr>
          <a:xfrm>
            <a:off x="4846320" y="3694176"/>
            <a:ext cx="3657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1F4E9E"/>
            </a:solidFill>
          </a:ln>
        </p:spPr>
        <p:txBody>
          <a:bodyPr wrap="square" lIns="12700" tIns="63500" rIns="63500" bIns="12700" rtlCol="0" anchor="ctr"/>
          <a:lstStyle/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bukan operator biogas (±442 PKS tanpa kebun)</a:t>
            </a:r>
            <a:endParaRPr lang="en-US" sz="850" dirty="0"/>
          </a:p>
          <a:p>
            <a:pPr algn="l" marL="101600" indent="-101600">
              <a:buSzPct val="100000"/>
              <a:buChar char="•"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dan POME tidak terukur per PKS</a:t>
            </a:r>
            <a:endParaRPr lang="en-US" sz="850" dirty="0"/>
          </a:p>
        </p:txBody>
      </p:sp>
      <p:sp>
        <p:nvSpPr>
          <p:cNvPr id="53" name="kotak-86"/>
          <p:cNvSpPr txBox="1"/>
          <p:nvPr/>
        </p:nvSpPr>
        <p:spPr>
          <a:xfrm>
            <a:off x="8595360" y="3694176"/>
            <a:ext cx="3154680" cy="393192"/>
          </a:xfrm>
          <a:prstGeom prst="roundRect">
            <a:avLst>
              <a:gd name="adj" fmla="val 9302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menjamin kinerja; data solar diukur pada gerbang G0</a:t>
            </a:r>
            <a:endParaRPr lang="en-US" sz="900" dirty="0"/>
          </a:p>
        </p:txBody>
      </p:sp>
      <p:sp>
        <p:nvSpPr>
          <p:cNvPr id="54" name="garis-87"/>
          <p:cNvSpPr/>
          <p:nvPr/>
        </p:nvSpPr>
        <p:spPr>
          <a:xfrm>
            <a:off x="2651760" y="3246120"/>
            <a:ext cx="91440" cy="644652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55" name="garis-88"/>
          <p:cNvSpPr/>
          <p:nvPr/>
        </p:nvSpPr>
        <p:spPr>
          <a:xfrm>
            <a:off x="4754880" y="3890772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56" name="garis-89"/>
          <p:cNvSpPr/>
          <p:nvPr/>
        </p:nvSpPr>
        <p:spPr>
          <a:xfrm>
            <a:off x="8503920" y="3890772"/>
            <a:ext cx="91440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57" name="kotak-90"/>
          <p:cNvSpPr txBox="1"/>
          <p:nvPr/>
        </p:nvSpPr>
        <p:spPr>
          <a:xfrm>
            <a:off x="411480" y="4224528"/>
            <a:ext cx="5074920" cy="237744"/>
          </a:xfrm>
          <a:prstGeom prst="roundRect">
            <a:avLst>
              <a:gd name="adj" fmla="val 1538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Mengapa: dari gejala ke akar</a:t>
            </a:r>
            <a:endParaRPr lang="en-US" sz="1000" dirty="0"/>
          </a:p>
        </p:txBody>
      </p:sp>
      <p:sp>
        <p:nvSpPr>
          <p:cNvPr id="58" name="kotak-91"/>
          <p:cNvSpPr txBox="1"/>
          <p:nvPr/>
        </p:nvSpPr>
        <p:spPr>
          <a:xfrm>
            <a:off x="411480" y="4480560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kotak-92"/>
          <p:cNvSpPr txBox="1"/>
          <p:nvPr/>
        </p:nvSpPr>
        <p:spPr>
          <a:xfrm>
            <a:off x="713232" y="4480560"/>
            <a:ext cx="477316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BFD6E8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Metana POME tidak ditangkap → tidak ada reaktor biogas di PKS.</a:t>
            </a:r>
            <a:endParaRPr lang="en-US" sz="850" dirty="0"/>
          </a:p>
        </p:txBody>
      </p:sp>
      <p:sp>
        <p:nvSpPr>
          <p:cNvPr id="60" name="kotak-93"/>
          <p:cNvSpPr txBox="1"/>
          <p:nvPr/>
        </p:nvSpPr>
        <p:spPr>
          <a:xfrm>
            <a:off x="411480" y="472744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kotak-94"/>
          <p:cNvSpPr txBox="1"/>
          <p:nvPr/>
        </p:nvSpPr>
        <p:spPr>
          <a:xfrm>
            <a:off x="713232" y="4727448"/>
            <a:ext cx="477316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BFD6E8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Mengapa? Modal USD 3,5–4,0 juta per set tidak sepadan dengan imbal hasil.</a:t>
            </a:r>
            <a:endParaRPr lang="en-US" sz="850" dirty="0"/>
          </a:p>
        </p:txBody>
      </p:sp>
      <p:sp>
        <p:nvSpPr>
          <p:cNvPr id="62" name="kotak-95"/>
          <p:cNvSpPr txBox="1"/>
          <p:nvPr/>
        </p:nvSpPr>
        <p:spPr>
          <a:xfrm>
            <a:off x="411480" y="4974336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kotak-96"/>
          <p:cNvSpPr txBox="1"/>
          <p:nvPr/>
        </p:nvSpPr>
        <p:spPr>
          <a:xfrm>
            <a:off x="713232" y="4974336"/>
            <a:ext cx="477316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BFD6E8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Mengapa? Pendapatan listrik dan karbon kecil, risiko kinerja ditanggung PKS.</a:t>
            </a:r>
            <a:endParaRPr lang="en-US" sz="850" dirty="0"/>
          </a:p>
        </p:txBody>
      </p:sp>
      <p:sp>
        <p:nvSpPr>
          <p:cNvPr id="64" name="kotak-97"/>
          <p:cNvSpPr txBox="1"/>
          <p:nvPr/>
        </p:nvSpPr>
        <p:spPr>
          <a:xfrm>
            <a:off x="411480" y="5221224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5" name="kotak-98"/>
          <p:cNvSpPr txBox="1"/>
          <p:nvPr/>
        </p:nvSpPr>
        <p:spPr>
          <a:xfrm>
            <a:off x="713232" y="5221224"/>
            <a:ext cx="477316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BFD6E8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Mengapa? PKS bukan operator biogas; tidak ada penjamin kinerja.</a:t>
            </a:r>
            <a:endParaRPr lang="en-US" sz="850" dirty="0"/>
          </a:p>
        </p:txBody>
      </p:sp>
      <p:sp>
        <p:nvSpPr>
          <p:cNvPr id="66" name="kotak-99"/>
          <p:cNvSpPr txBox="1"/>
          <p:nvPr/>
        </p:nvSpPr>
        <p:spPr>
          <a:xfrm>
            <a:off x="411480" y="5468112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67" name="kotak-100"/>
          <p:cNvSpPr txBox="1"/>
          <p:nvPr/>
        </p:nvSpPr>
        <p:spPr>
          <a:xfrm>
            <a:off x="713232" y="5468112"/>
            <a:ext cx="4773168" cy="219456"/>
          </a:xfrm>
          <a:prstGeom prst="roundRect">
            <a:avLst>
              <a:gd name="adj" fmla="val 16667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0" tIns="63500" rIns="6350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Akar: teknologi dijual sebagai proyek sekali jadi, bukan layanan modular yang dijamin operator.</a:t>
            </a:r>
            <a:endParaRPr lang="en-US" sz="850" dirty="0"/>
          </a:p>
        </p:txBody>
      </p:sp>
      <p:sp>
        <p:nvSpPr>
          <p:cNvPr id="68" name="kotak-101"/>
          <p:cNvSpPr txBox="1"/>
          <p:nvPr/>
        </p:nvSpPr>
        <p:spPr>
          <a:xfrm>
            <a:off x="5623560" y="4224528"/>
            <a:ext cx="6172200" cy="237744"/>
          </a:xfrm>
          <a:prstGeom prst="roundRect">
            <a:avLst>
              <a:gd name="adj" fmla="val 1538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Pemilihan konsep: matriks keputusan berbobot (skor 1–5)</a:t>
            </a:r>
            <a:endParaRPr lang="en-US" sz="1000" dirty="0"/>
          </a:p>
        </p:txBody>
      </p:sp>
      <p:graphicFrame>
        <p:nvGraphicFramePr>
          <p:cNvPr id="3" name="tabel-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448056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"/>
                <a:gridCol w="411480"/>
                <a:gridCol w="411480"/>
                <a:gridCol w="411480"/>
                <a:gridCol w="411480"/>
                <a:gridCol w="411480"/>
                <a:gridCol w="411480"/>
                <a:gridCol w="457200"/>
                <a:gridCol w="640080"/>
              </a:tblGrid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Alternatif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 25%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 20%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 15%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K4 15%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K5 10%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 10%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K7 5%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peringkat 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Status quo kolam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Lagun tertutup (milik PKS)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CSTR mesofilik (milik PKS)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Biometana BOOT klaster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 Kontak termofilik BOO (usulan)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5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teks-103"/>
          <p:cNvSpPr txBox="1"/>
          <p:nvPr/>
        </p:nvSpPr>
        <p:spPr>
          <a:xfrm>
            <a:off x="411480" y="5788152"/>
            <a:ext cx="11338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biaya POME bagi PKS · K2 modal PKS · K3 risiko kinerja ditanggung PKS · K4 referensi di Indonesia · K5 lahan dan waktu bangun · K6 penangkapan metana · K7 dapat dipindah · % peringkat 1: 20.000 variasi bobot. UASB/IC (skor 2,13) dan AnMBR (1,98) tidak ditampilkan; keduanya 0% peringkat 1.</a:t>
            </a:r>
            <a:endParaRPr lang="en-US" sz="630" dirty="0"/>
          </a:p>
        </p:txBody>
      </p:sp>
      <p:sp>
        <p:nvSpPr>
          <p:cNvPr id="71" name="kotak-104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1000" dirty="0"/>
          </a:p>
        </p:txBody>
      </p:sp>
      <p:sp>
        <p:nvSpPr>
          <p:cNvPr id="72" name="kotak-105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terukur: turunkan emisi metana ≥ 90% (≈ 32 ribu tCO₂e/tahun per PKS 60 t TBS/jam) tanpa modal PKS, dengan biaya POME ≤ kolam (USD 3,14/t TBS) dan DSCR proyek ≥ 1,30.</a:t>
            </a:r>
            <a:endParaRPr lang="en-US" sz="950" dirty="0"/>
          </a:p>
        </p:txBody>
      </p:sp>
      <p:sp>
        <p:nvSpPr>
          <p:cNvPr id="73" name="teks-106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PKS pabrik kelapa sawit; TBS tandan buah segar; BOO bangun-miliki-operasikan; BOOT bangun-miliki-operasikan-alihkan; HRT waktu tinggal hidraulik; PJBL perjanjian jual beli listrik; GFS baja berlapis kaca; DSCR rasio cakupan layanan utang.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Trase/SEI-PCS 2024; IOP/ERL; GAPKI 2026; RTM Berita 2024; PASPI/BRIN; Perpres 16/2025 dan 112/2022; model tim (neraca proses Rev 2, Model Keputusan PKS); skor K2–K7 penilaian tim (research/R3, R6).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biogas termofilik 55 °C mengolah POME dalam 5 hari menjadi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GWh listrik per tahun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dibayar sebagai layanan, dan dapat dibongkar-pasang</a:t>
            </a:r>
            <a:endParaRPr lang="en-US" sz="1900" dirty="0"/>
          </a:p>
        </p:txBody>
      </p:sp>
      <p:sp>
        <p:nvSpPr>
          <p:cNvPr id="3" name="kotak-107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108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109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110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111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112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113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114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kotak-115"/>
          <p:cNvSpPr txBox="1"/>
          <p:nvPr/>
        </p:nvSpPr>
        <p:spPr>
          <a:xfrm>
            <a:off x="411480" y="1143000"/>
            <a:ext cx="5257800" cy="246888"/>
          </a:xfrm>
          <a:prstGeom prst="roundRect">
            <a:avLst>
              <a:gd name="adj" fmla="val 1481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Wujud produk (modul acuan 45 t TBS/jam)</a:t>
            </a:r>
            <a:endParaRPr lang="en-US" sz="1000" dirty="0"/>
          </a:p>
        </p:txBody>
      </p:sp>
      <p:pic>
        <p:nvPicPr>
          <p:cNvPr id="13" name="render-produk" descr="/home/user/aspebindo/cad/out/render/DIORAMA_produ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35608"/>
            <a:ext cx="5257800" cy="2377440"/>
          </a:xfrm>
          <a:prstGeom prst="rect">
            <a:avLst/>
          </a:prstGeom>
        </p:spPr>
      </p:pic>
      <p:sp>
        <p:nvSpPr>
          <p:cNvPr id="14" name="kotak-116"/>
          <p:cNvSpPr txBox="1"/>
          <p:nvPr/>
        </p:nvSpPr>
        <p:spPr>
          <a:xfrm>
            <a:off x="411480" y="3886200"/>
            <a:ext cx="5257800" cy="246888"/>
          </a:xfrm>
          <a:prstGeom prst="roundRect">
            <a:avLst>
              <a:gd name="adj" fmla="val 14815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dan portabel</a:t>
            </a:r>
            <a:endParaRPr lang="en-US" sz="1000" dirty="0"/>
          </a:p>
        </p:txBody>
      </p:sp>
      <p:sp>
        <p:nvSpPr>
          <p:cNvPr id="15" name="kotak-117"/>
          <p:cNvSpPr/>
          <p:nvPr/>
        </p:nvSpPr>
        <p:spPr>
          <a:xfrm>
            <a:off x="411480" y="4187952"/>
            <a:ext cx="1691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6" name="teks-118"/>
          <p:cNvSpPr txBox="1"/>
          <p:nvPr/>
        </p:nvSpPr>
        <p:spPr>
          <a:xfrm>
            <a:off x="484632" y="4233672"/>
            <a:ext cx="1545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17" name="teks-119"/>
          <p:cNvSpPr txBox="1"/>
          <p:nvPr/>
        </p:nvSpPr>
        <p:spPr>
          <a:xfrm>
            <a:off x="484632" y="4558833"/>
            <a:ext cx="1545336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kontainer dan skid 40 ft per modul acuan</a:t>
            </a:r>
            <a:endParaRPr lang="en-US" sz="800" dirty="0"/>
          </a:p>
        </p:txBody>
      </p:sp>
      <p:sp>
        <p:nvSpPr>
          <p:cNvPr id="18" name="kotak-120"/>
          <p:cNvSpPr/>
          <p:nvPr/>
        </p:nvSpPr>
        <p:spPr>
          <a:xfrm>
            <a:off x="2194560" y="4187952"/>
            <a:ext cx="1691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9" name="teks-121"/>
          <p:cNvSpPr txBox="1"/>
          <p:nvPr/>
        </p:nvSpPr>
        <p:spPr>
          <a:xfrm>
            <a:off x="2267712" y="4233672"/>
            <a:ext cx="1545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 m³</a:t>
            </a:r>
            <a:endParaRPr lang="en-US" sz="1500" dirty="0"/>
          </a:p>
        </p:txBody>
      </p:sp>
      <p:sp>
        <p:nvSpPr>
          <p:cNvPr id="20" name="teks-122"/>
          <p:cNvSpPr txBox="1"/>
          <p:nvPr/>
        </p:nvSpPr>
        <p:spPr>
          <a:xfrm>
            <a:off x="2267712" y="4558833"/>
            <a:ext cx="1545336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tangki GFS dibaut identik; 2, 3, atau 4 per set</a:t>
            </a:r>
            <a:endParaRPr lang="en-US" sz="800" dirty="0"/>
          </a:p>
        </p:txBody>
      </p:sp>
      <p:sp>
        <p:nvSpPr>
          <p:cNvPr id="21" name="kotak-123"/>
          <p:cNvSpPr/>
          <p:nvPr/>
        </p:nvSpPr>
        <p:spPr>
          <a:xfrm>
            <a:off x="3977640" y="4187952"/>
            <a:ext cx="16916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22" name="teks-124"/>
          <p:cNvSpPr txBox="1"/>
          <p:nvPr/>
        </p:nvSpPr>
        <p:spPr>
          <a:xfrm>
            <a:off x="4050792" y="4233672"/>
            <a:ext cx="1545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±6 bulan</a:t>
            </a:r>
            <a:endParaRPr lang="en-US" sz="1500" dirty="0"/>
          </a:p>
        </p:txBody>
      </p:sp>
      <p:sp>
        <p:nvSpPr>
          <p:cNvPr id="23" name="teks-125"/>
          <p:cNvSpPr txBox="1"/>
          <p:nvPr/>
        </p:nvSpPr>
        <p:spPr>
          <a:xfrm>
            <a:off x="4050792" y="4558833"/>
            <a:ext cx="1545336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bongkar-pasang antar-PKS, biaya 15% FCI</a:t>
            </a:r>
            <a:endParaRPr lang="en-US" sz="800" dirty="0"/>
          </a:p>
        </p:txBody>
      </p:sp>
      <p:graphicFrame>
        <p:nvGraphicFramePr>
          <p:cNvPr id="4" name="tabel-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00176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"/>
                <a:gridCol w="731520"/>
                <a:gridCol w="868680"/>
                <a:gridCol w="594360"/>
                <a:gridCol w="77724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PKS (t TBS/jam)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Tangki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Genset (kWe)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Biogas (Nm³/hari)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Neto (kW)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FCI (USD juta)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(acuan)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acuan gambar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(komersial)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komersial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kotak-127"/>
          <p:cNvSpPr txBox="1"/>
          <p:nvPr/>
        </p:nvSpPr>
        <p:spPr>
          <a:xfrm>
            <a:off x="5852160" y="1143000"/>
            <a:ext cx="5943600" cy="246888"/>
          </a:xfrm>
          <a:prstGeom prst="roundRect">
            <a:avLst>
              <a:gd name="adj" fmla="val 1481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kerja, dari POME sampai listrik (set 60 t TBS/jam)</a:t>
            </a:r>
            <a:endParaRPr lang="en-US" sz="1000" dirty="0"/>
          </a:p>
        </p:txBody>
      </p:sp>
      <p:sp>
        <p:nvSpPr>
          <p:cNvPr id="26" name="teks-128"/>
          <p:cNvSpPr txBox="1"/>
          <p:nvPr/>
        </p:nvSpPr>
        <p:spPr>
          <a:xfrm>
            <a:off x="5852160" y="14356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4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Pengolahan POME</a:t>
            </a:r>
            <a:endParaRPr lang="en-US" sz="900" dirty="0"/>
          </a:p>
        </p:txBody>
      </p:sp>
      <p:sp>
        <p:nvSpPr>
          <p:cNvPr id="27" name="kotak-129"/>
          <p:cNvSpPr txBox="1"/>
          <p:nvPr/>
        </p:nvSpPr>
        <p:spPr>
          <a:xfrm>
            <a:off x="5852160" y="1783080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Penerimaan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 m³ POME/hari, 85 °C, dari fat pit</a:t>
            </a:r>
            <a:endParaRPr lang="en-US" sz="900" dirty="0"/>
          </a:p>
        </p:txBody>
      </p:sp>
      <p:sp>
        <p:nvSpPr>
          <p:cNvPr id="28" name="garis-130"/>
          <p:cNvSpPr/>
          <p:nvPr/>
        </p:nvSpPr>
        <p:spPr>
          <a:xfrm>
            <a:off x="7242048" y="2176272"/>
            <a:ext cx="128016" cy="0"/>
          </a:xfrm>
          <a:prstGeom prst="line">
            <a:avLst/>
          </a:prstGeom>
          <a:noFill/>
          <a:ln w="2222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29" name="kotak-131"/>
          <p:cNvSpPr txBox="1"/>
          <p:nvPr/>
        </p:nvSpPr>
        <p:spPr>
          <a:xfrm>
            <a:off x="7370064" y="1783080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Praolah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saringan, ruang pasir, pendingin ke 55 °C</a:t>
            </a:r>
            <a:endParaRPr lang="en-US" sz="900" dirty="0"/>
          </a:p>
        </p:txBody>
      </p:sp>
      <p:sp>
        <p:nvSpPr>
          <p:cNvPr id="30" name="garis-132"/>
          <p:cNvSpPr/>
          <p:nvPr/>
        </p:nvSpPr>
        <p:spPr>
          <a:xfrm>
            <a:off x="8759952" y="2176272"/>
            <a:ext cx="128016" cy="0"/>
          </a:xfrm>
          <a:prstGeom prst="line">
            <a:avLst/>
          </a:prstGeom>
          <a:noFill/>
          <a:ln w="2222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31" name="kotak-133"/>
          <p:cNvSpPr txBox="1"/>
          <p:nvPr/>
        </p:nvSpPr>
        <p:spPr>
          <a:xfrm>
            <a:off x="8887968" y="1783080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Reaktor kontak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tangki GFS, 55 °C, HRT 5 hari</a:t>
            </a:r>
            <a:endParaRPr lang="en-US" sz="900" dirty="0"/>
          </a:p>
        </p:txBody>
      </p:sp>
      <p:sp>
        <p:nvSpPr>
          <p:cNvPr id="32" name="garis-134"/>
          <p:cNvSpPr/>
          <p:nvPr/>
        </p:nvSpPr>
        <p:spPr>
          <a:xfrm>
            <a:off x="10277856" y="2176272"/>
            <a:ext cx="128016" cy="0"/>
          </a:xfrm>
          <a:prstGeom prst="line">
            <a:avLst/>
          </a:prstGeom>
          <a:noFill/>
          <a:ln w="2222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33" name="kotak-135"/>
          <p:cNvSpPr txBox="1"/>
          <p:nvPr/>
        </p:nvSpPr>
        <p:spPr>
          <a:xfrm>
            <a:off x="10405872" y="1783080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Degasser + settler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lumpur kembali ke reaktor (SRT 12 hari)</a:t>
            </a:r>
            <a:endParaRPr lang="en-US" sz="900" dirty="0"/>
          </a:p>
        </p:txBody>
      </p:sp>
      <p:sp>
        <p:nvSpPr>
          <p:cNvPr id="34" name="garis-136"/>
          <p:cNvSpPr/>
          <p:nvPr/>
        </p:nvSpPr>
        <p:spPr>
          <a:xfrm>
            <a:off x="11100816" y="1655064"/>
            <a:ext cx="0" cy="128016"/>
          </a:xfrm>
          <a:prstGeom prst="line">
            <a:avLst/>
          </a:prstGeom>
          <a:noFill/>
          <a:ln w="19050">
            <a:solidFill>
              <a:srgbClr val="3E8E41"/>
            </a:solidFill>
            <a:prstDash val="solid"/>
          </a:ln>
        </p:spPr>
      </p:sp>
      <p:sp>
        <p:nvSpPr>
          <p:cNvPr id="35" name="garis-137"/>
          <p:cNvSpPr/>
          <p:nvPr/>
        </p:nvSpPr>
        <p:spPr>
          <a:xfrm>
            <a:off x="9582912" y="1655064"/>
            <a:ext cx="1517904" cy="0"/>
          </a:xfrm>
          <a:prstGeom prst="line">
            <a:avLst/>
          </a:prstGeom>
          <a:noFill/>
          <a:ln w="19050">
            <a:solidFill>
              <a:srgbClr val="3E8E41"/>
            </a:solidFill>
            <a:prstDash val="solid"/>
          </a:ln>
        </p:spPr>
      </p:sp>
      <p:sp>
        <p:nvSpPr>
          <p:cNvPr id="36" name="garis-138"/>
          <p:cNvSpPr/>
          <p:nvPr/>
        </p:nvSpPr>
        <p:spPr>
          <a:xfrm>
            <a:off x="9582912" y="1655064"/>
            <a:ext cx="0" cy="128016"/>
          </a:xfrm>
          <a:prstGeom prst="line">
            <a:avLst/>
          </a:prstGeom>
          <a:noFill/>
          <a:ln w="19050">
            <a:solidFill>
              <a:srgbClr val="3E8E41"/>
            </a:solidFill>
            <a:prstDash val="solid"/>
            <a:tailEnd type="triangle"/>
          </a:ln>
        </p:spPr>
      </p:sp>
      <p:sp>
        <p:nvSpPr>
          <p:cNvPr id="37" name="teks-139"/>
          <p:cNvSpPr txBox="1"/>
          <p:nvPr/>
        </p:nvSpPr>
        <p:spPr>
          <a:xfrm>
            <a:off x="9674352" y="14904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resirkulasi 780 m³/hari</a:t>
            </a:r>
            <a:endParaRPr lang="en-US" sz="800" dirty="0"/>
          </a:p>
        </p:txBody>
      </p:sp>
      <p:sp>
        <p:nvSpPr>
          <p:cNvPr id="38" name="garis-140"/>
          <p:cNvSpPr/>
          <p:nvPr/>
        </p:nvSpPr>
        <p:spPr>
          <a:xfrm>
            <a:off x="8065008" y="2569464"/>
            <a:ext cx="0" cy="201168"/>
          </a:xfrm>
          <a:prstGeom prst="line">
            <a:avLst/>
          </a:prstGeom>
          <a:noFill/>
          <a:ln w="1587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9" name="teks-141"/>
          <p:cNvSpPr txBox="1"/>
          <p:nvPr/>
        </p:nvSpPr>
        <p:spPr>
          <a:xfrm>
            <a:off x="7333488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 saringan dan pasir ke PKS</a:t>
            </a:r>
            <a:endParaRPr lang="en-US" sz="800" dirty="0"/>
          </a:p>
        </p:txBody>
      </p:sp>
      <p:sp>
        <p:nvSpPr>
          <p:cNvPr id="40" name="garis-142"/>
          <p:cNvSpPr/>
          <p:nvPr/>
        </p:nvSpPr>
        <p:spPr>
          <a:xfrm>
            <a:off x="11100816" y="2569464"/>
            <a:ext cx="0" cy="201168"/>
          </a:xfrm>
          <a:prstGeom prst="line">
            <a:avLst/>
          </a:prstGeom>
          <a:noFill/>
          <a:ln w="19050">
            <a:solidFill>
              <a:srgbClr val="2B9FC8"/>
            </a:solidFill>
            <a:prstDash val="solid"/>
            <a:tailEnd type="triangle"/>
          </a:ln>
        </p:spPr>
      </p:sp>
      <p:sp>
        <p:nvSpPr>
          <p:cNvPr id="41" name="teks-143"/>
          <p:cNvSpPr txBox="1"/>
          <p:nvPr/>
        </p:nvSpPr>
        <p:spPr>
          <a:xfrm>
            <a:off x="10387584" y="27889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efluen 725 m³/hari ke kolam polishing</a:t>
            </a:r>
            <a:endParaRPr lang="en-US" sz="800" dirty="0"/>
          </a:p>
        </p:txBody>
      </p:sp>
      <p:sp>
        <p:nvSpPr>
          <p:cNvPr id="42" name="teks-144"/>
          <p:cNvSpPr txBox="1"/>
          <p:nvPr/>
        </p:nvSpPr>
        <p:spPr>
          <a:xfrm>
            <a:off x="5852160" y="29992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Biogas menjadi listrik</a:t>
            </a:r>
            <a:endParaRPr lang="en-US" sz="900" dirty="0"/>
          </a:p>
        </p:txBody>
      </p:sp>
      <p:sp>
        <p:nvSpPr>
          <p:cNvPr id="43" name="garis-145"/>
          <p:cNvSpPr/>
          <p:nvPr/>
        </p:nvSpPr>
        <p:spPr>
          <a:xfrm>
            <a:off x="9582912" y="2569464"/>
            <a:ext cx="0" cy="594360"/>
          </a:xfrm>
          <a:prstGeom prst="line">
            <a:avLst/>
          </a:prstGeom>
          <a:noFill/>
          <a:ln w="28575">
            <a:solidFill>
              <a:srgbClr val="E0A526"/>
            </a:solidFill>
            <a:prstDash val="solid"/>
          </a:ln>
        </p:spPr>
      </p:sp>
      <p:sp>
        <p:nvSpPr>
          <p:cNvPr id="44" name="garis-146"/>
          <p:cNvSpPr/>
          <p:nvPr/>
        </p:nvSpPr>
        <p:spPr>
          <a:xfrm>
            <a:off x="6547104" y="3163824"/>
            <a:ext cx="3035808" cy="0"/>
          </a:xfrm>
          <a:prstGeom prst="line">
            <a:avLst/>
          </a:prstGeom>
          <a:noFill/>
          <a:ln w="28575">
            <a:solidFill>
              <a:srgbClr val="E0A526"/>
            </a:solidFill>
            <a:prstDash val="solid"/>
          </a:ln>
        </p:spPr>
      </p:sp>
      <p:sp>
        <p:nvSpPr>
          <p:cNvPr id="45" name="garis-147"/>
          <p:cNvSpPr/>
          <p:nvPr/>
        </p:nvSpPr>
        <p:spPr>
          <a:xfrm>
            <a:off x="6547104" y="3163824"/>
            <a:ext cx="0" cy="146304"/>
          </a:xfrm>
          <a:prstGeom prst="line">
            <a:avLst/>
          </a:prstGeom>
          <a:noFill/>
          <a:ln w="28575">
            <a:solidFill>
              <a:srgbClr val="E0A526"/>
            </a:solidFill>
            <a:prstDash val="solid"/>
            <a:tailEnd type="triangle"/>
          </a:ln>
        </p:spPr>
      </p:sp>
      <p:sp>
        <p:nvSpPr>
          <p:cNvPr id="46" name="teks-148"/>
          <p:cNvSpPr txBox="1"/>
          <p:nvPr/>
        </p:nvSpPr>
        <p:spPr>
          <a:xfrm>
            <a:off x="7644384" y="29992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15.781 Nm³ biogas/hari (CH₄ 58%)</a:t>
            </a:r>
            <a:endParaRPr lang="en-US" sz="800" dirty="0"/>
          </a:p>
        </p:txBody>
      </p:sp>
      <p:sp>
        <p:nvSpPr>
          <p:cNvPr id="47" name="kotak-149"/>
          <p:cNvSpPr txBox="1"/>
          <p:nvPr/>
        </p:nvSpPr>
        <p:spPr>
          <a:xfrm>
            <a:off x="5852160" y="3310128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FFF3CF"/>
          </a:solidFill>
          <a:ln w="15875">
            <a:solidFill>
              <a:srgbClr val="E0A526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Pemurnian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2.868 → 21 ppm (bio-scrubber, karbon aktif)</a:t>
            </a:r>
            <a:endParaRPr lang="en-US" sz="900" dirty="0"/>
          </a:p>
        </p:txBody>
      </p:sp>
      <p:sp>
        <p:nvSpPr>
          <p:cNvPr id="48" name="garis-150"/>
          <p:cNvSpPr/>
          <p:nvPr/>
        </p:nvSpPr>
        <p:spPr>
          <a:xfrm>
            <a:off x="7242048" y="3703320"/>
            <a:ext cx="128016" cy="0"/>
          </a:xfrm>
          <a:prstGeom prst="line">
            <a:avLst/>
          </a:prstGeom>
          <a:noFill/>
          <a:ln w="22225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49" name="kotak-151"/>
          <p:cNvSpPr txBox="1"/>
          <p:nvPr/>
        </p:nvSpPr>
        <p:spPr>
          <a:xfrm>
            <a:off x="7370064" y="3310128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FFF3CF"/>
          </a:solidFill>
          <a:ln w="15875">
            <a:solidFill>
              <a:srgbClr val="E0A526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Penampung gas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 ganda 2 jam; flare tertutup</a:t>
            </a:r>
            <a:endParaRPr lang="en-US" sz="900" dirty="0"/>
          </a:p>
        </p:txBody>
      </p:sp>
      <p:sp>
        <p:nvSpPr>
          <p:cNvPr id="50" name="garis-152"/>
          <p:cNvSpPr/>
          <p:nvPr/>
        </p:nvSpPr>
        <p:spPr>
          <a:xfrm>
            <a:off x="8759952" y="3703320"/>
            <a:ext cx="128016" cy="0"/>
          </a:xfrm>
          <a:prstGeom prst="line">
            <a:avLst/>
          </a:prstGeom>
          <a:noFill/>
          <a:ln w="22225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51" name="kotak-153"/>
          <p:cNvSpPr txBox="1"/>
          <p:nvPr/>
        </p:nvSpPr>
        <p:spPr>
          <a:xfrm>
            <a:off x="8887968" y="3310128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FFF3CF"/>
          </a:solidFill>
          <a:ln w="15875">
            <a:solidFill>
              <a:srgbClr val="E0A526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Genset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800 kWe, efisiensi listrik 39,3%</a:t>
            </a:r>
            <a:endParaRPr lang="en-US" sz="900" dirty="0"/>
          </a:p>
        </p:txBody>
      </p:sp>
      <p:sp>
        <p:nvSpPr>
          <p:cNvPr id="52" name="garis-154"/>
          <p:cNvSpPr/>
          <p:nvPr/>
        </p:nvSpPr>
        <p:spPr>
          <a:xfrm>
            <a:off x="10277856" y="3703320"/>
            <a:ext cx="128016" cy="0"/>
          </a:xfrm>
          <a:prstGeom prst="line">
            <a:avLst/>
          </a:prstGeom>
          <a:noFill/>
          <a:ln w="22225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53" name="kotak-155"/>
          <p:cNvSpPr txBox="1"/>
          <p:nvPr/>
        </p:nvSpPr>
        <p:spPr>
          <a:xfrm>
            <a:off x="10405872" y="3310128"/>
            <a:ext cx="1389888" cy="786384"/>
          </a:xfrm>
          <a:prstGeom prst="roundRect">
            <a:avLst>
              <a:gd name="adj" fmla="val 6977"/>
            </a:avLst>
          </a:prstGeom>
          <a:solidFill>
            <a:srgbClr val="FFF3CF"/>
          </a:solidFill>
          <a:ln w="15875">
            <a:solidFill>
              <a:srgbClr val="E0A526"/>
            </a:solidFill>
          </a:ln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Listrik dan panas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kV ke PKS dan PLN; panas ke reaktor</a:t>
            </a:r>
            <a:endParaRPr lang="en-US" sz="900" dirty="0"/>
          </a:p>
        </p:txBody>
      </p:sp>
      <p:sp>
        <p:nvSpPr>
          <p:cNvPr id="54" name="garis-156"/>
          <p:cNvSpPr/>
          <p:nvPr/>
        </p:nvSpPr>
        <p:spPr>
          <a:xfrm>
            <a:off x="11100816" y="4096512"/>
            <a:ext cx="0" cy="246888"/>
          </a:xfrm>
          <a:prstGeom prst="line">
            <a:avLst/>
          </a:prstGeom>
          <a:noFill/>
          <a:ln w="15875">
            <a:solidFill>
              <a:srgbClr val="0C2464"/>
            </a:solidFill>
            <a:prstDash val="solid"/>
          </a:ln>
        </p:spPr>
      </p:sp>
      <p:sp>
        <p:nvSpPr>
          <p:cNvPr id="55" name="garis-157"/>
          <p:cNvSpPr/>
          <p:nvPr/>
        </p:nvSpPr>
        <p:spPr>
          <a:xfrm>
            <a:off x="6560820" y="4343400"/>
            <a:ext cx="4539996" cy="0"/>
          </a:xfrm>
          <a:prstGeom prst="line">
            <a:avLst/>
          </a:prstGeom>
          <a:noFill/>
          <a:ln w="15875">
            <a:solidFill>
              <a:srgbClr val="0C2464"/>
            </a:solidFill>
            <a:prstDash val="solid"/>
          </a:ln>
        </p:spPr>
      </p:sp>
      <p:sp>
        <p:nvSpPr>
          <p:cNvPr id="56" name="garis-158"/>
          <p:cNvSpPr/>
          <p:nvPr/>
        </p:nvSpPr>
        <p:spPr>
          <a:xfrm>
            <a:off x="6560820" y="4343400"/>
            <a:ext cx="0" cy="91440"/>
          </a:xfrm>
          <a:prstGeom prst="line">
            <a:avLst/>
          </a:prstGeom>
          <a:noFill/>
          <a:ln w="1587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57" name="kotak-159"/>
          <p:cNvSpPr txBox="1"/>
          <p:nvPr/>
        </p:nvSpPr>
        <p:spPr>
          <a:xfrm>
            <a:off x="5852160" y="44348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Listrik ke PKS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 GWh/tahun, menggantikan solar</a:t>
            </a:r>
            <a:endParaRPr lang="en-US" sz="900" dirty="0"/>
          </a:p>
        </p:txBody>
      </p:sp>
      <p:sp>
        <p:nvSpPr>
          <p:cNvPr id="58" name="garis-160"/>
          <p:cNvSpPr/>
          <p:nvPr/>
        </p:nvSpPr>
        <p:spPr>
          <a:xfrm>
            <a:off x="8069580" y="4343400"/>
            <a:ext cx="0" cy="91440"/>
          </a:xfrm>
          <a:prstGeom prst="line">
            <a:avLst/>
          </a:prstGeom>
          <a:noFill/>
          <a:ln w="1587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59" name="kotak-161"/>
          <p:cNvSpPr txBox="1"/>
          <p:nvPr/>
        </p:nvSpPr>
        <p:spPr>
          <a:xfrm>
            <a:off x="7360920" y="44348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ke PLN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 GWh/tahun, 9,81 USc/kWh</a:t>
            </a:r>
            <a:endParaRPr lang="en-US" sz="900" dirty="0"/>
          </a:p>
        </p:txBody>
      </p:sp>
      <p:sp>
        <p:nvSpPr>
          <p:cNvPr id="60" name="garis-162"/>
          <p:cNvSpPr/>
          <p:nvPr/>
        </p:nvSpPr>
        <p:spPr>
          <a:xfrm>
            <a:off x="9578340" y="4343400"/>
            <a:ext cx="0" cy="91440"/>
          </a:xfrm>
          <a:prstGeom prst="line">
            <a:avLst/>
          </a:prstGeom>
          <a:noFill/>
          <a:ln w="1587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61" name="kotak-163"/>
          <p:cNvSpPr txBox="1"/>
          <p:nvPr/>
        </p:nvSpPr>
        <p:spPr>
          <a:xfrm>
            <a:off x="8869680" y="44348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 karbon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ribu tCO₂e/tahun</a:t>
            </a:r>
            <a:endParaRPr lang="en-US" sz="900" dirty="0"/>
          </a:p>
        </p:txBody>
      </p:sp>
      <p:sp>
        <p:nvSpPr>
          <p:cNvPr id="62" name="garis-164"/>
          <p:cNvSpPr/>
          <p:nvPr/>
        </p:nvSpPr>
        <p:spPr>
          <a:xfrm>
            <a:off x="11087100" y="4343400"/>
            <a:ext cx="0" cy="91440"/>
          </a:xfrm>
          <a:prstGeom prst="line">
            <a:avLst/>
          </a:prstGeom>
          <a:noFill/>
          <a:ln w="15875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63" name="kotak-165"/>
          <p:cNvSpPr txBox="1"/>
          <p:nvPr/>
        </p:nvSpPr>
        <p:spPr>
          <a:xfrm>
            <a:off x="10378440" y="44348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Jasa pengolahan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1,25 per t TBS</a:t>
            </a:r>
            <a:endParaRPr lang="en-US" sz="900" dirty="0"/>
          </a:p>
        </p:txBody>
      </p:sp>
      <p:sp>
        <p:nvSpPr>
          <p:cNvPr id="64" name="kotak-166"/>
          <p:cNvSpPr txBox="1"/>
          <p:nvPr/>
        </p:nvSpPr>
        <p:spPr>
          <a:xfrm>
            <a:off x="5852160" y="5074920"/>
            <a:ext cx="2903220" cy="228600"/>
          </a:xfrm>
          <a:prstGeom prst="roundRect">
            <a:avLst>
              <a:gd name="adj" fmla="val 16000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dan nilai</a:t>
            </a:r>
            <a:endParaRPr lang="en-US" sz="950" dirty="0"/>
          </a:p>
        </p:txBody>
      </p:sp>
      <p:sp>
        <p:nvSpPr>
          <p:cNvPr id="65" name="kotak-167"/>
          <p:cNvSpPr txBox="1"/>
          <p:nvPr/>
        </p:nvSpPr>
        <p:spPr>
          <a:xfrm>
            <a:off x="8892540" y="5074920"/>
            <a:ext cx="2903220" cy="228600"/>
          </a:xfrm>
          <a:prstGeom prst="roundRect">
            <a:avLst>
              <a:gd name="adj" fmla="val 16000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Pembeda dari praktik saat ini</a:t>
            </a:r>
            <a:endParaRPr lang="en-US" sz="950" dirty="0"/>
          </a:p>
        </p:txBody>
      </p:sp>
      <p:sp>
        <p:nvSpPr>
          <p:cNvPr id="66" name="kotak-168"/>
          <p:cNvSpPr/>
          <p:nvPr/>
        </p:nvSpPr>
        <p:spPr>
          <a:xfrm>
            <a:off x="5852160" y="5303520"/>
            <a:ext cx="2903220" cy="658368"/>
          </a:xfrm>
          <a:prstGeom prst="roundRect">
            <a:avLst>
              <a:gd name="adj" fmla="val 6944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67" name="kotak-169"/>
          <p:cNvSpPr/>
          <p:nvPr/>
        </p:nvSpPr>
        <p:spPr>
          <a:xfrm>
            <a:off x="8892540" y="5303520"/>
            <a:ext cx="2903220" cy="658368"/>
          </a:xfrm>
          <a:prstGeom prst="roundRect">
            <a:avLst>
              <a:gd name="adj" fmla="val 6944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68" name="teks-170"/>
          <p:cNvSpPr txBox="1"/>
          <p:nvPr/>
        </p:nvSpPr>
        <p:spPr>
          <a:xfrm>
            <a:off x="5925312" y="5340096"/>
            <a:ext cx="27569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45–60 t TBS/jam, solar tergantikan ≥ 2,0 L/t TBS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bayar USD 3,00 vs 3,14/t TBS bila memakai kolam</a:t>
            </a:r>
            <a:endParaRPr lang="en-US" sz="900" dirty="0"/>
          </a:p>
        </p:txBody>
      </p:sp>
      <p:sp>
        <p:nvSpPr>
          <p:cNvPr id="69" name="teks-171"/>
          <p:cNvSpPr txBox="1"/>
          <p:nvPr/>
        </p:nvSpPr>
        <p:spPr>
          <a:xfrm>
            <a:off x="8965692" y="5340096"/>
            <a:ext cx="27569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Layanan, bukan proyek: operator menjamin kinerja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 5 hari (kolam tertutup 25–40 hari), plot 0,38–0,5 ha</a:t>
            </a:r>
            <a:endParaRPr lang="en-US" sz="900" dirty="0"/>
          </a:p>
        </p:txBody>
      </p:sp>
      <p:sp>
        <p:nvSpPr>
          <p:cNvPr id="70" name="kotak-172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71" name="kotak-173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ini menukar proyek rekayasa sekali jadi dengan layanan modular: modal PKS nol, reaktor 5 hari, dan set yang dapat dipindah bila PKS berhenti beroperasi.</a:t>
            </a:r>
            <a:endParaRPr lang="en-US" sz="950" dirty="0"/>
          </a:p>
        </p:txBody>
      </p:sp>
      <p:sp>
        <p:nvSpPr>
          <p:cNvPr id="72" name="teks-174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GFS baja berlapis kaca; HRT/SRT waktu tinggal hidraulik/lumpur; FCI biaya modal tetap; NPV nilai kini neto; PKS pabrik kelapa sawit.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neraca proses Rev 2 (process/outputs/results.json; aliran 60 t/jam = modul acuan × 4/3); Model Keputusan PKS; model 3D tim; research/R3, R6.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Neraca massa dan energi menutup: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 m³ POME per hari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menghasilkan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11.836 Nm³ biogas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 GWh listrik neto per tahun</a:t>
            </a:r>
            <a:endParaRPr lang="en-US" sz="1900" dirty="0"/>
          </a:p>
        </p:txBody>
      </p:sp>
      <p:sp>
        <p:nvSpPr>
          <p:cNvPr id="3" name="kotak-175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176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177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178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179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180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181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182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kotak-183"/>
          <p:cNvSpPr/>
          <p:nvPr/>
        </p:nvSpPr>
        <p:spPr>
          <a:xfrm>
            <a:off x="411480" y="114300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13" name="teks-184"/>
          <p:cNvSpPr txBox="1"/>
          <p:nvPr/>
        </p:nvSpPr>
        <p:spPr>
          <a:xfrm>
            <a:off x="466344" y="1161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Suhu</a:t>
            </a:r>
            <a:endParaRPr lang="en-US" sz="750" dirty="0"/>
          </a:p>
        </p:txBody>
      </p:sp>
      <p:sp>
        <p:nvSpPr>
          <p:cNvPr id="14" name="teks-185"/>
          <p:cNvSpPr txBox="1"/>
          <p:nvPr/>
        </p:nvSpPr>
        <p:spPr>
          <a:xfrm>
            <a:off x="466344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°C</a:t>
            </a:r>
            <a:endParaRPr lang="en-US" sz="950" dirty="0"/>
          </a:p>
        </p:txBody>
      </p:sp>
      <p:sp>
        <p:nvSpPr>
          <p:cNvPr id="15" name="kotak-186"/>
          <p:cNvSpPr/>
          <p:nvPr/>
        </p:nvSpPr>
        <p:spPr>
          <a:xfrm>
            <a:off x="1709928" y="114300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16" name="teks-187"/>
          <p:cNvSpPr txBox="1"/>
          <p:nvPr/>
        </p:nvSpPr>
        <p:spPr>
          <a:xfrm>
            <a:off x="1764792" y="1161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HRT / SRT</a:t>
            </a:r>
            <a:endParaRPr lang="en-US" sz="750" dirty="0"/>
          </a:p>
        </p:txBody>
      </p:sp>
      <p:sp>
        <p:nvSpPr>
          <p:cNvPr id="17" name="teks-188"/>
          <p:cNvSpPr txBox="1"/>
          <p:nvPr/>
        </p:nvSpPr>
        <p:spPr>
          <a:xfrm>
            <a:off x="1764792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 / 12 hari</a:t>
            </a:r>
            <a:endParaRPr lang="en-US" sz="950" dirty="0"/>
          </a:p>
        </p:txBody>
      </p:sp>
      <p:sp>
        <p:nvSpPr>
          <p:cNvPr id="18" name="kotak-189"/>
          <p:cNvSpPr/>
          <p:nvPr/>
        </p:nvSpPr>
        <p:spPr>
          <a:xfrm>
            <a:off x="3008376" y="114300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19" name="teks-190"/>
          <p:cNvSpPr txBox="1"/>
          <p:nvPr/>
        </p:nvSpPr>
        <p:spPr>
          <a:xfrm>
            <a:off x="3063240" y="1161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OLR</a:t>
            </a:r>
            <a:endParaRPr lang="en-US" sz="750" dirty="0"/>
          </a:p>
        </p:txBody>
      </p:sp>
      <p:sp>
        <p:nvSpPr>
          <p:cNvPr id="20" name="teks-191"/>
          <p:cNvSpPr txBox="1"/>
          <p:nvPr/>
        </p:nvSpPr>
        <p:spPr>
          <a:xfrm>
            <a:off x="3063240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 kg COD/m³·hari</a:t>
            </a:r>
            <a:endParaRPr lang="en-US" sz="950" dirty="0"/>
          </a:p>
        </p:txBody>
      </p:sp>
      <p:sp>
        <p:nvSpPr>
          <p:cNvPr id="21" name="kotak-192"/>
          <p:cNvSpPr/>
          <p:nvPr/>
        </p:nvSpPr>
        <p:spPr>
          <a:xfrm>
            <a:off x="4306824" y="114300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22" name="teks-193"/>
          <p:cNvSpPr txBox="1"/>
          <p:nvPr/>
        </p:nvSpPr>
        <p:spPr>
          <a:xfrm>
            <a:off x="4361688" y="1161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umpan</a:t>
            </a:r>
            <a:endParaRPr lang="en-US" sz="750" dirty="0"/>
          </a:p>
        </p:txBody>
      </p:sp>
      <p:sp>
        <p:nvSpPr>
          <p:cNvPr id="23" name="teks-194"/>
          <p:cNvSpPr txBox="1"/>
          <p:nvPr/>
        </p:nvSpPr>
        <p:spPr>
          <a:xfrm>
            <a:off x="4361688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49,7 g/L</a:t>
            </a:r>
            <a:endParaRPr lang="en-US" sz="950" dirty="0"/>
          </a:p>
        </p:txBody>
      </p:sp>
      <p:sp>
        <p:nvSpPr>
          <p:cNvPr id="24" name="kotak-195"/>
          <p:cNvSpPr/>
          <p:nvPr/>
        </p:nvSpPr>
        <p:spPr>
          <a:xfrm>
            <a:off x="5605272" y="114300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25" name="teks-196"/>
          <p:cNvSpPr txBox="1"/>
          <p:nvPr/>
        </p:nvSpPr>
        <p:spPr>
          <a:xfrm>
            <a:off x="5660136" y="1161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Penyisihan COD</a:t>
            </a:r>
            <a:endParaRPr lang="en-US" sz="750" dirty="0"/>
          </a:p>
        </p:txBody>
      </p:sp>
      <p:sp>
        <p:nvSpPr>
          <p:cNvPr id="26" name="teks-197"/>
          <p:cNvSpPr txBox="1"/>
          <p:nvPr/>
        </p:nvSpPr>
        <p:spPr>
          <a:xfrm>
            <a:off x="5660136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50" dirty="0"/>
          </a:p>
        </p:txBody>
      </p:sp>
      <p:sp>
        <p:nvSpPr>
          <p:cNvPr id="27" name="kotak-198"/>
          <p:cNvSpPr/>
          <p:nvPr/>
        </p:nvSpPr>
        <p:spPr>
          <a:xfrm>
            <a:off x="6903720" y="114300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28" name="teks-199"/>
          <p:cNvSpPr txBox="1"/>
          <p:nvPr/>
        </p:nvSpPr>
        <p:spPr>
          <a:xfrm>
            <a:off x="6958584" y="1161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Reaktor</a:t>
            </a:r>
            <a:endParaRPr lang="en-US" sz="750" dirty="0"/>
          </a:p>
        </p:txBody>
      </p:sp>
      <p:sp>
        <p:nvSpPr>
          <p:cNvPr id="29" name="teks-200"/>
          <p:cNvSpPr txBox="1"/>
          <p:nvPr/>
        </p:nvSpPr>
        <p:spPr>
          <a:xfrm>
            <a:off x="6958584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980 m³</a:t>
            </a:r>
            <a:endParaRPr lang="en-US" sz="950" dirty="0"/>
          </a:p>
        </p:txBody>
      </p:sp>
      <p:sp>
        <p:nvSpPr>
          <p:cNvPr id="30" name="kotak-201"/>
          <p:cNvSpPr txBox="1"/>
          <p:nvPr/>
        </p:nvSpPr>
        <p:spPr>
          <a:xfrm>
            <a:off x="411480" y="1572768"/>
            <a:ext cx="768096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Neraca massa nameplate, modul acuan 45 t TBS/jam (kg/jam)</a:t>
            </a:r>
            <a:endParaRPr lang="en-US" sz="950" dirty="0"/>
          </a:p>
        </p:txBody>
      </p:sp>
      <p:sp>
        <p:nvSpPr>
          <p:cNvPr id="31" name="kotak-202"/>
          <p:cNvSpPr txBox="1"/>
          <p:nvPr/>
        </p:nvSpPr>
        <p:spPr>
          <a:xfrm>
            <a:off x="411480" y="2029968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 mentah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°C · 24.375</a:t>
            </a:r>
            <a:endParaRPr lang="en-US" sz="900" dirty="0"/>
          </a:p>
        </p:txBody>
      </p:sp>
      <p:sp>
        <p:nvSpPr>
          <p:cNvPr id="32" name="kotak-203"/>
          <p:cNvSpPr txBox="1"/>
          <p:nvPr/>
        </p:nvSpPr>
        <p:spPr>
          <a:xfrm>
            <a:off x="2423160" y="2029968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Praolah + pendingin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saringan, ruang pasir, 85 → 55 °C</a:t>
            </a:r>
            <a:endParaRPr lang="en-US" sz="900" dirty="0"/>
          </a:p>
        </p:txBody>
      </p:sp>
      <p:sp>
        <p:nvSpPr>
          <p:cNvPr id="33" name="kotak-204"/>
          <p:cNvSpPr txBox="1"/>
          <p:nvPr/>
        </p:nvSpPr>
        <p:spPr>
          <a:xfrm>
            <a:off x="4434840" y="2029968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Reaktor + degasser + settler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tangki GFS 55 °C</a:t>
            </a:r>
            <a:endParaRPr lang="en-US" sz="900" dirty="0"/>
          </a:p>
        </p:txBody>
      </p:sp>
      <p:sp>
        <p:nvSpPr>
          <p:cNvPr id="34" name="kotak-205"/>
          <p:cNvSpPr txBox="1"/>
          <p:nvPr/>
        </p:nvSpPr>
        <p:spPr>
          <a:xfrm>
            <a:off x="6446520" y="2029968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Efluen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kolam polishing</a:t>
            </a:r>
            <a:endParaRPr lang="en-US" sz="900" dirty="0"/>
          </a:p>
        </p:txBody>
      </p:sp>
      <p:sp>
        <p:nvSpPr>
          <p:cNvPr id="35" name="garis-206"/>
          <p:cNvSpPr/>
          <p:nvPr/>
        </p:nvSpPr>
        <p:spPr>
          <a:xfrm>
            <a:off x="2057400" y="2313432"/>
            <a:ext cx="36576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36" name="teks-207"/>
          <p:cNvSpPr txBox="1"/>
          <p:nvPr/>
        </p:nvSpPr>
        <p:spPr>
          <a:xfrm>
            <a:off x="2057400" y="206654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24.375</a:t>
            </a:r>
            <a:endParaRPr lang="en-US" sz="800" dirty="0"/>
          </a:p>
        </p:txBody>
      </p:sp>
      <p:sp>
        <p:nvSpPr>
          <p:cNvPr id="37" name="garis-208"/>
          <p:cNvSpPr/>
          <p:nvPr/>
        </p:nvSpPr>
        <p:spPr>
          <a:xfrm>
            <a:off x="4069080" y="2313432"/>
            <a:ext cx="36576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38" name="teks-209"/>
          <p:cNvSpPr txBox="1"/>
          <p:nvPr/>
        </p:nvSpPr>
        <p:spPr>
          <a:xfrm>
            <a:off x="4069080" y="206654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24.129</a:t>
            </a:r>
            <a:endParaRPr lang="en-US" sz="800" dirty="0"/>
          </a:p>
        </p:txBody>
      </p:sp>
      <p:sp>
        <p:nvSpPr>
          <p:cNvPr id="39" name="garis-210"/>
          <p:cNvSpPr/>
          <p:nvPr/>
        </p:nvSpPr>
        <p:spPr>
          <a:xfrm>
            <a:off x="6080760" y="2313432"/>
            <a:ext cx="36576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40" name="teks-211"/>
          <p:cNvSpPr txBox="1"/>
          <p:nvPr/>
        </p:nvSpPr>
        <p:spPr>
          <a:xfrm>
            <a:off x="6080760" y="206654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22.664</a:t>
            </a:r>
            <a:endParaRPr lang="en-US" sz="800" dirty="0"/>
          </a:p>
        </p:txBody>
      </p:sp>
      <p:sp>
        <p:nvSpPr>
          <p:cNvPr id="41" name="garis-212"/>
          <p:cNvSpPr/>
          <p:nvPr/>
        </p:nvSpPr>
        <p:spPr>
          <a:xfrm>
            <a:off x="5852160" y="1911096"/>
            <a:ext cx="0" cy="118872"/>
          </a:xfrm>
          <a:prstGeom prst="line">
            <a:avLst/>
          </a:prstGeom>
          <a:noFill/>
          <a:ln w="19050">
            <a:solidFill>
              <a:srgbClr val="3E8E41"/>
            </a:solidFill>
            <a:prstDash val="solid"/>
          </a:ln>
        </p:spPr>
      </p:sp>
      <p:sp>
        <p:nvSpPr>
          <p:cNvPr id="42" name="garis-213"/>
          <p:cNvSpPr/>
          <p:nvPr/>
        </p:nvSpPr>
        <p:spPr>
          <a:xfrm>
            <a:off x="4709160" y="1911096"/>
            <a:ext cx="1143000" cy="0"/>
          </a:xfrm>
          <a:prstGeom prst="line">
            <a:avLst/>
          </a:prstGeom>
          <a:noFill/>
          <a:ln w="19050">
            <a:solidFill>
              <a:srgbClr val="3E8E41"/>
            </a:solidFill>
            <a:prstDash val="solid"/>
          </a:ln>
        </p:spPr>
      </p:sp>
      <p:sp>
        <p:nvSpPr>
          <p:cNvPr id="43" name="garis-214"/>
          <p:cNvSpPr/>
          <p:nvPr/>
        </p:nvSpPr>
        <p:spPr>
          <a:xfrm>
            <a:off x="4709160" y="1911096"/>
            <a:ext cx="0" cy="118872"/>
          </a:xfrm>
          <a:prstGeom prst="line">
            <a:avLst/>
          </a:prstGeom>
          <a:noFill/>
          <a:ln w="19050">
            <a:solidFill>
              <a:srgbClr val="3E8E41"/>
            </a:solidFill>
            <a:prstDash val="solid"/>
            <a:tailEnd type="triangle"/>
          </a:ln>
        </p:spPr>
      </p:sp>
      <p:sp>
        <p:nvSpPr>
          <p:cNvPr id="44" name="teks-215"/>
          <p:cNvSpPr txBox="1"/>
          <p:nvPr/>
        </p:nvSpPr>
        <p:spPr>
          <a:xfrm>
            <a:off x="4846320" y="189280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resirkulasi lumpur 24.127</a:t>
            </a:r>
            <a:endParaRPr lang="en-US" sz="750" dirty="0"/>
          </a:p>
        </p:txBody>
      </p:sp>
      <p:sp>
        <p:nvSpPr>
          <p:cNvPr id="45" name="garis-216"/>
          <p:cNvSpPr/>
          <p:nvPr/>
        </p:nvSpPr>
        <p:spPr>
          <a:xfrm>
            <a:off x="2880360" y="2596896"/>
            <a:ext cx="0" cy="22860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46" name="teks-217"/>
          <p:cNvSpPr txBox="1"/>
          <p:nvPr/>
        </p:nvSpPr>
        <p:spPr>
          <a:xfrm>
            <a:off x="2011680" y="265176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 246</a:t>
            </a:r>
            <a:endParaRPr lang="en-US" sz="750" dirty="0"/>
          </a:p>
        </p:txBody>
      </p:sp>
      <p:sp>
        <p:nvSpPr>
          <p:cNvPr id="47" name="garis-218"/>
          <p:cNvSpPr/>
          <p:nvPr/>
        </p:nvSpPr>
        <p:spPr>
          <a:xfrm>
            <a:off x="4526280" y="2596896"/>
            <a:ext cx="0" cy="484632"/>
          </a:xfrm>
          <a:prstGeom prst="line">
            <a:avLst/>
          </a:prstGeom>
          <a:noFill/>
          <a:ln w="19050">
            <a:solidFill>
              <a:srgbClr val="7A5C3A"/>
            </a:solidFill>
            <a:prstDash val="solid"/>
          </a:ln>
        </p:spPr>
      </p:sp>
      <p:sp>
        <p:nvSpPr>
          <p:cNvPr id="48" name="garis-219"/>
          <p:cNvSpPr/>
          <p:nvPr/>
        </p:nvSpPr>
        <p:spPr>
          <a:xfrm>
            <a:off x="4069080" y="3081528"/>
            <a:ext cx="457200" cy="0"/>
          </a:xfrm>
          <a:prstGeom prst="line">
            <a:avLst/>
          </a:prstGeom>
          <a:noFill/>
          <a:ln w="19050">
            <a:solidFill>
              <a:srgbClr val="7A5C3A"/>
            </a:solidFill>
            <a:prstDash val="solid"/>
            <a:headEnd type="triangle"/>
          </a:ln>
        </p:spPr>
      </p:sp>
      <p:sp>
        <p:nvSpPr>
          <p:cNvPr id="49" name="teks-220"/>
          <p:cNvSpPr txBox="1"/>
          <p:nvPr/>
        </p:nvSpPr>
        <p:spPr>
          <a:xfrm>
            <a:off x="2971800" y="265176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lumpur buangan 4.531</a:t>
            </a:r>
            <a:endParaRPr lang="en-US" sz="750" dirty="0"/>
          </a:p>
        </p:txBody>
      </p:sp>
      <p:sp>
        <p:nvSpPr>
          <p:cNvPr id="50" name="kotak-221"/>
          <p:cNvSpPr txBox="1"/>
          <p:nvPr/>
        </p:nvSpPr>
        <p:spPr>
          <a:xfrm>
            <a:off x="2423160" y="285292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9525">
            <a:solidFill>
              <a:srgbClr val="BFD6E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press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 785 + filtrat 3.746</a:t>
            </a:r>
            <a:endParaRPr lang="en-US" sz="900" dirty="0"/>
          </a:p>
        </p:txBody>
      </p:sp>
      <p:sp>
        <p:nvSpPr>
          <p:cNvPr id="51" name="garis-222"/>
          <p:cNvSpPr/>
          <p:nvPr/>
        </p:nvSpPr>
        <p:spPr>
          <a:xfrm>
            <a:off x="5303520" y="2596896"/>
            <a:ext cx="0" cy="256032"/>
          </a:xfrm>
          <a:prstGeom prst="line">
            <a:avLst/>
          </a:prstGeom>
          <a:noFill/>
          <a:ln w="25400">
            <a:solidFill>
              <a:srgbClr val="E0A526"/>
            </a:solidFill>
            <a:prstDash val="solid"/>
            <a:tailEnd type="triangle"/>
          </a:ln>
        </p:spPr>
      </p:sp>
      <p:sp>
        <p:nvSpPr>
          <p:cNvPr id="52" name="teks-223"/>
          <p:cNvSpPr txBox="1"/>
          <p:nvPr/>
        </p:nvSpPr>
        <p:spPr>
          <a:xfrm>
            <a:off x="5349240" y="26517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biogas 681</a:t>
            </a:r>
            <a:endParaRPr lang="en-US" sz="750" dirty="0"/>
          </a:p>
        </p:txBody>
      </p:sp>
      <p:sp>
        <p:nvSpPr>
          <p:cNvPr id="53" name="kotak-224"/>
          <p:cNvSpPr txBox="1"/>
          <p:nvPr/>
        </p:nvSpPr>
        <p:spPr>
          <a:xfrm>
            <a:off x="4617720" y="285292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3CF"/>
          </a:solidFill>
          <a:ln w="9525">
            <a:solidFill>
              <a:srgbClr val="E0A526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Pemurnian biogas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616 kg/jam (buang 72)</a:t>
            </a:r>
            <a:endParaRPr lang="en-US" sz="900" dirty="0"/>
          </a:p>
        </p:txBody>
      </p:sp>
      <p:sp>
        <p:nvSpPr>
          <p:cNvPr id="54" name="garis-225"/>
          <p:cNvSpPr/>
          <p:nvPr/>
        </p:nvSpPr>
        <p:spPr>
          <a:xfrm>
            <a:off x="6263640" y="3081528"/>
            <a:ext cx="182880" cy="0"/>
          </a:xfrm>
          <a:prstGeom prst="line">
            <a:avLst/>
          </a:prstGeom>
          <a:noFill/>
          <a:ln w="22225">
            <a:solidFill>
              <a:srgbClr val="9A6A00"/>
            </a:solidFill>
            <a:prstDash val="solid"/>
            <a:tailEnd type="triangle"/>
          </a:ln>
        </p:spPr>
      </p:sp>
      <p:sp>
        <p:nvSpPr>
          <p:cNvPr id="55" name="kotak-226"/>
          <p:cNvSpPr txBox="1"/>
          <p:nvPr/>
        </p:nvSpPr>
        <p:spPr>
          <a:xfrm>
            <a:off x="6446520" y="285292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3CF"/>
          </a:solidFill>
          <a:ln w="9525">
            <a:solidFill>
              <a:srgbClr val="E0A526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 2 × 600 kWe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buang 6.988 (150 °C)</a:t>
            </a:r>
            <a:endParaRPr lang="en-US" sz="900" dirty="0"/>
          </a:p>
        </p:txBody>
      </p:sp>
      <p:sp>
        <p:nvSpPr>
          <p:cNvPr id="56" name="garis-227"/>
          <p:cNvSpPr/>
          <p:nvPr/>
        </p:nvSpPr>
        <p:spPr>
          <a:xfrm>
            <a:off x="7772400" y="2670048"/>
            <a:ext cx="0" cy="18288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57" name="teks-228"/>
          <p:cNvSpPr txBox="1"/>
          <p:nvPr/>
        </p:nvSpPr>
        <p:spPr>
          <a:xfrm>
            <a:off x="6812280" y="26517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6.372</a:t>
            </a:r>
            <a:endParaRPr lang="en-US" sz="750" dirty="0"/>
          </a:p>
        </p:txBody>
      </p:sp>
      <p:sp>
        <p:nvSpPr>
          <p:cNvPr id="58" name="teks-229"/>
          <p:cNvSpPr txBox="1"/>
          <p:nvPr/>
        </p:nvSpPr>
        <p:spPr>
          <a:xfrm>
            <a:off x="411480" y="34015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masuk 30.756 = Σ keluar 30.755 kg/jam</a:t>
            </a:r>
            <a:pPr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(galat 0,0002%; neraca unsur C, H, O, N, S &lt; 10⁻⁴)</a:t>
            </a:r>
            <a:endParaRPr lang="en-US" sz="850" dirty="0"/>
          </a:p>
        </p:txBody>
      </p:sp>
      <p:sp>
        <p:nvSpPr>
          <p:cNvPr id="59" name="kotak-230"/>
          <p:cNvSpPr txBox="1"/>
          <p:nvPr/>
        </p:nvSpPr>
        <p:spPr>
          <a:xfrm>
            <a:off x="8275320" y="1143000"/>
            <a:ext cx="352044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limbah ke kWh (per hari nameplate)</a:t>
            </a:r>
            <a:endParaRPr lang="en-US" sz="950" dirty="0"/>
          </a:p>
        </p:txBody>
      </p:sp>
      <p:sp>
        <p:nvSpPr>
          <p:cNvPr id="60" name="kotak-231"/>
          <p:cNvSpPr txBox="1"/>
          <p:nvPr/>
        </p:nvSpPr>
        <p:spPr>
          <a:xfrm>
            <a:off x="8275320" y="1417320"/>
            <a:ext cx="3520440" cy="352044"/>
          </a:xfrm>
          <a:prstGeom prst="roundRect">
            <a:avLst>
              <a:gd name="adj" fmla="val 10390"/>
            </a:avLst>
          </a:prstGeom>
          <a:solidFill>
            <a:srgbClr val="EAF4FB"/>
          </a:solidFill>
          <a:ln w="9525">
            <a:solidFill>
              <a:srgbClr val="BFD6E8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 m³ POME</a:t>
            </a:r>
            <a:endParaRPr lang="en-US" sz="90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29,1 t/hari (49,7 g/L)</a:t>
            </a:r>
            <a:endParaRPr lang="en-US" sz="900" dirty="0"/>
          </a:p>
        </p:txBody>
      </p:sp>
      <p:sp>
        <p:nvSpPr>
          <p:cNvPr id="61" name="kotak-232"/>
          <p:cNvSpPr txBox="1"/>
          <p:nvPr/>
        </p:nvSpPr>
        <p:spPr>
          <a:xfrm>
            <a:off x="8275320" y="1783080"/>
            <a:ext cx="3520440" cy="352044"/>
          </a:xfrm>
          <a:prstGeom prst="roundRect">
            <a:avLst>
              <a:gd name="adj" fmla="val 10390"/>
            </a:avLst>
          </a:prstGeom>
          <a:solidFill>
            <a:srgbClr val="EAF4FB"/>
          </a:solidFill>
          <a:ln w="9525">
            <a:solidFill>
              <a:srgbClr val="BFD6E8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11.836 Nm³ biogas</a:t>
            </a:r>
            <a:endParaRPr lang="en-US" sz="90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 Nm³ per m³ POME; CH₄ 58%</a:t>
            </a:r>
            <a:endParaRPr lang="en-US" sz="900" dirty="0"/>
          </a:p>
        </p:txBody>
      </p:sp>
      <p:sp>
        <p:nvSpPr>
          <p:cNvPr id="62" name="kotak-233"/>
          <p:cNvSpPr txBox="1"/>
          <p:nvPr/>
        </p:nvSpPr>
        <p:spPr>
          <a:xfrm>
            <a:off x="8275320" y="2148840"/>
            <a:ext cx="3520440" cy="352044"/>
          </a:xfrm>
          <a:prstGeom prst="roundRect">
            <a:avLst>
              <a:gd name="adj" fmla="val 10390"/>
            </a:avLst>
          </a:prstGeom>
          <a:solidFill>
            <a:srgbClr val="EAF4FB"/>
          </a:solidFill>
          <a:ln w="9525">
            <a:solidFill>
              <a:srgbClr val="BFD6E8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6.919 Nm³ CH₄</a:t>
            </a:r>
            <a:endParaRPr lang="en-US" sz="90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 Nm³ per m³ POME</a:t>
            </a:r>
            <a:endParaRPr lang="en-US" sz="900" dirty="0"/>
          </a:p>
        </p:txBody>
      </p:sp>
      <p:sp>
        <p:nvSpPr>
          <p:cNvPr id="63" name="kotak-234"/>
          <p:cNvSpPr txBox="1"/>
          <p:nvPr/>
        </p:nvSpPr>
        <p:spPr>
          <a:xfrm>
            <a:off x="8275320" y="2514600"/>
            <a:ext cx="3520440" cy="352044"/>
          </a:xfrm>
          <a:prstGeom prst="roundRect">
            <a:avLst>
              <a:gd name="adj" fmla="val 10390"/>
            </a:avLst>
          </a:prstGeom>
          <a:solidFill>
            <a:srgbClr val="EAF4FB"/>
          </a:solidFill>
          <a:ln w="9525">
            <a:solidFill>
              <a:srgbClr val="BFD6E8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1.127 kWe kotor</a:t>
            </a:r>
            <a:endParaRPr lang="en-US" sz="90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46,2 kWh per m³ POME</a:t>
            </a:r>
            <a:endParaRPr lang="en-US" sz="900" dirty="0"/>
          </a:p>
        </p:txBody>
      </p:sp>
      <p:sp>
        <p:nvSpPr>
          <p:cNvPr id="64" name="kotak-235"/>
          <p:cNvSpPr txBox="1"/>
          <p:nvPr/>
        </p:nvSpPr>
        <p:spPr>
          <a:xfrm>
            <a:off x="8275320" y="2880360"/>
            <a:ext cx="3520440" cy="352044"/>
          </a:xfrm>
          <a:prstGeom prst="roundRect">
            <a:avLst>
              <a:gd name="adj" fmla="val 10390"/>
            </a:avLst>
          </a:prstGeom>
          <a:solidFill>
            <a:srgbClr val="EAF4FB"/>
          </a:solidFill>
          <a:ln w="9525">
            <a:solidFill>
              <a:srgbClr val="BFD6E8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1.025 kWe neto</a:t>
            </a:r>
            <a:endParaRPr lang="en-US" sz="90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42,1 kWh per m³ POME</a:t>
            </a:r>
            <a:endParaRPr lang="en-US" sz="900" dirty="0"/>
          </a:p>
        </p:txBody>
      </p:sp>
      <p:sp>
        <p:nvSpPr>
          <p:cNvPr id="65" name="kotak-236"/>
          <p:cNvSpPr txBox="1"/>
          <p:nvPr/>
        </p:nvSpPr>
        <p:spPr>
          <a:xfrm>
            <a:off x="8275320" y="3246120"/>
            <a:ext cx="3520440" cy="352044"/>
          </a:xfrm>
          <a:prstGeom prst="roundRect">
            <a:avLst>
              <a:gd name="adj" fmla="val 10390"/>
            </a:avLst>
          </a:prstGeom>
          <a:solidFill>
            <a:srgbClr val="3E8E41"/>
          </a:solidFill>
          <a:ln w="9525">
            <a:solidFill>
              <a:srgbClr val="3E8E41"/>
            </a:solidFill>
          </a:ln>
        </p:spPr>
        <p:txBody>
          <a:bodyPr wrap="square" lIns="0" tIns="101600" rIns="1016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5,27 GWh/tahun</a:t>
            </a:r>
            <a:endParaRPr lang="en-US" sz="90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tahunan: 40,0 kWh/m³ POME; 26,0 kWh/t TBS</a:t>
            </a:r>
            <a:endParaRPr lang="en-US" sz="900" dirty="0"/>
          </a:p>
        </p:txBody>
      </p:sp>
      <p:sp>
        <p:nvSpPr>
          <p:cNvPr id="66" name="kotak-237"/>
          <p:cNvSpPr txBox="1"/>
          <p:nvPr/>
        </p:nvSpPr>
        <p:spPr>
          <a:xfrm>
            <a:off x="411480" y="3675888"/>
            <a:ext cx="374904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Neraca energi (kW, nameplate)</a:t>
            </a:r>
            <a:endParaRPr lang="en-US" sz="950" dirty="0"/>
          </a:p>
        </p:txBody>
      </p:sp>
      <p:graphicFrame>
        <p:nvGraphicFramePr>
          <p:cNvPr id="67" name="Chart 0" descr=""/>
          <p:cNvGraphicFramePr/>
          <p:nvPr/>
        </p:nvGraphicFramePr>
        <p:xfrm>
          <a:off x="365760" y="3913632"/>
          <a:ext cx="3840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8" name="teks-238"/>
          <p:cNvSpPr txBox="1"/>
          <p:nvPr/>
        </p:nvSpPr>
        <p:spPr>
          <a:xfrm>
            <a:off x="411480" y="5486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listrik 39,3%; pemakaian sendiri 9% dari daya kotor (pencampur jet 24 kW, menara pendingin 13 kW, bantu genset 36 kW). Panas selubung dan gas buang (1.405 kW) cukup memanasi reaktor (17 kW).</a:t>
            </a:r>
            <a:endParaRPr lang="en-US" sz="780" dirty="0"/>
          </a:p>
        </p:txBody>
      </p:sp>
      <p:sp>
        <p:nvSpPr>
          <p:cNvPr id="69" name="kotak-239"/>
          <p:cNvSpPr txBox="1"/>
          <p:nvPr/>
        </p:nvSpPr>
        <p:spPr>
          <a:xfrm>
            <a:off x="4297680" y="3675888"/>
            <a:ext cx="374904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reaktor selama setahun (simulasi 365 hari)</a:t>
            </a:r>
            <a:endParaRPr lang="en-US" sz="950" dirty="0"/>
          </a:p>
        </p:txBody>
      </p:sp>
      <p:graphicFrame>
        <p:nvGraphicFramePr>
          <p:cNvPr id="70" name="Chart 1" descr=""/>
          <p:cNvGraphicFramePr/>
          <p:nvPr/>
        </p:nvGraphicFramePr>
        <p:xfrm>
          <a:off x="4251960" y="3913632"/>
          <a:ext cx="384048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1" name="Chart 2" descr=""/>
          <p:cNvGraphicFramePr/>
          <p:nvPr/>
        </p:nvGraphicFramePr>
        <p:xfrm>
          <a:off x="4251960" y="4791456"/>
          <a:ext cx="3840480" cy="713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2" name="teks-240"/>
          <p:cNvSpPr txBox="1"/>
          <p:nvPr/>
        </p:nvSpPr>
        <p:spPr>
          <a:xfrm>
            <a:off x="4297680" y="5504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Stabil: pH 7,11–7,2; FOS/TAC maks 0,05 (batas 0,3); VFA ≈ 85 mg/L. Dip: hari Minggu (≈ 94 kW) dan henti 14 hari; musiman ±25%.</a:t>
            </a:r>
            <a:endParaRPr lang="en-US" sz="780" dirty="0"/>
          </a:p>
        </p:txBody>
      </p:sp>
      <p:sp>
        <p:nvSpPr>
          <p:cNvPr id="73" name="kotak-241"/>
          <p:cNvSpPr txBox="1"/>
          <p:nvPr/>
        </p:nvSpPr>
        <p:spPr>
          <a:xfrm>
            <a:off x="8183880" y="3675888"/>
            <a:ext cx="361188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Ketidakpastian umpan dan kinerja (400 sampel)</a:t>
            </a:r>
            <a:endParaRPr lang="en-US" sz="950" dirty="0"/>
          </a:p>
        </p:txBody>
      </p:sp>
      <p:graphicFrame>
        <p:nvGraphicFramePr>
          <p:cNvPr id="74" name="Chart 3" descr=""/>
          <p:cNvGraphicFramePr/>
          <p:nvPr/>
        </p:nvGraphicFramePr>
        <p:xfrm>
          <a:off x="8138160" y="3913632"/>
          <a:ext cx="3703320" cy="896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tabel-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4846320"/>
          <a:ext cx="91440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685800"/>
                <a:gridCol w="685800"/>
                <a:gridCol w="73152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Keluaran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Biogas (Nm³/hari)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 neto (kW)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OLR (kg COD/m³·hari)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Penyisihan COD (%)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kotak-243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77" name="kotak-244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m³ POME menghasilkan ≈ 40 kWh listrik neto per tahun; kolam metana ditutup dengan reaktor 5 hari, dan 91% daya kotor tersedia untuk dijual karena pemakaian sendiri hanya 9%.</a:t>
            </a:r>
            <a:endParaRPr lang="en-US" sz="950" dirty="0"/>
          </a:p>
        </p:txBody>
      </p:sp>
      <p:sp>
        <p:nvSpPr>
          <p:cNvPr id="78" name="teks-245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COD kebutuhan oksigen kimiawi; OLR laju beban organik; FOS/TAC rasio asam volatil terhadap alkalinitas; VFA asam lemak volatil; LHV nilai kalor bawah; Nm³ meter kubik normal.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process/biogas_balance.py Rev 2 (ADM1-lite terkalibrasi; simulasi 365 hari; Monte Carlo 400 sampel; results.json), research/R4 (Choorit 2007). Parameter kinetika: literatur; belum ada data terukur di lokasi (TRL 4).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produk: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PFD, tata letak, model 3D, dan sembilan lembar gambar rekayasa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menunjukkan set yang dirancang rinci, bukan sekadar konsep</a:t>
            </a:r>
            <a:endParaRPr lang="en-US" sz="1900" dirty="0"/>
          </a:p>
        </p:txBody>
      </p:sp>
      <p:sp>
        <p:nvSpPr>
          <p:cNvPr id="3" name="kotak-246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247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248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249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250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251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252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253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kotak-254"/>
          <p:cNvSpPr txBox="1"/>
          <p:nvPr/>
        </p:nvSpPr>
        <p:spPr>
          <a:xfrm>
            <a:off x="411480" y="1143000"/>
            <a:ext cx="6766560" cy="228600"/>
          </a:xfrm>
          <a:prstGeom prst="roundRect">
            <a:avLst>
              <a:gd name="adj" fmla="val 16000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Diagram alir proses (PFD BG-002 Rev 3): dibaca dari kiri ke kanan</a:t>
            </a:r>
            <a:endParaRPr lang="en-US" sz="950" dirty="0"/>
          </a:p>
        </p:txBody>
      </p:sp>
      <p:sp>
        <p:nvSpPr>
          <p:cNvPr id="13" name="kotak-255"/>
          <p:cNvSpPr/>
          <p:nvPr/>
        </p:nvSpPr>
        <p:spPr>
          <a:xfrm>
            <a:off x="411480" y="1371600"/>
            <a:ext cx="676656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8"/>
            </a:solidFill>
            <a:prstDash val="solid"/>
          </a:ln>
        </p:spPr>
      </p:sp>
      <p:pic>
        <p:nvPicPr>
          <p:cNvPr id="14" name="gambar-256" descr="/home/user/aspebindo/deck/img/pf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401939"/>
            <a:ext cx="6729984" cy="3798091"/>
          </a:xfrm>
          <a:prstGeom prst="rect">
            <a:avLst/>
          </a:prstGeom>
        </p:spPr>
      </p:pic>
      <p:sp>
        <p:nvSpPr>
          <p:cNvPr id="15" name="teks-257"/>
          <p:cNvSpPr txBox="1"/>
          <p:nvPr/>
        </p:nvSpPr>
        <p:spPr>
          <a:xfrm>
            <a:off x="411480" y="526694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A-100 praolah · A-200 reaktor kontak · A-300 degasser, settler, lumpur · A-400 pemurnian dan penampung gas · A-500 genset dan pemulih panas · A-600 menara pendingin. Tag, nomor aliran 1–26, suhu, tekanan, dan laju massa tertera pada lembar A2 (PDF dapat diperbesar).</a:t>
            </a:r>
            <a:endParaRPr lang="en-US" sz="780" dirty="0"/>
          </a:p>
        </p:txBody>
      </p:sp>
      <p:sp>
        <p:nvSpPr>
          <p:cNvPr id="16" name="kotak-258"/>
          <p:cNvSpPr txBox="1"/>
          <p:nvPr/>
        </p:nvSpPr>
        <p:spPr>
          <a:xfrm>
            <a:off x="411480" y="5596128"/>
            <a:ext cx="6766560" cy="274320"/>
          </a:xfrm>
          <a:prstGeom prst="roundRect">
            <a:avLst>
              <a:gd name="adj" fmla="val 13333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lembar gambar rekayasa A3 (tata letak, elevasi, skid, lokasi) menyertai PFD</a:t>
            </a:r>
            <a:endParaRPr lang="en-US" sz="840" dirty="0"/>
          </a:p>
        </p:txBody>
      </p:sp>
      <p:sp>
        <p:nvSpPr>
          <p:cNvPr id="17" name="kotak-259"/>
          <p:cNvSpPr txBox="1"/>
          <p:nvPr/>
        </p:nvSpPr>
        <p:spPr>
          <a:xfrm>
            <a:off x="7315200" y="1143000"/>
            <a:ext cx="4480560" cy="228600"/>
          </a:xfrm>
          <a:prstGeom prst="roundRect">
            <a:avLst>
              <a:gd name="adj" fmla="val 16000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Tata letak plot 1:400: 99,65 × 37,7 m = 0,38 ha</a:t>
            </a:r>
            <a:endParaRPr lang="en-US" sz="900" dirty="0"/>
          </a:p>
        </p:txBody>
      </p:sp>
      <p:sp>
        <p:nvSpPr>
          <p:cNvPr id="18" name="kotak-260"/>
          <p:cNvSpPr/>
          <p:nvPr/>
        </p:nvSpPr>
        <p:spPr>
          <a:xfrm>
            <a:off x="7315200" y="1371600"/>
            <a:ext cx="448056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8"/>
            </a:solidFill>
            <a:prstDash val="solid"/>
          </a:ln>
        </p:spPr>
      </p:sp>
      <p:pic>
        <p:nvPicPr>
          <p:cNvPr id="19" name="gambar-261" descr="/home/user/aspebindo/deck/img/plan_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480" y="1389888"/>
            <a:ext cx="4442001" cy="1536192"/>
          </a:xfrm>
          <a:prstGeom prst="rect">
            <a:avLst/>
          </a:prstGeom>
        </p:spPr>
      </p:pic>
      <p:sp>
        <p:nvSpPr>
          <p:cNvPr id="20" name="kotak-262"/>
          <p:cNvSpPr txBox="1"/>
          <p:nvPr/>
        </p:nvSpPr>
        <p:spPr>
          <a:xfrm>
            <a:off x="7315200" y="3008376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Model 3D set lengkap</a:t>
            </a:r>
            <a:endParaRPr lang="en-US" sz="800" dirty="0"/>
          </a:p>
        </p:txBody>
      </p:sp>
      <p:sp>
        <p:nvSpPr>
          <p:cNvPr id="21" name="kotak-263"/>
          <p:cNvSpPr/>
          <p:nvPr/>
        </p:nvSpPr>
        <p:spPr>
          <a:xfrm>
            <a:off x="7315200" y="3209544"/>
            <a:ext cx="2194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8"/>
            </a:solidFill>
            <a:prstDash val="solid"/>
          </a:ln>
        </p:spPr>
      </p:sp>
      <p:pic>
        <p:nvPicPr>
          <p:cNvPr id="22" name="gambar-264" descr="/home/user/aspebindo/cad/out/render/PLANT_iso-dep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33" y="3227832"/>
            <a:ext cx="2097895" cy="1335024"/>
          </a:xfrm>
          <a:prstGeom prst="rect">
            <a:avLst/>
          </a:prstGeom>
        </p:spPr>
      </p:pic>
      <p:sp>
        <p:nvSpPr>
          <p:cNvPr id="23" name="kotak-265"/>
          <p:cNvSpPr txBox="1"/>
          <p:nvPr/>
        </p:nvSpPr>
        <p:spPr>
          <a:xfrm>
            <a:off x="9601200" y="3008376"/>
            <a:ext cx="2194560" cy="201168"/>
          </a:xfrm>
          <a:prstGeom prst="roundRect">
            <a:avLst>
              <a:gd name="adj" fmla="val 18182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Reaktor GFS: Ø11,5 × 10,8 m</a:t>
            </a:r>
            <a:endParaRPr lang="en-US" sz="800" dirty="0"/>
          </a:p>
        </p:txBody>
      </p:sp>
      <p:sp>
        <p:nvSpPr>
          <p:cNvPr id="24" name="kotak-266"/>
          <p:cNvSpPr/>
          <p:nvPr/>
        </p:nvSpPr>
        <p:spPr>
          <a:xfrm>
            <a:off x="9601200" y="3209544"/>
            <a:ext cx="2194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6E8"/>
            </a:solidFill>
            <a:prstDash val="solid"/>
          </a:ln>
        </p:spPr>
      </p:sp>
      <p:pic>
        <p:nvPicPr>
          <p:cNvPr id="25" name="gambar-267" descr="/home/user/aspebindo/deck/img/v2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559" y="3227832"/>
            <a:ext cx="1825842" cy="1335024"/>
          </a:xfrm>
          <a:prstGeom prst="rect">
            <a:avLst/>
          </a:prstGeom>
        </p:spPr>
      </p:pic>
      <p:sp>
        <p:nvSpPr>
          <p:cNvPr id="26" name="kotak-268"/>
          <p:cNvSpPr txBox="1"/>
          <p:nvPr/>
        </p:nvSpPr>
        <p:spPr>
          <a:xfrm>
            <a:off x="7315200" y="4645152"/>
            <a:ext cx="4480560" cy="201168"/>
          </a:xfrm>
          <a:prstGeom prst="roundRect">
            <a:avLst>
              <a:gd name="adj" fmla="val 18182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Peralatan utama modul acuan 45 t TBS/jam</a:t>
            </a:r>
            <a:endParaRPr lang="en-US" sz="840" dirty="0"/>
          </a:p>
        </p:txBody>
      </p:sp>
      <p:graphicFrame>
        <p:nvGraphicFramePr>
          <p:cNvPr id="6" name="tabel-2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846320"/>
          <a:ext cx="9144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128016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Uraian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Kapasitas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R-201…203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reaktor kontak GFS, 55 °C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980 m³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DG-301 · LS-301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degasser vakum · settler lamella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m³ · 81 m²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GH-301 · FL-301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penampung gas · flare tertutup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986 m³ (2 jam)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GE-401/402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genset biogas kontainer 40 ft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600 kWe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28" name="kotak-270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29" name="kotak-271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lengkap: PFD, tata letak dengan jarak aman terverifikasi, model 3D, dan gambar unit; skala 60 t TBS/jam menambah satu reaktor identik dan tangki ekualisasi.</a:t>
            </a:r>
            <a:endParaRPr lang="en-US" sz="950" dirty="0"/>
          </a:p>
        </p:txBody>
      </p:sp>
      <p:sp>
        <p:nvSpPr>
          <p:cNvPr id="30" name="teks-272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PFD diagram alir proses; GFS baja berlapis kaca; PM modul portabel; DG degasser; LS settler lamella; ISO/ISA standar simbol.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pfd/outputs/PFD_BG-002_Rev3.pdf; cad/drawings/out/BG_drawing_set_A3.pdf (9 lembar, pemeriksa tabrakan teks: 0 temuan); model CadQuery tim.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 kuat di klaster besar dan modal sendiri;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 termofilik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menempati ruang kosong, yaitu PKS independen tanpa modal, dengan skor berbobot tertinggi (3,83)</a:t>
            </a:r>
            <a:endParaRPr lang="en-US" sz="1900" dirty="0"/>
          </a:p>
        </p:txBody>
      </p:sp>
      <p:sp>
        <p:nvSpPr>
          <p:cNvPr id="3" name="kotak-273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274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275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276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277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278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279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280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kotak-281"/>
          <p:cNvSpPr txBox="1"/>
          <p:nvPr/>
        </p:nvSpPr>
        <p:spPr>
          <a:xfrm>
            <a:off x="411480" y="1143000"/>
            <a:ext cx="681228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Profil pesaing utama di Indonesia</a:t>
            </a:r>
            <a:endParaRPr lang="en-US" sz="950" dirty="0"/>
          </a:p>
        </p:txBody>
      </p:sp>
      <p:graphicFrame>
        <p:nvGraphicFramePr>
          <p:cNvPr id="7" name="tabel-2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1371600"/>
                <a:gridCol w="15087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Pesaing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dan skala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Kekuatan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Celah yang kami isi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reNIKOLA + PTPN IV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BOO(T) biometana; 8 PKS, USD 40–45 juta, kontrak gas 15 tahun (2026)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besar, offtake pasti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PKS di luar klaster dan pipa gas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 Group + Toyota Tsusho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teknologi → BOOT; biometana ke PGN, 150 ribu MMBtu/th (2027)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rekam jejak sejak 2013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 gas; skala klaster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Pertamina NRE + PTPN III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PLTBg Sei Mangkei 2,4 MW, lagun tertutup ±2 ha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dukungan BUMN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lahan ±2 ha; hanya aset BUMN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Aiken Kakoki + PTPN IV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dan teknologi; Sei Garo, beroperasi Nov 2025 (±24 bulan)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teknologi Jepang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bangun; modal di PKS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TSE Group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milik sendiri; 2 tangki 7.800 m³, 2 MW, USD 3,6 juta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per MW rendah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dan risiko di PKS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AANE (Austindo)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 POME komersial pertama, Belitung, jual ke PLN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pengalaman PPA PLN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lagun; satu lokasi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Wilmar, Musim Mas, Asian Agri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internal: 25, 17, dan ±7–20 fasilitas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dan skala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melayani PKS lain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Veolia Memthane, Kubota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AnMBR; belum ada referensi POME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teknologi membran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±USD 5 juta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KAMI: kontak termofilik BOO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PKS nol; HRT 5 hari; modul 21 kontainer; fee USD 1,35/t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portabel, tanpa pipa gas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2027–28: TRL 4 → 7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</a:tr>
            </a:tbl>
          </a:graphicData>
        </a:graphic>
      </p:graphicFrame>
      <p:sp>
        <p:nvSpPr>
          <p:cNvPr id="14" name="kotak-283"/>
          <p:cNvSpPr txBox="1"/>
          <p:nvPr/>
        </p:nvSpPr>
        <p:spPr>
          <a:xfrm>
            <a:off x="7269480" y="1143000"/>
            <a:ext cx="452628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Peta posisi pesaing (dari skor)</a:t>
            </a:r>
            <a:endParaRPr lang="en-US" sz="950" dirty="0"/>
          </a:p>
        </p:txBody>
      </p:sp>
      <p:pic>
        <p:nvPicPr>
          <p:cNvPr id="15" name="grafik-posisi" descr="/home/user/aspebindo/deck/img/f_posis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371600"/>
            <a:ext cx="4526280" cy="2109246"/>
          </a:xfrm>
          <a:prstGeom prst="rect">
            <a:avLst/>
          </a:prstGeom>
        </p:spPr>
      </p:pic>
      <p:sp>
        <p:nvSpPr>
          <p:cNvPr id="16" name="kotak-284"/>
          <p:cNvSpPr txBox="1"/>
          <p:nvPr/>
        </p:nvSpPr>
        <p:spPr>
          <a:xfrm>
            <a:off x="7269480" y="3520440"/>
            <a:ext cx="4526280" cy="256032"/>
          </a:xfrm>
          <a:prstGeom prst="roundRect">
            <a:avLst>
              <a:gd name="adj" fmla="val 17857"/>
            </a:avLst>
          </a:prstGeom>
          <a:solidFill>
            <a:srgbClr val="E3F3DE"/>
          </a:solidFill>
          <a:ln w="9525"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1 pada 78% dari 20.000 variasi bobot dan pada 7/7 uji ±50%</a:t>
            </a:r>
            <a:endParaRPr lang="en-US" sz="820" dirty="0"/>
          </a:p>
        </p:txBody>
      </p:sp>
      <p:sp>
        <p:nvSpPr>
          <p:cNvPr id="17" name="kotak-285"/>
          <p:cNvSpPr txBox="1"/>
          <p:nvPr/>
        </p:nvSpPr>
        <p:spPr>
          <a:xfrm>
            <a:off x="411480" y="3840480"/>
            <a:ext cx="3657600" cy="210312"/>
          </a:xfrm>
          <a:prstGeom prst="roundRect">
            <a:avLst>
              <a:gd name="adj" fmla="val 17391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Peta panas skor (1–5)</a:t>
            </a:r>
            <a:endParaRPr lang="en-US" sz="900" dirty="0"/>
          </a:p>
        </p:txBody>
      </p:sp>
      <p:pic>
        <p:nvPicPr>
          <p:cNvPr id="18" name="grafik-heatskor" descr="/home/user/aspebindo/deck/img/f_heatsk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069080"/>
            <a:ext cx="3657600" cy="1743740"/>
          </a:xfrm>
          <a:prstGeom prst="rect">
            <a:avLst/>
          </a:prstGeom>
        </p:spPr>
      </p:pic>
      <p:sp>
        <p:nvSpPr>
          <p:cNvPr id="19" name="kotak-286"/>
          <p:cNvSpPr txBox="1"/>
          <p:nvPr/>
        </p:nvSpPr>
        <p:spPr>
          <a:xfrm>
            <a:off x="4160520" y="3840480"/>
            <a:ext cx="3931920" cy="210312"/>
          </a:xfrm>
          <a:prstGeom prst="roundRect">
            <a:avLst>
              <a:gd name="adj" fmla="val 17391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Segmentasi pasar: siapa melayani siapa</a:t>
            </a:r>
            <a:endParaRPr lang="en-US" sz="900" dirty="0"/>
          </a:p>
        </p:txBody>
      </p:sp>
      <p:pic>
        <p:nvPicPr>
          <p:cNvPr id="20" name="grafik-segmen" descr="/home/user/aspebindo/deck/img/f_segm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069080"/>
            <a:ext cx="3931920" cy="1965960"/>
          </a:xfrm>
          <a:prstGeom prst="rect">
            <a:avLst/>
          </a:prstGeom>
        </p:spPr>
      </p:pic>
      <p:sp>
        <p:nvSpPr>
          <p:cNvPr id="21" name="kotak-287"/>
          <p:cNvSpPr txBox="1"/>
          <p:nvPr/>
        </p:nvSpPr>
        <p:spPr>
          <a:xfrm>
            <a:off x="8183880" y="3840480"/>
            <a:ext cx="3611880" cy="210312"/>
          </a:xfrm>
          <a:prstGeom prst="roundRect">
            <a:avLst>
              <a:gd name="adj" fmla="val 17391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Lima kekuatan Porter</a:t>
            </a:r>
            <a:endParaRPr lang="en-US" sz="900" dirty="0"/>
          </a:p>
        </p:txBody>
      </p:sp>
      <p:pic>
        <p:nvPicPr>
          <p:cNvPr id="22" name="grafik-porter" descr="/home/user/aspebindo/deck/img/f_por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4069080"/>
            <a:ext cx="3611880" cy="1948514"/>
          </a:xfrm>
          <a:prstGeom prst="rect">
            <a:avLst/>
          </a:prstGeom>
        </p:spPr>
      </p:pic>
      <p:sp>
        <p:nvSpPr>
          <p:cNvPr id="23" name="kotak-288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24" name="kotak-289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Pesaing melayani klaster bergas atau PKS bermodal; kami melayani 57 PKS independen yang tidak tersentuh keduanya, tanpa modal PKS dan dengan skor tertinggi.</a:t>
            </a:r>
            <a:endParaRPr lang="en-US" sz="950" dirty="0"/>
          </a:p>
        </p:txBody>
      </p:sp>
      <p:sp>
        <p:nvSpPr>
          <p:cNvPr id="25" name="teks-290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BOO bangun-miliki-operasikan; BOOT bangun-miliki-operasikan-alihkan; IPP produsen listrik swasta; PLTBg pembangkit listrik tenaga biogas; AnMBR reaktor membran anaerob; HRT waktu tinggal hidraulik; TRL tingkat kesiapan teknologi; PPA perjanjian jual beli listrik.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research/R3 dan R6 (reNIKOLA/The Star 2026, KIS, Pertamina NRE, InfoSawit TSE 2025, Petromindo Sei Garo); Model Keputusan PKS (fin_mill.py); bobot dan skor K2–K7 penilaian tim; 20.000 variasi bobot Dirichlet.</a:t>
            </a:r>
            <a:endParaRPr lang="en-US" sz="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gerbang G0–G2, satu set 60 t TBS/jam bernilai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USD 2,37 juta, IRR 16,5%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dan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balik modal dalam 5,2 tahun</a:t>
            </a:r>
            <a:endParaRPr lang="en-US" sz="1900" dirty="0"/>
          </a:p>
        </p:txBody>
      </p:sp>
      <p:sp>
        <p:nvSpPr>
          <p:cNvPr id="3" name="kotak-291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292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293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294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295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296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297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298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kotak-299"/>
          <p:cNvSpPr/>
          <p:nvPr/>
        </p:nvSpPr>
        <p:spPr>
          <a:xfrm>
            <a:off x="411480" y="114300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3" name="teks-300"/>
          <p:cNvSpPr txBox="1"/>
          <p:nvPr/>
        </p:nvSpPr>
        <p:spPr>
          <a:xfrm>
            <a:off x="457200" y="1161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4,88 juta</a:t>
            </a:r>
            <a:endParaRPr lang="en-US" sz="1500" dirty="0"/>
          </a:p>
        </p:txBody>
      </p:sp>
      <p:sp>
        <p:nvSpPr>
          <p:cNvPr id="14" name="teks-301"/>
          <p:cNvSpPr txBox="1"/>
          <p:nvPr/>
        </p:nvSpPr>
        <p:spPr>
          <a:xfrm>
            <a:off x="457200" y="1453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(FCI, harga 2026)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3.049/kWe terpasang</a:t>
            </a:r>
            <a:endParaRPr lang="en-US" sz="760" dirty="0"/>
          </a:p>
        </p:txBody>
      </p:sp>
      <p:sp>
        <p:nvSpPr>
          <p:cNvPr id="15" name="kotak-302"/>
          <p:cNvSpPr/>
          <p:nvPr/>
        </p:nvSpPr>
        <p:spPr>
          <a:xfrm>
            <a:off x="2318004" y="114300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6" name="teks-303"/>
          <p:cNvSpPr txBox="1"/>
          <p:nvPr/>
        </p:nvSpPr>
        <p:spPr>
          <a:xfrm>
            <a:off x="2363724" y="1161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1,55 juta</a:t>
            </a:r>
            <a:endParaRPr lang="en-US" sz="1500" dirty="0"/>
          </a:p>
        </p:txBody>
      </p:sp>
      <p:sp>
        <p:nvSpPr>
          <p:cNvPr id="17" name="teks-304"/>
          <p:cNvSpPr txBox="1"/>
          <p:nvPr/>
        </p:nvSpPr>
        <p:spPr>
          <a:xfrm>
            <a:off x="2363724" y="1453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Pendapatan tahun penuh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 GWh neto per tahun</a:t>
            </a:r>
            <a:endParaRPr lang="en-US" sz="760" dirty="0"/>
          </a:p>
        </p:txBody>
      </p:sp>
      <p:sp>
        <p:nvSpPr>
          <p:cNvPr id="18" name="kotak-305"/>
          <p:cNvSpPr/>
          <p:nvPr/>
        </p:nvSpPr>
        <p:spPr>
          <a:xfrm>
            <a:off x="4224528" y="114300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9" name="teks-306"/>
          <p:cNvSpPr txBox="1"/>
          <p:nvPr/>
        </p:nvSpPr>
        <p:spPr>
          <a:xfrm>
            <a:off x="4270248" y="1161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1,14 juta</a:t>
            </a:r>
            <a:endParaRPr lang="en-US" sz="1500" dirty="0"/>
          </a:p>
        </p:txBody>
      </p:sp>
      <p:sp>
        <p:nvSpPr>
          <p:cNvPr id="20" name="teks-307"/>
          <p:cNvSpPr txBox="1"/>
          <p:nvPr/>
        </p:nvSpPr>
        <p:spPr>
          <a:xfrm>
            <a:off x="4270248" y="1453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tahun penuh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73%</a:t>
            </a:r>
            <a:endParaRPr lang="en-US" sz="760" dirty="0"/>
          </a:p>
        </p:txBody>
      </p:sp>
      <p:sp>
        <p:nvSpPr>
          <p:cNvPr id="21" name="kotak-308"/>
          <p:cNvSpPr/>
          <p:nvPr/>
        </p:nvSpPr>
        <p:spPr>
          <a:xfrm>
            <a:off x="6131052" y="114300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0C2464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22" name="teks-309"/>
          <p:cNvSpPr txBox="1"/>
          <p:nvPr/>
        </p:nvSpPr>
        <p:spPr>
          <a:xfrm>
            <a:off x="6176772" y="1161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2,37 juta</a:t>
            </a:r>
            <a:endParaRPr lang="en-US" sz="1500" dirty="0"/>
          </a:p>
        </p:txBody>
      </p:sp>
      <p:sp>
        <p:nvSpPr>
          <p:cNvPr id="23" name="teks-310"/>
          <p:cNvSpPr txBox="1"/>
          <p:nvPr/>
        </p:nvSpPr>
        <p:spPr>
          <a:xfrm>
            <a:off x="6176772" y="1453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proyek, 20 tahun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9,9%</a:t>
            </a:r>
            <a:endParaRPr lang="en-US" sz="760" dirty="0"/>
          </a:p>
        </p:txBody>
      </p:sp>
      <p:sp>
        <p:nvSpPr>
          <p:cNvPr id="24" name="kotak-311"/>
          <p:cNvSpPr/>
          <p:nvPr/>
        </p:nvSpPr>
        <p:spPr>
          <a:xfrm>
            <a:off x="8037576" y="114300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0C2464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25" name="teks-312"/>
          <p:cNvSpPr txBox="1"/>
          <p:nvPr/>
        </p:nvSpPr>
        <p:spPr>
          <a:xfrm>
            <a:off x="8083296" y="1161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16,5%</a:t>
            </a:r>
            <a:endParaRPr lang="en-US" sz="1500" dirty="0"/>
          </a:p>
        </p:txBody>
      </p:sp>
      <p:sp>
        <p:nvSpPr>
          <p:cNvPr id="26" name="teks-313"/>
          <p:cNvSpPr txBox="1"/>
          <p:nvPr/>
        </p:nvSpPr>
        <p:spPr>
          <a:xfrm>
            <a:off x="8083296" y="1453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proyek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ekuitas 21,3%</a:t>
            </a:r>
            <a:endParaRPr lang="en-US" sz="760" dirty="0"/>
          </a:p>
        </p:txBody>
      </p:sp>
      <p:sp>
        <p:nvSpPr>
          <p:cNvPr id="27" name="kotak-314"/>
          <p:cNvSpPr/>
          <p:nvPr/>
        </p:nvSpPr>
        <p:spPr>
          <a:xfrm>
            <a:off x="9944100" y="114300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0C2464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28" name="teks-315"/>
          <p:cNvSpPr txBox="1"/>
          <p:nvPr/>
        </p:nvSpPr>
        <p:spPr>
          <a:xfrm>
            <a:off x="9989820" y="1161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 tahun</a:t>
            </a:r>
            <a:endParaRPr lang="en-US" sz="1500" dirty="0"/>
          </a:p>
        </p:txBody>
      </p:sp>
      <p:sp>
        <p:nvSpPr>
          <p:cNvPr id="29" name="teks-316"/>
          <p:cNvSpPr txBox="1"/>
          <p:nvPr/>
        </p:nvSpPr>
        <p:spPr>
          <a:xfrm>
            <a:off x="9989820" y="14538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sejak operasi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minimum 1,90</a:t>
            </a:r>
            <a:endParaRPr lang="en-US" sz="760" dirty="0"/>
          </a:p>
        </p:txBody>
      </p:sp>
      <p:sp>
        <p:nvSpPr>
          <p:cNvPr id="30" name="kotak-317"/>
          <p:cNvSpPr txBox="1"/>
          <p:nvPr/>
        </p:nvSpPr>
        <p:spPr>
          <a:xfrm>
            <a:off x="411480" y="1847088"/>
            <a:ext cx="4251960" cy="201168"/>
          </a:xfrm>
          <a:prstGeom prst="roundRect">
            <a:avLst>
              <a:gd name="adj" fmla="val 18182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CAPEX bottom-up: USD 4,88 juta (2026)</a:t>
            </a:r>
            <a:endParaRPr lang="en-US" sz="900" dirty="0"/>
          </a:p>
        </p:txBody>
      </p:sp>
      <p:pic>
        <p:nvPicPr>
          <p:cNvPr id="31" name="grafik-capex" descr="/home/user/aspebindo/deck/img/f_ca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66544"/>
            <a:ext cx="4251960" cy="1828800"/>
          </a:xfrm>
          <a:prstGeom prst="rect">
            <a:avLst/>
          </a:prstGeom>
        </p:spPr>
      </p:pic>
      <p:sp>
        <p:nvSpPr>
          <p:cNvPr id="32" name="kotak-318"/>
          <p:cNvSpPr txBox="1"/>
          <p:nvPr/>
        </p:nvSpPr>
        <p:spPr>
          <a:xfrm>
            <a:off x="4754880" y="1847088"/>
            <a:ext cx="4251960" cy="201168"/>
          </a:xfrm>
          <a:prstGeom prst="roundRect">
            <a:avLst>
              <a:gd name="adj" fmla="val 18182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OPEX tunai: USD 397 ribu per tahun</a:t>
            </a:r>
            <a:endParaRPr lang="en-US" sz="900" dirty="0"/>
          </a:p>
        </p:txBody>
      </p:sp>
      <p:pic>
        <p:nvPicPr>
          <p:cNvPr id="33" name="grafik-opex" descr="/home/user/aspebindo/deck/img/f_op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66544"/>
            <a:ext cx="4251960" cy="1828800"/>
          </a:xfrm>
          <a:prstGeom prst="rect">
            <a:avLst/>
          </a:prstGeom>
        </p:spPr>
      </p:pic>
      <p:sp>
        <p:nvSpPr>
          <p:cNvPr id="34" name="kotak-319"/>
          <p:cNvSpPr txBox="1"/>
          <p:nvPr/>
        </p:nvSpPr>
        <p:spPr>
          <a:xfrm>
            <a:off x="9098280" y="1847088"/>
            <a:ext cx="2697480" cy="201168"/>
          </a:xfrm>
          <a:prstGeom prst="roundRect">
            <a:avLst>
              <a:gd name="adj" fmla="val 18182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Ringkasan ekonometrik</a:t>
            </a:r>
            <a:endParaRPr lang="en-US" sz="900" dirty="0"/>
          </a:p>
        </p:txBody>
      </p:sp>
      <p:graphicFrame>
        <p:nvGraphicFramePr>
          <p:cNvPr id="8" name="tabel-3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98280" y="2066544"/>
          <a:ext cx="9144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66928"/>
                <a:gridCol w="10332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Acuan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NPV (USD juta)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9,9%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 proyek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+6,5 poin dari WACC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 ekuitas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ekuitas 15%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(tahun)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umur proyek 20 tahun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terdiskonto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 th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 WACC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minimum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ambang bank 1,30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profitabilitas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1,0 layak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LCOE bersih (USD/kWh)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setelah fee dan karbon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Impas beban PKS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asumsi dasar 75%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kotak-321"/>
          <p:cNvSpPr txBox="1"/>
          <p:nvPr/>
        </p:nvSpPr>
        <p:spPr>
          <a:xfrm>
            <a:off x="411480" y="3959352"/>
            <a:ext cx="3657600" cy="201168"/>
          </a:xfrm>
          <a:prstGeom prst="roundRect">
            <a:avLst>
              <a:gd name="adj" fmla="val 18182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Titik impas terhadap beban PKS</a:t>
            </a:r>
            <a:endParaRPr lang="en-US" sz="900" dirty="0"/>
          </a:p>
        </p:txBody>
      </p:sp>
      <p:pic>
        <p:nvPicPr>
          <p:cNvPr id="37" name="grafik-bep" descr="/home/user/aspebindo/deck/img/f_b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78808"/>
            <a:ext cx="3657600" cy="1719072"/>
          </a:xfrm>
          <a:prstGeom prst="rect">
            <a:avLst/>
          </a:prstGeom>
        </p:spPr>
      </p:pic>
      <p:sp>
        <p:nvSpPr>
          <p:cNvPr id="38" name="kotak-322"/>
          <p:cNvSpPr txBox="1"/>
          <p:nvPr/>
        </p:nvSpPr>
        <p:spPr>
          <a:xfrm>
            <a:off x="4160520" y="3959352"/>
            <a:ext cx="4206240" cy="201168"/>
          </a:xfrm>
          <a:prstGeom prst="roundRect">
            <a:avLst>
              <a:gd name="adj" fmla="val 18182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Kurva payback: arus kas kumulatif</a:t>
            </a:r>
            <a:endParaRPr lang="en-US" sz="900" dirty="0"/>
          </a:p>
        </p:txBody>
      </p:sp>
      <p:pic>
        <p:nvPicPr>
          <p:cNvPr id="39" name="grafik-payback" descr="/home/user/aspebindo/deck/img/f_payb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178808"/>
            <a:ext cx="4206240" cy="1719072"/>
          </a:xfrm>
          <a:prstGeom prst="rect">
            <a:avLst/>
          </a:prstGeom>
        </p:spPr>
      </p:pic>
      <p:sp>
        <p:nvSpPr>
          <p:cNvPr id="40" name="kotak-323"/>
          <p:cNvSpPr txBox="1"/>
          <p:nvPr/>
        </p:nvSpPr>
        <p:spPr>
          <a:xfrm>
            <a:off x="8458200" y="3959352"/>
            <a:ext cx="3337560" cy="201168"/>
          </a:xfrm>
          <a:prstGeom prst="roundRect">
            <a:avLst>
              <a:gd name="adj" fmla="val 18182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Pendapatan per aliran dan EBITDA</a:t>
            </a:r>
            <a:endParaRPr lang="en-US" sz="900" dirty="0"/>
          </a:p>
        </p:txBody>
      </p:sp>
      <p:pic>
        <p:nvPicPr>
          <p:cNvPr id="41" name="grafik-pendapatan" descr="/home/user/aspebindo/deck/img/f_pendapat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4178808"/>
            <a:ext cx="3337560" cy="1719072"/>
          </a:xfrm>
          <a:prstGeom prst="rect">
            <a:avLst/>
          </a:prstGeom>
        </p:spPr>
      </p:pic>
      <p:sp>
        <p:nvSpPr>
          <p:cNvPr id="42" name="kotak-324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43" name="kotak-325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IRR terhadap WACC +6,5 poin dan DSCR 1,90 (ambang 1,30); NPV tetap positif sampai beban PKS turun ke 54% atau CAPEX naik +47%.</a:t>
            </a:r>
            <a:endParaRPr lang="en-US" sz="950" dirty="0"/>
          </a:p>
        </p:txBody>
      </p:sp>
      <p:sp>
        <p:nvSpPr>
          <p:cNvPr id="44" name="teks-326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FCI biaya modal tetap; WACC biaya modal rata-rata tertimbang; DSCR rasio cakupan layanan utang; LCOE biaya listrik terlevelisasi; PI indeks profitabilitas; MRV pemantauan, pelaporan, verifikasi.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BG_Model_Keuangan.xlsx; finance/fin_core.py v4 (60 t TBS/jam + PM-12, USD nominal, 20 tahun). Kasus target = kasus awal + solar tergantikan 3,0 L/t (G0) + CAPEX −15% (G1) + fee USD 1,35/t (G2; jendela 0,67–1,84) + karbon USD 8,3/t; asumsi lain identik.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30 bulan dengan empat gerbang, enam risiko yang dipetakan dan dimitigasi, serta lima KPI terukur: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set pertama naik ke USD 2,37 juta</a:t>
            </a:r>
            <a:endParaRPr lang="en-US" sz="1900" dirty="0"/>
          </a:p>
        </p:txBody>
      </p:sp>
      <p:sp>
        <p:nvSpPr>
          <p:cNvPr id="3" name="kotak-327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328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329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330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331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332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333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334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kotak-335"/>
          <p:cNvSpPr txBox="1"/>
          <p:nvPr/>
        </p:nvSpPr>
        <p:spPr>
          <a:xfrm>
            <a:off x="411480" y="1143000"/>
            <a:ext cx="594360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Jadwal dan jalur kritis (K4/2026 – K2/2029)</a:t>
            </a:r>
            <a:endParaRPr lang="en-US" sz="950" dirty="0"/>
          </a:p>
        </p:txBody>
      </p:sp>
      <p:sp>
        <p:nvSpPr>
          <p:cNvPr id="13" name="kotak-336"/>
          <p:cNvSpPr txBox="1"/>
          <p:nvPr/>
        </p:nvSpPr>
        <p:spPr>
          <a:xfrm>
            <a:off x="2880360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 '26</a:t>
            </a:r>
            <a:endParaRPr lang="en-US" sz="600" dirty="0"/>
          </a:p>
        </p:txBody>
      </p:sp>
      <p:sp>
        <p:nvSpPr>
          <p:cNvPr id="14" name="kotak-337"/>
          <p:cNvSpPr txBox="1"/>
          <p:nvPr/>
        </p:nvSpPr>
        <p:spPr>
          <a:xfrm>
            <a:off x="3186684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'27</a:t>
            </a:r>
            <a:endParaRPr lang="en-US" sz="600" dirty="0"/>
          </a:p>
        </p:txBody>
      </p:sp>
      <p:sp>
        <p:nvSpPr>
          <p:cNvPr id="15" name="kotak-338"/>
          <p:cNvSpPr txBox="1"/>
          <p:nvPr/>
        </p:nvSpPr>
        <p:spPr>
          <a:xfrm>
            <a:off x="3493008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600" dirty="0"/>
          </a:p>
        </p:txBody>
      </p:sp>
      <p:sp>
        <p:nvSpPr>
          <p:cNvPr id="16" name="kotak-339"/>
          <p:cNvSpPr txBox="1"/>
          <p:nvPr/>
        </p:nvSpPr>
        <p:spPr>
          <a:xfrm>
            <a:off x="3799332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600" dirty="0"/>
          </a:p>
        </p:txBody>
      </p:sp>
      <p:sp>
        <p:nvSpPr>
          <p:cNvPr id="17" name="kotak-340"/>
          <p:cNvSpPr txBox="1"/>
          <p:nvPr/>
        </p:nvSpPr>
        <p:spPr>
          <a:xfrm>
            <a:off x="4105656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600" dirty="0"/>
          </a:p>
        </p:txBody>
      </p:sp>
      <p:sp>
        <p:nvSpPr>
          <p:cNvPr id="18" name="kotak-341"/>
          <p:cNvSpPr txBox="1"/>
          <p:nvPr/>
        </p:nvSpPr>
        <p:spPr>
          <a:xfrm>
            <a:off x="4411980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'28</a:t>
            </a:r>
            <a:endParaRPr lang="en-US" sz="600" dirty="0"/>
          </a:p>
        </p:txBody>
      </p:sp>
      <p:sp>
        <p:nvSpPr>
          <p:cNvPr id="19" name="kotak-342"/>
          <p:cNvSpPr txBox="1"/>
          <p:nvPr/>
        </p:nvSpPr>
        <p:spPr>
          <a:xfrm>
            <a:off x="4718304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600" dirty="0"/>
          </a:p>
        </p:txBody>
      </p:sp>
      <p:sp>
        <p:nvSpPr>
          <p:cNvPr id="20" name="kotak-343"/>
          <p:cNvSpPr txBox="1"/>
          <p:nvPr/>
        </p:nvSpPr>
        <p:spPr>
          <a:xfrm>
            <a:off x="5024628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600" dirty="0"/>
          </a:p>
        </p:txBody>
      </p:sp>
      <p:sp>
        <p:nvSpPr>
          <p:cNvPr id="21" name="kotak-344"/>
          <p:cNvSpPr txBox="1"/>
          <p:nvPr/>
        </p:nvSpPr>
        <p:spPr>
          <a:xfrm>
            <a:off x="5330952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600" dirty="0"/>
          </a:p>
        </p:txBody>
      </p:sp>
      <p:sp>
        <p:nvSpPr>
          <p:cNvPr id="22" name="kotak-345"/>
          <p:cNvSpPr txBox="1"/>
          <p:nvPr/>
        </p:nvSpPr>
        <p:spPr>
          <a:xfrm>
            <a:off x="5637276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'29</a:t>
            </a:r>
            <a:endParaRPr lang="en-US" sz="600" dirty="0"/>
          </a:p>
        </p:txBody>
      </p:sp>
      <p:sp>
        <p:nvSpPr>
          <p:cNvPr id="23" name="kotak-346"/>
          <p:cNvSpPr txBox="1"/>
          <p:nvPr/>
        </p:nvSpPr>
        <p:spPr>
          <a:xfrm>
            <a:off x="5943600" y="1389888"/>
            <a:ext cx="288036" cy="182880"/>
          </a:xfrm>
          <a:prstGeom prst="roundRect">
            <a:avLst>
              <a:gd name="adj" fmla="val 10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600" dirty="0"/>
          </a:p>
        </p:txBody>
      </p:sp>
      <p:sp>
        <p:nvSpPr>
          <p:cNvPr id="24" name="kotak-347"/>
          <p:cNvSpPr/>
          <p:nvPr/>
        </p:nvSpPr>
        <p:spPr>
          <a:xfrm>
            <a:off x="411480" y="1600200"/>
            <a:ext cx="5943600" cy="196596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5" name="teks-348"/>
          <p:cNvSpPr txBox="1"/>
          <p:nvPr/>
        </p:nvSpPr>
        <p:spPr>
          <a:xfrm>
            <a:off x="457200" y="1600200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PKS dan uji lab 55 °C</a:t>
            </a:r>
            <a:endParaRPr lang="en-US" sz="740" dirty="0"/>
          </a:p>
        </p:txBody>
      </p:sp>
      <p:sp>
        <p:nvSpPr>
          <p:cNvPr id="26" name="kotak-349"/>
          <p:cNvSpPr txBox="1"/>
          <p:nvPr/>
        </p:nvSpPr>
        <p:spPr>
          <a:xfrm>
            <a:off x="2880360" y="1627632"/>
            <a:ext cx="900684" cy="141732"/>
          </a:xfrm>
          <a:prstGeom prst="roundRect">
            <a:avLst>
              <a:gd name="adj" fmla="val 19355"/>
            </a:avLst>
          </a:prstGeom>
          <a:solidFill>
            <a:srgbClr val="6898C8"/>
          </a:solidFill>
          <a:ln>
            <a:solidFill>
              <a:srgbClr val="6898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bln</a:t>
            </a:r>
            <a:endParaRPr lang="en-US" sz="660" dirty="0"/>
          </a:p>
        </p:txBody>
      </p:sp>
      <p:sp>
        <p:nvSpPr>
          <p:cNvPr id="27" name="teks-350"/>
          <p:cNvSpPr txBox="1"/>
          <p:nvPr/>
        </p:nvSpPr>
        <p:spPr>
          <a:xfrm>
            <a:off x="457200" y="1796796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Kuotasi GFS dan genset</a:t>
            </a:r>
            <a:endParaRPr lang="en-US" sz="740" dirty="0"/>
          </a:p>
        </p:txBody>
      </p:sp>
      <p:sp>
        <p:nvSpPr>
          <p:cNvPr id="28" name="kotak-351"/>
          <p:cNvSpPr txBox="1"/>
          <p:nvPr/>
        </p:nvSpPr>
        <p:spPr>
          <a:xfrm>
            <a:off x="3186684" y="1824228"/>
            <a:ext cx="594360" cy="141732"/>
          </a:xfrm>
          <a:prstGeom prst="roundRect">
            <a:avLst>
              <a:gd name="adj" fmla="val 19355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60" dirty="0"/>
          </a:p>
        </p:txBody>
      </p:sp>
      <p:sp>
        <p:nvSpPr>
          <p:cNvPr id="29" name="kotak-352"/>
          <p:cNvSpPr/>
          <p:nvPr/>
        </p:nvSpPr>
        <p:spPr>
          <a:xfrm>
            <a:off x="411480" y="1993392"/>
            <a:ext cx="5943600" cy="196596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0" name="teks-353"/>
          <p:cNvSpPr txBox="1"/>
          <p:nvPr/>
        </p:nvSpPr>
        <p:spPr>
          <a:xfrm>
            <a:off x="457200" y="1993392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dan HAZOP</a:t>
            </a:r>
            <a:endParaRPr lang="en-US" sz="740" dirty="0"/>
          </a:p>
        </p:txBody>
      </p:sp>
      <p:sp>
        <p:nvSpPr>
          <p:cNvPr id="31" name="kotak-354"/>
          <p:cNvSpPr txBox="1"/>
          <p:nvPr/>
        </p:nvSpPr>
        <p:spPr>
          <a:xfrm>
            <a:off x="3493008" y="2020824"/>
            <a:ext cx="900684" cy="141732"/>
          </a:xfrm>
          <a:prstGeom prst="roundRect">
            <a:avLst>
              <a:gd name="adj" fmla="val 19355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60" dirty="0"/>
          </a:p>
        </p:txBody>
      </p:sp>
      <p:sp>
        <p:nvSpPr>
          <p:cNvPr id="32" name="teks-355"/>
          <p:cNvSpPr txBox="1"/>
          <p:nvPr/>
        </p:nvSpPr>
        <p:spPr>
          <a:xfrm>
            <a:off x="457200" y="2189988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Perizinan (PBG, IUPTLS, PJBL, SLO)</a:t>
            </a:r>
            <a:endParaRPr lang="en-US" sz="740" dirty="0"/>
          </a:p>
        </p:txBody>
      </p:sp>
      <p:sp>
        <p:nvSpPr>
          <p:cNvPr id="33" name="kotak-356"/>
          <p:cNvSpPr txBox="1"/>
          <p:nvPr/>
        </p:nvSpPr>
        <p:spPr>
          <a:xfrm>
            <a:off x="3186684" y="2217420"/>
            <a:ext cx="1819656" cy="141732"/>
          </a:xfrm>
          <a:prstGeom prst="roundRect">
            <a:avLst>
              <a:gd name="adj" fmla="val 19355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bln</a:t>
            </a:r>
            <a:endParaRPr lang="en-US" sz="660" dirty="0"/>
          </a:p>
        </p:txBody>
      </p:sp>
      <p:sp>
        <p:nvSpPr>
          <p:cNvPr id="34" name="kotak-357"/>
          <p:cNvSpPr/>
          <p:nvPr/>
        </p:nvSpPr>
        <p:spPr>
          <a:xfrm>
            <a:off x="411480" y="2386584"/>
            <a:ext cx="5943600" cy="196596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35" name="teks-358"/>
          <p:cNvSpPr txBox="1"/>
          <p:nvPr/>
        </p:nvSpPr>
        <p:spPr>
          <a:xfrm>
            <a:off x="457200" y="2386584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 jasa 20 tahun dan utang</a:t>
            </a:r>
            <a:endParaRPr lang="en-US" sz="740" dirty="0"/>
          </a:p>
        </p:txBody>
      </p:sp>
      <p:sp>
        <p:nvSpPr>
          <p:cNvPr id="36" name="kotak-359"/>
          <p:cNvSpPr txBox="1"/>
          <p:nvPr/>
        </p:nvSpPr>
        <p:spPr>
          <a:xfrm>
            <a:off x="4105656" y="2414016"/>
            <a:ext cx="1207008" cy="141732"/>
          </a:xfrm>
          <a:prstGeom prst="roundRect">
            <a:avLst>
              <a:gd name="adj" fmla="val 19355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60" dirty="0"/>
          </a:p>
        </p:txBody>
      </p:sp>
      <p:sp>
        <p:nvSpPr>
          <p:cNvPr id="37" name="teks-360"/>
          <p:cNvSpPr txBox="1"/>
          <p:nvPr/>
        </p:nvSpPr>
        <p:spPr>
          <a:xfrm>
            <a:off x="457200" y="2583180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10–20 m³ di PKS (TRL 6)</a:t>
            </a:r>
            <a:endParaRPr lang="en-US" sz="740" dirty="0"/>
          </a:p>
        </p:txBody>
      </p:sp>
      <p:sp>
        <p:nvSpPr>
          <p:cNvPr id="38" name="kotak-361"/>
          <p:cNvSpPr txBox="1"/>
          <p:nvPr/>
        </p:nvSpPr>
        <p:spPr>
          <a:xfrm>
            <a:off x="3799332" y="2610612"/>
            <a:ext cx="1513332" cy="141732"/>
          </a:xfrm>
          <a:prstGeom prst="roundRect">
            <a:avLst>
              <a:gd name="adj" fmla="val 19355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bln</a:t>
            </a:r>
            <a:endParaRPr lang="en-US" sz="660" dirty="0"/>
          </a:p>
        </p:txBody>
      </p:sp>
      <p:sp>
        <p:nvSpPr>
          <p:cNvPr id="39" name="kotak-362"/>
          <p:cNvSpPr/>
          <p:nvPr/>
        </p:nvSpPr>
        <p:spPr>
          <a:xfrm>
            <a:off x="411480" y="2779776"/>
            <a:ext cx="5943600" cy="196596"/>
          </a:xfrm>
          <a:prstGeom prst="rect">
            <a:avLst/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40" name="teks-363"/>
          <p:cNvSpPr txBox="1"/>
          <p:nvPr/>
        </p:nvSpPr>
        <p:spPr>
          <a:xfrm>
            <a:off x="457200" y="2779776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Pengadaan, konstruksi, komisioning</a:t>
            </a:r>
            <a:endParaRPr lang="en-US" sz="740" dirty="0"/>
          </a:p>
        </p:txBody>
      </p:sp>
      <p:sp>
        <p:nvSpPr>
          <p:cNvPr id="41" name="kotak-364"/>
          <p:cNvSpPr txBox="1"/>
          <p:nvPr/>
        </p:nvSpPr>
        <p:spPr>
          <a:xfrm>
            <a:off x="4411980" y="2807208"/>
            <a:ext cx="1513332" cy="141732"/>
          </a:xfrm>
          <a:prstGeom prst="roundRect">
            <a:avLst>
              <a:gd name="adj" fmla="val 19355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bln</a:t>
            </a:r>
            <a:endParaRPr lang="en-US" sz="660" dirty="0"/>
          </a:p>
        </p:txBody>
      </p:sp>
      <p:sp>
        <p:nvSpPr>
          <p:cNvPr id="42" name="teks-365"/>
          <p:cNvSpPr txBox="1"/>
          <p:nvPr/>
        </p:nvSpPr>
        <p:spPr>
          <a:xfrm>
            <a:off x="457200" y="2976372"/>
            <a:ext cx="242316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F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7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Demonstrasi TRL 7 lalu replikasi 2–10</a:t>
            </a:r>
            <a:endParaRPr lang="en-US" sz="740" dirty="0"/>
          </a:p>
        </p:txBody>
      </p:sp>
      <p:sp>
        <p:nvSpPr>
          <p:cNvPr id="43" name="kotak-366"/>
          <p:cNvSpPr txBox="1"/>
          <p:nvPr/>
        </p:nvSpPr>
        <p:spPr>
          <a:xfrm>
            <a:off x="5637276" y="3003804"/>
            <a:ext cx="594360" cy="141732"/>
          </a:xfrm>
          <a:prstGeom prst="roundRect">
            <a:avLst>
              <a:gd name="adj" fmla="val 19355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44" name="garis-367"/>
          <p:cNvSpPr/>
          <p:nvPr/>
        </p:nvSpPr>
        <p:spPr>
          <a:xfrm>
            <a:off x="3493008" y="1591056"/>
            <a:ext cx="0" cy="1600200"/>
          </a:xfrm>
          <a:prstGeom prst="line">
            <a:avLst/>
          </a:prstGeom>
          <a:noFill/>
          <a:ln w="12700">
            <a:solidFill>
              <a:srgbClr val="C8452F"/>
            </a:solidFill>
            <a:prstDash val="dash"/>
          </a:ln>
        </p:spPr>
      </p:sp>
      <p:sp>
        <p:nvSpPr>
          <p:cNvPr id="45" name="kotak-368"/>
          <p:cNvSpPr txBox="1"/>
          <p:nvPr/>
        </p:nvSpPr>
        <p:spPr>
          <a:xfrm>
            <a:off x="3346704" y="3191256"/>
            <a:ext cx="292608" cy="182880"/>
          </a:xfrm>
          <a:prstGeom prst="roundRect">
            <a:avLst>
              <a:gd name="adj" fmla="val 50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750" dirty="0"/>
          </a:p>
        </p:txBody>
      </p:sp>
      <p:sp>
        <p:nvSpPr>
          <p:cNvPr id="46" name="garis-369"/>
          <p:cNvSpPr/>
          <p:nvPr/>
        </p:nvSpPr>
        <p:spPr>
          <a:xfrm>
            <a:off x="4411980" y="1591056"/>
            <a:ext cx="0" cy="1600200"/>
          </a:xfrm>
          <a:prstGeom prst="line">
            <a:avLst/>
          </a:prstGeom>
          <a:noFill/>
          <a:ln w="12700">
            <a:solidFill>
              <a:srgbClr val="C8452F"/>
            </a:solidFill>
            <a:prstDash val="dash"/>
          </a:ln>
        </p:spPr>
      </p:sp>
      <p:sp>
        <p:nvSpPr>
          <p:cNvPr id="47" name="kotak-370"/>
          <p:cNvSpPr txBox="1"/>
          <p:nvPr/>
        </p:nvSpPr>
        <p:spPr>
          <a:xfrm>
            <a:off x="4265676" y="3191256"/>
            <a:ext cx="292608" cy="182880"/>
          </a:xfrm>
          <a:prstGeom prst="roundRect">
            <a:avLst>
              <a:gd name="adj" fmla="val 50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750" dirty="0"/>
          </a:p>
        </p:txBody>
      </p:sp>
      <p:sp>
        <p:nvSpPr>
          <p:cNvPr id="48" name="garis-371"/>
          <p:cNvSpPr/>
          <p:nvPr/>
        </p:nvSpPr>
        <p:spPr>
          <a:xfrm>
            <a:off x="5330952" y="1591056"/>
            <a:ext cx="0" cy="1600200"/>
          </a:xfrm>
          <a:prstGeom prst="line">
            <a:avLst/>
          </a:prstGeom>
          <a:noFill/>
          <a:ln w="12700">
            <a:solidFill>
              <a:srgbClr val="C8452F"/>
            </a:solidFill>
            <a:prstDash val="dash"/>
          </a:ln>
        </p:spPr>
      </p:sp>
      <p:sp>
        <p:nvSpPr>
          <p:cNvPr id="49" name="kotak-372"/>
          <p:cNvSpPr txBox="1"/>
          <p:nvPr/>
        </p:nvSpPr>
        <p:spPr>
          <a:xfrm>
            <a:off x="5184648" y="3191256"/>
            <a:ext cx="292608" cy="182880"/>
          </a:xfrm>
          <a:prstGeom prst="roundRect">
            <a:avLst>
              <a:gd name="adj" fmla="val 50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750" dirty="0"/>
          </a:p>
        </p:txBody>
      </p:sp>
      <p:sp>
        <p:nvSpPr>
          <p:cNvPr id="50" name="garis-373"/>
          <p:cNvSpPr/>
          <p:nvPr/>
        </p:nvSpPr>
        <p:spPr>
          <a:xfrm>
            <a:off x="6096762" y="1591056"/>
            <a:ext cx="0" cy="1600200"/>
          </a:xfrm>
          <a:prstGeom prst="line">
            <a:avLst/>
          </a:prstGeom>
          <a:noFill/>
          <a:ln w="12700">
            <a:solidFill>
              <a:srgbClr val="C8452F"/>
            </a:solidFill>
            <a:prstDash val="dash"/>
          </a:ln>
        </p:spPr>
      </p:sp>
      <p:sp>
        <p:nvSpPr>
          <p:cNvPr id="51" name="kotak-374"/>
          <p:cNvSpPr txBox="1"/>
          <p:nvPr/>
        </p:nvSpPr>
        <p:spPr>
          <a:xfrm>
            <a:off x="5950458" y="3191256"/>
            <a:ext cx="292608" cy="182880"/>
          </a:xfrm>
          <a:prstGeom prst="roundRect">
            <a:avLst>
              <a:gd name="adj" fmla="val 50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750" dirty="0"/>
          </a:p>
        </p:txBody>
      </p:sp>
      <p:sp>
        <p:nvSpPr>
          <p:cNvPr id="52" name="teks-375"/>
          <p:cNvSpPr txBox="1"/>
          <p:nvPr/>
        </p:nvSpPr>
        <p:spPr>
          <a:xfrm>
            <a:off x="457200" y="31912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kritis: </a:t>
            </a:r>
            <a:pPr indent="0" marL="0">
              <a:buNone/>
            </a:pPr>
            <a:r>
              <a:rPr lang="en-US" sz="72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kuotasi → FEED → izin → genset → konstruksi</a:t>
            </a:r>
            <a:endParaRPr lang="en-US" sz="720" dirty="0"/>
          </a:p>
        </p:txBody>
      </p:sp>
      <p:sp>
        <p:nvSpPr>
          <p:cNvPr id="53" name="kotak-376"/>
          <p:cNvSpPr txBox="1"/>
          <p:nvPr/>
        </p:nvSpPr>
        <p:spPr>
          <a:xfrm>
            <a:off x="6492240" y="1143000"/>
            <a:ext cx="5303520" cy="219456"/>
          </a:xfrm>
          <a:prstGeom prst="roundRect">
            <a:avLst>
              <a:gd name="adj" fmla="val 16667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Peta risiko: sebelum dan sesudah mitigasi</a:t>
            </a:r>
            <a:endParaRPr lang="en-US" sz="950" dirty="0"/>
          </a:p>
        </p:txBody>
      </p:sp>
      <p:pic>
        <p:nvPicPr>
          <p:cNvPr id="54" name="grafik-risiko" descr="/home/user/aspebindo/deck/img/f_risi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89888"/>
            <a:ext cx="4846320" cy="2008385"/>
          </a:xfrm>
          <a:prstGeom prst="rect">
            <a:avLst/>
          </a:prstGeom>
        </p:spPr>
      </p:pic>
      <p:sp>
        <p:nvSpPr>
          <p:cNvPr id="55" name="kotak-377"/>
          <p:cNvSpPr txBox="1"/>
          <p:nvPr/>
        </p:nvSpPr>
        <p:spPr>
          <a:xfrm>
            <a:off x="411480" y="3438144"/>
            <a:ext cx="5943600" cy="201168"/>
          </a:xfrm>
          <a:prstGeom prst="roundRect">
            <a:avLst>
              <a:gd name="adj" fmla="val 18182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KPI proyek dan target</a:t>
            </a:r>
            <a:endParaRPr lang="en-US" sz="900" dirty="0"/>
          </a:p>
        </p:txBody>
      </p:sp>
      <p:graphicFrame>
        <p:nvGraphicFramePr>
          <p:cNvPr id="9" name="tabel-3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57600"/>
          <a:ext cx="9144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1280160"/>
                <a:gridCol w="18288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Bidang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Pengukuran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 tersisih pada OLR ≥ 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3E8E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65% (G3)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analisis lab mingguan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Listrik neto per m³ POME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3E8E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 kWh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genset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Ketersediaan set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3E8E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93%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 jarak jauh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Komersial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jasa terkontrak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3E8E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USD 1,35/t TBS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kontrak 20 tahun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029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Dampak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tCO₂e dihindari per set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3E8E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 ribu/tahun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MRV terverifikasi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kotak-379"/>
          <p:cNvSpPr txBox="1"/>
          <p:nvPr/>
        </p:nvSpPr>
        <p:spPr>
          <a:xfrm>
            <a:off x="6492240" y="3438144"/>
            <a:ext cx="5303520" cy="201168"/>
          </a:xfrm>
          <a:prstGeom prst="roundRect">
            <a:avLst>
              <a:gd name="adj" fmla="val 18182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Mitigasi risiko dan pemilik</a:t>
            </a:r>
            <a:endParaRPr lang="en-US" sz="900" dirty="0"/>
          </a:p>
        </p:txBody>
      </p:sp>
      <p:graphicFrame>
        <p:nvGraphicFramePr>
          <p:cNvPr id="17" name="tabel-3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657600"/>
          <a:ext cx="91440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554480"/>
                <a:gridCol w="2468880"/>
                <a:gridCol w="96012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Mitigasi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Pemilik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46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C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 dan izin jual listrik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konfirmasi ESDM/PLN; kontrak jasa energi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hukum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C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Kinerja termofilik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G3; jaminan kinerja bertahap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teknis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C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melampaui rencana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tiga kuotasi G1; pesan genset dini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pengadaan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C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PKS di bawah target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pilih PKS solar ≥ 3,0 L/t di G0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komersial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C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Beban TBS PKS rendah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klausul beban minimum, fee dasar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komersial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C84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Keselamatan gas dan bejana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HAZOP, SOP, detektor gas, SLO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59" name="kotak-381"/>
          <p:cNvSpPr txBox="1"/>
          <p:nvPr/>
        </p:nvSpPr>
        <p:spPr>
          <a:xfrm>
            <a:off x="411480" y="5084064"/>
            <a:ext cx="2788920" cy="192024"/>
          </a:xfrm>
          <a:prstGeom prst="roundRect">
            <a:avLst>
              <a:gd name="adj" fmla="val 19048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 · bulan 6 · USD 150 ribu</a:t>
            </a:r>
            <a:endParaRPr lang="en-US" sz="820" dirty="0"/>
          </a:p>
        </p:txBody>
      </p:sp>
      <p:sp>
        <p:nvSpPr>
          <p:cNvPr id="60" name="kotak-382"/>
          <p:cNvSpPr/>
          <p:nvPr/>
        </p:nvSpPr>
        <p:spPr>
          <a:xfrm>
            <a:off x="411480" y="527608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61" name="teks-383"/>
          <p:cNvSpPr txBox="1"/>
          <p:nvPr/>
        </p:nvSpPr>
        <p:spPr>
          <a:xfrm>
            <a:off x="475488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bila PKS mitra solar ≥ 3,0 L/t dan jaringan ≤ 2 km</a:t>
            </a:r>
            <a:endParaRPr lang="en-US" sz="780" dirty="0"/>
          </a:p>
        </p:txBody>
      </p:sp>
      <p:sp>
        <p:nvSpPr>
          <p:cNvPr id="62" name="kotak-384"/>
          <p:cNvSpPr txBox="1"/>
          <p:nvPr/>
        </p:nvSpPr>
        <p:spPr>
          <a:xfrm>
            <a:off x="475488" y="5614416"/>
            <a:ext cx="2660904" cy="228600"/>
          </a:xfrm>
          <a:prstGeom prst="roundRect">
            <a:avLst>
              <a:gd name="adj" fmla="val 16000"/>
            </a:avLst>
          </a:prstGeom>
          <a:solidFill>
            <a:srgbClr val="E3F3DE"/>
          </a:solidFill>
          <a:ln>
            <a:solidFill>
              <a:srgbClr val="E3F3D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NPV USD 0,86 juta · IRR 12,0%</a:t>
            </a:r>
            <a:endParaRPr lang="en-US" sz="830" dirty="0"/>
          </a:p>
        </p:txBody>
      </p:sp>
      <p:sp>
        <p:nvSpPr>
          <p:cNvPr id="63" name="kotak-385"/>
          <p:cNvSpPr txBox="1"/>
          <p:nvPr/>
        </p:nvSpPr>
        <p:spPr>
          <a:xfrm>
            <a:off x="3282696" y="5084064"/>
            <a:ext cx="2788920" cy="192024"/>
          </a:xfrm>
          <a:prstGeom prst="roundRect">
            <a:avLst>
              <a:gd name="adj" fmla="val 19048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· bulan 15 · USD 340 ribu</a:t>
            </a:r>
            <a:endParaRPr lang="en-US" sz="820" dirty="0"/>
          </a:p>
        </p:txBody>
      </p:sp>
      <p:sp>
        <p:nvSpPr>
          <p:cNvPr id="64" name="kotak-386"/>
          <p:cNvSpPr/>
          <p:nvPr/>
        </p:nvSpPr>
        <p:spPr>
          <a:xfrm>
            <a:off x="3282696" y="527608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65" name="teks-387"/>
          <p:cNvSpPr txBox="1"/>
          <p:nvPr/>
        </p:nvSpPr>
        <p:spPr>
          <a:xfrm>
            <a:off x="3346704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bila tiga kuotasi mendukung FCI ≤ USD 5,0 juta</a:t>
            </a:r>
            <a:endParaRPr lang="en-US" sz="780" dirty="0"/>
          </a:p>
        </p:txBody>
      </p:sp>
      <p:sp>
        <p:nvSpPr>
          <p:cNvPr id="66" name="kotak-388"/>
          <p:cNvSpPr txBox="1"/>
          <p:nvPr/>
        </p:nvSpPr>
        <p:spPr>
          <a:xfrm>
            <a:off x="3346704" y="5614416"/>
            <a:ext cx="2660904" cy="228600"/>
          </a:xfrm>
          <a:prstGeom prst="roundRect">
            <a:avLst>
              <a:gd name="adj" fmla="val 16000"/>
            </a:avLst>
          </a:prstGeom>
          <a:solidFill>
            <a:srgbClr val="E3F3DE"/>
          </a:solidFill>
          <a:ln>
            <a:solidFill>
              <a:srgbClr val="E3F3D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NPV USD 1,75 juta · IRR 14,8%</a:t>
            </a:r>
            <a:endParaRPr lang="en-US" sz="830" dirty="0"/>
          </a:p>
        </p:txBody>
      </p:sp>
      <p:sp>
        <p:nvSpPr>
          <p:cNvPr id="67" name="kotak-389"/>
          <p:cNvSpPr txBox="1"/>
          <p:nvPr/>
        </p:nvSpPr>
        <p:spPr>
          <a:xfrm>
            <a:off x="6153912" y="5084064"/>
            <a:ext cx="2788920" cy="192024"/>
          </a:xfrm>
          <a:prstGeom prst="roundRect">
            <a:avLst>
              <a:gd name="adj" fmla="val 19048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· bulan 24 · USD 400 ribu</a:t>
            </a:r>
            <a:endParaRPr lang="en-US" sz="820" dirty="0"/>
          </a:p>
        </p:txBody>
      </p:sp>
      <p:sp>
        <p:nvSpPr>
          <p:cNvPr id="68" name="kotak-390"/>
          <p:cNvSpPr/>
          <p:nvPr/>
        </p:nvSpPr>
        <p:spPr>
          <a:xfrm>
            <a:off x="6153912" y="527608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69" name="teks-391"/>
          <p:cNvSpPr txBox="1"/>
          <p:nvPr/>
        </p:nvSpPr>
        <p:spPr>
          <a:xfrm>
            <a:off x="6217920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bila kontrak fee ≥ USD 1,35/t dan HAZOP bersih</a:t>
            </a:r>
            <a:endParaRPr lang="en-US" sz="780" dirty="0"/>
          </a:p>
        </p:txBody>
      </p:sp>
      <p:sp>
        <p:nvSpPr>
          <p:cNvPr id="70" name="kotak-392"/>
          <p:cNvSpPr txBox="1"/>
          <p:nvPr/>
        </p:nvSpPr>
        <p:spPr>
          <a:xfrm>
            <a:off x="6217920" y="5614416"/>
            <a:ext cx="2660904" cy="228600"/>
          </a:xfrm>
          <a:prstGeom prst="roundRect">
            <a:avLst>
              <a:gd name="adj" fmla="val 16000"/>
            </a:avLst>
          </a:prstGeom>
          <a:solidFill>
            <a:srgbClr val="E3F3DE"/>
          </a:solidFill>
          <a:ln>
            <a:solidFill>
              <a:srgbClr val="E3F3D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NPV USD 1,96 juta · IRR 15,3%</a:t>
            </a:r>
            <a:endParaRPr lang="en-US" sz="830" dirty="0"/>
          </a:p>
        </p:txBody>
      </p:sp>
      <p:sp>
        <p:nvSpPr>
          <p:cNvPr id="71" name="kotak-393"/>
          <p:cNvSpPr txBox="1"/>
          <p:nvPr/>
        </p:nvSpPr>
        <p:spPr>
          <a:xfrm>
            <a:off x="9025128" y="5084064"/>
            <a:ext cx="2788920" cy="192024"/>
          </a:xfrm>
          <a:prstGeom prst="roundRect">
            <a:avLst>
              <a:gd name="adj" fmla="val 19048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· bulan 30 · USD 410 ribu</a:t>
            </a:r>
            <a:endParaRPr lang="en-US" sz="820" dirty="0"/>
          </a:p>
        </p:txBody>
      </p:sp>
      <p:sp>
        <p:nvSpPr>
          <p:cNvPr id="72" name="kotak-394"/>
          <p:cNvSpPr/>
          <p:nvPr/>
        </p:nvSpPr>
        <p:spPr>
          <a:xfrm>
            <a:off x="9025128" y="527608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452F"/>
            </a:solidFill>
            <a:prstDash val="solid"/>
          </a:ln>
        </p:spPr>
      </p:sp>
      <p:sp>
        <p:nvSpPr>
          <p:cNvPr id="73" name="teks-395"/>
          <p:cNvSpPr txBox="1"/>
          <p:nvPr/>
        </p:nvSpPr>
        <p:spPr>
          <a:xfrm>
            <a:off x="9089136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bila pilot COD ≥ 65%, MRV siap → FID</a:t>
            </a:r>
            <a:endParaRPr lang="en-US" sz="780" dirty="0"/>
          </a:p>
        </p:txBody>
      </p:sp>
      <p:sp>
        <p:nvSpPr>
          <p:cNvPr id="74" name="kotak-396"/>
          <p:cNvSpPr txBox="1"/>
          <p:nvPr/>
        </p:nvSpPr>
        <p:spPr>
          <a:xfrm>
            <a:off x="9089136" y="5614416"/>
            <a:ext cx="2660904" cy="228600"/>
          </a:xfrm>
          <a:prstGeom prst="roundRect">
            <a:avLst>
              <a:gd name="adj" fmla="val 16000"/>
            </a:avLst>
          </a:prstGeom>
          <a:solidFill>
            <a:srgbClr val="E3F3DE"/>
          </a:solidFill>
          <a:ln>
            <a:solidFill>
              <a:srgbClr val="E3F3D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E8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NPV USD 2,37 juta · IRR 16,5%</a:t>
            </a:r>
            <a:endParaRPr lang="en-US" sz="830" dirty="0"/>
          </a:p>
        </p:txBody>
      </p:sp>
      <p:sp>
        <p:nvSpPr>
          <p:cNvPr id="75" name="kotak-397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76" name="kotak-398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USD 1,3 juta (usulan) dibelanjakan bertahap per gerbang; modal utama (± USD 4,9 juta) baru keluar setelah kontrak, kuotasi, dan pilot terkunci.</a:t>
            </a:r>
            <a:endParaRPr lang="en-US" sz="950" dirty="0"/>
          </a:p>
        </p:txBody>
      </p:sp>
      <p:sp>
        <p:nvSpPr>
          <p:cNvPr id="77" name="teks-399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FEED desain rekayasa awal; HAZOP kajian bahaya dan operabilitas; MRV pemantauan, pelaporan, verifikasi; FID keputusan investasi akhir; OLR laju beban organik; PBG persetujuan bangunan gedung; SLO sertifikat laik operasi; PJBL perjanjian jual beli listrik; IUPTLS izin usaha penyediaan tenaga listrik untuk kepentingan sendiri; K3 keselamatan dan kesehatan kerja.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usulan tim; peluang × dampak risiko adalah penilaian tim; durasi izin dari research/R4 dan R6 (SLO ≤ 4 hari kerja setelah inspeksi: FAQ Ditjen Gatrik 2024; lama izin lain perkiraan tim); NPV dan IRR per gerbang dari fin_core.py.</a:t>
            </a:r>
            <a:endParaRPr lang="en-US" sz="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besar dan terukur: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756 set setara bernilai USD 960 juta per tahun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57 PKS siap dilayani lebih dulu, dan 10 set menghasilkan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15 juta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pendapatan per tahun</a:t>
            </a:r>
            <a:endParaRPr lang="en-US" sz="1900" dirty="0"/>
          </a:p>
        </p:txBody>
      </p:sp>
      <p:sp>
        <p:nvSpPr>
          <p:cNvPr id="3" name="kotak-400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401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402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403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404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405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406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407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kotak-408"/>
          <p:cNvSpPr txBox="1"/>
          <p:nvPr/>
        </p:nvSpPr>
        <p:spPr>
          <a:xfrm>
            <a:off x="411480" y="1143000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Corong pasar (set setara 60 t/jam)</a:t>
            </a:r>
            <a:endParaRPr lang="en-US" sz="820" dirty="0"/>
          </a:p>
        </p:txBody>
      </p:sp>
      <p:pic>
        <p:nvPicPr>
          <p:cNvPr id="13" name="grafik-a0" descr="/home/user/aspebindo/deck/img/f_pas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89888"/>
            <a:ext cx="2743200" cy="1828800"/>
          </a:xfrm>
          <a:prstGeom prst="rect">
            <a:avLst/>
          </a:prstGeom>
        </p:spPr>
      </p:pic>
      <p:sp>
        <p:nvSpPr>
          <p:cNvPr id="14" name="kotak-409"/>
          <p:cNvSpPr txBox="1"/>
          <p:nvPr/>
        </p:nvSpPr>
        <p:spPr>
          <a:xfrm>
            <a:off x="3291840" y="1143000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Sebaran PKS menurut provinsi</a:t>
            </a:r>
            <a:endParaRPr lang="en-US" sz="820" dirty="0"/>
          </a:p>
        </p:txBody>
      </p:sp>
      <p:pic>
        <p:nvPicPr>
          <p:cNvPr id="15" name="grafik-a1" descr="/home/user/aspebindo/deck/img/f_pro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89888"/>
            <a:ext cx="2743200" cy="1828800"/>
          </a:xfrm>
          <a:prstGeom prst="rect">
            <a:avLst/>
          </a:prstGeom>
        </p:spPr>
      </p:pic>
      <p:sp>
        <p:nvSpPr>
          <p:cNvPr id="16" name="kotak-410"/>
          <p:cNvSpPr txBox="1"/>
          <p:nvPr/>
        </p:nvSpPr>
        <p:spPr>
          <a:xfrm>
            <a:off x="6172200" y="1143000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Peta NPV: fee × solar tergantikan (USD juta)</a:t>
            </a:r>
            <a:endParaRPr lang="en-US" sz="820" dirty="0"/>
          </a:p>
        </p:txBody>
      </p:sp>
      <p:pic>
        <p:nvPicPr>
          <p:cNvPr id="17" name="grafik-a2" descr="/home/user/aspebindo/deck/img/f_heatnp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89888"/>
            <a:ext cx="2743200" cy="1828800"/>
          </a:xfrm>
          <a:prstGeom prst="rect">
            <a:avLst/>
          </a:prstGeom>
        </p:spPr>
      </p:pic>
      <p:sp>
        <p:nvSpPr>
          <p:cNvPr id="18" name="kotak-411"/>
          <p:cNvSpPr txBox="1"/>
          <p:nvPr/>
        </p:nvSpPr>
        <p:spPr>
          <a:xfrm>
            <a:off x="9052560" y="1143000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Tuas nilai: NPV per set (USD juta)</a:t>
            </a:r>
            <a:endParaRPr lang="en-US" sz="820" dirty="0"/>
          </a:p>
        </p:txBody>
      </p:sp>
      <p:pic>
        <p:nvPicPr>
          <p:cNvPr id="19" name="grafik-a3" descr="/home/user/aspebindo/deck/img/f_tu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389888"/>
            <a:ext cx="2743200" cy="1828800"/>
          </a:xfrm>
          <a:prstGeom prst="rect">
            <a:avLst/>
          </a:prstGeom>
        </p:spPr>
      </p:pic>
      <p:sp>
        <p:nvSpPr>
          <p:cNvPr id="20" name="kotak-412"/>
          <p:cNvSpPr txBox="1"/>
          <p:nvPr/>
        </p:nvSpPr>
        <p:spPr>
          <a:xfrm>
            <a:off x="411480" y="3419856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Pendapatan armada 10 set dan EBITDA</a:t>
            </a:r>
            <a:endParaRPr lang="en-US" sz="820" dirty="0"/>
          </a:p>
        </p:txBody>
      </p:sp>
      <p:pic>
        <p:nvPicPr>
          <p:cNvPr id="21" name="grafik-armada" descr="/home/user/aspebindo/deck/img/f_armad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66744"/>
            <a:ext cx="2743200" cy="2103120"/>
          </a:xfrm>
          <a:prstGeom prst="rect">
            <a:avLst/>
          </a:prstGeom>
        </p:spPr>
      </p:pic>
      <p:sp>
        <p:nvSpPr>
          <p:cNvPr id="22" name="kotak-413"/>
          <p:cNvSpPr txBox="1"/>
          <p:nvPr/>
        </p:nvSpPr>
        <p:spPr>
          <a:xfrm>
            <a:off x="3291840" y="3419856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Hemat biaya POME PKS menurut solar</a:t>
            </a:r>
            <a:endParaRPr lang="en-US" sz="820" dirty="0"/>
          </a:p>
        </p:txBody>
      </p:sp>
      <p:pic>
        <p:nvPicPr>
          <p:cNvPr id="23" name="grafik-segsave" descr="/home/user/aspebindo/deck/img/f_segsa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3666744"/>
            <a:ext cx="2743200" cy="2103120"/>
          </a:xfrm>
          <a:prstGeom prst="rect">
            <a:avLst/>
          </a:prstGeom>
        </p:spPr>
      </p:pic>
      <p:sp>
        <p:nvSpPr>
          <p:cNvPr id="24" name="kotak-414"/>
          <p:cNvSpPr txBox="1"/>
          <p:nvPr/>
        </p:nvSpPr>
        <p:spPr>
          <a:xfrm>
            <a:off x="6172200" y="3419856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2B9FC8"/>
          </a:solidFill>
          <a:ln>
            <a:solidFill>
              <a:srgbClr val="2B9FC8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(g) Dampak per set 60 t TBS/jam</a:t>
            </a:r>
            <a:endParaRPr lang="en-US" sz="820" dirty="0"/>
          </a:p>
        </p:txBody>
      </p:sp>
      <p:sp>
        <p:nvSpPr>
          <p:cNvPr id="25" name="kotak-415"/>
          <p:cNvSpPr/>
          <p:nvPr/>
        </p:nvSpPr>
        <p:spPr>
          <a:xfrm>
            <a:off x="6172200" y="3694176"/>
            <a:ext cx="1353312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26" name="teks-416"/>
          <p:cNvSpPr txBox="1"/>
          <p:nvPr/>
        </p:nvSpPr>
        <p:spPr>
          <a:xfrm>
            <a:off x="6199632" y="37856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ribu</a:t>
            </a:r>
            <a:endParaRPr lang="en-US" sz="1300" dirty="0"/>
          </a:p>
        </p:txBody>
      </p:sp>
      <p:sp>
        <p:nvSpPr>
          <p:cNvPr id="27" name="teks-417"/>
          <p:cNvSpPr txBox="1"/>
          <p:nvPr/>
        </p:nvSpPr>
        <p:spPr>
          <a:xfrm>
            <a:off x="6245352" y="4169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dihindari per tahun (−96%) · SDG 13</a:t>
            </a:r>
            <a:endParaRPr lang="en-US" sz="780" dirty="0"/>
          </a:p>
        </p:txBody>
      </p:sp>
      <p:sp>
        <p:nvSpPr>
          <p:cNvPr id="28" name="kotak-418"/>
          <p:cNvSpPr/>
          <p:nvPr/>
        </p:nvSpPr>
        <p:spPr>
          <a:xfrm>
            <a:off x="7562088" y="3694176"/>
            <a:ext cx="1353312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29" name="teks-419"/>
          <p:cNvSpPr txBox="1"/>
          <p:nvPr/>
        </p:nvSpPr>
        <p:spPr>
          <a:xfrm>
            <a:off x="7589520" y="37856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 GWh</a:t>
            </a:r>
            <a:endParaRPr lang="en-US" sz="1300" dirty="0"/>
          </a:p>
        </p:txBody>
      </p:sp>
      <p:sp>
        <p:nvSpPr>
          <p:cNvPr id="30" name="teks-420"/>
          <p:cNvSpPr txBox="1"/>
          <p:nvPr/>
        </p:nvSpPr>
        <p:spPr>
          <a:xfrm>
            <a:off x="7635240" y="4169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listrik neto per tahun · SDG 7</a:t>
            </a:r>
            <a:endParaRPr lang="en-US" sz="780" dirty="0"/>
          </a:p>
        </p:txBody>
      </p:sp>
      <p:sp>
        <p:nvSpPr>
          <p:cNvPr id="31" name="kotak-421"/>
          <p:cNvSpPr/>
          <p:nvPr/>
        </p:nvSpPr>
        <p:spPr>
          <a:xfrm>
            <a:off x="6172200" y="4736592"/>
            <a:ext cx="1353312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32" name="teks-422"/>
          <p:cNvSpPr txBox="1"/>
          <p:nvPr/>
        </p:nvSpPr>
        <p:spPr>
          <a:xfrm>
            <a:off x="6199632" y="48280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±682 ribu L</a:t>
            </a:r>
            <a:endParaRPr lang="en-US" sz="1300" dirty="0"/>
          </a:p>
        </p:txBody>
      </p:sp>
      <p:sp>
        <p:nvSpPr>
          <p:cNvPr id="33" name="teks-423"/>
          <p:cNvSpPr txBox="1"/>
          <p:nvPr/>
        </p:nvSpPr>
        <p:spPr>
          <a:xfrm>
            <a:off x="6245352" y="52120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tergantikan per tahun</a:t>
            </a:r>
            <a:endParaRPr lang="en-US" sz="780" dirty="0"/>
          </a:p>
        </p:txBody>
      </p:sp>
      <p:sp>
        <p:nvSpPr>
          <p:cNvPr id="34" name="kotak-424"/>
          <p:cNvSpPr/>
          <p:nvPr/>
        </p:nvSpPr>
        <p:spPr>
          <a:xfrm>
            <a:off x="7562088" y="4736592"/>
            <a:ext cx="1353312" cy="987552"/>
          </a:xfrm>
          <a:prstGeom prst="roundRect">
            <a:avLst>
              <a:gd name="adj" fmla="val 4630"/>
            </a:avLst>
          </a:prstGeom>
          <a:solidFill>
            <a:srgbClr val="EAF4FB"/>
          </a:solidFill>
          <a:ln w="9525">
            <a:solidFill>
              <a:srgbClr val="BFD6E8"/>
            </a:solidFill>
            <a:prstDash val="solid"/>
          </a:ln>
        </p:spPr>
      </p:sp>
      <p:sp>
        <p:nvSpPr>
          <p:cNvPr id="35" name="teks-425"/>
          <p:cNvSpPr txBox="1"/>
          <p:nvPr/>
        </p:nvSpPr>
        <p:spPr>
          <a:xfrm>
            <a:off x="7589520" y="48280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orang</a:t>
            </a:r>
            <a:endParaRPr lang="en-US" sz="1300" dirty="0"/>
          </a:p>
        </p:txBody>
      </p:sp>
      <p:sp>
        <p:nvSpPr>
          <p:cNvPr id="36" name="teks-426"/>
          <p:cNvSpPr txBox="1"/>
          <p:nvPr/>
        </p:nvSpPr>
        <p:spPr>
          <a:xfrm>
            <a:off x="7635240" y="52120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 lokal tetap · SDG 8</a:t>
            </a:r>
            <a:endParaRPr lang="en-US" sz="780" dirty="0"/>
          </a:p>
        </p:txBody>
      </p:sp>
      <p:sp>
        <p:nvSpPr>
          <p:cNvPr id="37" name="kotak-427"/>
          <p:cNvSpPr txBox="1"/>
          <p:nvPr/>
        </p:nvSpPr>
        <p:spPr>
          <a:xfrm>
            <a:off x="9052560" y="3419856"/>
            <a:ext cx="274320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(h) Tawaran kepada pemodal</a:t>
            </a:r>
            <a:endParaRPr lang="en-US" sz="820" dirty="0"/>
          </a:p>
        </p:txBody>
      </p:sp>
      <p:graphicFrame>
        <p:nvGraphicFramePr>
          <p:cNvPr id="10" name="tabel-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3694176"/>
          <a:ext cx="9144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30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pertama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dana puncak USD 5,5 juta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16,5% · ekuitas 21,3%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 tahun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 (utang 58%)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Armada 10 set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pendapatan 2035 USD 15,2 juta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2035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10,7 juta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NPV armada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4,1 juta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0C24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Hemat PKS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11%, modal nol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BF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39" name="kotak-429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1000" dirty="0"/>
          </a:p>
        </p:txBody>
      </p:sp>
      <p:sp>
        <p:nvSpPr>
          <p:cNvPr id="40" name="kotak-430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PKS lolos filter pertama (USD 73 juta per tahun); 10 set menghasilkan pendapatan USD 15,2 juta per tahun (2035) dan NPV armada USD 4,1 juta.</a:t>
            </a:r>
            <a:endParaRPr lang="en-US" sz="950" dirty="0"/>
          </a:p>
        </p:txBody>
      </p:sp>
      <p:sp>
        <p:nvSpPr>
          <p:cNvPr id="41" name="teks-431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TAM total pasar; SAM pasar yang dapat dilayani; SOM pasar yang dapat dicapai; SDG tujuan pembangunan berkelanjutan; K3 keselamatan dan kesehatan kerja; EBITDA laba sebelum bunga, pajak, penyusutan, amortisasi.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fin_market.py (Trase/SEI-PCS, GAPKI 2026, PASPI/BRIN); fin_core.py (kasus target, armada); neraca proses Rev 2; LCA AMS-III.H (UF 0,89; GWP 28); research/R1 dan R3. Sebaran provinsi dari direktori PKS (jumlah berbeda dari TAM karena sumber berbeda).</a:t>
            </a:r>
            <a:endParaRPr lang="en-US" sz="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Kesimpulan: limbah POME menjadi aset berimbal hasil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16,5%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algn="l" indent="0" marL="0">
              <a:buNone/>
            </a:pPr>
            <a:r>
              <a:rPr lang="en-US" sz="1900" b="1" dirty="0">
                <a:solidFill>
                  <a:srgbClr val="2B9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5,2 tahun</a:t>
            </a:r>
            <a:pPr algn="l" indent="0" marL="0">
              <a:buNone/>
            </a:pPr>
            <a:r>
              <a:rPr lang="en-US" sz="19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dengan dampak iklim terukur; langkah berikutnya adalah pilot dan kontrak</a:t>
            </a:r>
            <a:endParaRPr lang="en-US" sz="1900" dirty="0"/>
          </a:p>
        </p:txBody>
      </p:sp>
      <p:sp>
        <p:nvSpPr>
          <p:cNvPr id="3" name="kotak-432"/>
          <p:cNvSpPr txBox="1"/>
          <p:nvPr/>
        </p:nvSpPr>
        <p:spPr>
          <a:xfrm>
            <a:off x="41148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kotak-433"/>
          <p:cNvSpPr txBox="1"/>
          <p:nvPr/>
        </p:nvSpPr>
        <p:spPr>
          <a:xfrm>
            <a:off x="189280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800" dirty="0"/>
          </a:p>
        </p:txBody>
      </p:sp>
      <p:sp>
        <p:nvSpPr>
          <p:cNvPr id="5" name="kotak-434"/>
          <p:cNvSpPr txBox="1"/>
          <p:nvPr/>
        </p:nvSpPr>
        <p:spPr>
          <a:xfrm>
            <a:off x="3374136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Pesaing</a:t>
            </a:r>
            <a:endParaRPr lang="en-US" sz="800" dirty="0"/>
          </a:p>
        </p:txBody>
      </p:sp>
      <p:sp>
        <p:nvSpPr>
          <p:cNvPr id="6" name="kotak-435"/>
          <p:cNvSpPr txBox="1"/>
          <p:nvPr/>
        </p:nvSpPr>
        <p:spPr>
          <a:xfrm>
            <a:off x="4855464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Keuangan</a:t>
            </a:r>
            <a:endParaRPr lang="en-US" sz="800" dirty="0"/>
          </a:p>
        </p:txBody>
      </p:sp>
      <p:sp>
        <p:nvSpPr>
          <p:cNvPr id="7" name="kotak-436"/>
          <p:cNvSpPr txBox="1"/>
          <p:nvPr/>
        </p:nvSpPr>
        <p:spPr>
          <a:xfrm>
            <a:off x="6336792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800" dirty="0"/>
          </a:p>
        </p:txBody>
      </p:sp>
      <p:sp>
        <p:nvSpPr>
          <p:cNvPr id="8" name="kotak-437"/>
          <p:cNvSpPr txBox="1"/>
          <p:nvPr/>
        </p:nvSpPr>
        <p:spPr>
          <a:xfrm>
            <a:off x="7818120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800" dirty="0"/>
          </a:p>
        </p:txBody>
      </p:sp>
      <p:sp>
        <p:nvSpPr>
          <p:cNvPr id="9" name="kotak-438"/>
          <p:cNvSpPr txBox="1"/>
          <p:nvPr/>
        </p:nvSpPr>
        <p:spPr>
          <a:xfrm>
            <a:off x="9299448" y="6601968"/>
            <a:ext cx="1426464" cy="201168"/>
          </a:xfrm>
          <a:prstGeom prst="roundRect">
            <a:avLst>
              <a:gd name="adj" fmla="val 50000"/>
            </a:avLst>
          </a:prstGeom>
          <a:solidFill>
            <a:srgbClr val="0C2464"/>
          </a:solidFill>
          <a:ln w="12700">
            <a:solidFill>
              <a:srgbClr val="0C24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800" dirty="0"/>
          </a:p>
        </p:txBody>
      </p:sp>
      <p:sp>
        <p:nvSpPr>
          <p:cNvPr id="10" name="kotak-439"/>
          <p:cNvSpPr txBox="1"/>
          <p:nvPr/>
        </p:nvSpPr>
        <p:spPr>
          <a:xfrm>
            <a:off x="11338560" y="6583680"/>
            <a:ext cx="457200" cy="228600"/>
          </a:xfrm>
          <a:prstGeom prst="roundRect">
            <a:avLst>
              <a:gd name="adj" fmla="val 12000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kotak-440"/>
          <p:cNvSpPr/>
          <p:nvPr/>
        </p:nvSpPr>
        <p:spPr>
          <a:xfrm>
            <a:off x="411480" y="1143000"/>
            <a:ext cx="2194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3" name="teks-441"/>
          <p:cNvSpPr txBox="1"/>
          <p:nvPr/>
        </p:nvSpPr>
        <p:spPr>
          <a:xfrm>
            <a:off x="457200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−96%</a:t>
            </a:r>
            <a:endParaRPr lang="en-US" sz="1700" dirty="0"/>
          </a:p>
        </p:txBody>
      </p:sp>
      <p:sp>
        <p:nvSpPr>
          <p:cNvPr id="14" name="teks-442"/>
          <p:cNvSpPr txBox="1"/>
          <p:nvPr/>
        </p:nvSpPr>
        <p:spPr>
          <a:xfrm>
            <a:off x="457200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 metana kolam POME dihindari</a:t>
            </a:r>
            <a:endParaRPr lang="en-US" sz="840" dirty="0"/>
          </a:p>
        </p:txBody>
      </p:sp>
      <p:sp>
        <p:nvSpPr>
          <p:cNvPr id="15" name="kotak-443"/>
          <p:cNvSpPr/>
          <p:nvPr/>
        </p:nvSpPr>
        <p:spPr>
          <a:xfrm>
            <a:off x="2715768" y="1143000"/>
            <a:ext cx="2194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2B9FC8"/>
            </a:solidFill>
            <a:prstDash val="solid"/>
          </a:ln>
        </p:spPr>
      </p:sp>
      <p:sp>
        <p:nvSpPr>
          <p:cNvPr id="16" name="teks-444"/>
          <p:cNvSpPr txBox="1"/>
          <p:nvPr/>
        </p:nvSpPr>
        <p:spPr>
          <a:xfrm>
            <a:off x="2761488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0,0002%</a:t>
            </a:r>
            <a:endParaRPr lang="en-US" sz="1700" dirty="0"/>
          </a:p>
        </p:txBody>
      </p:sp>
      <p:sp>
        <p:nvSpPr>
          <p:cNvPr id="17" name="teks-445"/>
          <p:cNvSpPr txBox="1"/>
          <p:nvPr/>
        </p:nvSpPr>
        <p:spPr>
          <a:xfrm>
            <a:off x="2761488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 penutupan neraca massa</a:t>
            </a:r>
            <a:endParaRPr lang="en-US" sz="840" dirty="0"/>
          </a:p>
        </p:txBody>
      </p:sp>
      <p:sp>
        <p:nvSpPr>
          <p:cNvPr id="18" name="kotak-446"/>
          <p:cNvSpPr/>
          <p:nvPr/>
        </p:nvSpPr>
        <p:spPr>
          <a:xfrm>
            <a:off x="5020056" y="1143000"/>
            <a:ext cx="2194560" cy="658368"/>
          </a:xfrm>
          <a:prstGeom prst="roundRect">
            <a:avLst>
              <a:gd name="adj" fmla="val 6944"/>
            </a:avLst>
          </a:prstGeom>
          <a:solidFill>
            <a:srgbClr val="0C2464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19" name="teks-447"/>
          <p:cNvSpPr txBox="1"/>
          <p:nvPr/>
        </p:nvSpPr>
        <p:spPr>
          <a:xfrm>
            <a:off x="5065776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2,37 juta</a:t>
            </a:r>
            <a:endParaRPr lang="en-US" sz="1700" dirty="0"/>
          </a:p>
        </p:txBody>
      </p:sp>
      <p:sp>
        <p:nvSpPr>
          <p:cNvPr id="20" name="teks-448"/>
          <p:cNvSpPr txBox="1"/>
          <p:nvPr/>
        </p:nvSpPr>
        <p:spPr>
          <a:xfrm>
            <a:off x="5065776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per set, 20 tahun</a:t>
            </a:r>
            <a:endParaRPr lang="en-US" sz="840" dirty="0"/>
          </a:p>
        </p:txBody>
      </p:sp>
      <p:sp>
        <p:nvSpPr>
          <p:cNvPr id="21" name="kotak-449"/>
          <p:cNvSpPr/>
          <p:nvPr/>
        </p:nvSpPr>
        <p:spPr>
          <a:xfrm>
            <a:off x="7324344" y="1143000"/>
            <a:ext cx="2194560" cy="658368"/>
          </a:xfrm>
          <a:prstGeom prst="roundRect">
            <a:avLst>
              <a:gd name="adj" fmla="val 6944"/>
            </a:avLst>
          </a:prstGeom>
          <a:solidFill>
            <a:srgbClr val="0C2464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22" name="teks-450"/>
          <p:cNvSpPr txBox="1"/>
          <p:nvPr/>
        </p:nvSpPr>
        <p:spPr>
          <a:xfrm>
            <a:off x="7370064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16,5%</a:t>
            </a:r>
            <a:endParaRPr lang="en-US" sz="1700" dirty="0"/>
          </a:p>
        </p:txBody>
      </p:sp>
      <p:sp>
        <p:nvSpPr>
          <p:cNvPr id="23" name="teks-451"/>
          <p:cNvSpPr txBox="1"/>
          <p:nvPr/>
        </p:nvSpPr>
        <p:spPr>
          <a:xfrm>
            <a:off x="7370064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proyek; ekuitas 21,3%</a:t>
            </a:r>
            <a:endParaRPr lang="en-US" sz="840" dirty="0"/>
          </a:p>
        </p:txBody>
      </p:sp>
      <p:sp>
        <p:nvSpPr>
          <p:cNvPr id="24" name="kotak-452"/>
          <p:cNvSpPr/>
          <p:nvPr/>
        </p:nvSpPr>
        <p:spPr>
          <a:xfrm>
            <a:off x="9628632" y="1143000"/>
            <a:ext cx="2194560" cy="658368"/>
          </a:xfrm>
          <a:prstGeom prst="roundRect">
            <a:avLst>
              <a:gd name="adj" fmla="val 6944"/>
            </a:avLst>
          </a:prstGeom>
          <a:solidFill>
            <a:srgbClr val="0C2464"/>
          </a:solidFill>
          <a:ln w="12700">
            <a:solidFill>
              <a:srgbClr val="0C2464"/>
            </a:solidFill>
            <a:prstDash val="solid"/>
          </a:ln>
        </p:spPr>
      </p:sp>
      <p:sp>
        <p:nvSpPr>
          <p:cNvPr id="25" name="teks-453"/>
          <p:cNvSpPr txBox="1"/>
          <p:nvPr/>
        </p:nvSpPr>
        <p:spPr>
          <a:xfrm>
            <a:off x="9674352" y="1170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 tahun</a:t>
            </a:r>
            <a:endParaRPr lang="en-US" sz="1700" dirty="0"/>
          </a:p>
        </p:txBody>
      </p:sp>
      <p:sp>
        <p:nvSpPr>
          <p:cNvPr id="26" name="teks-454"/>
          <p:cNvSpPr txBox="1"/>
          <p:nvPr/>
        </p:nvSpPr>
        <p:spPr>
          <a:xfrm>
            <a:off x="9674352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payback; DSCR 1,90</a:t>
            </a:r>
            <a:endParaRPr lang="en-US" sz="840" dirty="0"/>
          </a:p>
        </p:txBody>
      </p:sp>
      <p:sp>
        <p:nvSpPr>
          <p:cNvPr id="27" name="kotak-455"/>
          <p:cNvSpPr txBox="1"/>
          <p:nvPr/>
        </p:nvSpPr>
        <p:spPr>
          <a:xfrm>
            <a:off x="411480" y="1901952"/>
            <a:ext cx="3703320" cy="256032"/>
          </a:xfrm>
          <a:prstGeom prst="roundRect">
            <a:avLst>
              <a:gd name="adj" fmla="val 14286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Masalahnya nyata</a:t>
            </a:r>
            <a:endParaRPr lang="en-US" sz="1000" dirty="0"/>
          </a:p>
        </p:txBody>
      </p:sp>
      <p:sp>
        <p:nvSpPr>
          <p:cNvPr id="28" name="kotak-456"/>
          <p:cNvSpPr/>
          <p:nvPr/>
        </p:nvSpPr>
        <p:spPr>
          <a:xfrm>
            <a:off x="411480" y="2157984"/>
            <a:ext cx="370332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C2464"/>
            </a:solidFill>
            <a:prstDash val="solid"/>
          </a:ln>
        </p:spPr>
      </p:sp>
      <p:sp>
        <p:nvSpPr>
          <p:cNvPr id="29" name="teks-457"/>
          <p:cNvSpPr txBox="1"/>
          <p:nvPr/>
        </p:nvSpPr>
        <p:spPr>
          <a:xfrm>
            <a:off x="521208" y="2231136"/>
            <a:ext cx="3493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±1.150 PKS melepas metana POME ke udara: ≈ 26 juta tCO₂e per tahun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bersolar berat membayar USD 0,67 juta per tahun untuk listrik diesel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yang ada menuntut modal PKS atau klaster dengan pipa gas</a:t>
            </a:r>
            <a:endParaRPr lang="en-US" sz="940" dirty="0"/>
          </a:p>
        </p:txBody>
      </p:sp>
      <p:sp>
        <p:nvSpPr>
          <p:cNvPr id="30" name="kotak-458"/>
          <p:cNvSpPr txBox="1"/>
          <p:nvPr/>
        </p:nvSpPr>
        <p:spPr>
          <a:xfrm>
            <a:off x="4251960" y="1901952"/>
            <a:ext cx="3703320" cy="256032"/>
          </a:xfrm>
          <a:prstGeom prst="roundRect">
            <a:avLst>
              <a:gd name="adj" fmla="val 14286"/>
            </a:avLst>
          </a:prstGeom>
          <a:solidFill>
            <a:srgbClr val="1F4E9E"/>
          </a:solidFill>
          <a:ln>
            <a:solidFill>
              <a:srgbClr val="1F4E9E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Solusinya teruji</a:t>
            </a:r>
            <a:endParaRPr lang="en-US" sz="1000" dirty="0"/>
          </a:p>
        </p:txBody>
      </p:sp>
      <p:sp>
        <p:nvSpPr>
          <p:cNvPr id="31" name="kotak-459"/>
          <p:cNvSpPr/>
          <p:nvPr/>
        </p:nvSpPr>
        <p:spPr>
          <a:xfrm>
            <a:off x="4251960" y="2157984"/>
            <a:ext cx="370332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E9E"/>
            </a:solidFill>
            <a:prstDash val="solid"/>
          </a:ln>
        </p:spPr>
      </p:sp>
      <p:sp>
        <p:nvSpPr>
          <p:cNvPr id="32" name="teks-460"/>
          <p:cNvSpPr txBox="1"/>
          <p:nvPr/>
        </p:nvSpPr>
        <p:spPr>
          <a:xfrm>
            <a:off x="4361688" y="2231136"/>
            <a:ext cx="3493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Reaktor kontak termofilik 55 °C, waktu tinggal 5 hari; neraca massa menutup 0,0002%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m³ POME menjadi 40 kWh neto; satu set 60 t TBS/jam: 6,5 GWh per tahun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(21 kontainer), dapat dipindah; skema BOO: modal PKS nol</a:t>
            </a:r>
            <a:endParaRPr lang="en-US" sz="940" dirty="0"/>
          </a:p>
        </p:txBody>
      </p:sp>
      <p:sp>
        <p:nvSpPr>
          <p:cNvPr id="33" name="kotak-461"/>
          <p:cNvSpPr txBox="1"/>
          <p:nvPr/>
        </p:nvSpPr>
        <p:spPr>
          <a:xfrm>
            <a:off x="8092440" y="1901952"/>
            <a:ext cx="3703320" cy="256032"/>
          </a:xfrm>
          <a:prstGeom prst="roundRect">
            <a:avLst>
              <a:gd name="adj" fmla="val 14286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Nilainya terukur</a:t>
            </a:r>
            <a:endParaRPr lang="en-US" sz="1000" dirty="0"/>
          </a:p>
        </p:txBody>
      </p:sp>
      <p:sp>
        <p:nvSpPr>
          <p:cNvPr id="34" name="kotak-462"/>
          <p:cNvSpPr/>
          <p:nvPr/>
        </p:nvSpPr>
        <p:spPr>
          <a:xfrm>
            <a:off x="8092440" y="2157984"/>
            <a:ext cx="370332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E8E41"/>
            </a:solidFill>
            <a:prstDash val="solid"/>
          </a:ln>
        </p:spPr>
      </p:sp>
      <p:sp>
        <p:nvSpPr>
          <p:cNvPr id="35" name="teks-463"/>
          <p:cNvSpPr txBox="1"/>
          <p:nvPr/>
        </p:nvSpPr>
        <p:spPr>
          <a:xfrm>
            <a:off x="8202168" y="2231136"/>
            <a:ext cx="3493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USD 2,37 juta per set; PKS hemat 11% biaya POME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set: pendapatan USD 15,2 juta per tahun (2035), NPV armada USD 4,1 juta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±320 ribu tCO₂e dihindari per tahun pada 2035</a:t>
            </a:r>
            <a:endParaRPr lang="en-US" sz="940" dirty="0"/>
          </a:p>
        </p:txBody>
      </p:sp>
      <p:sp>
        <p:nvSpPr>
          <p:cNvPr id="36" name="kotak-464"/>
          <p:cNvSpPr txBox="1"/>
          <p:nvPr/>
        </p:nvSpPr>
        <p:spPr>
          <a:xfrm>
            <a:off x="411480" y="3685032"/>
            <a:ext cx="5577840" cy="219456"/>
          </a:xfrm>
          <a:prstGeom prst="roundRect">
            <a:avLst>
              <a:gd name="adj" fmla="val 16667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Ketahanan kasus target: NPV tetap positif</a:t>
            </a:r>
            <a:endParaRPr lang="en-US" sz="950" dirty="0"/>
          </a:p>
        </p:txBody>
      </p:sp>
      <p:pic>
        <p:nvPicPr>
          <p:cNvPr id="37" name="grafik-robust" descr="/home/user/aspebindo/deck/img/f_rob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931920"/>
            <a:ext cx="5577840" cy="1520190"/>
          </a:xfrm>
          <a:prstGeom prst="rect">
            <a:avLst/>
          </a:prstGeom>
        </p:spPr>
      </p:pic>
      <p:sp>
        <p:nvSpPr>
          <p:cNvPr id="38" name="teks-465"/>
          <p:cNvSpPr txBox="1"/>
          <p:nvPr/>
        </p:nvSpPr>
        <p:spPr>
          <a:xfrm>
            <a:off x="411480" y="546811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impas NPV = 0: beban PKS 54% · CAPEX +47% · fee USD 0,26/t TBS</a:t>
            </a:r>
            <a:endParaRPr lang="en-US" sz="800" dirty="0"/>
          </a:p>
        </p:txBody>
      </p:sp>
      <p:sp>
        <p:nvSpPr>
          <p:cNvPr id="39" name="kotak-466"/>
          <p:cNvSpPr txBox="1"/>
          <p:nvPr/>
        </p:nvSpPr>
        <p:spPr>
          <a:xfrm>
            <a:off x="6126480" y="3685032"/>
            <a:ext cx="5669280" cy="219456"/>
          </a:xfrm>
          <a:prstGeom prst="roundRect">
            <a:avLst>
              <a:gd name="adj" fmla="val 16667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Peta jalan dan permintaan kami</a:t>
            </a:r>
            <a:endParaRPr lang="en-US" sz="950" dirty="0"/>
          </a:p>
        </p:txBody>
      </p:sp>
      <p:sp>
        <p:nvSpPr>
          <p:cNvPr id="40" name="kotak-467"/>
          <p:cNvSpPr txBox="1"/>
          <p:nvPr/>
        </p:nvSpPr>
        <p:spPr>
          <a:xfrm>
            <a:off x="6126480" y="395935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90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6 · data PKS</a:t>
            </a:r>
            <a:endParaRPr lang="en-US" sz="900" dirty="0"/>
          </a:p>
        </p:txBody>
      </p:sp>
      <p:sp>
        <p:nvSpPr>
          <p:cNvPr id="41" name="garis-468"/>
          <p:cNvSpPr/>
          <p:nvPr/>
        </p:nvSpPr>
        <p:spPr>
          <a:xfrm>
            <a:off x="7223760" y="4187952"/>
            <a:ext cx="4572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42" name="kotak-469"/>
          <p:cNvSpPr txBox="1"/>
          <p:nvPr/>
        </p:nvSpPr>
        <p:spPr>
          <a:xfrm>
            <a:off x="7269480" y="395935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90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15 · kuotasi</a:t>
            </a:r>
            <a:endParaRPr lang="en-US" sz="900" dirty="0"/>
          </a:p>
        </p:txBody>
      </p:sp>
      <p:sp>
        <p:nvSpPr>
          <p:cNvPr id="43" name="garis-470"/>
          <p:cNvSpPr/>
          <p:nvPr/>
        </p:nvSpPr>
        <p:spPr>
          <a:xfrm>
            <a:off x="8366760" y="4187952"/>
            <a:ext cx="4572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44" name="kotak-471"/>
          <p:cNvSpPr txBox="1"/>
          <p:nvPr/>
        </p:nvSpPr>
        <p:spPr>
          <a:xfrm>
            <a:off x="8412480" y="395935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90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24 · FEED, kontrak</a:t>
            </a:r>
            <a:endParaRPr lang="en-US" sz="900" dirty="0"/>
          </a:p>
        </p:txBody>
      </p:sp>
      <p:sp>
        <p:nvSpPr>
          <p:cNvPr id="45" name="garis-472"/>
          <p:cNvSpPr/>
          <p:nvPr/>
        </p:nvSpPr>
        <p:spPr>
          <a:xfrm>
            <a:off x="9509760" y="4187952"/>
            <a:ext cx="4572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46" name="kotak-473"/>
          <p:cNvSpPr txBox="1"/>
          <p:nvPr/>
        </p:nvSpPr>
        <p:spPr>
          <a:xfrm>
            <a:off x="9555480" y="395935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C8452F"/>
          </a:solidFill>
          <a:ln>
            <a:solidFill>
              <a:srgbClr val="C8452F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90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30 · pilot</a:t>
            </a:r>
            <a:endParaRPr lang="en-US" sz="900" dirty="0"/>
          </a:p>
        </p:txBody>
      </p:sp>
      <p:sp>
        <p:nvSpPr>
          <p:cNvPr id="47" name="garis-474"/>
          <p:cNvSpPr/>
          <p:nvPr/>
        </p:nvSpPr>
        <p:spPr>
          <a:xfrm>
            <a:off x="10652760" y="4187952"/>
            <a:ext cx="45720" cy="0"/>
          </a:xfrm>
          <a:prstGeom prst="line">
            <a:avLst/>
          </a:prstGeom>
          <a:noFill/>
          <a:ln w="19050">
            <a:solidFill>
              <a:srgbClr val="0C2464"/>
            </a:solidFill>
            <a:prstDash val="solid"/>
            <a:tailEnd type="triangle"/>
          </a:ln>
        </p:spPr>
      </p:sp>
      <p:sp>
        <p:nvSpPr>
          <p:cNvPr id="48" name="kotak-475"/>
          <p:cNvSpPr txBox="1"/>
          <p:nvPr/>
        </p:nvSpPr>
        <p:spPr>
          <a:xfrm>
            <a:off x="10698480" y="395935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3E8E41"/>
          </a:solidFill>
          <a:ln>
            <a:solidFill>
              <a:srgbClr val="3E8E41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</a:t>
            </a:r>
            <a:endParaRPr lang="en-US" sz="90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· set 1</a:t>
            </a:r>
            <a:endParaRPr lang="en-US" sz="900" dirty="0"/>
          </a:p>
        </p:txBody>
      </p:sp>
      <p:sp>
        <p:nvSpPr>
          <p:cNvPr id="49" name="kotak-476"/>
          <p:cNvSpPr txBox="1"/>
          <p:nvPr/>
        </p:nvSpPr>
        <p:spPr>
          <a:xfrm>
            <a:off x="6126480" y="4526280"/>
            <a:ext cx="2807208" cy="512064"/>
          </a:xfrm>
          <a:prstGeom prst="roundRect">
            <a:avLst>
              <a:gd name="adj" fmla="val 7143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 mitra pilot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 TBS/jam, solar ≥ 3,0 L/t, jaringan 20 kV ≤ 2 km</a:t>
            </a:r>
            <a:endParaRPr lang="en-US" sz="900" dirty="0"/>
          </a:p>
        </p:txBody>
      </p:sp>
      <p:sp>
        <p:nvSpPr>
          <p:cNvPr id="50" name="kotak-477"/>
          <p:cNvSpPr txBox="1"/>
          <p:nvPr/>
        </p:nvSpPr>
        <p:spPr>
          <a:xfrm>
            <a:off x="8988552" y="4526280"/>
            <a:ext cx="2807208" cy="512064"/>
          </a:xfrm>
          <a:prstGeom prst="roundRect">
            <a:avLst>
              <a:gd name="adj" fmla="val 7143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pengembangan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1,3 juta: lab, pilot, FEED, izin, kuotasi</a:t>
            </a:r>
            <a:endParaRPr lang="en-US" sz="900" dirty="0"/>
          </a:p>
        </p:txBody>
      </p:sp>
      <p:sp>
        <p:nvSpPr>
          <p:cNvPr id="51" name="kotak-478"/>
          <p:cNvSpPr txBox="1"/>
          <p:nvPr/>
        </p:nvSpPr>
        <p:spPr>
          <a:xfrm>
            <a:off x="6126480" y="5093208"/>
            <a:ext cx="2807208" cy="512064"/>
          </a:xfrm>
          <a:prstGeom prst="roundRect">
            <a:avLst>
              <a:gd name="adj" fmla="val 7143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Pemodal set pertama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5,5 juta, utang 58%, IRR 16,5%</a:t>
            </a:r>
            <a:endParaRPr lang="en-US" sz="900" dirty="0"/>
          </a:p>
        </p:txBody>
      </p:sp>
      <p:sp>
        <p:nvSpPr>
          <p:cNvPr id="52" name="kotak-479"/>
          <p:cNvSpPr txBox="1"/>
          <p:nvPr/>
        </p:nvSpPr>
        <p:spPr>
          <a:xfrm>
            <a:off x="8988552" y="5093208"/>
            <a:ext cx="2807208" cy="512064"/>
          </a:xfrm>
          <a:prstGeom prst="roundRect">
            <a:avLst>
              <a:gd name="adj" fmla="val 7143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12700" tIns="76200" rIns="76200" bIns="127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2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teknologi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GFS dan genset, EPC lokal, universitas</a:t>
            </a:r>
            <a:endParaRPr lang="en-US" sz="900" dirty="0"/>
          </a:p>
        </p:txBody>
      </p:sp>
      <p:sp>
        <p:nvSpPr>
          <p:cNvPr id="53" name="kotak-480"/>
          <p:cNvSpPr txBox="1"/>
          <p:nvPr/>
        </p:nvSpPr>
        <p:spPr>
          <a:xfrm>
            <a:off x="411480" y="59436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C2464"/>
          </a:solidFill>
          <a:ln>
            <a:solidFill>
              <a:srgbClr val="0C2464"/>
            </a:solidFill>
          </a:ln>
        </p:spPr>
        <p:txBody>
          <a:bodyPr wrap="square" lIns="25400" tIns="63500" rIns="635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Penutup</a:t>
            </a:r>
            <a:endParaRPr lang="en-US" sz="1000" dirty="0"/>
          </a:p>
        </p:txBody>
      </p:sp>
      <p:sp>
        <p:nvSpPr>
          <p:cNvPr id="54" name="kotak-481"/>
          <p:cNvSpPr txBox="1"/>
          <p:nvPr/>
        </p:nvSpPr>
        <p:spPr>
          <a:xfrm>
            <a:off x="1828800" y="5943600"/>
            <a:ext cx="9966960" cy="347472"/>
          </a:xfrm>
          <a:prstGeom prst="roundRect">
            <a:avLst>
              <a:gd name="adj" fmla="val 13158"/>
            </a:avLst>
          </a:prstGeom>
          <a:solidFill>
            <a:srgbClr val="D6ECF6"/>
          </a:solidFill>
          <a:ln w="9525">
            <a:solidFill>
              <a:srgbClr val="2B9FC8"/>
            </a:solidFill>
          </a:ln>
        </p:spPr>
        <p:txBody>
          <a:bodyPr wrap="square" lIns="25400" tIns="101600" rIns="1016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Metana POME sudah bisa ditangkap; yang kami bawa adalah cara PKS membayarnya tanpa modal, imbal hasil yang menarik bagi pemodal, dan dampak iklim yang terukur.</a:t>
            </a:r>
            <a:endParaRPr lang="en-US" sz="950" dirty="0"/>
          </a:p>
        </p:txBody>
      </p:sp>
      <p:sp>
        <p:nvSpPr>
          <p:cNvPr id="55" name="teks-482"/>
          <p:cNvSpPr txBox="1"/>
          <p:nvPr/>
        </p:nvSpPr>
        <p:spPr>
          <a:xfrm>
            <a:off x="411480" y="6336792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Singkatan: TRL tingkat kesiapan teknologi; FEED desain rekayasa awal; FID keputusan investasi akhir; GFS baja berlapis kaca; DSCR rasio cakupan layanan utang; BOO bangun-miliki-operasikan.</a:t>
            </a:r>
            <a:endParaRPr lang="en-US" sz="560" dirty="0"/>
          </a:p>
          <a:p>
            <a:pPr indent="0" marL="0">
              <a:buNone/>
            </a:pPr>
            <a:r>
              <a:rPr lang="en-US" sz="56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ringkasan slide 2–9 (fin_core.py v4; BG_Model_Keuangan.xlsx). Kasus target = solar 3,0 L/t (G0) + CAPEX −15% (G1) + fee USD 1,35/t (G2) + karbon USD 8,3/t. Anggaran adalah usulan tim.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C 2026 Malataxtax">
  <a:themeElements>
    <a:clrScheme name="EIC 2026 Malataxtax">
      <a:dk1>
        <a:srgbClr val="14213D"/>
      </a:dk1>
      <a:lt1>
        <a:srgbClr val="FFFFFF"/>
      </a:lt1>
      <a:dk2>
        <a:srgbClr val="0C2464"/>
      </a:dk2>
      <a:lt2>
        <a:srgbClr val="EAF4FB"/>
      </a:lt2>
      <a:accent1>
        <a:srgbClr val="1F4E9E"/>
      </a:accent1>
      <a:accent2>
        <a:srgbClr val="3E8E41"/>
      </a:accent2>
      <a:accent3>
        <a:srgbClr val="2B9FC8"/>
      </a:accent3>
      <a:accent4>
        <a:srgbClr val="8CC63F"/>
      </a:accent4>
      <a:accent5>
        <a:srgbClr val="6898C8"/>
      </a:accent5>
      <a:accent6>
        <a:srgbClr val="5B6B7F"/>
      </a:accent6>
      <a:hlink>
        <a:srgbClr val="1F4E9E"/>
      </a:hlink>
      <a:folHlink>
        <a:srgbClr val="0C2464"/>
      </a:folHlink>
    </a:clrScheme>
    <a:fontScheme name="EIC 2026 Malataxta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Malataxtax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Biogas sebagai Layanan: Pengolah POME Termofilik Modular untuk PKS</dc:title>
  <dc:subject>EIC 2026 - Energy Business Plan Competition, Subtema 3</dc:subject>
  <dc:creator>Tim Malataxtax</dc:creator>
  <cp:lastModifiedBy>Tim Malataxtax</cp:lastModifiedBy>
  <cp:revision>1</cp:revision>
  <dcterms:created xsi:type="dcterms:W3CDTF">2026-10-16T15:26:14Z</dcterms:created>
  <dcterms:modified xsi:type="dcterms:W3CDTF">2026-10-16T15:26:14Z</dcterms:modified>
</cp:coreProperties>
</file>