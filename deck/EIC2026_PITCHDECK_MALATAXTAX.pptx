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ampul" id="{3f692b72-4e2b-3b29-0dbe-dd24e2276a7f}">
          <p14:sldIdLst>
            <p14:sldId id="256"/>
          </p14:sldIdLst>
        </p14:section>
        <p14:section name="Latar belakang dan masalah" id="{8cd3a87f-ee08-6505-7661-7d5d1773cad7}">
          <p14:sldIdLst>
            <p14:sldId id="257"/>
          </p14:sldIdLst>
        </p14:section>
        <p14:section name="Solusi: konsep" id="{6e5a518c-045c-1ce0-83cb-359395f6105c}">
          <p14:sldIdLst>
            <p14:sldId id="258"/>
          </p14:sldIdLst>
        </p14:section>
        <p14:section name="Solusi: validitas teknis" id="{cad51563-52aa-7322-0928-fca525c9c280}">
          <p14:sldIdLst>
            <p14:sldId id="259"/>
          </p14:sldIdLst>
        </p14:section>
        <p14:section name="Solusi: desain produk" id="{c06cf6e4-fbf2-3e51-55a3-399534e84e30}">
          <p14:sldIdLst>
            <p14:sldId id="260"/>
          </p14:sldIdLst>
        </p14:section>
        <p14:section name="Analisis pesaing" id="{20f5f7e7-1898-eb6d-abff-5bbcc70bd1a8}">
          <p14:sldIdLst>
            <p14:sldId id="261"/>
          </p14:sldIdLst>
        </p14:section>
        <p14:section name="Model keuangan" id="{dd843fc3-439e-47e1-1e3c-e929b588b5a5}">
          <p14:sldIdLst>
            <p14:sldId id="262"/>
          </p14:sldIdLst>
        </p14:section>
        <p14:section name="Rencana implementasi" id="{d07eb5b2-4bf0-d8d5-157a-1cf339ccd31b}">
          <p14:sldIdLst>
            <p14:sldId id="263"/>
          </p14:sldIdLst>
        </p14:section>
        <p14:section name="Peluang bisnis dan dampak" id="{ed81c2fe-cfc6-ebf6-6e9e-4bb3f6332e3e}">
          <p14:sldIdLst>
            <p14:sldId id="264"/>
          </p14:sldIdLst>
        </p14:section>
        <p14:section name="Kesimpulan" id="{33912ec4-6665-4bc7-861a-d2cb051186b6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</c:v>
                </c:pt>
              </c:strCache>
            </c:strRef>
          </c:tx>
          <c:spPr>
            <a:solidFill>
              <a:srgbClr val="5B6B7F"/>
            </a:solidFill>
            <a:effectLst/>
          </c:spPr>
          <c:invertIfNegative val="0"/>
          <c:dLbls>
            <c:numFmt formatCode="[$-421]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6B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A5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EF2F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E8E4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Energi biogas (LHV)</c:v>
                  </c:pt>
                  <c:pt idx="1">
                    <c:v>Listrik kotor</c:v>
                  </c:pt>
                  <c:pt idx="2">
                    <c:v>Panas selubung</c:v>
                  </c:pt>
                  <c:pt idx="3">
                    <c:v>Panas gas buang</c:v>
                  </c:pt>
                  <c:pt idx="4">
                    <c:v>Rugi radiasi dan sisa</c:v>
                  </c:pt>
                  <c:pt idx="5">
                    <c:v>Pemakaian sendiri</c:v>
                  </c:pt>
                  <c:pt idx="6">
                    <c:v>Listrik neto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2866.5130113140112</c:v>
                </c:pt>
                <c:pt idx="1">
                  <c:v>1126.5831692787917</c:v>
                </c:pt>
                <c:pt idx="2">
                  <c:v>716.6282528285028</c:v>
                </c:pt>
                <c:pt idx="3">
                  <c:v>688.3762174374532</c:v>
                </c:pt>
                <c:pt idx="4">
                  <c:v>334.9253717692635</c:v>
                </c:pt>
                <c:pt idx="5">
                  <c:v>101.58183030730822</c:v>
                </c:pt>
                <c:pt idx="6">
                  <c:v>1025.0013389714836</c:v>
                </c:pt>
              </c:numCache>
            </c:numRef>
          </c:val>
        </c:ser>
        <c:dLbls>
          <c:numFmt formatCode="[$-421]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Daya neto (kW)</c:v>
                </c:pt>
              </c:strCache>
            </c:strRef>
          </c:tx>
          <c:spPr>
            <a:solidFill>
              <a:srgbClr val="1F4E9E"/>
            </a:solidFill>
            <a:ln w="15875" cap="flat">
              <a:solidFill>
                <a:srgbClr val="1F4E9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4E9E"/>
              </a:solidFill>
              <a:ln w="9525" cap="flat">
                <a:solidFill>
                  <a:srgbClr val="1F4E9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Sheet1!$A$2:$A$366</c:f>
              <c:multiLvlStrCache>
                <c:ptCount val="365"/>
                <c:lvl>
                  <c:pt idx="0">
                    <c:v>Jan</c:v>
                  </c:pt>
                  <c:pt idx="1">
                    <c:v>  </c:v>
                  </c:pt>
                  <c:pt idx="2">
                    <c:v>   </c:v>
                  </c:pt>
                  <c:pt idx="3">
                    <c:v>    </c:v>
                  </c:pt>
                  <c:pt idx="4">
                    <c:v>     </c:v>
                  </c:pt>
                  <c:pt idx="5">
                    <c:v>      </c:v>
                  </c:pt>
                  <c:pt idx="6">
                    <c:v>       </c:v>
                  </c:pt>
                  <c:pt idx="7">
                    <c:v>        </c:v>
                  </c:pt>
                  <c:pt idx="8">
                    <c:v>         </c:v>
                  </c:pt>
                  <c:pt idx="9">
                    <c:v>          </c:v>
                  </c:pt>
                  <c:pt idx="10">
                    <c:v>           </c:v>
                  </c:pt>
                  <c:pt idx="11">
                    <c:v>            </c:v>
                  </c:pt>
                  <c:pt idx="12">
                    <c:v>             </c:v>
                  </c:pt>
                  <c:pt idx="13">
                    <c:v>              </c:v>
                  </c:pt>
                  <c:pt idx="14">
                    <c:v>               </c:v>
                  </c:pt>
                  <c:pt idx="15">
                    <c:v>                </c:v>
                  </c:pt>
                  <c:pt idx="16">
                    <c:v>                 </c:v>
                  </c:pt>
                  <c:pt idx="17">
                    <c:v>                  </c:v>
                  </c:pt>
                  <c:pt idx="18">
                    <c:v>                   </c:v>
                  </c:pt>
                  <c:pt idx="19">
                    <c:v>                    </c:v>
                  </c:pt>
                  <c:pt idx="20">
                    <c:v>                     </c:v>
                  </c:pt>
                  <c:pt idx="21">
                    <c:v>                      </c:v>
                  </c:pt>
                  <c:pt idx="22">
                    <c:v>                       </c:v>
                  </c:pt>
                  <c:pt idx="23">
                    <c:v>                        </c:v>
                  </c:pt>
                  <c:pt idx="24">
                    <c:v>                         </c:v>
                  </c:pt>
                  <c:pt idx="25">
                    <c:v>                          </c:v>
                  </c:pt>
                  <c:pt idx="26">
                    <c:v>                           </c:v>
                  </c:pt>
                  <c:pt idx="27">
                    <c:v>                            </c:v>
                  </c:pt>
                  <c:pt idx="28">
                    <c:v>                             </c:v>
                  </c:pt>
                  <c:pt idx="29">
                    <c:v> </c:v>
                  </c:pt>
                  <c:pt idx="30">
                    <c:v>Feb</c:v>
                  </c:pt>
                  <c:pt idx="31">
                    <c:v>   </c:v>
                  </c:pt>
                  <c:pt idx="32">
                    <c:v>    </c:v>
                  </c:pt>
                  <c:pt idx="33">
                    <c:v>     </c:v>
                  </c:pt>
                  <c:pt idx="34">
                    <c:v>      </c:v>
                  </c:pt>
                  <c:pt idx="35">
                    <c:v>       </c:v>
                  </c:pt>
                  <c:pt idx="36">
                    <c:v>        </c:v>
                  </c:pt>
                  <c:pt idx="37">
                    <c:v>         </c:v>
                  </c:pt>
                  <c:pt idx="38">
                    <c:v>          </c:v>
                  </c:pt>
                  <c:pt idx="39">
                    <c:v>           </c:v>
                  </c:pt>
                  <c:pt idx="40">
                    <c:v>            </c:v>
                  </c:pt>
                  <c:pt idx="41">
                    <c:v>             </c:v>
                  </c:pt>
                  <c:pt idx="42">
                    <c:v>              </c:v>
                  </c:pt>
                  <c:pt idx="43">
                    <c:v>               </c:v>
                  </c:pt>
                  <c:pt idx="44">
                    <c:v>                </c:v>
                  </c:pt>
                  <c:pt idx="45">
                    <c:v>                 </c:v>
                  </c:pt>
                  <c:pt idx="46">
                    <c:v>                  </c:v>
                  </c:pt>
                  <c:pt idx="47">
                    <c:v>                   </c:v>
                  </c:pt>
                  <c:pt idx="48">
                    <c:v>                    </c:v>
                  </c:pt>
                  <c:pt idx="49">
                    <c:v>                     </c:v>
                  </c:pt>
                  <c:pt idx="50">
                    <c:v>                      </c:v>
                  </c:pt>
                  <c:pt idx="51">
                    <c:v>                       </c:v>
                  </c:pt>
                  <c:pt idx="52">
                    <c:v>                        </c:v>
                  </c:pt>
                  <c:pt idx="53">
                    <c:v>                         </c:v>
                  </c:pt>
                  <c:pt idx="54">
                    <c:v>                          </c:v>
                  </c:pt>
                  <c:pt idx="55">
                    <c:v>                           </c:v>
                  </c:pt>
                  <c:pt idx="56">
                    <c:v>                            </c:v>
                  </c:pt>
                  <c:pt idx="57">
                    <c:v>                             </c:v>
                  </c:pt>
                  <c:pt idx="58">
                    <c:v> </c:v>
                  </c:pt>
                  <c:pt idx="59">
                    <c:v>  </c:v>
                  </c:pt>
                  <c:pt idx="60">
                    <c:v>Mar</c:v>
                  </c:pt>
                  <c:pt idx="61">
                    <c:v>    </c:v>
                  </c:pt>
                  <c:pt idx="62">
                    <c:v>     </c:v>
                  </c:pt>
                  <c:pt idx="63">
                    <c:v>      </c:v>
                  </c:pt>
                  <c:pt idx="64">
                    <c:v>       </c:v>
                  </c:pt>
                  <c:pt idx="65">
                    <c:v>        </c:v>
                  </c:pt>
                  <c:pt idx="66">
                    <c:v>         </c:v>
                  </c:pt>
                  <c:pt idx="67">
                    <c:v>          </c:v>
                  </c:pt>
                  <c:pt idx="68">
                    <c:v>           </c:v>
                  </c:pt>
                  <c:pt idx="69">
                    <c:v>            </c:v>
                  </c:pt>
                  <c:pt idx="70">
                    <c:v>             </c:v>
                  </c:pt>
                  <c:pt idx="71">
                    <c:v>              </c:v>
                  </c:pt>
                  <c:pt idx="72">
                    <c:v>               </c:v>
                  </c:pt>
                  <c:pt idx="73">
                    <c:v>                </c:v>
                  </c:pt>
                  <c:pt idx="74">
                    <c:v>                 </c:v>
                  </c:pt>
                  <c:pt idx="75">
                    <c:v>                  </c:v>
                  </c:pt>
                  <c:pt idx="76">
                    <c:v>                   </c:v>
                  </c:pt>
                  <c:pt idx="77">
                    <c:v>                    </c:v>
                  </c:pt>
                  <c:pt idx="78">
                    <c:v>                     </c:v>
                  </c:pt>
                  <c:pt idx="79">
                    <c:v>                      </c:v>
                  </c:pt>
                  <c:pt idx="80">
                    <c:v>                       </c:v>
                  </c:pt>
                  <c:pt idx="81">
                    <c:v>                        </c:v>
                  </c:pt>
                  <c:pt idx="82">
                    <c:v>                         </c:v>
                  </c:pt>
                  <c:pt idx="83">
                    <c:v>                          </c:v>
                  </c:pt>
                  <c:pt idx="84">
                    <c:v>                           </c:v>
                  </c:pt>
                  <c:pt idx="85">
                    <c:v>                            </c:v>
                  </c:pt>
                  <c:pt idx="86">
                    <c:v>                             </c:v>
                  </c:pt>
                  <c:pt idx="87">
                    <c:v> </c:v>
                  </c:pt>
                  <c:pt idx="88">
                    <c:v>  </c:v>
                  </c:pt>
                  <c:pt idx="89">
                    <c:v>   </c:v>
                  </c:pt>
                  <c:pt idx="90">
                    <c:v>Apr</c:v>
                  </c:pt>
                  <c:pt idx="91">
                    <c:v>     </c:v>
                  </c:pt>
                  <c:pt idx="92">
                    <c:v>      </c:v>
                  </c:pt>
                  <c:pt idx="93">
                    <c:v>       </c:v>
                  </c:pt>
                  <c:pt idx="94">
                    <c:v>        </c:v>
                  </c:pt>
                  <c:pt idx="95">
                    <c:v>         </c:v>
                  </c:pt>
                  <c:pt idx="96">
                    <c:v>          </c:v>
                  </c:pt>
                  <c:pt idx="97">
                    <c:v>           </c:v>
                  </c:pt>
                  <c:pt idx="98">
                    <c:v>            </c:v>
                  </c:pt>
                  <c:pt idx="99">
                    <c:v>             </c:v>
                  </c:pt>
                  <c:pt idx="100">
                    <c:v>              </c:v>
                  </c:pt>
                  <c:pt idx="101">
                    <c:v>               </c:v>
                  </c:pt>
                  <c:pt idx="102">
                    <c:v>                </c:v>
                  </c:pt>
                  <c:pt idx="103">
                    <c:v>                 </c:v>
                  </c:pt>
                  <c:pt idx="104">
                    <c:v>                  </c:v>
                  </c:pt>
                  <c:pt idx="105">
                    <c:v>                   </c:v>
                  </c:pt>
                  <c:pt idx="106">
                    <c:v>                    </c:v>
                  </c:pt>
                  <c:pt idx="107">
                    <c:v>                     </c:v>
                  </c:pt>
                  <c:pt idx="108">
                    <c:v>                      </c:v>
                  </c:pt>
                  <c:pt idx="109">
                    <c:v>                       </c:v>
                  </c:pt>
                  <c:pt idx="110">
                    <c:v>                        </c:v>
                  </c:pt>
                  <c:pt idx="111">
                    <c:v>                         </c:v>
                  </c:pt>
                  <c:pt idx="112">
                    <c:v>                          </c:v>
                  </c:pt>
                  <c:pt idx="113">
                    <c:v>                           </c:v>
                  </c:pt>
                  <c:pt idx="114">
                    <c:v>                            </c:v>
                  </c:pt>
                  <c:pt idx="115">
                    <c:v>                             </c:v>
                  </c:pt>
                  <c:pt idx="116">
                    <c:v> </c:v>
                  </c:pt>
                  <c:pt idx="117">
                    <c:v>  </c:v>
                  </c:pt>
                  <c:pt idx="118">
                    <c:v>   </c:v>
                  </c:pt>
                  <c:pt idx="119">
                    <c:v>    </c:v>
                  </c:pt>
                  <c:pt idx="120">
                    <c:v>Mei</c:v>
                  </c:pt>
                  <c:pt idx="121">
                    <c:v>      </c:v>
                  </c:pt>
                  <c:pt idx="122">
                    <c:v>       </c:v>
                  </c:pt>
                  <c:pt idx="123">
                    <c:v>        </c:v>
                  </c:pt>
                  <c:pt idx="124">
                    <c:v>         </c:v>
                  </c:pt>
                  <c:pt idx="125">
                    <c:v>          </c:v>
                  </c:pt>
                  <c:pt idx="126">
                    <c:v>           </c:v>
                  </c:pt>
                  <c:pt idx="127">
                    <c:v>            </c:v>
                  </c:pt>
                  <c:pt idx="128">
                    <c:v>             </c:v>
                  </c:pt>
                  <c:pt idx="129">
                    <c:v>              </c:v>
                  </c:pt>
                  <c:pt idx="130">
                    <c:v>               </c:v>
                  </c:pt>
                  <c:pt idx="131">
                    <c:v>                </c:v>
                  </c:pt>
                  <c:pt idx="132">
                    <c:v>                 </c:v>
                  </c:pt>
                  <c:pt idx="133">
                    <c:v>                  </c:v>
                  </c:pt>
                  <c:pt idx="134">
                    <c:v>                   </c:v>
                  </c:pt>
                  <c:pt idx="135">
                    <c:v>                    </c:v>
                  </c:pt>
                  <c:pt idx="136">
                    <c:v>                     </c:v>
                  </c:pt>
                  <c:pt idx="137">
                    <c:v>                      </c:v>
                  </c:pt>
                  <c:pt idx="138">
                    <c:v>                       </c:v>
                  </c:pt>
                  <c:pt idx="139">
                    <c:v>                        </c:v>
                  </c:pt>
                  <c:pt idx="140">
                    <c:v>                         </c:v>
                  </c:pt>
                  <c:pt idx="141">
                    <c:v>                          </c:v>
                  </c:pt>
                  <c:pt idx="142">
                    <c:v>                           </c:v>
                  </c:pt>
                  <c:pt idx="143">
                    <c:v>                            </c:v>
                  </c:pt>
                  <c:pt idx="144">
                    <c:v>                             </c:v>
                  </c:pt>
                  <c:pt idx="145">
                    <c:v> </c:v>
                  </c:pt>
                  <c:pt idx="146">
                    <c:v>  </c:v>
                  </c:pt>
                  <c:pt idx="147">
                    <c:v>   </c:v>
                  </c:pt>
                  <c:pt idx="148">
                    <c:v>    </c:v>
                  </c:pt>
                  <c:pt idx="149">
                    <c:v>     </c:v>
                  </c:pt>
                  <c:pt idx="150">
                    <c:v>Jun</c:v>
                  </c:pt>
                  <c:pt idx="151">
                    <c:v>       </c:v>
                  </c:pt>
                  <c:pt idx="152">
                    <c:v>        </c:v>
                  </c:pt>
                  <c:pt idx="153">
                    <c:v>         </c:v>
                  </c:pt>
                  <c:pt idx="154">
                    <c:v>          </c:v>
                  </c:pt>
                  <c:pt idx="155">
                    <c:v>           </c:v>
                  </c:pt>
                  <c:pt idx="156">
                    <c:v>            </c:v>
                  </c:pt>
                  <c:pt idx="157">
                    <c:v>             </c:v>
                  </c:pt>
                  <c:pt idx="158">
                    <c:v>              </c:v>
                  </c:pt>
                  <c:pt idx="159">
                    <c:v>               </c:v>
                  </c:pt>
                  <c:pt idx="160">
                    <c:v>                </c:v>
                  </c:pt>
                  <c:pt idx="161">
                    <c:v>                 </c:v>
                  </c:pt>
                  <c:pt idx="162">
                    <c:v>                  </c:v>
                  </c:pt>
                  <c:pt idx="163">
                    <c:v>                   </c:v>
                  </c:pt>
                  <c:pt idx="164">
                    <c:v>                    </c:v>
                  </c:pt>
                  <c:pt idx="165">
                    <c:v>                     </c:v>
                  </c:pt>
                  <c:pt idx="166">
                    <c:v>                      </c:v>
                  </c:pt>
                  <c:pt idx="167">
                    <c:v>                       </c:v>
                  </c:pt>
                  <c:pt idx="168">
                    <c:v>                        </c:v>
                  </c:pt>
                  <c:pt idx="169">
                    <c:v>                         </c:v>
                  </c:pt>
                  <c:pt idx="170">
                    <c:v>                          </c:v>
                  </c:pt>
                  <c:pt idx="171">
                    <c:v>                           </c:v>
                  </c:pt>
                  <c:pt idx="172">
                    <c:v>                            </c:v>
                  </c:pt>
                  <c:pt idx="173">
                    <c:v>                             </c:v>
                  </c:pt>
                  <c:pt idx="174">
                    <c:v> </c:v>
                  </c:pt>
                  <c:pt idx="175">
                    <c:v>  </c:v>
                  </c:pt>
                  <c:pt idx="176">
                    <c:v>   </c:v>
                  </c:pt>
                  <c:pt idx="177">
                    <c:v>    </c:v>
                  </c:pt>
                  <c:pt idx="178">
                    <c:v>     </c:v>
                  </c:pt>
                  <c:pt idx="179">
                    <c:v>      </c:v>
                  </c:pt>
                  <c:pt idx="180">
                    <c:v>Jul</c:v>
                  </c:pt>
                  <c:pt idx="181">
                    <c:v>        </c:v>
                  </c:pt>
                  <c:pt idx="182">
                    <c:v>         </c:v>
                  </c:pt>
                  <c:pt idx="183">
                    <c:v>          </c:v>
                  </c:pt>
                  <c:pt idx="184">
                    <c:v>           </c:v>
                  </c:pt>
                  <c:pt idx="185">
                    <c:v>            </c:v>
                  </c:pt>
                  <c:pt idx="186">
                    <c:v>             </c:v>
                  </c:pt>
                  <c:pt idx="187">
                    <c:v>              </c:v>
                  </c:pt>
                  <c:pt idx="188">
                    <c:v>               </c:v>
                  </c:pt>
                  <c:pt idx="189">
                    <c:v>                </c:v>
                  </c:pt>
                  <c:pt idx="190">
                    <c:v>                 </c:v>
                  </c:pt>
                  <c:pt idx="191">
                    <c:v>                  </c:v>
                  </c:pt>
                  <c:pt idx="192">
                    <c:v>                   </c:v>
                  </c:pt>
                  <c:pt idx="193">
                    <c:v>                    </c:v>
                  </c:pt>
                  <c:pt idx="194">
                    <c:v>                     </c:v>
                  </c:pt>
                  <c:pt idx="195">
                    <c:v>                      </c:v>
                  </c:pt>
                  <c:pt idx="196">
                    <c:v>                       </c:v>
                  </c:pt>
                  <c:pt idx="197">
                    <c:v>                        </c:v>
                  </c:pt>
                  <c:pt idx="198">
                    <c:v>                         </c:v>
                  </c:pt>
                  <c:pt idx="199">
                    <c:v>                          </c:v>
                  </c:pt>
                  <c:pt idx="200">
                    <c:v>                           </c:v>
                  </c:pt>
                  <c:pt idx="201">
                    <c:v>                            </c:v>
                  </c:pt>
                  <c:pt idx="202">
                    <c:v>                             </c:v>
                  </c:pt>
                  <c:pt idx="203">
                    <c:v> </c:v>
                  </c:pt>
                  <c:pt idx="204">
                    <c:v>  </c:v>
                  </c:pt>
                  <c:pt idx="205">
                    <c:v>   </c:v>
                  </c:pt>
                  <c:pt idx="206">
                    <c:v>    </c:v>
                  </c:pt>
                  <c:pt idx="207">
                    <c:v>     </c:v>
                  </c:pt>
                  <c:pt idx="208">
                    <c:v>      </c:v>
                  </c:pt>
                  <c:pt idx="209">
                    <c:v>       </c:v>
                  </c:pt>
                  <c:pt idx="210">
                    <c:v>Agu</c:v>
                  </c:pt>
                  <c:pt idx="211">
                    <c:v>         </c:v>
                  </c:pt>
                  <c:pt idx="212">
                    <c:v>          </c:v>
                  </c:pt>
                  <c:pt idx="213">
                    <c:v>           </c:v>
                  </c:pt>
                  <c:pt idx="214">
                    <c:v>            </c:v>
                  </c:pt>
                  <c:pt idx="215">
                    <c:v>             </c:v>
                  </c:pt>
                  <c:pt idx="216">
                    <c:v>              </c:v>
                  </c:pt>
                  <c:pt idx="217">
                    <c:v>               </c:v>
                  </c:pt>
                  <c:pt idx="218">
                    <c:v>                </c:v>
                  </c:pt>
                  <c:pt idx="219">
                    <c:v>                 </c:v>
                  </c:pt>
                  <c:pt idx="220">
                    <c:v>                  </c:v>
                  </c:pt>
                  <c:pt idx="221">
                    <c:v>                   </c:v>
                  </c:pt>
                  <c:pt idx="222">
                    <c:v>                    </c:v>
                  </c:pt>
                  <c:pt idx="223">
                    <c:v>                     </c:v>
                  </c:pt>
                  <c:pt idx="224">
                    <c:v>                      </c:v>
                  </c:pt>
                  <c:pt idx="225">
                    <c:v>                       </c:v>
                  </c:pt>
                  <c:pt idx="226">
                    <c:v>                        </c:v>
                  </c:pt>
                  <c:pt idx="227">
                    <c:v>                         </c:v>
                  </c:pt>
                  <c:pt idx="228">
                    <c:v>                          </c:v>
                  </c:pt>
                  <c:pt idx="229">
                    <c:v>                           </c:v>
                  </c:pt>
                  <c:pt idx="230">
                    <c:v>                            </c:v>
                  </c:pt>
                  <c:pt idx="231">
                    <c:v>                             </c:v>
                  </c:pt>
                  <c:pt idx="232">
                    <c:v> </c:v>
                  </c:pt>
                  <c:pt idx="233">
                    <c:v>  </c:v>
                  </c:pt>
                  <c:pt idx="234">
                    <c:v>   </c:v>
                  </c:pt>
                  <c:pt idx="235">
                    <c:v>    </c:v>
                  </c:pt>
                  <c:pt idx="236">
                    <c:v>     </c:v>
                  </c:pt>
                  <c:pt idx="237">
                    <c:v>      </c:v>
                  </c:pt>
                  <c:pt idx="238">
                    <c:v>       </c:v>
                  </c:pt>
                  <c:pt idx="239">
                    <c:v>        </c:v>
                  </c:pt>
                  <c:pt idx="240">
                    <c:v>Sep</c:v>
                  </c:pt>
                  <c:pt idx="241">
                    <c:v>          </c:v>
                  </c:pt>
                  <c:pt idx="242">
                    <c:v>           </c:v>
                  </c:pt>
                  <c:pt idx="243">
                    <c:v>            </c:v>
                  </c:pt>
                  <c:pt idx="244">
                    <c:v>             </c:v>
                  </c:pt>
                  <c:pt idx="245">
                    <c:v>              </c:v>
                  </c:pt>
                  <c:pt idx="246">
                    <c:v>               </c:v>
                  </c:pt>
                  <c:pt idx="247">
                    <c:v>                </c:v>
                  </c:pt>
                  <c:pt idx="248">
                    <c:v>                 </c:v>
                  </c:pt>
                  <c:pt idx="249">
                    <c:v>                  </c:v>
                  </c:pt>
                  <c:pt idx="250">
                    <c:v>                   </c:v>
                  </c:pt>
                  <c:pt idx="251">
                    <c:v>                    </c:v>
                  </c:pt>
                  <c:pt idx="252">
                    <c:v>                     </c:v>
                  </c:pt>
                  <c:pt idx="253">
                    <c:v>                      </c:v>
                  </c:pt>
                  <c:pt idx="254">
                    <c:v>                       </c:v>
                  </c:pt>
                  <c:pt idx="255">
                    <c:v>                        </c:v>
                  </c:pt>
                  <c:pt idx="256">
                    <c:v>                         </c:v>
                  </c:pt>
                  <c:pt idx="257">
                    <c:v>                          </c:v>
                  </c:pt>
                  <c:pt idx="258">
                    <c:v>                           </c:v>
                  </c:pt>
                  <c:pt idx="259">
                    <c:v>                            </c:v>
                  </c:pt>
                  <c:pt idx="260">
                    <c:v>                             </c:v>
                  </c:pt>
                  <c:pt idx="261">
                    <c:v> </c:v>
                  </c:pt>
                  <c:pt idx="262">
                    <c:v>  </c:v>
                  </c:pt>
                  <c:pt idx="263">
                    <c:v>   </c:v>
                  </c:pt>
                  <c:pt idx="264">
                    <c:v>    </c:v>
                  </c:pt>
                  <c:pt idx="265">
                    <c:v>     </c:v>
                  </c:pt>
                  <c:pt idx="266">
                    <c:v>      </c:v>
                  </c:pt>
                  <c:pt idx="267">
                    <c:v>       </c:v>
                  </c:pt>
                  <c:pt idx="268">
                    <c:v>        </c:v>
                  </c:pt>
                  <c:pt idx="269">
                    <c:v>         </c:v>
                  </c:pt>
                  <c:pt idx="270">
                    <c:v>Okt</c:v>
                  </c:pt>
                  <c:pt idx="271">
                    <c:v>           </c:v>
                  </c:pt>
                  <c:pt idx="272">
                    <c:v>            </c:v>
                  </c:pt>
                  <c:pt idx="273">
                    <c:v>             </c:v>
                  </c:pt>
                  <c:pt idx="274">
                    <c:v>              </c:v>
                  </c:pt>
                  <c:pt idx="275">
                    <c:v>               </c:v>
                  </c:pt>
                  <c:pt idx="276">
                    <c:v>                </c:v>
                  </c:pt>
                  <c:pt idx="277">
                    <c:v>                 </c:v>
                  </c:pt>
                  <c:pt idx="278">
                    <c:v>                  </c:v>
                  </c:pt>
                  <c:pt idx="279">
                    <c:v>                   </c:v>
                  </c:pt>
                  <c:pt idx="280">
                    <c:v>                    </c:v>
                  </c:pt>
                  <c:pt idx="281">
                    <c:v>                     </c:v>
                  </c:pt>
                  <c:pt idx="282">
                    <c:v>                      </c:v>
                  </c:pt>
                  <c:pt idx="283">
                    <c:v>                       </c:v>
                  </c:pt>
                  <c:pt idx="284">
                    <c:v>                        </c:v>
                  </c:pt>
                  <c:pt idx="285">
                    <c:v>                         </c:v>
                  </c:pt>
                  <c:pt idx="286">
                    <c:v>                          </c:v>
                  </c:pt>
                  <c:pt idx="287">
                    <c:v>                           </c:v>
                  </c:pt>
                  <c:pt idx="288">
                    <c:v>                            </c:v>
                  </c:pt>
                  <c:pt idx="289">
                    <c:v>                             </c:v>
                  </c:pt>
                  <c:pt idx="290">
                    <c:v> </c:v>
                  </c:pt>
                  <c:pt idx="291">
                    <c:v>  </c:v>
                  </c:pt>
                  <c:pt idx="292">
                    <c:v>   </c:v>
                  </c:pt>
                  <c:pt idx="293">
                    <c:v>    </c:v>
                  </c:pt>
                  <c:pt idx="294">
                    <c:v>     </c:v>
                  </c:pt>
                  <c:pt idx="295">
                    <c:v>      </c:v>
                  </c:pt>
                  <c:pt idx="296">
                    <c:v>       </c:v>
                  </c:pt>
                  <c:pt idx="297">
                    <c:v>        </c:v>
                  </c:pt>
                  <c:pt idx="298">
                    <c:v>         </c:v>
                  </c:pt>
                  <c:pt idx="299">
                    <c:v>          </c:v>
                  </c:pt>
                  <c:pt idx="300">
                    <c:v>Nov</c:v>
                  </c:pt>
                  <c:pt idx="301">
                    <c:v>            </c:v>
                  </c:pt>
                  <c:pt idx="302">
                    <c:v>             </c:v>
                  </c:pt>
                  <c:pt idx="303">
                    <c:v>              </c:v>
                  </c:pt>
                  <c:pt idx="304">
                    <c:v>               </c:v>
                  </c:pt>
                  <c:pt idx="305">
                    <c:v>                </c:v>
                  </c:pt>
                  <c:pt idx="306">
                    <c:v>                 </c:v>
                  </c:pt>
                  <c:pt idx="307">
                    <c:v>                  </c:v>
                  </c:pt>
                  <c:pt idx="308">
                    <c:v>                   </c:v>
                  </c:pt>
                  <c:pt idx="309">
                    <c:v>                    </c:v>
                  </c:pt>
                  <c:pt idx="310">
                    <c:v>                     </c:v>
                  </c:pt>
                  <c:pt idx="311">
                    <c:v>                      </c:v>
                  </c:pt>
                  <c:pt idx="312">
                    <c:v>                       </c:v>
                  </c:pt>
                  <c:pt idx="313">
                    <c:v>                        </c:v>
                  </c:pt>
                  <c:pt idx="314">
                    <c:v>                         </c:v>
                  </c:pt>
                  <c:pt idx="315">
                    <c:v>                          </c:v>
                  </c:pt>
                  <c:pt idx="316">
                    <c:v>                           </c:v>
                  </c:pt>
                  <c:pt idx="317">
                    <c:v>                            </c:v>
                  </c:pt>
                  <c:pt idx="318">
                    <c:v>                             </c:v>
                  </c:pt>
                  <c:pt idx="319">
                    <c:v> </c:v>
                  </c:pt>
                  <c:pt idx="320">
                    <c:v>  </c:v>
                  </c:pt>
                  <c:pt idx="321">
                    <c:v>   </c:v>
                  </c:pt>
                  <c:pt idx="322">
                    <c:v>    </c:v>
                  </c:pt>
                  <c:pt idx="323">
                    <c:v>     </c:v>
                  </c:pt>
                  <c:pt idx="324">
                    <c:v>      </c:v>
                  </c:pt>
                  <c:pt idx="325">
                    <c:v>       </c:v>
                  </c:pt>
                  <c:pt idx="326">
                    <c:v>        </c:v>
                  </c:pt>
                  <c:pt idx="327">
                    <c:v>         </c:v>
                  </c:pt>
                  <c:pt idx="328">
                    <c:v>          </c:v>
                  </c:pt>
                  <c:pt idx="329">
                    <c:v>           </c:v>
                  </c:pt>
                  <c:pt idx="330">
                    <c:v>Des</c:v>
                  </c:pt>
                  <c:pt idx="331">
                    <c:v>             </c:v>
                  </c:pt>
                  <c:pt idx="332">
                    <c:v>              </c:v>
                  </c:pt>
                  <c:pt idx="333">
                    <c:v>               </c:v>
                  </c:pt>
                  <c:pt idx="334">
                    <c:v>                </c:v>
                  </c:pt>
                  <c:pt idx="335">
                    <c:v>                 </c:v>
                  </c:pt>
                  <c:pt idx="336">
                    <c:v>                  </c:v>
                  </c:pt>
                  <c:pt idx="337">
                    <c:v>                   </c:v>
                  </c:pt>
                  <c:pt idx="338">
                    <c:v>                    </c:v>
                  </c:pt>
                  <c:pt idx="339">
                    <c:v>                     </c:v>
                  </c:pt>
                  <c:pt idx="340">
                    <c:v>                      </c:v>
                  </c:pt>
                  <c:pt idx="341">
                    <c:v>                       </c:v>
                  </c:pt>
                  <c:pt idx="342">
                    <c:v>                        </c:v>
                  </c:pt>
                  <c:pt idx="343">
                    <c:v>                         </c:v>
                  </c:pt>
                  <c:pt idx="344">
                    <c:v>                          </c:v>
                  </c:pt>
                  <c:pt idx="345">
                    <c:v>                           </c:v>
                  </c:pt>
                  <c:pt idx="346">
                    <c:v>                            </c:v>
                  </c:pt>
                  <c:pt idx="347">
                    <c:v>                             </c:v>
                  </c:pt>
                  <c:pt idx="348">
                    <c:v> </c:v>
                  </c:pt>
                  <c:pt idx="349">
                    <c:v>  </c:v>
                  </c:pt>
                  <c:pt idx="350">
                    <c:v>   </c:v>
                  </c:pt>
                  <c:pt idx="351">
                    <c:v>    </c:v>
                  </c:pt>
                  <c:pt idx="352">
                    <c:v>     </c:v>
                  </c:pt>
                  <c:pt idx="353">
                    <c:v>      </c:v>
                  </c:pt>
                  <c:pt idx="354">
                    <c:v>       </c:v>
                  </c:pt>
                  <c:pt idx="355">
                    <c:v>        </c:v>
                  </c:pt>
                  <c:pt idx="356">
                    <c:v>         </c:v>
                  </c:pt>
                  <c:pt idx="357">
                    <c:v>          </c:v>
                  </c:pt>
                  <c:pt idx="358">
                    <c:v>           </c:v>
                  </c:pt>
                  <c:pt idx="359">
                    <c:v>            </c:v>
                  </c:pt>
                  <c:pt idx="360">
                    <c:v/>
                  </c:pt>
                  <c:pt idx="361">
                    <c:v>              </c:v>
                  </c:pt>
                  <c:pt idx="362">
                    <c:v>               </c:v>
                  </c:pt>
                  <c:pt idx="363">
                    <c:v>                </c:v>
                  </c:pt>
                  <c:pt idx="364">
                    <c:v>                 </c:v>
                  </c:pt>
                </c:lvl>
              </c:multiLvlStrCache>
            </c:multiLvlStrRef>
          </c:cat>
          <c:val>
            <c:numRef>
              <c:f>Sheet1!$B$2:$B$366</c:f>
              <c:numCache>
                <c:formatCode>General</c:formatCode>
                <c:ptCount val="365"/>
                <c:pt idx="0">
                  <c:v>768.3679784506738</c:v>
                </c:pt>
                <c:pt idx="1">
                  <c:v>763.2545828010383</c:v>
                </c:pt>
                <c:pt idx="2">
                  <c:v>760.9399207561969</c:v>
                </c:pt>
                <c:pt idx="3">
                  <c:v>741.9042489344962</c:v>
                </c:pt>
                <c:pt idx="4">
                  <c:v>736.6707429605493</c:v>
                </c:pt>
                <c:pt idx="5">
                  <c:v>748.9226313386926</c:v>
                </c:pt>
                <c:pt idx="6">
                  <c:v>100.28755994972609</c:v>
                </c:pt>
                <c:pt idx="7">
                  <c:v>689.1907113260268</c:v>
                </c:pt>
                <c:pt idx="8">
                  <c:v>725.4320258104126</c:v>
                </c:pt>
                <c:pt idx="9">
                  <c:v>743.2892647603974</c:v>
                </c:pt>
                <c:pt idx="10">
                  <c:v>783.2617714640689</c:v>
                </c:pt>
                <c:pt idx="11">
                  <c:v>755.655398580899</c:v>
                </c:pt>
                <c:pt idx="12">
                  <c:v>719.3832367035254</c:v>
                </c:pt>
                <c:pt idx="13">
                  <c:v>96.84564614656418</c:v>
                </c:pt>
                <c:pt idx="14">
                  <c:v>594.5971465285724</c:v>
                </c:pt>
                <c:pt idx="15">
                  <c:v>704.6486690218399</c:v>
                </c:pt>
                <c:pt idx="16">
                  <c:v>718.9335650448468</c:v>
                </c:pt>
                <c:pt idx="17">
                  <c:v>726.9798915334072</c:v>
                </c:pt>
                <c:pt idx="18">
                  <c:v>728.4529281290777</c:v>
                </c:pt>
                <c:pt idx="19">
                  <c:v>761.5821092511812</c:v>
                </c:pt>
                <c:pt idx="20">
                  <c:v>101.46306653009907</c:v>
                </c:pt>
                <c:pt idx="21">
                  <c:v>629.9803988149001</c:v>
                </c:pt>
                <c:pt idx="22">
                  <c:v>800.7070579388101</c:v>
                </c:pt>
                <c:pt idx="23">
                  <c:v>796.1419763618175</c:v>
                </c:pt>
                <c:pt idx="24">
                  <c:v>801.0513677851748</c:v>
                </c:pt>
                <c:pt idx="25">
                  <c:v>747.6867416420181</c:v>
                </c:pt>
                <c:pt idx="26">
                  <c:v>695.5633444432325</c:v>
                </c:pt>
                <c:pt idx="27">
                  <c:v>93.96406777415741</c:v>
                </c:pt>
                <c:pt idx="28">
                  <c:v>628.048656928941</c:v>
                </c:pt>
                <c:pt idx="29">
                  <c:v>723.8472558429917</c:v>
                </c:pt>
                <c:pt idx="30">
                  <c:v>700.4356537863368</c:v>
                </c:pt>
                <c:pt idx="31">
                  <c:v>679.4801467684202</c:v>
                </c:pt>
                <c:pt idx="32">
                  <c:v>707.6476955713072</c:v>
                </c:pt>
                <c:pt idx="33">
                  <c:v>640.025797676147</c:v>
                </c:pt>
                <c:pt idx="34">
                  <c:v>86.92471751507424</c:v>
                </c:pt>
                <c:pt idx="35">
                  <c:v>519.0128344503712</c:v>
                </c:pt>
                <c:pt idx="36">
                  <c:v>590.3866450460995</c:v>
                </c:pt>
                <c:pt idx="37">
                  <c:v>600.5765262444633</c:v>
                </c:pt>
                <c:pt idx="38">
                  <c:v>592.3791243062188</c:v>
                </c:pt>
                <c:pt idx="39">
                  <c:v>622.8170178627206</c:v>
                </c:pt>
                <c:pt idx="40">
                  <c:v>83.85070839398463</c:v>
                </c:pt>
                <c:pt idx="41">
                  <c:v>11.701921700195044</c:v>
                </c:pt>
                <c:pt idx="42">
                  <c:v>-2.2836900373969407</c:v>
                </c:pt>
                <c:pt idx="43">
                  <c:v>-5.5773619422948535</c:v>
                </c:pt>
                <c:pt idx="44">
                  <c:v>-6.741675830192069</c:v>
                </c:pt>
                <c:pt idx="45">
                  <c:v>-7.447121803592676</c:v>
                </c:pt>
                <c:pt idx="46">
                  <c:v>-8.038961382843869</c:v>
                </c:pt>
                <c:pt idx="47">
                  <c:v>-8.591285217498298</c:v>
                </c:pt>
                <c:pt idx="48">
                  <c:v>-9.12060590709358</c:v>
                </c:pt>
                <c:pt idx="49">
                  <c:v>-9.630981569677049</c:v>
                </c:pt>
                <c:pt idx="50">
                  <c:v>-10.123650906226699</c:v>
                </c:pt>
                <c:pt idx="51">
                  <c:v>-10.599240543710229</c:v>
                </c:pt>
                <c:pt idx="52">
                  <c:v>-11.058263085448704</c:v>
                </c:pt>
                <c:pt idx="53">
                  <c:v>-11.501218936656224</c:v>
                </c:pt>
                <c:pt idx="54">
                  <c:v>484.2919188654207</c:v>
                </c:pt>
                <c:pt idx="55">
                  <c:v>64.738679934338</c:v>
                </c:pt>
                <c:pt idx="56">
                  <c:v>480.55585219629995</c:v>
                </c:pt>
                <c:pt idx="57">
                  <c:v>547.0422257824972</c:v>
                </c:pt>
                <c:pt idx="58">
                  <c:v>535.9210540601863</c:v>
                </c:pt>
                <c:pt idx="59">
                  <c:v>579.4691547732244</c:v>
                </c:pt>
                <c:pt idx="60">
                  <c:v>547.3319690563219</c:v>
                </c:pt>
                <c:pt idx="61">
                  <c:v>514.0333239906743</c:v>
                </c:pt>
                <c:pt idx="62">
                  <c:v>69.26574861953189</c:v>
                </c:pt>
                <c:pt idx="63">
                  <c:v>505.01307612686617</c:v>
                </c:pt>
                <c:pt idx="64">
                  <c:v>525.7264348207375</c:v>
                </c:pt>
                <c:pt idx="65">
                  <c:v>581.9246505487791</c:v>
                </c:pt>
                <c:pt idx="66">
                  <c:v>608.0149121639197</c:v>
                </c:pt>
                <c:pt idx="67">
                  <c:v>577.8330080300808</c:v>
                </c:pt>
                <c:pt idx="68">
                  <c:v>540.3603161329995</c:v>
                </c:pt>
                <c:pt idx="69">
                  <c:v>72.81258720884821</c:v>
                </c:pt>
                <c:pt idx="70">
                  <c:v>520.5767316102854</c:v>
                </c:pt>
                <c:pt idx="71">
                  <c:v>506.62484104448833</c:v>
                </c:pt>
                <c:pt idx="72">
                  <c:v>524.9086352940059</c:v>
                </c:pt>
                <c:pt idx="73">
                  <c:v>492.44161632671046</c:v>
                </c:pt>
                <c:pt idx="74">
                  <c:v>520.1653599551869</c:v>
                </c:pt>
                <c:pt idx="75">
                  <c:v>504.4034729187239</c:v>
                </c:pt>
                <c:pt idx="76">
                  <c:v>68.10393310864534</c:v>
                </c:pt>
                <c:pt idx="77">
                  <c:v>415.24248914583933</c:v>
                </c:pt>
                <c:pt idx="78">
                  <c:v>497.61308450619384</c:v>
                </c:pt>
                <c:pt idx="79">
                  <c:v>482.1615709059359</c:v>
                </c:pt>
                <c:pt idx="80">
                  <c:v>500.0439556132919</c:v>
                </c:pt>
                <c:pt idx="81">
                  <c:v>487.93079572197496</c:v>
                </c:pt>
                <c:pt idx="82">
                  <c:v>509.6225916989912</c:v>
                </c:pt>
                <c:pt idx="83">
                  <c:v>68.57672631311047</c:v>
                </c:pt>
                <c:pt idx="84">
                  <c:v>442.8731677577808</c:v>
                </c:pt>
                <c:pt idx="85">
                  <c:v>483.3639529847185</c:v>
                </c:pt>
                <c:pt idx="86">
                  <c:v>485.2195583703452</c:v>
                </c:pt>
                <c:pt idx="87">
                  <c:v>515.8523297273598</c:v>
                </c:pt>
                <c:pt idx="88">
                  <c:v>520.21747480627</c:v>
                </c:pt>
                <c:pt idx="89">
                  <c:v>512.37445768151</c:v>
                </c:pt>
                <c:pt idx="90">
                  <c:v>62.98856658688169</c:v>
                </c:pt>
                <c:pt idx="91">
                  <c:v>495.22909703851343</c:v>
                </c:pt>
                <c:pt idx="92">
                  <c:v>513.8956540031567</c:v>
                </c:pt>
                <c:pt idx="93">
                  <c:v>544.7290509297571</c:v>
                </c:pt>
                <c:pt idx="94">
                  <c:v>569.506969325249</c:v>
                </c:pt>
                <c:pt idx="95">
                  <c:v>600.5908935258185</c:v>
                </c:pt>
                <c:pt idx="96">
                  <c:v>573.72133956595</c:v>
                </c:pt>
                <c:pt idx="97">
                  <c:v>76.99504177300308</c:v>
                </c:pt>
                <c:pt idx="98">
                  <c:v>517.1119639193201</c:v>
                </c:pt>
                <c:pt idx="99">
                  <c:v>530.4988694408237</c:v>
                </c:pt>
                <c:pt idx="100">
                  <c:v>535.2575243993851</c:v>
                </c:pt>
                <c:pt idx="101">
                  <c:v>514.247550627038</c:v>
                </c:pt>
                <c:pt idx="102">
                  <c:v>492.4920812607673</c:v>
                </c:pt>
                <c:pt idx="103">
                  <c:v>521.1091442876542</c:v>
                </c:pt>
                <c:pt idx="104">
                  <c:v>70.12839031850828</c:v>
                </c:pt>
                <c:pt idx="105">
                  <c:v>452.0376351321714</c:v>
                </c:pt>
                <c:pt idx="106">
                  <c:v>513.1738233099393</c:v>
                </c:pt>
                <c:pt idx="107">
                  <c:v>501.44882995777505</c:v>
                </c:pt>
                <c:pt idx="108">
                  <c:v>528.7047295727264</c:v>
                </c:pt>
                <c:pt idx="109">
                  <c:v>538.6308780116776</c:v>
                </c:pt>
                <c:pt idx="110">
                  <c:v>542.8312269176494</c:v>
                </c:pt>
                <c:pt idx="111">
                  <c:v>72.96168218590942</c:v>
                </c:pt>
                <c:pt idx="112">
                  <c:v>481.21165528299036</c:v>
                </c:pt>
                <c:pt idx="113">
                  <c:v>511.48912894132417</c:v>
                </c:pt>
                <c:pt idx="114">
                  <c:v>511.39657505529107</c:v>
                </c:pt>
                <c:pt idx="115">
                  <c:v>508.2458830335086</c:v>
                </c:pt>
                <c:pt idx="116">
                  <c:v>513.949688699804</c:v>
                </c:pt>
                <c:pt idx="117">
                  <c:v>545.8196136193272</c:v>
                </c:pt>
                <c:pt idx="118">
                  <c:v>73.20653671344436</c:v>
                </c:pt>
                <c:pt idx="119">
                  <c:v>479.64915575970997</c:v>
                </c:pt>
                <c:pt idx="120">
                  <c:v>515.5009712424625</c:v>
                </c:pt>
                <c:pt idx="121">
                  <c:v>502.5275425926084</c:v>
                </c:pt>
                <c:pt idx="122">
                  <c:v>490.4358795806644</c:v>
                </c:pt>
                <c:pt idx="123">
                  <c:v>514.9599476323913</c:v>
                </c:pt>
                <c:pt idx="124">
                  <c:v>482.757927811433</c:v>
                </c:pt>
                <c:pt idx="125">
                  <c:v>65.25636233230091</c:v>
                </c:pt>
                <c:pt idx="126">
                  <c:v>444.86741152833537</c:v>
                </c:pt>
                <c:pt idx="127">
                  <c:v>491.2117635032437</c:v>
                </c:pt>
                <c:pt idx="128">
                  <c:v>492.54262736438756</c:v>
                </c:pt>
                <c:pt idx="129">
                  <c:v>501.41111811257167</c:v>
                </c:pt>
                <c:pt idx="130">
                  <c:v>505.9461506925079</c:v>
                </c:pt>
                <c:pt idx="131">
                  <c:v>537.235894512656</c:v>
                </c:pt>
                <c:pt idx="132">
                  <c:v>72.07772528907613</c:v>
                </c:pt>
                <c:pt idx="133">
                  <c:v>491.76893440583234</c:v>
                </c:pt>
                <c:pt idx="134">
                  <c:v>547.371722988313</c:v>
                </c:pt>
                <c:pt idx="135">
                  <c:v>557.8870081937662</c:v>
                </c:pt>
                <c:pt idx="136">
                  <c:v>542.5066245664198</c:v>
                </c:pt>
                <c:pt idx="137">
                  <c:v>528.9203807406616</c:v>
                </c:pt>
                <c:pt idx="138">
                  <c:v>537.6919068775023</c:v>
                </c:pt>
                <c:pt idx="139">
                  <c:v>72.31867434109895</c:v>
                </c:pt>
                <c:pt idx="140">
                  <c:v>506.6885677805927</c:v>
                </c:pt>
                <c:pt idx="141">
                  <c:v>515.2468337905409</c:v>
                </c:pt>
                <c:pt idx="142">
                  <c:v>531.9234925858658</c:v>
                </c:pt>
                <c:pt idx="143">
                  <c:v>523.4314682295322</c:v>
                </c:pt>
                <c:pt idx="144">
                  <c:v>554.4827798011347</c:v>
                </c:pt>
                <c:pt idx="145">
                  <c:v>526.6481293276889</c:v>
                </c:pt>
                <c:pt idx="146">
                  <c:v>71.04191468460567</c:v>
                </c:pt>
                <c:pt idx="147">
                  <c:v>504.6828997594883</c:v>
                </c:pt>
                <c:pt idx="148">
                  <c:v>503.8743633597673</c:v>
                </c:pt>
                <c:pt idx="149">
                  <c:v>506.0232141559187</c:v>
                </c:pt>
                <c:pt idx="150">
                  <c:v>520.9146741428152</c:v>
                </c:pt>
                <c:pt idx="151">
                  <c:v>532.45837537827</c:v>
                </c:pt>
                <c:pt idx="152">
                  <c:v>572.375952342696</c:v>
                </c:pt>
                <c:pt idx="153">
                  <c:v>76.65820996324365</c:v>
                </c:pt>
                <c:pt idx="154">
                  <c:v>517.3108445180361</c:v>
                </c:pt>
                <c:pt idx="155">
                  <c:v>568.7192894255738</c:v>
                </c:pt>
                <c:pt idx="156">
                  <c:v>558.8795140209793</c:v>
                </c:pt>
                <c:pt idx="157">
                  <c:v>556.8598944468981</c:v>
                </c:pt>
                <c:pt idx="158">
                  <c:v>565.4524723639123</c:v>
                </c:pt>
                <c:pt idx="159">
                  <c:v>555.2460218946713</c:v>
                </c:pt>
                <c:pt idx="160">
                  <c:v>74.72645299875771</c:v>
                </c:pt>
                <c:pt idx="161">
                  <c:v>516.6048641198687</c:v>
                </c:pt>
                <c:pt idx="162">
                  <c:v>483.2522401297569</c:v>
                </c:pt>
                <c:pt idx="163">
                  <c:v>543.3139974497193</c:v>
                </c:pt>
                <c:pt idx="164">
                  <c:v>560.6924402356055</c:v>
                </c:pt>
                <c:pt idx="165">
                  <c:v>559.7074134312039</c:v>
                </c:pt>
                <c:pt idx="166">
                  <c:v>562.4193409177924</c:v>
                </c:pt>
                <c:pt idx="167">
                  <c:v>75.59397928109385</c:v>
                </c:pt>
                <c:pt idx="168">
                  <c:v>483.2125387090579</c:v>
                </c:pt>
                <c:pt idx="169">
                  <c:v>552.411209769747</c:v>
                </c:pt>
                <c:pt idx="170">
                  <c:v>583.665909273985</c:v>
                </c:pt>
                <c:pt idx="171">
                  <c:v>560.9765289317653</c:v>
                </c:pt>
                <c:pt idx="172">
                  <c:v>550.5847736715809</c:v>
                </c:pt>
                <c:pt idx="173">
                  <c:v>558.3331451540107</c:v>
                </c:pt>
                <c:pt idx="174">
                  <c:v>75.10981365473529</c:v>
                </c:pt>
                <c:pt idx="175">
                  <c:v>517.3785480493924</c:v>
                </c:pt>
                <c:pt idx="176">
                  <c:v>569.5800339777295</c:v>
                </c:pt>
                <c:pt idx="177">
                  <c:v>647.8532512511367</c:v>
                </c:pt>
                <c:pt idx="178">
                  <c:v>640.3119689819579</c:v>
                </c:pt>
                <c:pt idx="179">
                  <c:v>665.5186731710307</c:v>
                </c:pt>
                <c:pt idx="180">
                  <c:v>618.5448549596725</c:v>
                </c:pt>
                <c:pt idx="181">
                  <c:v>83.0837004362628</c:v>
                </c:pt>
                <c:pt idx="182">
                  <c:v>561.6575634412004</c:v>
                </c:pt>
                <c:pt idx="183">
                  <c:v>648.7529293716711</c:v>
                </c:pt>
                <c:pt idx="184">
                  <c:v>669.4636852865103</c:v>
                </c:pt>
                <c:pt idx="185">
                  <c:v>659.5531885165461</c:v>
                </c:pt>
                <c:pt idx="186">
                  <c:v>651.1955974258855</c:v>
                </c:pt>
                <c:pt idx="187">
                  <c:v>662.0603665641988</c:v>
                </c:pt>
                <c:pt idx="188">
                  <c:v>88.51366208532389</c:v>
                </c:pt>
                <c:pt idx="189">
                  <c:v>573.2590975397471</c:v>
                </c:pt>
                <c:pt idx="190">
                  <c:v>658.7921117758942</c:v>
                </c:pt>
                <c:pt idx="191">
                  <c:v>686.325454355043</c:v>
                </c:pt>
                <c:pt idx="192">
                  <c:v>665.3593608812168</c:v>
                </c:pt>
                <c:pt idx="193">
                  <c:v>713.1206748946536</c:v>
                </c:pt>
                <c:pt idx="194">
                  <c:v>756.8233337318247</c:v>
                </c:pt>
                <c:pt idx="195">
                  <c:v>100.24320407063104</c:v>
                </c:pt>
                <c:pt idx="196">
                  <c:v>638.5180202716053</c:v>
                </c:pt>
                <c:pt idx="197">
                  <c:v>729.4199109784643</c:v>
                </c:pt>
                <c:pt idx="198">
                  <c:v>794.083488541718</c:v>
                </c:pt>
                <c:pt idx="199">
                  <c:v>796.3627185287343</c:v>
                </c:pt>
                <c:pt idx="200">
                  <c:v>805.421406633429</c:v>
                </c:pt>
                <c:pt idx="201">
                  <c:v>783.1547904722538</c:v>
                </c:pt>
                <c:pt idx="202">
                  <c:v>104.15520894697393</c:v>
                </c:pt>
                <c:pt idx="203">
                  <c:v>620.9157113422502</c:v>
                </c:pt>
                <c:pt idx="204">
                  <c:v>662.6671602999752</c:v>
                </c:pt>
                <c:pt idx="205">
                  <c:v>687.8327721938701</c:v>
                </c:pt>
                <c:pt idx="206">
                  <c:v>710.9515338013115</c:v>
                </c:pt>
                <c:pt idx="207">
                  <c:v>783.6388727104147</c:v>
                </c:pt>
                <c:pt idx="208">
                  <c:v>744.5240366271519</c:v>
                </c:pt>
                <c:pt idx="209">
                  <c:v>99.5244261565706</c:v>
                </c:pt>
                <c:pt idx="210">
                  <c:v>628.3460306043693</c:v>
                </c:pt>
                <c:pt idx="211">
                  <c:v>719.9666099085298</c:v>
                </c:pt>
                <c:pt idx="212">
                  <c:v>767.1870366707143</c:v>
                </c:pt>
                <c:pt idx="213">
                  <c:v>748.8141585806724</c:v>
                </c:pt>
                <c:pt idx="214">
                  <c:v>739.741356054417</c:v>
                </c:pt>
                <c:pt idx="215">
                  <c:v>780.2598977319311</c:v>
                </c:pt>
                <c:pt idx="216">
                  <c:v>103.67149475076526</c:v>
                </c:pt>
                <c:pt idx="217">
                  <c:v>695.9858708710666</c:v>
                </c:pt>
                <c:pt idx="218">
                  <c:v>799.2423285683936</c:v>
                </c:pt>
                <c:pt idx="219">
                  <c:v>824.1385079127409</c:v>
                </c:pt>
                <c:pt idx="220">
                  <c:v>818.410563460687</c:v>
                </c:pt>
                <c:pt idx="221">
                  <c:v>894.5215980506484</c:v>
                </c:pt>
                <c:pt idx="222">
                  <c:v>906.7211549465997</c:v>
                </c:pt>
                <c:pt idx="223">
                  <c:v>119.4578979420724</c:v>
                </c:pt>
                <c:pt idx="224">
                  <c:v>791.1910735594537</c:v>
                </c:pt>
                <c:pt idx="225">
                  <c:v>847.881791472239</c:v>
                </c:pt>
                <c:pt idx="226">
                  <c:v>847.4257314173817</c:v>
                </c:pt>
                <c:pt idx="227">
                  <c:v>776.6775371901394</c:v>
                </c:pt>
                <c:pt idx="228">
                  <c:v>798.1340190536421</c:v>
                </c:pt>
                <c:pt idx="229">
                  <c:v>778.106568545312</c:v>
                </c:pt>
                <c:pt idx="230">
                  <c:v>104.33450356615134</c:v>
                </c:pt>
                <c:pt idx="231">
                  <c:v>731.8626573061446</c:v>
                </c:pt>
                <c:pt idx="232">
                  <c:v>832.9928304718644</c:v>
                </c:pt>
                <c:pt idx="233">
                  <c:v>858.5256129010415</c:v>
                </c:pt>
                <c:pt idx="234">
                  <c:v>833.0357429156068</c:v>
                </c:pt>
                <c:pt idx="235">
                  <c:v>816.3113346695466</c:v>
                </c:pt>
                <c:pt idx="236">
                  <c:v>847.8709627452538</c:v>
                </c:pt>
                <c:pt idx="237">
                  <c:v>112.61645906042243</c:v>
                </c:pt>
                <c:pt idx="238">
                  <c:v>754.9232307131343</c:v>
                </c:pt>
                <c:pt idx="239">
                  <c:v>854.4302622675655</c:v>
                </c:pt>
                <c:pt idx="240">
                  <c:v>841.0987282849369</c:v>
                </c:pt>
                <c:pt idx="241">
                  <c:v>883.8231221979801</c:v>
                </c:pt>
                <c:pt idx="242">
                  <c:v>890.7489840726731</c:v>
                </c:pt>
                <c:pt idx="243">
                  <c:v>924.0311659808438</c:v>
                </c:pt>
                <c:pt idx="244">
                  <c:v>121.98898765930551</c:v>
                </c:pt>
                <c:pt idx="245">
                  <c:v>836.1631390145508</c:v>
                </c:pt>
                <c:pt idx="246">
                  <c:v>928.2232337066281</c:v>
                </c:pt>
                <c:pt idx="247">
                  <c:v>970.4147471164976</c:v>
                </c:pt>
                <c:pt idx="248">
                  <c:v>1011.3173134004821</c:v>
                </c:pt>
                <c:pt idx="249">
                  <c:v>1009.968668501452</c:v>
                </c:pt>
                <c:pt idx="250">
                  <c:v>999.5012293789945</c:v>
                </c:pt>
                <c:pt idx="251">
                  <c:v>132.558182467527</c:v>
                </c:pt>
                <c:pt idx="252">
                  <c:v>860.8360137886293</c:v>
                </c:pt>
                <c:pt idx="253">
                  <c:v>913.3194308581984</c:v>
                </c:pt>
                <c:pt idx="254">
                  <c:v>902.6445791164641</c:v>
                </c:pt>
                <c:pt idx="255">
                  <c:v>879.1516187487257</c:v>
                </c:pt>
                <c:pt idx="256">
                  <c:v>869.5969310430788</c:v>
                </c:pt>
                <c:pt idx="257">
                  <c:v>893.4627663450083</c:v>
                </c:pt>
                <c:pt idx="258">
                  <c:v>119.01288760865603</c:v>
                </c:pt>
                <c:pt idx="259">
                  <c:v>789.7793727375507</c:v>
                </c:pt>
                <c:pt idx="260">
                  <c:v>841.4912400456568</c:v>
                </c:pt>
                <c:pt idx="261">
                  <c:v>827.719208260239</c:v>
                </c:pt>
                <c:pt idx="262">
                  <c:v>829.0964901110323</c:v>
                </c:pt>
                <c:pt idx="263">
                  <c:v>885.844754198015</c:v>
                </c:pt>
                <c:pt idx="264">
                  <c:v>920.1450676930714</c:v>
                </c:pt>
                <c:pt idx="265">
                  <c:v>121.86036777297481</c:v>
                </c:pt>
                <c:pt idx="266">
                  <c:v>783.1089228363907</c:v>
                </c:pt>
                <c:pt idx="267">
                  <c:v>847.4054812405365</c:v>
                </c:pt>
                <c:pt idx="268">
                  <c:v>883.3636269446132</c:v>
                </c:pt>
                <c:pt idx="269">
                  <c:v>955.8326545897456</c:v>
                </c:pt>
                <c:pt idx="270">
                  <c:v>971.3042455617422</c:v>
                </c:pt>
                <c:pt idx="271">
                  <c:v>989.1008479304521</c:v>
                </c:pt>
                <c:pt idx="272">
                  <c:v>130.90287385861208</c:v>
                </c:pt>
                <c:pt idx="273">
                  <c:v>922.0248589290394</c:v>
                </c:pt>
                <c:pt idx="274">
                  <c:v>1033.3116376380851</c:v>
                </c:pt>
                <c:pt idx="275">
                  <c:v>1027.3556040510973</c:v>
                </c:pt>
                <c:pt idx="276">
                  <c:v>1006.726927455662</c:v>
                </c:pt>
                <c:pt idx="277">
                  <c:v>1030.0150431785357</c:v>
                </c:pt>
                <c:pt idx="278">
                  <c:v>989.37058414144</c:v>
                </c:pt>
                <c:pt idx="279">
                  <c:v>131.93456641993475</c:v>
                </c:pt>
                <c:pt idx="280">
                  <c:v>809.8853153270122</c:v>
                </c:pt>
                <c:pt idx="281">
                  <c:v>892.7228089409297</c:v>
                </c:pt>
                <c:pt idx="282">
                  <c:v>880.7963076220808</c:v>
                </c:pt>
                <c:pt idx="283">
                  <c:v>899.7822272691212</c:v>
                </c:pt>
                <c:pt idx="284">
                  <c:v>883.0389483852543</c:v>
                </c:pt>
                <c:pt idx="285">
                  <c:v>942.6209940581105</c:v>
                </c:pt>
                <c:pt idx="286">
                  <c:v>124.94474199140527</c:v>
                </c:pt>
                <c:pt idx="287">
                  <c:v>750.7757148871733</c:v>
                </c:pt>
                <c:pt idx="288">
                  <c:v>879.2513400841874</c:v>
                </c:pt>
                <c:pt idx="289">
                  <c:v>900.5160616756109</c:v>
                </c:pt>
                <c:pt idx="290">
                  <c:v>933.1710541457816</c:v>
                </c:pt>
                <c:pt idx="291">
                  <c:v>962.7356824089919</c:v>
                </c:pt>
                <c:pt idx="292">
                  <c:v>971.4035283339122</c:v>
                </c:pt>
                <c:pt idx="293">
                  <c:v>128.8163913905642</c:v>
                </c:pt>
                <c:pt idx="294">
                  <c:v>827.6786620970863</c:v>
                </c:pt>
                <c:pt idx="295">
                  <c:v>876.2131969777753</c:v>
                </c:pt>
                <c:pt idx="296">
                  <c:v>906.2688841602496</c:v>
                </c:pt>
                <c:pt idx="297">
                  <c:v>945.5988029297345</c:v>
                </c:pt>
                <c:pt idx="298">
                  <c:v>958.4729157865055</c:v>
                </c:pt>
                <c:pt idx="299">
                  <c:v>957.8561228788726</c:v>
                </c:pt>
                <c:pt idx="300">
                  <c:v>127.11704357042953</c:v>
                </c:pt>
                <c:pt idx="301">
                  <c:v>817.3308241181071</c:v>
                </c:pt>
                <c:pt idx="302">
                  <c:v>892.323270290525</c:v>
                </c:pt>
                <c:pt idx="303">
                  <c:v>987.4870523324672</c:v>
                </c:pt>
                <c:pt idx="304">
                  <c:v>956.0163335126454</c:v>
                </c:pt>
                <c:pt idx="305">
                  <c:v>947.0310198542654</c:v>
                </c:pt>
                <c:pt idx="306">
                  <c:v>973.9987717251194</c:v>
                </c:pt>
                <c:pt idx="307">
                  <c:v>129.24074898565652</c:v>
                </c:pt>
                <c:pt idx="308">
                  <c:v>832.4250069465675</c:v>
                </c:pt>
                <c:pt idx="309">
                  <c:v>958.2623637485259</c:v>
                </c:pt>
                <c:pt idx="310">
                  <c:v>984.2641751082633</c:v>
                </c:pt>
                <c:pt idx="311">
                  <c:v>959.1846441675023</c:v>
                </c:pt>
                <c:pt idx="312">
                  <c:v>998.777178751973</c:v>
                </c:pt>
                <c:pt idx="313">
                  <c:v>1030.6537218446267</c:v>
                </c:pt>
                <c:pt idx="314">
                  <c:v>136.98089457370511</c:v>
                </c:pt>
                <c:pt idx="315">
                  <c:v>880.6515304484444</c:v>
                </c:pt>
                <c:pt idx="316">
                  <c:v>923.5127011427477</c:v>
                </c:pt>
                <c:pt idx="317">
                  <c:v>913.5348255096472</c:v>
                </c:pt>
                <c:pt idx="318">
                  <c:v>951.7585201933632</c:v>
                </c:pt>
                <c:pt idx="319">
                  <c:v>927.8611797577696</c:v>
                </c:pt>
                <c:pt idx="320">
                  <c:v>978.3379421537993</c:v>
                </c:pt>
                <c:pt idx="321">
                  <c:v>129.87094939203547</c:v>
                </c:pt>
                <c:pt idx="322">
                  <c:v>814.9927087012977</c:v>
                </c:pt>
                <c:pt idx="323">
                  <c:v>894.9992359101507</c:v>
                </c:pt>
                <c:pt idx="324">
                  <c:v>917.8953131217825</c:v>
                </c:pt>
                <c:pt idx="325">
                  <c:v>862.3740501372705</c:v>
                </c:pt>
                <c:pt idx="326">
                  <c:v>825.1245711136277</c:v>
                </c:pt>
                <c:pt idx="327">
                  <c:v>843.5648105188219</c:v>
                </c:pt>
                <c:pt idx="328">
                  <c:v>113.13708073774269</c:v>
                </c:pt>
                <c:pt idx="329">
                  <c:v>781.7087250660909</c:v>
                </c:pt>
                <c:pt idx="330">
                  <c:v>878.2717969173037</c:v>
                </c:pt>
                <c:pt idx="331">
                  <c:v>870.1096759368874</c:v>
                </c:pt>
                <c:pt idx="332">
                  <c:v>899.5974884291131</c:v>
                </c:pt>
                <c:pt idx="333">
                  <c:v>931.6481056367558</c:v>
                </c:pt>
                <c:pt idx="334">
                  <c:v>938.9899613963297</c:v>
                </c:pt>
                <c:pt idx="335">
                  <c:v>124.42942082276461</c:v>
                </c:pt>
                <c:pt idx="336">
                  <c:v>777.4438742803163</c:v>
                </c:pt>
                <c:pt idx="337">
                  <c:v>867.9053499497309</c:v>
                </c:pt>
                <c:pt idx="338">
                  <c:v>879.3137564454967</c:v>
                </c:pt>
                <c:pt idx="339">
                  <c:v>845.8336991533221</c:v>
                </c:pt>
                <c:pt idx="340">
                  <c:v>832.0994151199175</c:v>
                </c:pt>
                <c:pt idx="341">
                  <c:v>789.0273252756592</c:v>
                </c:pt>
                <c:pt idx="342">
                  <c:v>106.49451928068181</c:v>
                </c:pt>
                <c:pt idx="343">
                  <c:v>675.2007071545863</c:v>
                </c:pt>
                <c:pt idx="344">
                  <c:v>827.6683266779745</c:v>
                </c:pt>
                <c:pt idx="345">
                  <c:v>770.3209140296923</c:v>
                </c:pt>
                <c:pt idx="346">
                  <c:v>763.666623949035</c:v>
                </c:pt>
                <c:pt idx="347">
                  <c:v>738.1653164289673</c:v>
                </c:pt>
                <c:pt idx="348">
                  <c:v>806.0428213372371</c:v>
                </c:pt>
                <c:pt idx="349">
                  <c:v>107.45439987366629</c:v>
                </c:pt>
                <c:pt idx="350">
                  <c:v>716.8076877213641</c:v>
                </c:pt>
                <c:pt idx="351">
                  <c:v>841.1017368769885</c:v>
                </c:pt>
                <c:pt idx="352">
                  <c:v>898.3018210334839</c:v>
                </c:pt>
                <c:pt idx="353">
                  <c:v>888.7958805706901</c:v>
                </c:pt>
                <c:pt idx="354">
                  <c:v>898.3334656160675</c:v>
                </c:pt>
                <c:pt idx="355">
                  <c:v>928.3696498576332</c:v>
                </c:pt>
                <c:pt idx="356">
                  <c:v>122.54429213821294</c:v>
                </c:pt>
                <c:pt idx="357">
                  <c:v>729.2904311898542</c:v>
                </c:pt>
                <c:pt idx="358">
                  <c:v>882.5283049997333</c:v>
                </c:pt>
                <c:pt idx="359">
                  <c:v>922.5427515592849</c:v>
                </c:pt>
                <c:pt idx="360">
                  <c:v>869.6509769875148</c:v>
                </c:pt>
                <c:pt idx="361">
                  <c:v>813.3623229773551</c:v>
                </c:pt>
                <c:pt idx="362">
                  <c:v>877.6966390457796</c:v>
                </c:pt>
                <c:pt idx="363">
                  <c:v>116.44292617609949</c:v>
                </c:pt>
                <c:pt idx="364">
                  <c:v>711.606209036783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60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MWh neto per blok 30 hari</c:v>
                </c:pt>
              </c:strCache>
            </c:strRef>
          </c:tx>
          <c:spPr>
            <a:solidFill>
              <a:srgbClr val="2B9F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465.28929512530414</c:v>
                </c:pt>
                <c:pt idx="1">
                  <c:v>202.23704682649614</c:v>
                </c:pt>
                <c:pt idx="2">
                  <c:v>326.41518653256304</c:v>
                </c:pt>
                <c:pt idx="3">
                  <c:v>321.4382203006818</c:v>
                </c:pt>
                <c:pt idx="4">
                  <c:v>327.34176570680086</c:v>
                </c:pt>
                <c:pt idx="5">
                  <c:v>355.3469369197685</c:v>
                </c:pt>
                <c:pt idx="6">
                  <c:v>426.1900522281842</c:v>
                </c:pt>
                <c:pt idx="7">
                  <c:v>507.18683577380415</c:v>
                </c:pt>
                <c:pt idx="8">
                  <c:v>568.1642139772911</c:v>
                </c:pt>
                <c:pt idx="9">
                  <c:v>591.950325372359</c:v>
                </c:pt>
                <c:pt idx="10">
                  <c:v>563.7700126424395</c:v>
                </c:pt>
                <c:pt idx="11">
                  <c:v>534.19918847181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CF4"/>
              </a:solidFill>
              <a:prstDash val="solid"/>
              <a:round/>
            </a:ln>
          </c:spPr>
        </c:majorGridlines>
        <c:numFmt formatCode="[$-421]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00" b="0" i="0" u="none" strike="noStrike">
                <a:solidFill>
                  <a:srgbClr val="5B6B7F"/>
                </a:solidFill>
                <a:latin typeface="Calibri"/>
              </a:defRPr>
            </a:pPr>
            <a:r>
              <a:rPr sz="800" b="0" i="0" u="none" strike="noStrike">
                <a:solidFill>
                  <a:srgbClr val="5B6B7F"/>
                </a:solidFill>
                <a:latin typeface="Calibri"/>
              </a:rPr>
              <a:t>Korelasi peringkat (ρ) terhadap daya neto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Korelasi peringkat dengan daya neto</c:v>
                </c:pt>
              </c:strCache>
            </c:strRef>
          </c:tx>
          <c:spPr>
            <a:solidFill>
              <a:srgbClr val="1F4E9E"/>
            </a:solidFill>
            <a:effectLst/>
          </c:spPr>
          <c:invertIfNegative val="0"/>
          <c:dLbls>
            <c:numFmt formatCode="[$-421]#,##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4E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45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COD POME</c:v>
                  </c:pt>
                  <c:pt idx="1">
                    <c:v>Beban TBS PKS</c:v>
                  </c:pt>
                  <c:pt idx="2">
                    <c:v>Volume POME/t TBS</c:v>
                  </c:pt>
                  <c:pt idx="3">
                    <c:v>Kation POME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0.5553465959162244</c:v>
                </c:pt>
                <c:pt idx="1">
                  <c:v>0.5421249507809424</c:v>
                </c:pt>
                <c:pt idx="2">
                  <c:v>0.13125138282114263</c:v>
                </c:pt>
                <c:pt idx="3">
                  <c:v>-0.08481615510096938</c:v>
                </c:pt>
              </c:numCache>
            </c:numRef>
          </c:val>
        </c:ser>
        <c:dLbls>
          <c:numFmt formatCode="[$-421]#,##0.0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Sampul. Satu set 60 t TBS/jam menghindari ≈ 32.001 tCO2e per tahun (−96% dari kolam terbuka; AMS-III.H, UF 0,89, GWP 28) tanpa modal pabrik. Model 3D (CadQuery) dari neraca proses; modul acuan 45 t TBS/jam, konfigurasi komersial 60 t TBS/jam.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Latar belakang. SCQA: situasi (1.300 PKS, hanya 11% menangkap metana), komplikasi (kolam terbuka ≈ 26 juta tCO2e/tahun; biogas milik sendiri mahal dan berisiko), pertanyaan, jawaban (layanan BOO).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Konsep: urutan proses dari POME sampai listrik; modularitas 2/3/4 tangki identik; hanya skala 60 t TBS/jam yang layak pada asumsi dasar.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Validitas teknis (modul acuan 45 t TBS/jam; skala 60 t/jam = ×4/3 karena HRT, SRT, dan beban per tangki identik). Neraca massa menutup 0,0002%; energi neto 1.025 kW; ketidakpastian dari 400 sampel Monte Carlo.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Desain produk. Semua gambar dihasilkan dari model parametrik yang sama dengan neraca proses (pfd/, cad/). Modul acuan 45 t TBS/jam: 3 reaktor GFS, 2 genset 600 kWe, plot 99,65 × 37,7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Pesaing. Peta posisi memakai dua sumbu terukur dari Model Keputusan PKS: modal yang ditanggung PKS dan biaya POME terlevelisasi per t TBS. Porter, PESTLE, SWOT dan TOWS ditutup dengan strategi masuk.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Keuangan. Konfigurasi 60 t TBS/jam + PM-12. Semua angka berasal dari model Excel berumus hidup (BG_Model_Keuangan.xlsx) yang cocok dengan model Python sampai sen. Asumsi: umur 20 tahun (2028-2047), USD nominal, inflasi 2%, pajak 22%, beban PKS 75%, ketersediaan 93%, fee USD 1,25 per t TBS, listrik ke PKS USD 0,20/kWh, ekspor PLN 9,81 USc/kWh, karbon USD 5/t.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Implementasi. Gantt, gerbang tahap, anggaran, dan peluang NPV positif per gerbang (Monte Carlo menyempitkan distribusi solar, CAPEX, rezim tarif, beban, dan fee). Jalur kritis: kuotasi/FEED, izin PLN dan IUPTLS, genset (6-9 bulan), konstruksi. Perizinan: PBG/SLF (pemda); UKL-UPL dan persetujuan teknis air limbah (KLH/DLH); IUPTLS/IUPTLU, PJBL, SLO (ESDM, PLN, LIT); K3 bejana tekan (Kemnaker). Risiko utama: tarif dan izin jual listrik (hukum), CAPEX di atas USD 6 juta (pengadaan), kinerja termofilik (teknis), solar di bawah 1,5 L/t (komersial). RACI: tim A untuk data, FEED, konstruksi; PKS A untuk izin lahan; EPC R untuk FEED dan konstruksi; laboratorium R untuk uji.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Peluang bisnis dan dampak. Pasar bottom-up per filter (filter solar, jaringan, dan program grup adalah hipotesis yang divalidasi di G0); ekonomi per set menurut skenario; armada 10 set; dampak terukur.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Kesimpulan. Tiga pesan, kartu skor sebelum dan sesudah gerbang, syarat kelayakan terukur, langkah berikutnya dengan dana, dan titik terlemah yang masih terbuka (uji penentang).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MP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ON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  <p:sp>
        <p:nvSpPr>
          <p:cNvPr id="3" name="Shape 0"/>
          <p:cNvSpPr/>
          <p:nvPr/>
        </p:nvSpPr>
        <p:spPr>
          <a:xfrm>
            <a:off x="411480" y="1033272"/>
            <a:ext cx="11384280" cy="0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0625328" y="274320"/>
            <a:ext cx="420624" cy="420624"/>
          </a:xfrm>
          <a:prstGeom prst="rect">
            <a:avLst>
              <a:gd name="adj" fmla="val 17391"/>
            </a:avLst>
          </a:prstGeom>
          <a:solidFill>
            <a:srgbClr val="0C2464"/>
          </a:solidFill>
          <a:ln/>
        </p:spPr>
      </p:sp>
      <p:sp>
        <p:nvSpPr>
          <p:cNvPr id="5" name="Text 2"/>
          <p:cNvSpPr/>
          <p:nvPr/>
        </p:nvSpPr>
        <p:spPr>
          <a:xfrm>
            <a:off x="10625328" y="274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1100816" y="27432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1100816" y="493776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EIC 2026 · Business Plan</a:t>
            </a:r>
            <a:endParaRPr lang="en-US" sz="6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atar-sampul" descr="/home/user/aspebindo/deck/img/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kotak-1"/>
          <p:cNvSpPr txBox="1"/>
          <p:nvPr/>
        </p:nvSpPr>
        <p:spPr>
          <a:xfrm>
            <a:off x="502920" y="411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000" dirty="0"/>
          </a:p>
        </p:txBody>
      </p:sp>
      <p:sp>
        <p:nvSpPr>
          <p:cNvPr id="4" name="teks-2"/>
          <p:cNvSpPr txBox="1"/>
          <p:nvPr/>
        </p:nvSpPr>
        <p:spPr>
          <a:xfrm>
            <a:off x="1051560" y="4114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MALATAXTAX</a:t>
            </a:r>
            <a:endParaRPr lang="en-US" sz="1200" dirty="0"/>
          </a:p>
        </p:txBody>
      </p:sp>
      <p:sp>
        <p:nvSpPr>
          <p:cNvPr id="5" name="teks-3"/>
          <p:cNvSpPr txBox="1"/>
          <p:nvPr/>
        </p:nvSpPr>
        <p:spPr>
          <a:xfrm>
            <a:off x="1051560" y="64922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Business Plan Competition · EIC 2026</a:t>
            </a:r>
            <a:endParaRPr lang="en-US" sz="900" dirty="0"/>
          </a:p>
        </p:txBody>
      </p:sp>
      <p:sp>
        <p:nvSpPr>
          <p:cNvPr id="6" name="kotak-4"/>
          <p:cNvSpPr txBox="1"/>
          <p:nvPr/>
        </p:nvSpPr>
        <p:spPr>
          <a:xfrm>
            <a:off x="502920" y="1188720"/>
            <a:ext cx="4251960" cy="256032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solidFill>
              <a:srgbClr val="8CC63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SUBTEMA 3 · EKONOMI SIRKULAR DAN SOLUSI LINGKUNGAN</a:t>
            </a:r>
            <a:endParaRPr lang="en-US" sz="850" dirty="0"/>
          </a:p>
        </p:txBody>
      </p:sp>
      <p:sp>
        <p:nvSpPr>
          <p:cNvPr id="7" name="teks-5"/>
          <p:cNvSpPr txBox="1"/>
          <p:nvPr/>
        </p:nvSpPr>
        <p:spPr>
          <a:xfrm>
            <a:off x="502920" y="160020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kolam limbah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7FD3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 pembangkit listrik</a:t>
            </a:r>
            <a:endParaRPr lang="en-US" sz="3000" dirty="0"/>
          </a:p>
        </p:txBody>
      </p:sp>
      <p:sp>
        <p:nvSpPr>
          <p:cNvPr id="8" name="teks-6"/>
          <p:cNvSpPr txBox="1"/>
          <p:nvPr/>
        </p:nvSpPr>
        <p:spPr>
          <a:xfrm>
            <a:off x="502920" y="29260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Biogas sebagai Layanan: pengolah POME termofilik modular untuk pabrik kelapa sawit</a:t>
            </a:r>
            <a:endParaRPr lang="en-US" sz="1300" dirty="0"/>
          </a:p>
        </p:txBody>
      </p:sp>
      <p:sp>
        <p:nvSpPr>
          <p:cNvPr id="9" name="teks-7"/>
          <p:cNvSpPr txBox="1"/>
          <p:nvPr/>
        </p:nvSpPr>
        <p:spPr>
          <a:xfrm>
            <a:off x="502920" y="36118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tahun, satu pabrik sawit besar melepas ±33 ribu ton CO₂e metana dari kolam limbahnya. Kami menangkap gas itu, mengubahnya menjadi listrik, dan membiarkan pabrik membayar per ton buah yang diolah, tanpa mengeluarkan modal.</a:t>
            </a:r>
            <a:endParaRPr lang="en-US" sz="1150" dirty="0"/>
          </a:p>
        </p:txBody>
      </p:sp>
      <p:sp>
        <p:nvSpPr>
          <p:cNvPr id="10" name="kotak-8"/>
          <p:cNvSpPr/>
          <p:nvPr/>
        </p:nvSpPr>
        <p:spPr>
          <a:xfrm>
            <a:off x="50292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ks-9"/>
          <p:cNvSpPr txBox="1"/>
          <p:nvPr/>
        </p:nvSpPr>
        <p:spPr>
          <a:xfrm>
            <a:off x="54864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−96%</a:t>
            </a:r>
            <a:endParaRPr lang="en-US" sz="2000" dirty="0"/>
          </a:p>
        </p:txBody>
      </p:sp>
      <p:sp>
        <p:nvSpPr>
          <p:cNvPr id="12" name="teks-10"/>
          <p:cNvSpPr txBox="1"/>
          <p:nvPr/>
        </p:nvSpPr>
        <p:spPr>
          <a:xfrm>
            <a:off x="59436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 metana kolam POME dihindari</a:t>
            </a:r>
            <a:endParaRPr lang="en-US" sz="850" dirty="0"/>
          </a:p>
        </p:txBody>
      </p:sp>
      <p:sp>
        <p:nvSpPr>
          <p:cNvPr id="13" name="kotak-11"/>
          <p:cNvSpPr/>
          <p:nvPr/>
        </p:nvSpPr>
        <p:spPr>
          <a:xfrm>
            <a:off x="228600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ks-12"/>
          <p:cNvSpPr txBox="1"/>
          <p:nvPr/>
        </p:nvSpPr>
        <p:spPr>
          <a:xfrm>
            <a:off x="233172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</a:t>
            </a:r>
            <a:endParaRPr lang="en-US" sz="2000" dirty="0"/>
          </a:p>
        </p:txBody>
      </p:sp>
      <p:sp>
        <p:nvSpPr>
          <p:cNvPr id="15" name="teks-13"/>
          <p:cNvSpPr txBox="1"/>
          <p:nvPr/>
        </p:nvSpPr>
        <p:spPr>
          <a:xfrm>
            <a:off x="237744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dari pabrik (skema BOO)</a:t>
            </a:r>
            <a:endParaRPr lang="en-US" sz="850" dirty="0"/>
          </a:p>
        </p:txBody>
      </p:sp>
      <p:sp>
        <p:nvSpPr>
          <p:cNvPr id="16" name="kotak-14"/>
          <p:cNvSpPr/>
          <p:nvPr/>
        </p:nvSpPr>
        <p:spPr>
          <a:xfrm>
            <a:off x="4069080" y="4754880"/>
            <a:ext cx="1691640" cy="1005840"/>
          </a:xfrm>
          <a:prstGeom prst="roundRect">
            <a:avLst>
              <a:gd name="adj" fmla="val 5455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ks-15"/>
          <p:cNvSpPr txBox="1"/>
          <p:nvPr/>
        </p:nvSpPr>
        <p:spPr>
          <a:xfrm>
            <a:off x="4114800" y="480974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</a:t>
            </a:r>
            <a:endParaRPr lang="en-US" sz="2000" dirty="0"/>
          </a:p>
        </p:txBody>
      </p:sp>
      <p:sp>
        <p:nvSpPr>
          <p:cNvPr id="18" name="teks-16"/>
          <p:cNvSpPr txBox="1"/>
          <p:nvPr/>
        </p:nvSpPr>
        <p:spPr>
          <a:xfrm>
            <a:off x="4160520" y="530352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neto per tahun per set</a:t>
            </a:r>
            <a:endParaRPr lang="en-US" sz="850" dirty="0"/>
          </a:p>
        </p:txBody>
      </p:sp>
      <p:sp>
        <p:nvSpPr>
          <p:cNvPr id="19" name="teks-17"/>
          <p:cNvSpPr txBox="1"/>
          <p:nvPr/>
        </p:nvSpPr>
        <p:spPr>
          <a:xfrm>
            <a:off x="502920" y="5989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Malataxtax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BF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[Nama lengkap 1] · [Nama lengkap 2] · [Nama lengkap 3]  |  [Nama perguruan tinggi]</a:t>
            </a:r>
            <a:endParaRPr lang="en-US" sz="900" dirty="0"/>
          </a:p>
        </p:txBody>
      </p:sp>
      <p:sp>
        <p:nvSpPr>
          <p:cNvPr id="20" name="kotak-18"/>
          <p:cNvSpPr txBox="1"/>
          <p:nvPr/>
        </p:nvSpPr>
        <p:spPr>
          <a:xfrm>
            <a:off x="10100302" y="18238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1" name="kotak-19"/>
          <p:cNvSpPr txBox="1"/>
          <p:nvPr/>
        </p:nvSpPr>
        <p:spPr>
          <a:xfrm>
            <a:off x="9833609" y="312877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kotak-20"/>
          <p:cNvSpPr txBox="1"/>
          <p:nvPr/>
        </p:nvSpPr>
        <p:spPr>
          <a:xfrm>
            <a:off x="9271648" y="170002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kotak-21"/>
          <p:cNvSpPr txBox="1"/>
          <p:nvPr/>
        </p:nvSpPr>
        <p:spPr>
          <a:xfrm>
            <a:off x="13195850" y="2623947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4" name="kotak-22"/>
          <p:cNvSpPr txBox="1"/>
          <p:nvPr/>
        </p:nvSpPr>
        <p:spPr>
          <a:xfrm>
            <a:off x="11957631" y="3147822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 w="1587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5" name="kotak-23"/>
          <p:cNvSpPr/>
          <p:nvPr/>
        </p:nvSpPr>
        <p:spPr>
          <a:xfrm>
            <a:off x="7452360" y="228600"/>
            <a:ext cx="4343400" cy="1508760"/>
          </a:xfrm>
          <a:prstGeom prst="roundRect">
            <a:avLst>
              <a:gd name="adj" fmla="val 3030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ks-24"/>
          <p:cNvSpPr txBox="1"/>
          <p:nvPr/>
        </p:nvSpPr>
        <p:spPr>
          <a:xfrm>
            <a:off x="7589520" y="2743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Titik integrasi dengan PKS</a:t>
            </a:r>
            <a:endParaRPr lang="en-US" sz="950" dirty="0"/>
          </a:p>
        </p:txBody>
      </p:sp>
      <p:sp>
        <p:nvSpPr>
          <p:cNvPr id="27" name="kotak-25"/>
          <p:cNvSpPr txBox="1"/>
          <p:nvPr/>
        </p:nvSpPr>
        <p:spPr>
          <a:xfrm>
            <a:off x="7589520" y="5669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8" name="teks-26"/>
          <p:cNvSpPr txBox="1"/>
          <p:nvPr/>
        </p:nvSpPr>
        <p:spPr>
          <a:xfrm>
            <a:off x="7863840" y="5486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85 °C dari fat pit ke praolah</a:t>
            </a:r>
            <a:endParaRPr lang="en-US" sz="900" dirty="0"/>
          </a:p>
        </p:txBody>
      </p:sp>
      <p:sp>
        <p:nvSpPr>
          <p:cNvPr id="29" name="kotak-27"/>
          <p:cNvSpPr txBox="1"/>
          <p:nvPr/>
        </p:nvSpPr>
        <p:spPr>
          <a:xfrm>
            <a:off x="7589520" y="7955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0" name="teks-28"/>
          <p:cNvSpPr txBox="1"/>
          <p:nvPr/>
        </p:nvSpPr>
        <p:spPr>
          <a:xfrm>
            <a:off x="7863840" y="7772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biogas di bekas kolam, 0,38 ha</a:t>
            </a:r>
            <a:endParaRPr lang="en-US" sz="900" dirty="0"/>
          </a:p>
        </p:txBody>
      </p:sp>
      <p:sp>
        <p:nvSpPr>
          <p:cNvPr id="31" name="kotak-29"/>
          <p:cNvSpPr txBox="1"/>
          <p:nvPr/>
        </p:nvSpPr>
        <p:spPr>
          <a:xfrm>
            <a:off x="7589520" y="10241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2" name="teks-30"/>
          <p:cNvSpPr txBox="1"/>
          <p:nvPr/>
        </p:nvSpPr>
        <p:spPr>
          <a:xfrm>
            <a:off x="7863840" y="10058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rumah mesin PKS dan jaringan PLN</a:t>
            </a:r>
            <a:endParaRPr lang="en-US" sz="900" dirty="0"/>
          </a:p>
        </p:txBody>
      </p:sp>
      <p:sp>
        <p:nvSpPr>
          <p:cNvPr id="33" name="kotak-31"/>
          <p:cNvSpPr txBox="1"/>
          <p:nvPr/>
        </p:nvSpPr>
        <p:spPr>
          <a:xfrm>
            <a:off x="7589520" y="12527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ks-32"/>
          <p:cNvSpPr txBox="1"/>
          <p:nvPr/>
        </p:nvSpPr>
        <p:spPr>
          <a:xfrm>
            <a:off x="7863840" y="12344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ke kolam polishing</a:t>
            </a:r>
            <a:endParaRPr lang="en-US" sz="900" dirty="0"/>
          </a:p>
        </p:txBody>
      </p:sp>
      <p:sp>
        <p:nvSpPr>
          <p:cNvPr id="35" name="kotak-33"/>
          <p:cNvSpPr txBox="1"/>
          <p:nvPr/>
        </p:nvSpPr>
        <p:spPr>
          <a:xfrm>
            <a:off x="7589520" y="148132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36" name="teks-34"/>
          <p:cNvSpPr txBox="1"/>
          <p:nvPr/>
        </p:nvSpPr>
        <p:spPr>
          <a:xfrm>
            <a:off x="7863840" y="14630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anaerobik lama (±1,1 ha) dibebaskan</a:t>
            </a:r>
            <a:endParaRPr lang="en-US" sz="900" dirty="0"/>
          </a:p>
        </p:txBody>
      </p:sp>
      <p:sp>
        <p:nvSpPr>
          <p:cNvPr id="37" name="kotak-35"/>
          <p:cNvSpPr/>
          <p:nvPr/>
        </p:nvSpPr>
        <p:spPr>
          <a:xfrm>
            <a:off x="8458200" y="4594860"/>
            <a:ext cx="3383280" cy="19431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8" name="render-produk" descr="/home/user/aspebindo/cad/out/render/DIORAMA_produk_ra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640580"/>
            <a:ext cx="3291840" cy="1851660"/>
          </a:xfrm>
          <a:prstGeom prst="rect">
            <a:avLst/>
          </a:prstGeom>
        </p:spPr>
      </p:pic>
      <p:sp>
        <p:nvSpPr>
          <p:cNvPr id="39" name="kotak-36"/>
          <p:cNvSpPr txBox="1"/>
          <p:nvPr/>
        </p:nvSpPr>
        <p:spPr>
          <a:xfrm>
            <a:off x="8503920" y="6236208"/>
            <a:ext cx="3291840" cy="256032"/>
          </a:xfrm>
          <a:prstGeom prst="rect">
            <a:avLst/>
          </a:prstGeom>
          <a:solidFill>
            <a:srgbClr val="0C2464">
              <a:alpha val="85000"/>
            </a:srgbClr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biogas modular, dapat dipindahkan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Metana POME dari ±1.150 PKS lepas ke udara karena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dan risiko kinerja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karena teknologinya belum ada</a:t>
            </a:r>
            <a:endParaRPr lang="en-US" sz="1900" dirty="0"/>
          </a:p>
        </p:txBody>
      </p:sp>
      <p:sp>
        <p:nvSpPr>
          <p:cNvPr id="3" name="kotak-3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kotak-45"/>
          <p:cNvSpPr txBox="1"/>
          <p:nvPr/>
        </p:nvSpPr>
        <p:spPr>
          <a:xfrm>
            <a:off x="411480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SITUASI</a:t>
            </a:r>
            <a:endParaRPr lang="en-US" sz="900" dirty="0"/>
          </a:p>
        </p:txBody>
      </p:sp>
      <p:sp>
        <p:nvSpPr>
          <p:cNvPr id="13" name="kotak-46"/>
          <p:cNvSpPr/>
          <p:nvPr/>
        </p:nvSpPr>
        <p:spPr>
          <a:xfrm>
            <a:off x="411480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4" name="teks-47"/>
          <p:cNvSpPr txBox="1"/>
          <p:nvPr/>
        </p:nvSpPr>
        <p:spPr>
          <a:xfrm>
            <a:off x="502920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±1.150 PKS</a:t>
            </a:r>
            <a:endParaRPr lang="en-US" sz="1400" dirty="0"/>
          </a:p>
        </p:txBody>
      </p:sp>
      <p:sp>
        <p:nvSpPr>
          <p:cNvPr id="15" name="teks-48"/>
          <p:cNvSpPr txBox="1"/>
          <p:nvPr/>
        </p:nvSpPr>
        <p:spPr>
          <a:xfrm>
            <a:off x="502920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±1.300 PKS belum menangkap metana POME (±150 juta m³ POME per tahun)</a:t>
            </a:r>
            <a:endParaRPr lang="en-US" sz="880" dirty="0"/>
          </a:p>
        </p:txBody>
      </p:sp>
      <p:sp>
        <p:nvSpPr>
          <p:cNvPr id="16" name="kotak-49"/>
          <p:cNvSpPr txBox="1"/>
          <p:nvPr/>
        </p:nvSpPr>
        <p:spPr>
          <a:xfrm>
            <a:off x="3282696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KOMPLIKASI</a:t>
            </a:r>
            <a:endParaRPr lang="en-US" sz="900" dirty="0"/>
          </a:p>
        </p:txBody>
      </p:sp>
      <p:sp>
        <p:nvSpPr>
          <p:cNvPr id="17" name="kotak-50"/>
          <p:cNvSpPr/>
          <p:nvPr/>
        </p:nvSpPr>
        <p:spPr>
          <a:xfrm>
            <a:off x="3282696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18" name="teks-51"/>
          <p:cNvSpPr txBox="1"/>
          <p:nvPr/>
        </p:nvSpPr>
        <p:spPr>
          <a:xfrm>
            <a:off x="3374136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26 juta tCO₂e</a:t>
            </a:r>
            <a:endParaRPr lang="en-US" sz="1400" dirty="0"/>
          </a:p>
        </p:txBody>
      </p:sp>
      <p:sp>
        <p:nvSpPr>
          <p:cNvPr id="19" name="teks-52"/>
          <p:cNvSpPr txBox="1"/>
          <p:nvPr/>
        </p:nvSpPr>
        <p:spPr>
          <a:xfrm>
            <a:off x="3374136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tahun lepas dari kolam; biogas milik sendiri USD 3,5–4,0 juta per set dan berisiko</a:t>
            </a:r>
            <a:endParaRPr lang="en-US" sz="880" dirty="0"/>
          </a:p>
        </p:txBody>
      </p:sp>
      <p:sp>
        <p:nvSpPr>
          <p:cNvPr id="20" name="kotak-53"/>
          <p:cNvSpPr txBox="1"/>
          <p:nvPr/>
        </p:nvSpPr>
        <p:spPr>
          <a:xfrm>
            <a:off x="6153912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</a:t>
            </a:r>
            <a:endParaRPr lang="en-US" sz="900" dirty="0"/>
          </a:p>
        </p:txBody>
      </p:sp>
      <p:sp>
        <p:nvSpPr>
          <p:cNvPr id="21" name="kotak-54"/>
          <p:cNvSpPr/>
          <p:nvPr/>
        </p:nvSpPr>
        <p:spPr>
          <a:xfrm>
            <a:off x="6153912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55"/>
          <p:cNvSpPr txBox="1"/>
          <p:nvPr/>
        </p:nvSpPr>
        <p:spPr>
          <a:xfrm>
            <a:off x="6245352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23" name="teks-56"/>
          <p:cNvSpPr txBox="1"/>
          <p:nvPr/>
        </p:nvSpPr>
        <p:spPr>
          <a:xfrm>
            <a:off x="6245352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menangkap metana tanpa modal dan tanpa risiko kinerja, dengan biaya tidak melebihi kolam?</a:t>
            </a:r>
            <a:endParaRPr lang="en-US" sz="880" dirty="0"/>
          </a:p>
        </p:txBody>
      </p:sp>
      <p:sp>
        <p:nvSpPr>
          <p:cNvPr id="24" name="kotak-57"/>
          <p:cNvSpPr txBox="1"/>
          <p:nvPr/>
        </p:nvSpPr>
        <p:spPr>
          <a:xfrm>
            <a:off x="9025128" y="1143000"/>
            <a:ext cx="2779776" cy="201168"/>
          </a:xfrm>
          <a:prstGeom prst="roundRect">
            <a:avLst>
              <a:gd name="adj" fmla="val 18182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JAWABAN</a:t>
            </a:r>
            <a:endParaRPr lang="en-US" sz="900" dirty="0"/>
          </a:p>
        </p:txBody>
      </p:sp>
      <p:sp>
        <p:nvSpPr>
          <p:cNvPr id="25" name="kotak-58"/>
          <p:cNvSpPr/>
          <p:nvPr/>
        </p:nvSpPr>
        <p:spPr>
          <a:xfrm>
            <a:off x="9025128" y="1344168"/>
            <a:ext cx="2779776" cy="713232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6" name="teks-59"/>
          <p:cNvSpPr txBox="1"/>
          <p:nvPr/>
        </p:nvSpPr>
        <p:spPr>
          <a:xfrm>
            <a:off x="9116568" y="1362456"/>
            <a:ext cx="2596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8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 modal PKS</a:t>
            </a:r>
            <a:endParaRPr lang="en-US" sz="1400" dirty="0"/>
          </a:p>
        </p:txBody>
      </p:sp>
      <p:sp>
        <p:nvSpPr>
          <p:cNvPr id="27" name="teks-60"/>
          <p:cNvSpPr txBox="1"/>
          <p:nvPr/>
        </p:nvSpPr>
        <p:spPr>
          <a:xfrm>
            <a:off x="9116568" y="1645920"/>
            <a:ext cx="2596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set termofilik modular dibayar per t TBS dan per kWh (slide 3–7)</a:t>
            </a:r>
            <a:endParaRPr lang="en-US" sz="880" dirty="0"/>
          </a:p>
        </p:txBody>
      </p:sp>
      <p:sp>
        <p:nvSpPr>
          <p:cNvPr id="28" name="kotak-61"/>
          <p:cNvSpPr txBox="1"/>
          <p:nvPr/>
        </p:nvSpPr>
        <p:spPr>
          <a:xfrm>
            <a:off x="411480" y="2130552"/>
            <a:ext cx="22402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29" name="kotak-62"/>
          <p:cNvSpPr txBox="1"/>
          <p:nvPr/>
        </p:nvSpPr>
        <p:spPr>
          <a:xfrm>
            <a:off x="2743200" y="2130552"/>
            <a:ext cx="201168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Sub-masalah</a:t>
            </a:r>
            <a:endParaRPr lang="en-US" sz="1000" dirty="0"/>
          </a:p>
        </p:txBody>
      </p:sp>
      <p:sp>
        <p:nvSpPr>
          <p:cNvPr id="30" name="kotak-63"/>
          <p:cNvSpPr txBox="1"/>
          <p:nvPr/>
        </p:nvSpPr>
        <p:spPr>
          <a:xfrm>
            <a:off x="4846320" y="2130552"/>
            <a:ext cx="3657600" cy="237744"/>
          </a:xfrm>
          <a:prstGeom prst="roundRect">
            <a:avLst>
              <a:gd name="adj" fmla="val 1538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Akar masalah (terukur)</a:t>
            </a:r>
            <a:endParaRPr lang="en-US" sz="1000" dirty="0"/>
          </a:p>
        </p:txBody>
      </p:sp>
      <p:sp>
        <p:nvSpPr>
          <p:cNvPr id="31" name="kotak-64"/>
          <p:cNvSpPr txBox="1"/>
          <p:nvPr/>
        </p:nvSpPr>
        <p:spPr>
          <a:xfrm>
            <a:off x="8595360" y="2130552"/>
            <a:ext cx="3154680" cy="237744"/>
          </a:xfrm>
          <a:prstGeom prst="roundRect">
            <a:avLst>
              <a:gd name="adj" fmla="val 15385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Arah solusi</a:t>
            </a:r>
            <a:endParaRPr lang="en-US" sz="1000" dirty="0"/>
          </a:p>
        </p:txBody>
      </p:sp>
      <p:sp>
        <p:nvSpPr>
          <p:cNvPr id="32" name="kotak-65"/>
          <p:cNvSpPr txBox="1"/>
          <p:nvPr/>
        </p:nvSpPr>
        <p:spPr>
          <a:xfrm>
            <a:off x="411480" y="2404872"/>
            <a:ext cx="2240280" cy="1682496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9050"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PKS independen dapat menangkap metana POME tanpa modal dan tanpa menanggung risiko kinerja, dengan biaya tidak melebihi kolam?</a:t>
            </a:r>
            <a:endParaRPr lang="en-US" sz="1000" dirty="0"/>
          </a:p>
        </p:txBody>
      </p:sp>
      <p:sp>
        <p:nvSpPr>
          <p:cNvPr id="33" name="kotak-66"/>
          <p:cNvSpPr txBox="1"/>
          <p:nvPr/>
        </p:nvSpPr>
        <p:spPr>
          <a:xfrm>
            <a:off x="2743200" y="2404872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</a:t>
            </a:r>
            <a:endParaRPr lang="en-US" sz="1000" dirty="0"/>
          </a:p>
        </p:txBody>
      </p:sp>
      <p:sp>
        <p:nvSpPr>
          <p:cNvPr id="34" name="kotak-67"/>
          <p:cNvSpPr txBox="1"/>
          <p:nvPr/>
        </p:nvSpPr>
        <p:spPr>
          <a:xfrm>
            <a:off x="4846320" y="2404872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terbuka: 100% CH₄ lepas, 33.457 tCO₂e/tahun per PKS 60 t/jam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konvensional: HRT 25–40 hari, lahan luas</a:t>
            </a:r>
            <a:endParaRPr lang="en-US" sz="850" dirty="0"/>
          </a:p>
        </p:txBody>
      </p:sp>
      <p:sp>
        <p:nvSpPr>
          <p:cNvPr id="35" name="kotak-68"/>
          <p:cNvSpPr txBox="1"/>
          <p:nvPr/>
        </p:nvSpPr>
        <p:spPr>
          <a:xfrm>
            <a:off x="8595360" y="2404872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kontak termofilik: HRT 5 hari, tangki GFS dibaut</a:t>
            </a:r>
            <a:endParaRPr lang="en-US" sz="900" dirty="0"/>
          </a:p>
        </p:txBody>
      </p:sp>
      <p:sp>
        <p:nvSpPr>
          <p:cNvPr id="36" name="garis-69"/>
          <p:cNvSpPr/>
          <p:nvPr/>
        </p:nvSpPr>
        <p:spPr>
          <a:xfrm flipV="1">
            <a:off x="2651760" y="2601468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37" name="garis-70"/>
          <p:cNvSpPr/>
          <p:nvPr/>
        </p:nvSpPr>
        <p:spPr>
          <a:xfrm>
            <a:off x="475488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8" name="garis-71"/>
          <p:cNvSpPr/>
          <p:nvPr/>
        </p:nvSpPr>
        <p:spPr>
          <a:xfrm>
            <a:off x="8503920" y="2601468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kotak-72"/>
          <p:cNvSpPr txBox="1"/>
          <p:nvPr/>
        </p:nvSpPr>
        <p:spPr>
          <a:xfrm>
            <a:off x="2743200" y="2834640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Ekonomi</a:t>
            </a:r>
            <a:endParaRPr lang="en-US" sz="1000" dirty="0"/>
          </a:p>
        </p:txBody>
      </p:sp>
      <p:sp>
        <p:nvSpPr>
          <p:cNvPr id="40" name="kotak-73"/>
          <p:cNvSpPr txBox="1"/>
          <p:nvPr/>
        </p:nvSpPr>
        <p:spPr>
          <a:xfrm>
            <a:off x="4846320" y="2834640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USD 3,5–4,0 juta per set; kinerja tidak dijamin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kecil: tarif 9,81 USc/kWh, karbon USD 3–5/t</a:t>
            </a:r>
            <a:endParaRPr lang="en-US" sz="850" dirty="0"/>
          </a:p>
        </p:txBody>
      </p:sp>
      <p:sp>
        <p:nvSpPr>
          <p:cNvPr id="41" name="kotak-74"/>
          <p:cNvSpPr txBox="1"/>
          <p:nvPr/>
        </p:nvSpPr>
        <p:spPr>
          <a:xfrm>
            <a:off x="8595360" y="2834640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 BOO: modal PKS nol; pendapatan jasa + listrik + karbon</a:t>
            </a:r>
            <a:endParaRPr lang="en-US" sz="900" dirty="0"/>
          </a:p>
        </p:txBody>
      </p:sp>
      <p:sp>
        <p:nvSpPr>
          <p:cNvPr id="42" name="garis-75"/>
          <p:cNvSpPr/>
          <p:nvPr/>
        </p:nvSpPr>
        <p:spPr>
          <a:xfrm flipV="1">
            <a:off x="2651760" y="3031236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3" name="garis-76"/>
          <p:cNvSpPr/>
          <p:nvPr/>
        </p:nvSpPr>
        <p:spPr>
          <a:xfrm>
            <a:off x="475488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4" name="garis-77"/>
          <p:cNvSpPr/>
          <p:nvPr/>
        </p:nvSpPr>
        <p:spPr>
          <a:xfrm>
            <a:off x="8503920" y="3031236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5" name="kotak-78"/>
          <p:cNvSpPr txBox="1"/>
          <p:nvPr/>
        </p:nvSpPr>
        <p:spPr>
          <a:xfrm>
            <a:off x="2743200" y="3264408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 dan pasar</a:t>
            </a:r>
            <a:endParaRPr lang="en-US" sz="1000" dirty="0"/>
          </a:p>
        </p:txBody>
      </p:sp>
      <p:sp>
        <p:nvSpPr>
          <p:cNvPr id="46" name="kotak-79"/>
          <p:cNvSpPr txBox="1"/>
          <p:nvPr/>
        </p:nvSpPr>
        <p:spPr>
          <a:xfrm>
            <a:off x="4846320" y="3264408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Belum ada mandat penangkapan metana (ISPO bioenergi 2027)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jual listrik dan PJBL lambat</a:t>
            </a:r>
            <a:endParaRPr lang="en-US" sz="850" dirty="0"/>
          </a:p>
        </p:txBody>
      </p:sp>
      <p:sp>
        <p:nvSpPr>
          <p:cNvPr id="47" name="kotak-80"/>
          <p:cNvSpPr txBox="1"/>
          <p:nvPr/>
        </p:nvSpPr>
        <p:spPr>
          <a:xfrm>
            <a:off x="8595360" y="3264408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jasa energi; gerbang izin sebelum modal</a:t>
            </a:r>
            <a:endParaRPr lang="en-US" sz="900" dirty="0"/>
          </a:p>
        </p:txBody>
      </p:sp>
      <p:sp>
        <p:nvSpPr>
          <p:cNvPr id="48" name="garis-81"/>
          <p:cNvSpPr/>
          <p:nvPr/>
        </p:nvSpPr>
        <p:spPr>
          <a:xfrm>
            <a:off x="2651760" y="3246120"/>
            <a:ext cx="91440" cy="214884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49" name="garis-82"/>
          <p:cNvSpPr/>
          <p:nvPr/>
        </p:nvSpPr>
        <p:spPr>
          <a:xfrm>
            <a:off x="475488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0" name="garis-83"/>
          <p:cNvSpPr/>
          <p:nvPr/>
        </p:nvSpPr>
        <p:spPr>
          <a:xfrm>
            <a:off x="8503920" y="3461004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1" name="kotak-84"/>
          <p:cNvSpPr txBox="1"/>
          <p:nvPr/>
        </p:nvSpPr>
        <p:spPr>
          <a:xfrm>
            <a:off x="2743200" y="3694176"/>
            <a:ext cx="2011680" cy="393192"/>
          </a:xfrm>
          <a:prstGeom prst="roundRect">
            <a:avLst>
              <a:gd name="adj" fmla="val 9302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</a:t>
            </a:r>
            <a:endParaRPr lang="en-US" sz="1000" dirty="0"/>
          </a:p>
        </p:txBody>
      </p:sp>
      <p:sp>
        <p:nvSpPr>
          <p:cNvPr id="52" name="kotak-85"/>
          <p:cNvSpPr txBox="1"/>
          <p:nvPr/>
        </p:nvSpPr>
        <p:spPr>
          <a:xfrm>
            <a:off x="4846320" y="3694176"/>
            <a:ext cx="3657600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bukan operator biogas (±442 PKS tanpa kebun)</a:t>
            </a:r>
            <a:endParaRPr lang="en-US" sz="850" dirty="0"/>
          </a:p>
          <a:p>
            <a:pPr algn="l" marL="101600" indent="-101600">
              <a:buSzPct val="100000"/>
              <a:buChar char="•"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dan POME tidak terukur per PKS</a:t>
            </a:r>
            <a:endParaRPr lang="en-US" sz="850" dirty="0"/>
          </a:p>
        </p:txBody>
      </p:sp>
      <p:sp>
        <p:nvSpPr>
          <p:cNvPr id="53" name="kotak-86"/>
          <p:cNvSpPr txBox="1"/>
          <p:nvPr/>
        </p:nvSpPr>
        <p:spPr>
          <a:xfrm>
            <a:off x="8595360" y="3694176"/>
            <a:ext cx="3154680" cy="393192"/>
          </a:xfrm>
          <a:prstGeom prst="roundRect">
            <a:avLst>
              <a:gd name="adj" fmla="val 9302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12700" tIns="76200" rIns="76200" bIns="127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menjamin kinerja; data solar diukur pada gerbang G0</a:t>
            </a:r>
            <a:endParaRPr lang="en-US" sz="900" dirty="0"/>
          </a:p>
        </p:txBody>
      </p:sp>
      <p:sp>
        <p:nvSpPr>
          <p:cNvPr id="54" name="garis-87"/>
          <p:cNvSpPr/>
          <p:nvPr/>
        </p:nvSpPr>
        <p:spPr>
          <a:xfrm>
            <a:off x="2651760" y="3246120"/>
            <a:ext cx="91440" cy="644652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</a:ln>
        </p:spPr>
      </p:sp>
      <p:sp>
        <p:nvSpPr>
          <p:cNvPr id="55" name="garis-88"/>
          <p:cNvSpPr/>
          <p:nvPr/>
        </p:nvSpPr>
        <p:spPr>
          <a:xfrm>
            <a:off x="475488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6" name="garis-89"/>
          <p:cNvSpPr/>
          <p:nvPr/>
        </p:nvSpPr>
        <p:spPr>
          <a:xfrm>
            <a:off x="8503920" y="3890772"/>
            <a:ext cx="91440" cy="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kotak-90"/>
          <p:cNvSpPr txBox="1"/>
          <p:nvPr/>
        </p:nvSpPr>
        <p:spPr>
          <a:xfrm>
            <a:off x="411480" y="4224528"/>
            <a:ext cx="507492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Mengapa: dari gejala ke akar</a:t>
            </a:r>
            <a:endParaRPr lang="en-US" sz="1000" dirty="0"/>
          </a:p>
        </p:txBody>
      </p:sp>
      <p:sp>
        <p:nvSpPr>
          <p:cNvPr id="58" name="kotak-91"/>
          <p:cNvSpPr txBox="1"/>
          <p:nvPr/>
        </p:nvSpPr>
        <p:spPr>
          <a:xfrm>
            <a:off x="411480" y="4480560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kotak-92"/>
          <p:cNvSpPr txBox="1"/>
          <p:nvPr/>
        </p:nvSpPr>
        <p:spPr>
          <a:xfrm>
            <a:off x="713232" y="4480560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tidak ditangkap → tidak ada reaktor biogas di PKS.</a:t>
            </a:r>
            <a:endParaRPr lang="en-US" sz="850" dirty="0"/>
          </a:p>
        </p:txBody>
      </p:sp>
      <p:sp>
        <p:nvSpPr>
          <p:cNvPr id="60" name="kotak-93"/>
          <p:cNvSpPr txBox="1"/>
          <p:nvPr/>
        </p:nvSpPr>
        <p:spPr>
          <a:xfrm>
            <a:off x="411480" y="4727448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61" name="kotak-94"/>
          <p:cNvSpPr txBox="1"/>
          <p:nvPr/>
        </p:nvSpPr>
        <p:spPr>
          <a:xfrm>
            <a:off x="713232" y="4727448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Modal USD 3,5–4,0 juta per set tidak sepadan dengan imbal hasil.</a:t>
            </a:r>
            <a:endParaRPr lang="en-US" sz="850" dirty="0"/>
          </a:p>
        </p:txBody>
      </p:sp>
      <p:sp>
        <p:nvSpPr>
          <p:cNvPr id="62" name="kotak-95"/>
          <p:cNvSpPr txBox="1"/>
          <p:nvPr/>
        </p:nvSpPr>
        <p:spPr>
          <a:xfrm>
            <a:off x="411480" y="4974336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63" name="kotak-96"/>
          <p:cNvSpPr txBox="1"/>
          <p:nvPr/>
        </p:nvSpPr>
        <p:spPr>
          <a:xfrm>
            <a:off x="713232" y="4974336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Pendapatan listrik dan karbon kecil, risiko kinerja ditanggung PKS.</a:t>
            </a:r>
            <a:endParaRPr lang="en-US" sz="850" dirty="0"/>
          </a:p>
        </p:txBody>
      </p:sp>
      <p:sp>
        <p:nvSpPr>
          <p:cNvPr id="64" name="kotak-97"/>
          <p:cNvSpPr txBox="1"/>
          <p:nvPr/>
        </p:nvSpPr>
        <p:spPr>
          <a:xfrm>
            <a:off x="411480" y="5221224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5" name="kotak-98"/>
          <p:cNvSpPr txBox="1"/>
          <p:nvPr/>
        </p:nvSpPr>
        <p:spPr>
          <a:xfrm>
            <a:off x="713232" y="5221224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BFD6E8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Mengapa? PKS bukan operator biogas; tidak ada penjamin kinerja.</a:t>
            </a:r>
            <a:endParaRPr lang="en-US" sz="850" dirty="0"/>
          </a:p>
        </p:txBody>
      </p:sp>
      <p:sp>
        <p:nvSpPr>
          <p:cNvPr id="66" name="kotak-99"/>
          <p:cNvSpPr txBox="1"/>
          <p:nvPr/>
        </p:nvSpPr>
        <p:spPr>
          <a:xfrm>
            <a:off x="411480" y="5468112"/>
            <a:ext cx="256032" cy="219456"/>
          </a:xfrm>
          <a:prstGeom prst="roundRect">
            <a:avLst>
              <a:gd name="adj" fmla="val 16667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67" name="kotak-100"/>
          <p:cNvSpPr txBox="1"/>
          <p:nvPr/>
        </p:nvSpPr>
        <p:spPr>
          <a:xfrm>
            <a:off x="713232" y="5468112"/>
            <a:ext cx="4773168" cy="219456"/>
          </a:xfrm>
          <a:prstGeom prst="roundRect">
            <a:avLst>
              <a:gd name="adj" fmla="val 16667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0" tIns="63500" rIns="6350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Akar: teknologi dijual sebagai proyek sekali jadi, bukan layanan modular yang dijamin operator.</a:t>
            </a:r>
            <a:endParaRPr lang="en-US" sz="850" dirty="0"/>
          </a:p>
        </p:txBody>
      </p:sp>
      <p:sp>
        <p:nvSpPr>
          <p:cNvPr id="68" name="kotak-101"/>
          <p:cNvSpPr txBox="1"/>
          <p:nvPr/>
        </p:nvSpPr>
        <p:spPr>
          <a:xfrm>
            <a:off x="5623560" y="4224528"/>
            <a:ext cx="6172200" cy="237744"/>
          </a:xfrm>
          <a:prstGeom prst="roundRect">
            <a:avLst>
              <a:gd name="adj" fmla="val 1538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Pemilihan konsep: matriks keputusan berbobot (skor 1–5)</a:t>
            </a:r>
            <a:endParaRPr lang="en-US" sz="1000" dirty="0"/>
          </a:p>
        </p:txBody>
      </p:sp>
      <p:graphicFrame>
        <p:nvGraphicFramePr>
          <p:cNvPr id="3" name="tabel-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44805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84048"/>
                <a:gridCol w="384048"/>
                <a:gridCol w="384048"/>
                <a:gridCol w="384048"/>
                <a:gridCol w="384048"/>
                <a:gridCol w="384048"/>
                <a:gridCol w="384048"/>
                <a:gridCol w="411480"/>
                <a:gridCol w="603504"/>
              </a:tblGrid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Alternatif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K1 25%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K2 20%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K3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K4 15%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K5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K6 10%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K7 5%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peringkat 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Status quo kolam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Lagun tertutup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CSTR mesofilik (milik PKS)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 Biometana BOOT klaster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 UASB/IC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 AnMBR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F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 Kontak termofilik BOO (usulan)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F0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E5A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0" name="teks-103"/>
          <p:cNvSpPr txBox="1"/>
          <p:nvPr/>
        </p:nvSpPr>
        <p:spPr>
          <a:xfrm>
            <a:off x="411480" y="5824728"/>
            <a:ext cx="113385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biaya POME bagi PKS · K2 modal PKS · K3 risiko kinerja ditanggung PKS · K4 referensi di Indonesia · K5 lahan dan waktu bangun · K6 penangkapan metana · K7 dapat dipindah · % peringkat 1: dari 20.000 variasi bobot (G tetap peringkat 1 pada uji ±50% tiap bobot).</a:t>
            </a:r>
            <a:endParaRPr lang="en-US" sz="630" dirty="0"/>
          </a:p>
        </p:txBody>
      </p:sp>
      <p:sp>
        <p:nvSpPr>
          <p:cNvPr id="71" name="kotak-104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Rumusan masalah</a:t>
            </a:r>
            <a:endParaRPr lang="en-US" sz="1000" dirty="0"/>
          </a:p>
        </p:txBody>
      </p:sp>
      <p:sp>
        <p:nvSpPr>
          <p:cNvPr id="72" name="kotak-105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Rumusan terukur: turunkan emisi metana ≥ 90% (≈ 32 ribu tCO₂e/tahun per PKS 60 t TBS/jam) tanpa modal PKS, dengan biaya POME ≤ kolam (USD 3,14/t TBS) dan DSCR proyek ≥ 1,30.</a:t>
            </a:r>
            <a:endParaRPr lang="en-US" sz="950" dirty="0"/>
          </a:p>
        </p:txBody>
      </p:sp>
      <p:sp>
        <p:nvSpPr>
          <p:cNvPr id="73" name="teks-106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PKS pabrik kelapa sawit; TBS tandan buah segar; BOO bangun-miliki-operasikan; BOOT bangun-miliki-operasikan-alihkan; HRT waktu tinggal hidraulik; PJBL perjanjian jual beli listrik; GFS baja berlapis kaca; DSCR rasio cakupan layanan utang.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Trase/SEI-PCS 2024; IOP/ERL; GAPKI 2026; RTM Berita 2024; PASPI/BRIN; Perpres 16/2025 dan 112/2022; model tim (neraca proses Rev 2, Model Keputusan PKS); skor K2–K7 penilaian tim (research/R3, R6).</a:t>
            </a:r>
            <a:endParaRPr lang="en-US" sz="5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biogas termofilik 55 °C mengolah POME dalam 5 hari menjadi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 listrik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dibayar sebagai layanan, dan dapat dibongkar-pasang</a:t>
            </a:r>
            <a:endParaRPr lang="en-US" sz="1900" dirty="0"/>
          </a:p>
        </p:txBody>
      </p:sp>
      <p:sp>
        <p:nvSpPr>
          <p:cNvPr id="3" name="kotak-107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08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09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10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11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12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13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14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kotak-115"/>
          <p:cNvSpPr txBox="1"/>
          <p:nvPr/>
        </p:nvSpPr>
        <p:spPr>
          <a:xfrm>
            <a:off x="411480" y="11430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Wujud produk (modul acuan 45 t TBS/jam)</a:t>
            </a:r>
            <a:endParaRPr lang="en-US" sz="1000" dirty="0"/>
          </a:p>
        </p:txBody>
      </p:sp>
      <p:pic>
        <p:nvPicPr>
          <p:cNvPr id="13" name="render-produk" descr="/home/user/aspebindo/cad/out/render/DIORAMA_produ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435608"/>
            <a:ext cx="5257800" cy="2377440"/>
          </a:xfrm>
          <a:prstGeom prst="rect">
            <a:avLst/>
          </a:prstGeom>
        </p:spPr>
      </p:pic>
      <p:sp>
        <p:nvSpPr>
          <p:cNvPr id="14" name="kotak-116"/>
          <p:cNvSpPr txBox="1"/>
          <p:nvPr/>
        </p:nvSpPr>
        <p:spPr>
          <a:xfrm>
            <a:off x="411480" y="3886200"/>
            <a:ext cx="5257800" cy="246888"/>
          </a:xfrm>
          <a:prstGeom prst="roundRect">
            <a:avLst>
              <a:gd name="adj" fmla="val 14815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dan portabel</a:t>
            </a:r>
            <a:endParaRPr lang="en-US" sz="1000" dirty="0"/>
          </a:p>
        </p:txBody>
      </p:sp>
      <p:sp>
        <p:nvSpPr>
          <p:cNvPr id="15" name="kotak-117"/>
          <p:cNvSpPr/>
          <p:nvPr/>
        </p:nvSpPr>
        <p:spPr>
          <a:xfrm>
            <a:off x="41148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118"/>
          <p:cNvSpPr txBox="1"/>
          <p:nvPr/>
        </p:nvSpPr>
        <p:spPr>
          <a:xfrm>
            <a:off x="48463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500" dirty="0"/>
          </a:p>
        </p:txBody>
      </p:sp>
      <p:sp>
        <p:nvSpPr>
          <p:cNvPr id="17" name="teks-119"/>
          <p:cNvSpPr txBox="1"/>
          <p:nvPr/>
        </p:nvSpPr>
        <p:spPr>
          <a:xfrm>
            <a:off x="48463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kontainer dan skid 40 ft per modul acuan</a:t>
            </a:r>
            <a:endParaRPr lang="en-US" sz="800" dirty="0"/>
          </a:p>
        </p:txBody>
      </p:sp>
      <p:sp>
        <p:nvSpPr>
          <p:cNvPr id="18" name="kotak-120"/>
          <p:cNvSpPr/>
          <p:nvPr/>
        </p:nvSpPr>
        <p:spPr>
          <a:xfrm>
            <a:off x="219456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9" name="teks-121"/>
          <p:cNvSpPr txBox="1"/>
          <p:nvPr/>
        </p:nvSpPr>
        <p:spPr>
          <a:xfrm>
            <a:off x="226771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980 m³</a:t>
            </a:r>
            <a:endParaRPr lang="en-US" sz="1500" dirty="0"/>
          </a:p>
        </p:txBody>
      </p:sp>
      <p:sp>
        <p:nvSpPr>
          <p:cNvPr id="20" name="teks-122"/>
          <p:cNvSpPr txBox="1"/>
          <p:nvPr/>
        </p:nvSpPr>
        <p:spPr>
          <a:xfrm>
            <a:off x="226771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tangki GFS dibaut identik; 2, 3, atau 4 per set</a:t>
            </a:r>
            <a:endParaRPr lang="en-US" sz="800" dirty="0"/>
          </a:p>
        </p:txBody>
      </p:sp>
      <p:sp>
        <p:nvSpPr>
          <p:cNvPr id="21" name="kotak-123"/>
          <p:cNvSpPr/>
          <p:nvPr/>
        </p:nvSpPr>
        <p:spPr>
          <a:xfrm>
            <a:off x="3977640" y="4187952"/>
            <a:ext cx="169164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124"/>
          <p:cNvSpPr txBox="1"/>
          <p:nvPr/>
        </p:nvSpPr>
        <p:spPr>
          <a:xfrm>
            <a:off x="4050792" y="4233672"/>
            <a:ext cx="15453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±6 bulan</a:t>
            </a:r>
            <a:endParaRPr lang="en-US" sz="1500" dirty="0"/>
          </a:p>
        </p:txBody>
      </p:sp>
      <p:sp>
        <p:nvSpPr>
          <p:cNvPr id="23" name="teks-125"/>
          <p:cNvSpPr txBox="1"/>
          <p:nvPr/>
        </p:nvSpPr>
        <p:spPr>
          <a:xfrm>
            <a:off x="4050792" y="4558833"/>
            <a:ext cx="1545336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bongkar-pasang antar-PKS, biaya 15% FCI</a:t>
            </a:r>
            <a:endParaRPr lang="en-US" sz="800" dirty="0"/>
          </a:p>
        </p:txBody>
      </p:sp>
      <p:graphicFrame>
        <p:nvGraphicFramePr>
          <p:cNvPr id="4" name="tabel-1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001768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02920"/>
                <a:gridCol w="731520"/>
                <a:gridCol w="868680"/>
                <a:gridCol w="594360"/>
                <a:gridCol w="77724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 (t TBS/jam)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Tangki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(kWe)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 (USD juta)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NPV (USD juta)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7.891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(acuan)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(komersial)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800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E8E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otak-127"/>
          <p:cNvSpPr txBox="1"/>
          <p:nvPr/>
        </p:nvSpPr>
        <p:spPr>
          <a:xfrm>
            <a:off x="5852160" y="1143000"/>
            <a:ext cx="5943600" cy="246888"/>
          </a:xfrm>
          <a:prstGeom prst="roundRect">
            <a:avLst>
              <a:gd name="adj" fmla="val 1481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kerja, dari POME sampai listrik (set 60 t TBS/jam)</a:t>
            </a:r>
            <a:endParaRPr lang="en-US" sz="1000" dirty="0"/>
          </a:p>
        </p:txBody>
      </p:sp>
      <p:sp>
        <p:nvSpPr>
          <p:cNvPr id="26" name="teks-128"/>
          <p:cNvSpPr txBox="1"/>
          <p:nvPr/>
        </p:nvSpPr>
        <p:spPr>
          <a:xfrm>
            <a:off x="5852160" y="143560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Pengolahan POME</a:t>
            </a:r>
            <a:endParaRPr lang="en-US" sz="900" dirty="0"/>
          </a:p>
        </p:txBody>
      </p:sp>
      <p:sp>
        <p:nvSpPr>
          <p:cNvPr id="27" name="kotak-129"/>
          <p:cNvSpPr txBox="1"/>
          <p:nvPr/>
        </p:nvSpPr>
        <p:spPr>
          <a:xfrm>
            <a:off x="5852160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Penerimaan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780 m³ POME/hari, 85 °C, dari fat pit</a:t>
            </a:r>
            <a:endParaRPr lang="en-US" sz="900" dirty="0"/>
          </a:p>
        </p:txBody>
      </p:sp>
      <p:sp>
        <p:nvSpPr>
          <p:cNvPr id="28" name="garis-130"/>
          <p:cNvSpPr/>
          <p:nvPr/>
        </p:nvSpPr>
        <p:spPr>
          <a:xfrm>
            <a:off x="7242048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29" name="kotak-131"/>
          <p:cNvSpPr txBox="1"/>
          <p:nvPr/>
        </p:nvSpPr>
        <p:spPr>
          <a:xfrm>
            <a:off x="7370064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Praolah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pendingin ke 55 °C</a:t>
            </a:r>
            <a:endParaRPr lang="en-US" sz="900" dirty="0"/>
          </a:p>
        </p:txBody>
      </p:sp>
      <p:sp>
        <p:nvSpPr>
          <p:cNvPr id="30" name="garis-132"/>
          <p:cNvSpPr/>
          <p:nvPr/>
        </p:nvSpPr>
        <p:spPr>
          <a:xfrm>
            <a:off x="8759952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1" name="kotak-133"/>
          <p:cNvSpPr txBox="1"/>
          <p:nvPr/>
        </p:nvSpPr>
        <p:spPr>
          <a:xfrm>
            <a:off x="8887968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Reaktor kontak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tangki GFS, 55 °C, HRT 5 hari</a:t>
            </a:r>
            <a:endParaRPr lang="en-US" sz="900" dirty="0"/>
          </a:p>
        </p:txBody>
      </p:sp>
      <p:sp>
        <p:nvSpPr>
          <p:cNvPr id="32" name="garis-134"/>
          <p:cNvSpPr/>
          <p:nvPr/>
        </p:nvSpPr>
        <p:spPr>
          <a:xfrm>
            <a:off x="10277856" y="2176272"/>
            <a:ext cx="128016" cy="0"/>
          </a:xfrm>
          <a:prstGeom prst="line">
            <a:avLst/>
          </a:prstGeom>
          <a:noFill/>
          <a:ln w="2222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3" name="kotak-135"/>
          <p:cNvSpPr txBox="1"/>
          <p:nvPr/>
        </p:nvSpPr>
        <p:spPr>
          <a:xfrm>
            <a:off x="10405872" y="1783080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kembali ke reaktor (SRT 12 hari)</a:t>
            </a:r>
            <a:endParaRPr lang="en-US" sz="900" dirty="0"/>
          </a:p>
        </p:txBody>
      </p:sp>
      <p:sp>
        <p:nvSpPr>
          <p:cNvPr id="34" name="garis-136"/>
          <p:cNvSpPr/>
          <p:nvPr/>
        </p:nvSpPr>
        <p:spPr>
          <a:xfrm>
            <a:off x="11100816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5" name="garis-137"/>
          <p:cNvSpPr/>
          <p:nvPr/>
        </p:nvSpPr>
        <p:spPr>
          <a:xfrm>
            <a:off x="9582912" y="1655064"/>
            <a:ext cx="1517904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36" name="garis-138"/>
          <p:cNvSpPr/>
          <p:nvPr/>
        </p:nvSpPr>
        <p:spPr>
          <a:xfrm>
            <a:off x="9582912" y="1655064"/>
            <a:ext cx="0" cy="128016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37" name="teks-139"/>
          <p:cNvSpPr txBox="1"/>
          <p:nvPr/>
        </p:nvSpPr>
        <p:spPr>
          <a:xfrm>
            <a:off x="9674352" y="14904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780 m³/hari</a:t>
            </a:r>
            <a:endParaRPr lang="en-US" sz="800" dirty="0"/>
          </a:p>
        </p:txBody>
      </p:sp>
      <p:sp>
        <p:nvSpPr>
          <p:cNvPr id="38" name="garis-140"/>
          <p:cNvSpPr/>
          <p:nvPr/>
        </p:nvSpPr>
        <p:spPr>
          <a:xfrm>
            <a:off x="8065008" y="2569464"/>
            <a:ext cx="0" cy="201168"/>
          </a:xfrm>
          <a:prstGeom prst="line">
            <a:avLst/>
          </a:prstGeom>
          <a:noFill/>
          <a:ln w="1587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teks-141"/>
          <p:cNvSpPr txBox="1"/>
          <p:nvPr/>
        </p:nvSpPr>
        <p:spPr>
          <a:xfrm>
            <a:off x="7333488" y="2788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saringan dan pasir ke PKS</a:t>
            </a:r>
            <a:endParaRPr lang="en-US" sz="800" dirty="0"/>
          </a:p>
        </p:txBody>
      </p:sp>
      <p:sp>
        <p:nvSpPr>
          <p:cNvPr id="40" name="garis-142"/>
          <p:cNvSpPr/>
          <p:nvPr/>
        </p:nvSpPr>
        <p:spPr>
          <a:xfrm>
            <a:off x="11100816" y="2569464"/>
            <a:ext cx="0" cy="201168"/>
          </a:xfrm>
          <a:prstGeom prst="line">
            <a:avLst/>
          </a:prstGeom>
          <a:noFill/>
          <a:ln w="19050">
            <a:solidFill>
              <a:srgbClr val="2B9FC8"/>
            </a:solidFill>
            <a:prstDash val="solid"/>
            <a:tailEnd type="triangle"/>
          </a:ln>
        </p:spPr>
      </p:sp>
      <p:sp>
        <p:nvSpPr>
          <p:cNvPr id="41" name="teks-143"/>
          <p:cNvSpPr txBox="1"/>
          <p:nvPr/>
        </p:nvSpPr>
        <p:spPr>
          <a:xfrm>
            <a:off x="10387584" y="278892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725 m³/hari ke kolam polishing</a:t>
            </a:r>
            <a:endParaRPr lang="en-US" sz="800" dirty="0"/>
          </a:p>
        </p:txBody>
      </p:sp>
      <p:sp>
        <p:nvSpPr>
          <p:cNvPr id="42" name="teks-144"/>
          <p:cNvSpPr txBox="1"/>
          <p:nvPr/>
        </p:nvSpPr>
        <p:spPr>
          <a:xfrm>
            <a:off x="5852160" y="2999232"/>
            <a:ext cx="1600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Biogas menjadi listrik</a:t>
            </a:r>
            <a:endParaRPr lang="en-US" sz="900" dirty="0"/>
          </a:p>
        </p:txBody>
      </p:sp>
      <p:sp>
        <p:nvSpPr>
          <p:cNvPr id="43" name="garis-145"/>
          <p:cNvSpPr/>
          <p:nvPr/>
        </p:nvSpPr>
        <p:spPr>
          <a:xfrm>
            <a:off x="9582912" y="2569464"/>
            <a:ext cx="0" cy="59436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4" name="garis-146"/>
          <p:cNvSpPr/>
          <p:nvPr/>
        </p:nvSpPr>
        <p:spPr>
          <a:xfrm>
            <a:off x="6547104" y="3163824"/>
            <a:ext cx="3035808" cy="0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</a:ln>
        </p:spPr>
      </p:sp>
      <p:sp>
        <p:nvSpPr>
          <p:cNvPr id="45" name="garis-147"/>
          <p:cNvSpPr/>
          <p:nvPr/>
        </p:nvSpPr>
        <p:spPr>
          <a:xfrm>
            <a:off x="6547104" y="3163824"/>
            <a:ext cx="0" cy="146304"/>
          </a:xfrm>
          <a:prstGeom prst="line">
            <a:avLst/>
          </a:prstGeom>
          <a:noFill/>
          <a:ln w="28575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46" name="teks-148"/>
          <p:cNvSpPr txBox="1"/>
          <p:nvPr/>
        </p:nvSpPr>
        <p:spPr>
          <a:xfrm>
            <a:off x="7644384" y="2999232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15.781 Nm³ biogas/hari (CH₄ 58%)</a:t>
            </a:r>
            <a:endParaRPr lang="en-US" sz="800" dirty="0"/>
          </a:p>
        </p:txBody>
      </p:sp>
      <p:sp>
        <p:nvSpPr>
          <p:cNvPr id="47" name="kotak-149"/>
          <p:cNvSpPr txBox="1"/>
          <p:nvPr/>
        </p:nvSpPr>
        <p:spPr>
          <a:xfrm>
            <a:off x="5852160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Pemurnian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2.868 → 21 ppm (bio-scrubber, karbon aktif)</a:t>
            </a:r>
            <a:endParaRPr lang="en-US" sz="900" dirty="0"/>
          </a:p>
        </p:txBody>
      </p:sp>
      <p:sp>
        <p:nvSpPr>
          <p:cNvPr id="48" name="garis-150"/>
          <p:cNvSpPr/>
          <p:nvPr/>
        </p:nvSpPr>
        <p:spPr>
          <a:xfrm>
            <a:off x="7242048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49" name="kotak-151"/>
          <p:cNvSpPr txBox="1"/>
          <p:nvPr/>
        </p:nvSpPr>
        <p:spPr>
          <a:xfrm>
            <a:off x="7370064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Penampung gas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 ganda 2 jam; flare tertutup</a:t>
            </a:r>
            <a:endParaRPr lang="en-US" sz="900" dirty="0"/>
          </a:p>
        </p:txBody>
      </p:sp>
      <p:sp>
        <p:nvSpPr>
          <p:cNvPr id="50" name="garis-152"/>
          <p:cNvSpPr/>
          <p:nvPr/>
        </p:nvSpPr>
        <p:spPr>
          <a:xfrm>
            <a:off x="8759952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1" name="kotak-153"/>
          <p:cNvSpPr txBox="1"/>
          <p:nvPr/>
        </p:nvSpPr>
        <p:spPr>
          <a:xfrm>
            <a:off x="8887968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Genset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800 kWe, efisiensi listrik 39,3%</a:t>
            </a:r>
            <a:endParaRPr lang="en-US" sz="900" dirty="0"/>
          </a:p>
        </p:txBody>
      </p:sp>
      <p:sp>
        <p:nvSpPr>
          <p:cNvPr id="52" name="garis-154"/>
          <p:cNvSpPr/>
          <p:nvPr/>
        </p:nvSpPr>
        <p:spPr>
          <a:xfrm>
            <a:off x="10277856" y="3703320"/>
            <a:ext cx="128016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3" name="kotak-155"/>
          <p:cNvSpPr txBox="1"/>
          <p:nvPr/>
        </p:nvSpPr>
        <p:spPr>
          <a:xfrm>
            <a:off x="10405872" y="3310128"/>
            <a:ext cx="1389888" cy="786384"/>
          </a:xfrm>
          <a:prstGeom prst="roundRect">
            <a:avLst>
              <a:gd name="adj" fmla="val 6977"/>
            </a:avLst>
          </a:prstGeom>
          <a:solidFill>
            <a:srgbClr val="FFF3CF"/>
          </a:solidFill>
          <a:ln w="15875">
            <a:solidFill>
              <a:srgbClr val="E0A526"/>
            </a:solidFill>
          </a:ln>
        </p:spPr>
        <p:txBody>
          <a:bodyPr wrap="square" lIns="38100" tIns="63500" rIns="635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Listrik dan panas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kV ke PKS dan PLN; panas ke reaktor</a:t>
            </a:r>
            <a:endParaRPr lang="en-US" sz="900" dirty="0"/>
          </a:p>
        </p:txBody>
      </p:sp>
      <p:sp>
        <p:nvSpPr>
          <p:cNvPr id="54" name="garis-156"/>
          <p:cNvSpPr/>
          <p:nvPr/>
        </p:nvSpPr>
        <p:spPr>
          <a:xfrm>
            <a:off x="11100816" y="4096512"/>
            <a:ext cx="0" cy="246888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5" name="garis-157"/>
          <p:cNvSpPr/>
          <p:nvPr/>
        </p:nvSpPr>
        <p:spPr>
          <a:xfrm>
            <a:off x="6560820" y="4343400"/>
            <a:ext cx="4539996" cy="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</a:ln>
        </p:spPr>
      </p:sp>
      <p:sp>
        <p:nvSpPr>
          <p:cNvPr id="56" name="garis-158"/>
          <p:cNvSpPr/>
          <p:nvPr/>
        </p:nvSpPr>
        <p:spPr>
          <a:xfrm>
            <a:off x="656082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7" name="kotak-159"/>
          <p:cNvSpPr txBox="1"/>
          <p:nvPr/>
        </p:nvSpPr>
        <p:spPr>
          <a:xfrm>
            <a:off x="585216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ke PKS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1,55 GWh/tahun, menggantikan solar</a:t>
            </a:r>
            <a:endParaRPr lang="en-US" sz="900" dirty="0"/>
          </a:p>
        </p:txBody>
      </p:sp>
      <p:sp>
        <p:nvSpPr>
          <p:cNvPr id="58" name="garis-160"/>
          <p:cNvSpPr/>
          <p:nvPr/>
        </p:nvSpPr>
        <p:spPr>
          <a:xfrm>
            <a:off x="806958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59" name="kotak-161"/>
          <p:cNvSpPr txBox="1"/>
          <p:nvPr/>
        </p:nvSpPr>
        <p:spPr>
          <a:xfrm>
            <a:off x="736092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ke PLN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 GWh/tahun, 9,81 USc/kWh</a:t>
            </a:r>
            <a:endParaRPr lang="en-US" sz="900" dirty="0"/>
          </a:p>
        </p:txBody>
      </p:sp>
      <p:sp>
        <p:nvSpPr>
          <p:cNvPr id="60" name="garis-162"/>
          <p:cNvSpPr/>
          <p:nvPr/>
        </p:nvSpPr>
        <p:spPr>
          <a:xfrm>
            <a:off x="957834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1" name="kotak-163"/>
          <p:cNvSpPr txBox="1"/>
          <p:nvPr/>
        </p:nvSpPr>
        <p:spPr>
          <a:xfrm>
            <a:off x="886968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Kredit karbon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ribu tCO₂e/tahun</a:t>
            </a:r>
            <a:endParaRPr lang="en-US" sz="900" dirty="0"/>
          </a:p>
        </p:txBody>
      </p:sp>
      <p:sp>
        <p:nvSpPr>
          <p:cNvPr id="62" name="garis-164"/>
          <p:cNvSpPr/>
          <p:nvPr/>
        </p:nvSpPr>
        <p:spPr>
          <a:xfrm>
            <a:off x="11087100" y="4343400"/>
            <a:ext cx="0" cy="91440"/>
          </a:xfrm>
          <a:prstGeom prst="line">
            <a:avLst/>
          </a:prstGeom>
          <a:noFill/>
          <a:ln w="15875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63" name="kotak-165"/>
          <p:cNvSpPr txBox="1"/>
          <p:nvPr/>
        </p:nvSpPr>
        <p:spPr>
          <a:xfrm>
            <a:off x="10378440" y="4434840"/>
            <a:ext cx="1417320" cy="502920"/>
          </a:xfrm>
          <a:prstGeom prst="roundRect">
            <a:avLst>
              <a:gd name="adj" fmla="val 9091"/>
            </a:avLst>
          </a:prstGeom>
          <a:solidFill>
            <a:srgbClr val="E3F3DE"/>
          </a:solidFill>
          <a:ln w="9525">
            <a:solidFill>
              <a:srgbClr val="3E8E41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Jasa pengolahan</a:t>
            </a:r>
            <a:endParaRPr lang="en-US" sz="9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1,25 per t TBS</a:t>
            </a:r>
            <a:endParaRPr lang="en-US" sz="900" dirty="0"/>
          </a:p>
        </p:txBody>
      </p:sp>
      <p:sp>
        <p:nvSpPr>
          <p:cNvPr id="64" name="kotak-166"/>
          <p:cNvSpPr txBox="1"/>
          <p:nvPr/>
        </p:nvSpPr>
        <p:spPr>
          <a:xfrm>
            <a:off x="585216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Pengguna dan nilai</a:t>
            </a:r>
            <a:endParaRPr lang="en-US" sz="950" dirty="0"/>
          </a:p>
        </p:txBody>
      </p:sp>
      <p:sp>
        <p:nvSpPr>
          <p:cNvPr id="65" name="kotak-167"/>
          <p:cNvSpPr txBox="1"/>
          <p:nvPr/>
        </p:nvSpPr>
        <p:spPr>
          <a:xfrm>
            <a:off x="8892540" y="5074920"/>
            <a:ext cx="29032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 dari praktik saat ini</a:t>
            </a:r>
            <a:endParaRPr lang="en-US" sz="950" dirty="0"/>
          </a:p>
        </p:txBody>
      </p:sp>
      <p:sp>
        <p:nvSpPr>
          <p:cNvPr id="66" name="kotak-168"/>
          <p:cNvSpPr/>
          <p:nvPr/>
        </p:nvSpPr>
        <p:spPr>
          <a:xfrm>
            <a:off x="585216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7" name="kotak-169"/>
          <p:cNvSpPr/>
          <p:nvPr/>
        </p:nvSpPr>
        <p:spPr>
          <a:xfrm>
            <a:off x="8892540" y="5303520"/>
            <a:ext cx="2903220" cy="658368"/>
          </a:xfrm>
          <a:prstGeom prst="roundRect">
            <a:avLst>
              <a:gd name="adj" fmla="val 6944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68" name="teks-170"/>
          <p:cNvSpPr txBox="1"/>
          <p:nvPr/>
        </p:nvSpPr>
        <p:spPr>
          <a:xfrm>
            <a:off x="592531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45–60 t TBS/jam, solar tergantikan ≥ 2,0 L/t TBS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bayar USD 3,00 vs 3,14/t TBS bila memakai kolam</a:t>
            </a:r>
            <a:endParaRPr lang="en-US" sz="900" dirty="0"/>
          </a:p>
        </p:txBody>
      </p:sp>
      <p:sp>
        <p:nvSpPr>
          <p:cNvPr id="69" name="teks-171"/>
          <p:cNvSpPr txBox="1"/>
          <p:nvPr/>
        </p:nvSpPr>
        <p:spPr>
          <a:xfrm>
            <a:off x="8965692" y="5340096"/>
            <a:ext cx="27569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Layanan, bukan proyek: operator menjamin kinerja</a:t>
            </a:r>
            <a:endParaRPr lang="en-US" sz="90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5 hari (kolam tertutup 25–40 hari), plot 0,38–0,5 ha</a:t>
            </a:r>
            <a:endParaRPr lang="en-US" sz="900" dirty="0"/>
          </a:p>
        </p:txBody>
      </p:sp>
      <p:sp>
        <p:nvSpPr>
          <p:cNvPr id="70" name="kotak-172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1" name="kotak-173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Konsep ini menukar proyek rekayasa sekali jadi dengan layanan modular: modal PKS nol, reaktor 5 hari, dan set yang dapat dipindah bila PKS berhenti beroperasi.</a:t>
            </a:r>
            <a:endParaRPr lang="en-US" sz="950" dirty="0"/>
          </a:p>
        </p:txBody>
      </p:sp>
      <p:sp>
        <p:nvSpPr>
          <p:cNvPr id="72" name="teks-174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GFS baja berlapis kaca; HRT/SRT waktu tinggal hidraulik/lumpur; FCI biaya modal tetap; NPV nilai kini neto; PKS pabrik kelapa sawit.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neraca proses Rev 2 (process/outputs/results.json; aliran 60 t/jam = modul acuan × 4/3); Model Keputusan PKS; model 3D tim; research/R3, R6.</a:t>
            </a:r>
            <a:endParaRPr lang="en-US" sz="5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dan energi menutup: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585 m³ POME per hari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menghasilkan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11.836 Nm³ biogas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 GWh listrik neto per tahun</a:t>
            </a:r>
            <a:endParaRPr lang="en-US" sz="1900" dirty="0"/>
          </a:p>
        </p:txBody>
      </p:sp>
      <p:sp>
        <p:nvSpPr>
          <p:cNvPr id="3" name="kotak-175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176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177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178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179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180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181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182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2" name="kotak-183"/>
          <p:cNvSpPr/>
          <p:nvPr/>
        </p:nvSpPr>
        <p:spPr>
          <a:xfrm>
            <a:off x="41148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3" name="teks-184"/>
          <p:cNvSpPr txBox="1"/>
          <p:nvPr/>
        </p:nvSpPr>
        <p:spPr>
          <a:xfrm>
            <a:off x="46634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Suhu</a:t>
            </a:r>
            <a:endParaRPr lang="en-US" sz="750" dirty="0"/>
          </a:p>
        </p:txBody>
      </p:sp>
      <p:sp>
        <p:nvSpPr>
          <p:cNvPr id="14" name="teks-185"/>
          <p:cNvSpPr txBox="1"/>
          <p:nvPr/>
        </p:nvSpPr>
        <p:spPr>
          <a:xfrm>
            <a:off x="46634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°C</a:t>
            </a:r>
            <a:endParaRPr lang="en-US" sz="950" dirty="0"/>
          </a:p>
        </p:txBody>
      </p:sp>
      <p:sp>
        <p:nvSpPr>
          <p:cNvPr id="15" name="kotak-186"/>
          <p:cNvSpPr/>
          <p:nvPr/>
        </p:nvSpPr>
        <p:spPr>
          <a:xfrm>
            <a:off x="1709928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6" name="teks-187"/>
          <p:cNvSpPr txBox="1"/>
          <p:nvPr/>
        </p:nvSpPr>
        <p:spPr>
          <a:xfrm>
            <a:off x="1764792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/ SRT</a:t>
            </a:r>
            <a:endParaRPr lang="en-US" sz="750" dirty="0"/>
          </a:p>
        </p:txBody>
      </p:sp>
      <p:sp>
        <p:nvSpPr>
          <p:cNvPr id="17" name="teks-188"/>
          <p:cNvSpPr txBox="1"/>
          <p:nvPr/>
        </p:nvSpPr>
        <p:spPr>
          <a:xfrm>
            <a:off x="1764792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 / 12 hari</a:t>
            </a:r>
            <a:endParaRPr lang="en-US" sz="950" dirty="0"/>
          </a:p>
        </p:txBody>
      </p:sp>
      <p:sp>
        <p:nvSpPr>
          <p:cNvPr id="18" name="kotak-189"/>
          <p:cNvSpPr/>
          <p:nvPr/>
        </p:nvSpPr>
        <p:spPr>
          <a:xfrm>
            <a:off x="3008376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9" name="teks-190"/>
          <p:cNvSpPr txBox="1"/>
          <p:nvPr/>
        </p:nvSpPr>
        <p:spPr>
          <a:xfrm>
            <a:off x="3063240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OLR</a:t>
            </a:r>
            <a:endParaRPr lang="en-US" sz="750" dirty="0"/>
          </a:p>
        </p:txBody>
      </p:sp>
      <p:sp>
        <p:nvSpPr>
          <p:cNvPr id="20" name="teks-191"/>
          <p:cNvSpPr txBox="1"/>
          <p:nvPr/>
        </p:nvSpPr>
        <p:spPr>
          <a:xfrm>
            <a:off x="3063240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 kg COD/m³·hari</a:t>
            </a:r>
            <a:endParaRPr lang="en-US" sz="950" dirty="0"/>
          </a:p>
        </p:txBody>
      </p:sp>
      <p:sp>
        <p:nvSpPr>
          <p:cNvPr id="21" name="kotak-192"/>
          <p:cNvSpPr/>
          <p:nvPr/>
        </p:nvSpPr>
        <p:spPr>
          <a:xfrm>
            <a:off x="4306824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2" name="teks-193"/>
          <p:cNvSpPr txBox="1"/>
          <p:nvPr/>
        </p:nvSpPr>
        <p:spPr>
          <a:xfrm>
            <a:off x="4361688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umpan</a:t>
            </a:r>
            <a:endParaRPr lang="en-US" sz="750" dirty="0"/>
          </a:p>
        </p:txBody>
      </p:sp>
      <p:sp>
        <p:nvSpPr>
          <p:cNvPr id="23" name="teks-194"/>
          <p:cNvSpPr txBox="1"/>
          <p:nvPr/>
        </p:nvSpPr>
        <p:spPr>
          <a:xfrm>
            <a:off x="4361688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49,7 g/L</a:t>
            </a:r>
            <a:endParaRPr lang="en-US" sz="950" dirty="0"/>
          </a:p>
        </p:txBody>
      </p:sp>
      <p:sp>
        <p:nvSpPr>
          <p:cNvPr id="24" name="kotak-195"/>
          <p:cNvSpPr/>
          <p:nvPr/>
        </p:nvSpPr>
        <p:spPr>
          <a:xfrm>
            <a:off x="5605272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5" name="teks-196"/>
          <p:cNvSpPr txBox="1"/>
          <p:nvPr/>
        </p:nvSpPr>
        <p:spPr>
          <a:xfrm>
            <a:off x="5660136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Penyisihan COD</a:t>
            </a:r>
            <a:endParaRPr lang="en-US" sz="750" dirty="0"/>
          </a:p>
        </p:txBody>
      </p:sp>
      <p:sp>
        <p:nvSpPr>
          <p:cNvPr id="26" name="teks-197"/>
          <p:cNvSpPr txBox="1"/>
          <p:nvPr/>
        </p:nvSpPr>
        <p:spPr>
          <a:xfrm>
            <a:off x="5660136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50" dirty="0"/>
          </a:p>
        </p:txBody>
      </p:sp>
      <p:sp>
        <p:nvSpPr>
          <p:cNvPr id="27" name="kotak-198"/>
          <p:cNvSpPr/>
          <p:nvPr/>
        </p:nvSpPr>
        <p:spPr>
          <a:xfrm>
            <a:off x="6903720" y="1143000"/>
            <a:ext cx="1188720" cy="365760"/>
          </a:xfrm>
          <a:prstGeom prst="roundRect">
            <a:avLst>
              <a:gd name="adj" fmla="val 1000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8" name="teks-199"/>
          <p:cNvSpPr txBox="1"/>
          <p:nvPr/>
        </p:nvSpPr>
        <p:spPr>
          <a:xfrm>
            <a:off x="6958584" y="1161288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</a:t>
            </a:r>
            <a:endParaRPr lang="en-US" sz="750" dirty="0"/>
          </a:p>
        </p:txBody>
      </p:sp>
      <p:sp>
        <p:nvSpPr>
          <p:cNvPr id="29" name="teks-200"/>
          <p:cNvSpPr txBox="1"/>
          <p:nvPr/>
        </p:nvSpPr>
        <p:spPr>
          <a:xfrm>
            <a:off x="6958584" y="1289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× 980 m³</a:t>
            </a:r>
            <a:endParaRPr lang="en-US" sz="950" dirty="0"/>
          </a:p>
        </p:txBody>
      </p:sp>
      <p:sp>
        <p:nvSpPr>
          <p:cNvPr id="30" name="kotak-201"/>
          <p:cNvSpPr txBox="1"/>
          <p:nvPr/>
        </p:nvSpPr>
        <p:spPr>
          <a:xfrm>
            <a:off x="411480" y="1572768"/>
            <a:ext cx="76809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massa nameplate, modul acuan 45 t TBS/jam (kg/jam)</a:t>
            </a:r>
            <a:endParaRPr lang="en-US" sz="950" dirty="0"/>
          </a:p>
        </p:txBody>
      </p:sp>
      <p:sp>
        <p:nvSpPr>
          <p:cNvPr id="31" name="kotak-202"/>
          <p:cNvSpPr txBox="1"/>
          <p:nvPr/>
        </p:nvSpPr>
        <p:spPr>
          <a:xfrm>
            <a:off x="41148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 mentah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°C · 24.375</a:t>
            </a:r>
            <a:endParaRPr lang="en-US" sz="900" dirty="0"/>
          </a:p>
        </p:txBody>
      </p:sp>
      <p:sp>
        <p:nvSpPr>
          <p:cNvPr id="32" name="kotak-203"/>
          <p:cNvSpPr txBox="1"/>
          <p:nvPr/>
        </p:nvSpPr>
        <p:spPr>
          <a:xfrm>
            <a:off x="242316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Praolah + pendingin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saringan, ruang pasir, 85 → 55 °C</a:t>
            </a:r>
            <a:endParaRPr lang="en-US" sz="900" dirty="0"/>
          </a:p>
        </p:txBody>
      </p:sp>
      <p:sp>
        <p:nvSpPr>
          <p:cNvPr id="33" name="kotak-204"/>
          <p:cNvSpPr txBox="1"/>
          <p:nvPr/>
        </p:nvSpPr>
        <p:spPr>
          <a:xfrm>
            <a:off x="443484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Reaktor + degasser + settler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tangki GFS 55 °C</a:t>
            </a:r>
            <a:endParaRPr lang="en-US" sz="900" dirty="0"/>
          </a:p>
        </p:txBody>
      </p:sp>
      <p:sp>
        <p:nvSpPr>
          <p:cNvPr id="34" name="kotak-205"/>
          <p:cNvSpPr txBox="1"/>
          <p:nvPr/>
        </p:nvSpPr>
        <p:spPr>
          <a:xfrm>
            <a:off x="6446520" y="2029968"/>
            <a:ext cx="1645920" cy="566928"/>
          </a:xfrm>
          <a:prstGeom prst="roundRect">
            <a:avLst>
              <a:gd name="adj" fmla="val 8065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kolam polishing</a:t>
            </a:r>
            <a:endParaRPr lang="en-US" sz="900" dirty="0"/>
          </a:p>
        </p:txBody>
      </p:sp>
      <p:sp>
        <p:nvSpPr>
          <p:cNvPr id="35" name="garis-206"/>
          <p:cNvSpPr/>
          <p:nvPr/>
        </p:nvSpPr>
        <p:spPr>
          <a:xfrm>
            <a:off x="205740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6" name="teks-207"/>
          <p:cNvSpPr txBox="1"/>
          <p:nvPr/>
        </p:nvSpPr>
        <p:spPr>
          <a:xfrm>
            <a:off x="205740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24.375</a:t>
            </a:r>
            <a:endParaRPr lang="en-US" sz="800" dirty="0"/>
          </a:p>
        </p:txBody>
      </p:sp>
      <p:sp>
        <p:nvSpPr>
          <p:cNvPr id="37" name="garis-208"/>
          <p:cNvSpPr/>
          <p:nvPr/>
        </p:nvSpPr>
        <p:spPr>
          <a:xfrm>
            <a:off x="406908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38" name="teks-209"/>
          <p:cNvSpPr txBox="1"/>
          <p:nvPr/>
        </p:nvSpPr>
        <p:spPr>
          <a:xfrm>
            <a:off x="406908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24.129</a:t>
            </a:r>
            <a:endParaRPr lang="en-US" sz="800" dirty="0"/>
          </a:p>
        </p:txBody>
      </p:sp>
      <p:sp>
        <p:nvSpPr>
          <p:cNvPr id="39" name="garis-210"/>
          <p:cNvSpPr/>
          <p:nvPr/>
        </p:nvSpPr>
        <p:spPr>
          <a:xfrm>
            <a:off x="6080760" y="2313432"/>
            <a:ext cx="365760" cy="0"/>
          </a:xfrm>
          <a:prstGeom prst="line">
            <a:avLst/>
          </a:prstGeom>
          <a:noFill/>
          <a:ln w="19050">
            <a:solidFill>
              <a:srgbClr val="0C2464"/>
            </a:solidFill>
            <a:prstDash val="solid"/>
            <a:tailEnd type="triangle"/>
          </a:ln>
        </p:spPr>
      </p:sp>
      <p:sp>
        <p:nvSpPr>
          <p:cNvPr id="40" name="teks-211"/>
          <p:cNvSpPr txBox="1"/>
          <p:nvPr/>
        </p:nvSpPr>
        <p:spPr>
          <a:xfrm>
            <a:off x="6080760" y="2066544"/>
            <a:ext cx="365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22.664</a:t>
            </a:r>
            <a:endParaRPr lang="en-US" sz="800" dirty="0"/>
          </a:p>
        </p:txBody>
      </p:sp>
      <p:sp>
        <p:nvSpPr>
          <p:cNvPr id="41" name="garis-212"/>
          <p:cNvSpPr/>
          <p:nvPr/>
        </p:nvSpPr>
        <p:spPr>
          <a:xfrm>
            <a:off x="5852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2" name="garis-213"/>
          <p:cNvSpPr/>
          <p:nvPr/>
        </p:nvSpPr>
        <p:spPr>
          <a:xfrm>
            <a:off x="4709160" y="1911096"/>
            <a:ext cx="1143000" cy="0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</a:ln>
        </p:spPr>
      </p:sp>
      <p:sp>
        <p:nvSpPr>
          <p:cNvPr id="43" name="garis-214"/>
          <p:cNvSpPr/>
          <p:nvPr/>
        </p:nvSpPr>
        <p:spPr>
          <a:xfrm>
            <a:off x="4709160" y="1911096"/>
            <a:ext cx="0" cy="118872"/>
          </a:xfrm>
          <a:prstGeom prst="line">
            <a:avLst/>
          </a:prstGeom>
          <a:noFill/>
          <a:ln w="19050">
            <a:solidFill>
              <a:srgbClr val="3E8E41"/>
            </a:solidFill>
            <a:prstDash val="solid"/>
            <a:tailEnd type="triangle"/>
          </a:ln>
        </p:spPr>
      </p:sp>
      <p:sp>
        <p:nvSpPr>
          <p:cNvPr id="44" name="teks-215"/>
          <p:cNvSpPr txBox="1"/>
          <p:nvPr/>
        </p:nvSpPr>
        <p:spPr>
          <a:xfrm>
            <a:off x="4846320" y="1892808"/>
            <a:ext cx="1371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resirkulasi lumpur 24.127</a:t>
            </a:r>
            <a:endParaRPr lang="en-US" sz="750" dirty="0"/>
          </a:p>
        </p:txBody>
      </p:sp>
      <p:sp>
        <p:nvSpPr>
          <p:cNvPr id="45" name="garis-216"/>
          <p:cNvSpPr/>
          <p:nvPr/>
        </p:nvSpPr>
        <p:spPr>
          <a:xfrm>
            <a:off x="2880360" y="2596896"/>
            <a:ext cx="0" cy="22860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46" name="teks-217"/>
          <p:cNvSpPr txBox="1"/>
          <p:nvPr/>
        </p:nvSpPr>
        <p:spPr>
          <a:xfrm>
            <a:off x="2011680" y="2651760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 246</a:t>
            </a:r>
            <a:endParaRPr lang="en-US" sz="750" dirty="0"/>
          </a:p>
        </p:txBody>
      </p:sp>
      <p:sp>
        <p:nvSpPr>
          <p:cNvPr id="47" name="garis-218"/>
          <p:cNvSpPr/>
          <p:nvPr/>
        </p:nvSpPr>
        <p:spPr>
          <a:xfrm>
            <a:off x="4526280" y="2596896"/>
            <a:ext cx="0" cy="484632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</a:ln>
        </p:spPr>
      </p:sp>
      <p:sp>
        <p:nvSpPr>
          <p:cNvPr id="48" name="garis-219"/>
          <p:cNvSpPr/>
          <p:nvPr/>
        </p:nvSpPr>
        <p:spPr>
          <a:xfrm>
            <a:off x="4069080" y="3081528"/>
            <a:ext cx="457200" cy="0"/>
          </a:xfrm>
          <a:prstGeom prst="line">
            <a:avLst/>
          </a:prstGeom>
          <a:noFill/>
          <a:ln w="19050">
            <a:solidFill>
              <a:srgbClr val="7A5C3A"/>
            </a:solidFill>
            <a:prstDash val="solid"/>
            <a:headEnd type="triangle"/>
          </a:ln>
        </p:spPr>
      </p:sp>
      <p:sp>
        <p:nvSpPr>
          <p:cNvPr id="49" name="teks-220"/>
          <p:cNvSpPr txBox="1"/>
          <p:nvPr/>
        </p:nvSpPr>
        <p:spPr>
          <a:xfrm>
            <a:off x="2971800" y="2651760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lumpur buangan 4.531</a:t>
            </a:r>
            <a:endParaRPr lang="en-US" sz="750" dirty="0"/>
          </a:p>
        </p:txBody>
      </p:sp>
      <p:sp>
        <p:nvSpPr>
          <p:cNvPr id="50" name="kotak-221"/>
          <p:cNvSpPr txBox="1"/>
          <p:nvPr/>
        </p:nvSpPr>
        <p:spPr>
          <a:xfrm>
            <a:off x="242316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Screw press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kue 785 + filtrat 3.746</a:t>
            </a:r>
            <a:endParaRPr lang="en-US" sz="900" dirty="0"/>
          </a:p>
        </p:txBody>
      </p:sp>
      <p:sp>
        <p:nvSpPr>
          <p:cNvPr id="51" name="garis-222"/>
          <p:cNvSpPr/>
          <p:nvPr/>
        </p:nvSpPr>
        <p:spPr>
          <a:xfrm>
            <a:off x="5303520" y="2596896"/>
            <a:ext cx="0" cy="256032"/>
          </a:xfrm>
          <a:prstGeom prst="line">
            <a:avLst/>
          </a:prstGeom>
          <a:noFill/>
          <a:ln w="25400">
            <a:solidFill>
              <a:srgbClr val="E0A526"/>
            </a:solidFill>
            <a:prstDash val="solid"/>
            <a:tailEnd type="triangle"/>
          </a:ln>
        </p:spPr>
      </p:sp>
      <p:sp>
        <p:nvSpPr>
          <p:cNvPr id="52" name="teks-223"/>
          <p:cNvSpPr txBox="1"/>
          <p:nvPr/>
        </p:nvSpPr>
        <p:spPr>
          <a:xfrm>
            <a:off x="5349240" y="2651760"/>
            <a:ext cx="731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biogas 681</a:t>
            </a:r>
            <a:endParaRPr lang="en-US" sz="750" dirty="0"/>
          </a:p>
        </p:txBody>
      </p:sp>
      <p:sp>
        <p:nvSpPr>
          <p:cNvPr id="53" name="kotak-224"/>
          <p:cNvSpPr txBox="1"/>
          <p:nvPr/>
        </p:nvSpPr>
        <p:spPr>
          <a:xfrm>
            <a:off x="46177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Pemurnian biogas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616 kg/jam (buang 72)</a:t>
            </a:r>
            <a:endParaRPr lang="en-US" sz="900" dirty="0"/>
          </a:p>
        </p:txBody>
      </p:sp>
      <p:sp>
        <p:nvSpPr>
          <p:cNvPr id="54" name="garis-225"/>
          <p:cNvSpPr/>
          <p:nvPr/>
        </p:nvSpPr>
        <p:spPr>
          <a:xfrm>
            <a:off x="6263640" y="3081528"/>
            <a:ext cx="182880" cy="0"/>
          </a:xfrm>
          <a:prstGeom prst="line">
            <a:avLst/>
          </a:prstGeom>
          <a:noFill/>
          <a:ln w="22225">
            <a:solidFill>
              <a:srgbClr val="9A6A00"/>
            </a:solidFill>
            <a:prstDash val="solid"/>
            <a:tailEnd type="triangle"/>
          </a:ln>
        </p:spPr>
      </p:sp>
      <p:sp>
        <p:nvSpPr>
          <p:cNvPr id="55" name="kotak-226"/>
          <p:cNvSpPr txBox="1"/>
          <p:nvPr/>
        </p:nvSpPr>
        <p:spPr>
          <a:xfrm>
            <a:off x="6446520" y="2852928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F3CF"/>
          </a:solidFill>
          <a:ln w="9525">
            <a:solidFill>
              <a:srgbClr val="E0A526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Genset 2 × 600 kWe</a:t>
            </a:r>
            <a:endParaRPr lang="en-US" sz="9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buang 6.988 (150 °C)</a:t>
            </a:r>
            <a:endParaRPr lang="en-US" sz="900" dirty="0"/>
          </a:p>
        </p:txBody>
      </p:sp>
      <p:sp>
        <p:nvSpPr>
          <p:cNvPr id="56" name="garis-227"/>
          <p:cNvSpPr/>
          <p:nvPr/>
        </p:nvSpPr>
        <p:spPr>
          <a:xfrm>
            <a:off x="7772400" y="2670048"/>
            <a:ext cx="0" cy="182880"/>
          </a:xfrm>
          <a:prstGeom prst="line">
            <a:avLst/>
          </a:prstGeom>
          <a:noFill/>
          <a:ln w="127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57" name="teks-228"/>
          <p:cNvSpPr txBox="1"/>
          <p:nvPr/>
        </p:nvSpPr>
        <p:spPr>
          <a:xfrm>
            <a:off x="6812280" y="2651760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udara 6.372</a:t>
            </a:r>
            <a:endParaRPr lang="en-US" sz="750" dirty="0"/>
          </a:p>
        </p:txBody>
      </p:sp>
      <p:sp>
        <p:nvSpPr>
          <p:cNvPr id="58" name="teks-229"/>
          <p:cNvSpPr txBox="1"/>
          <p:nvPr/>
        </p:nvSpPr>
        <p:spPr>
          <a:xfrm>
            <a:off x="411480" y="3401568"/>
            <a:ext cx="7680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masuk 30.756 = Σ keluar 30.755 kg/jam</a:t>
            </a:r>
            <a:pPr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(galat 0,0002%; neraca unsur C, H, O, N, S &lt; 10⁻⁴)</a:t>
            </a:r>
            <a:endParaRPr lang="en-US" sz="850" dirty="0"/>
          </a:p>
        </p:txBody>
      </p:sp>
      <p:sp>
        <p:nvSpPr>
          <p:cNvPr id="59" name="kotak-230"/>
          <p:cNvSpPr txBox="1"/>
          <p:nvPr/>
        </p:nvSpPr>
        <p:spPr>
          <a:xfrm>
            <a:off x="8275320" y="1143000"/>
            <a:ext cx="35204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limbah ke kWh (per hari nameplate)</a:t>
            </a:r>
            <a:endParaRPr lang="en-US" sz="950" dirty="0"/>
          </a:p>
        </p:txBody>
      </p:sp>
      <p:sp>
        <p:nvSpPr>
          <p:cNvPr id="60" name="kotak-231"/>
          <p:cNvSpPr txBox="1"/>
          <p:nvPr/>
        </p:nvSpPr>
        <p:spPr>
          <a:xfrm>
            <a:off x="8275320" y="14173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m³ POME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29,1 t/hari (49,7 g/L)</a:t>
            </a:r>
            <a:endParaRPr lang="en-US" sz="900" dirty="0"/>
          </a:p>
        </p:txBody>
      </p:sp>
      <p:sp>
        <p:nvSpPr>
          <p:cNvPr id="61" name="kotak-232"/>
          <p:cNvSpPr txBox="1"/>
          <p:nvPr/>
        </p:nvSpPr>
        <p:spPr>
          <a:xfrm>
            <a:off x="8275320" y="178308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11.836 Nm³ biogas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20,2 Nm³ per m³ POME; CH₄ 58%</a:t>
            </a:r>
            <a:endParaRPr lang="en-US" sz="900" dirty="0"/>
          </a:p>
        </p:txBody>
      </p:sp>
      <p:sp>
        <p:nvSpPr>
          <p:cNvPr id="62" name="kotak-233"/>
          <p:cNvSpPr txBox="1"/>
          <p:nvPr/>
        </p:nvSpPr>
        <p:spPr>
          <a:xfrm>
            <a:off x="8275320" y="214884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6.919 Nm³ CH₄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 Nm³ per m³ POME</a:t>
            </a:r>
            <a:endParaRPr lang="en-US" sz="900" dirty="0"/>
          </a:p>
        </p:txBody>
      </p:sp>
      <p:sp>
        <p:nvSpPr>
          <p:cNvPr id="63" name="kotak-234"/>
          <p:cNvSpPr txBox="1"/>
          <p:nvPr/>
        </p:nvSpPr>
        <p:spPr>
          <a:xfrm>
            <a:off x="8275320" y="251460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1.127 kWe kotor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 kWh per m³ POME</a:t>
            </a:r>
            <a:endParaRPr lang="en-US" sz="900" dirty="0"/>
          </a:p>
        </p:txBody>
      </p:sp>
      <p:sp>
        <p:nvSpPr>
          <p:cNvPr id="64" name="kotak-235"/>
          <p:cNvSpPr txBox="1"/>
          <p:nvPr/>
        </p:nvSpPr>
        <p:spPr>
          <a:xfrm>
            <a:off x="8275320" y="288036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1.025 kWe neto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42,1 kWh per m³ POME</a:t>
            </a:r>
            <a:endParaRPr lang="en-US" sz="900" dirty="0"/>
          </a:p>
        </p:txBody>
      </p:sp>
      <p:sp>
        <p:nvSpPr>
          <p:cNvPr id="65" name="kotak-236"/>
          <p:cNvSpPr txBox="1"/>
          <p:nvPr/>
        </p:nvSpPr>
        <p:spPr>
          <a:xfrm>
            <a:off x="8275320" y="3246120"/>
            <a:ext cx="3520440" cy="352044"/>
          </a:xfrm>
          <a:prstGeom prst="roundRect">
            <a:avLst>
              <a:gd name="adj" fmla="val 10390"/>
            </a:avLst>
          </a:prstGeom>
          <a:solidFill>
            <a:srgbClr val="3E8E41"/>
          </a:solidFill>
          <a:ln w="9525">
            <a:solidFill>
              <a:srgbClr val="3E8E41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5,27 GWh/tahun</a:t>
            </a:r>
            <a:endParaRPr lang="en-US" sz="900" dirty="0"/>
          </a:p>
          <a:p>
            <a:pPr algn="l" indent="0" marL="0">
              <a:buNone/>
            </a:pPr>
            <a:r>
              <a:rPr lang="en-US" sz="7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tahunan: 40,0 kWh/m³ POME; 26,0 kWh/t TBS</a:t>
            </a:r>
            <a:endParaRPr lang="en-US" sz="900" dirty="0"/>
          </a:p>
        </p:txBody>
      </p:sp>
      <p:sp>
        <p:nvSpPr>
          <p:cNvPr id="66" name="kotak-237"/>
          <p:cNvSpPr txBox="1"/>
          <p:nvPr/>
        </p:nvSpPr>
        <p:spPr>
          <a:xfrm>
            <a:off x="4114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energi (kW, nameplate)</a:t>
            </a:r>
            <a:endParaRPr lang="en-US" sz="95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365760" y="3913632"/>
          <a:ext cx="3840480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teks-238"/>
          <p:cNvSpPr txBox="1"/>
          <p:nvPr/>
        </p:nvSpPr>
        <p:spPr>
          <a:xfrm>
            <a:off x="411480" y="5486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listrik 39,3%; pemakaian sendiri 9% dari daya kotor (pencampur jet 24 kW, menara pendingin 13 kW, bantu genset 36 kW). Panas selubung dan gas buang (1.405 kW) cukup memanasi reaktor (17 kW).</a:t>
            </a:r>
            <a:endParaRPr lang="en-US" sz="780" dirty="0"/>
          </a:p>
        </p:txBody>
      </p:sp>
      <p:sp>
        <p:nvSpPr>
          <p:cNvPr id="69" name="kotak-239"/>
          <p:cNvSpPr txBox="1"/>
          <p:nvPr/>
        </p:nvSpPr>
        <p:spPr>
          <a:xfrm>
            <a:off x="4297680" y="3675888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reaktor selama setahun (simulasi 365 hari)</a:t>
            </a:r>
            <a:endParaRPr lang="en-US" sz="95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4251960" y="3913632"/>
          <a:ext cx="3840480" cy="868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1" name="Chart 2" descr=""/>
          <p:cNvGraphicFramePr/>
          <p:nvPr/>
        </p:nvGraphicFramePr>
        <p:xfrm>
          <a:off x="4251960" y="4791456"/>
          <a:ext cx="3840480" cy="7132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2" name="teks-240"/>
          <p:cNvSpPr txBox="1"/>
          <p:nvPr/>
        </p:nvSpPr>
        <p:spPr>
          <a:xfrm>
            <a:off x="4297680" y="550468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Stabil: pH 7,11–7,2; FOS/TAC maks 0,05 (batas 0,3); VFA ≈ 85 mg/L. Dip: hari Minggu (≈ 94 kW) dan henti 14 hari; musiman ±25%.</a:t>
            </a:r>
            <a:endParaRPr lang="en-US" sz="780" dirty="0"/>
          </a:p>
        </p:txBody>
      </p:sp>
      <p:sp>
        <p:nvSpPr>
          <p:cNvPr id="73" name="kotak-241"/>
          <p:cNvSpPr txBox="1"/>
          <p:nvPr/>
        </p:nvSpPr>
        <p:spPr>
          <a:xfrm>
            <a:off x="8183880" y="3675888"/>
            <a:ext cx="361188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Ketidakpastian umpan dan kinerja (400 sampel)</a:t>
            </a:r>
            <a:endParaRPr lang="en-US" sz="950" dirty="0"/>
          </a:p>
        </p:txBody>
      </p:sp>
      <p:graphicFrame>
        <p:nvGraphicFramePr>
          <p:cNvPr id="74" name="Chart 3" descr=""/>
          <p:cNvGraphicFramePr/>
          <p:nvPr/>
        </p:nvGraphicFramePr>
        <p:xfrm>
          <a:off x="8138160" y="3913632"/>
          <a:ext cx="3703320" cy="8961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tabel-2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4846320"/>
          <a:ext cx="914400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685800"/>
                <a:gridCol w="685800"/>
                <a:gridCol w="73152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Keluaran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Biogas (Nm³/hari)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6.485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Daya neto (kW)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OLR (kg COD/m³·hari)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Penyisihan COD (%)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kotak-243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7" name="kotak-244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m³ POME menghasilkan ≈ 40 kWh listrik neto per tahun; kolam metana ditutup dengan reaktor 5 hari, dan 91% daya kotor tersedia untuk dijual karena pemakaian sendiri hanya 9%.</a:t>
            </a:r>
            <a:endParaRPr lang="en-US" sz="950" dirty="0"/>
          </a:p>
        </p:txBody>
      </p:sp>
      <p:sp>
        <p:nvSpPr>
          <p:cNvPr id="78" name="teks-245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COD kebutuhan oksigen kimiawi; OLR laju beban organik; FOS/TAC rasio asam volatil terhadap alkalinitas; VFA asam lemak volatil; LHV nilai kalor bawah; Nm³ meter kubik normal.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process/biogas_balance.py Rev 2 (ADM1-lite terkalibrasi; simulasi 365 hari; Monte Carlo 400 sampel; results.json), research/R4 (Choorit 2007). Parameter kinetika: literatur; belum ada data terukur di lokasi (TRL 4).</a:t>
            </a:r>
            <a:endParaRPr lang="en-US" sz="5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Desain produk: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PFD, tata letak, model 3D, dan sembilan lembar gambar rekayasa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menunjukkan set yang dirancang rinci, bukan sekadar konsep</a:t>
            </a:r>
            <a:endParaRPr lang="en-US" sz="1900" dirty="0"/>
          </a:p>
        </p:txBody>
      </p:sp>
      <p:sp>
        <p:nvSpPr>
          <p:cNvPr id="3" name="kotak-246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47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48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49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50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51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52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53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2" name="kotak-254"/>
          <p:cNvSpPr txBox="1"/>
          <p:nvPr/>
        </p:nvSpPr>
        <p:spPr>
          <a:xfrm>
            <a:off x="411480" y="1143000"/>
            <a:ext cx="571500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Diagram alir proses (PFD BG-002 Rev 3): dibaca dari kiri ke kanan</a:t>
            </a:r>
            <a:endParaRPr lang="en-US" sz="950" dirty="0"/>
          </a:p>
        </p:txBody>
      </p:sp>
      <p:sp>
        <p:nvSpPr>
          <p:cNvPr id="13" name="kotak-255"/>
          <p:cNvSpPr/>
          <p:nvPr/>
        </p:nvSpPr>
        <p:spPr>
          <a:xfrm>
            <a:off x="411480" y="1371600"/>
            <a:ext cx="57150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4" name="gambar-256" descr="/home/user/aspebindo/deck/img/pfd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42" y="1389888"/>
            <a:ext cx="5444076" cy="3072384"/>
          </a:xfrm>
          <a:prstGeom prst="rect">
            <a:avLst/>
          </a:prstGeom>
        </p:spPr>
      </p:pic>
      <p:sp>
        <p:nvSpPr>
          <p:cNvPr id="15" name="teks-257"/>
          <p:cNvSpPr txBox="1"/>
          <p:nvPr/>
        </p:nvSpPr>
        <p:spPr>
          <a:xfrm>
            <a:off x="411480" y="4507992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A-100 praolah · A-200 reaktor kontak · A-300 degasser, settler, lumpur · A-400 pemurnian dan penampung gas · A-500 genset dan pemulih panas · A-600 menara pendingin. Tag, nomor aliran 1–26, suhu, tekanan, dan laju massa tertera pada lembar A2.</a:t>
            </a:r>
            <a:endParaRPr lang="en-US" sz="750" dirty="0"/>
          </a:p>
        </p:txBody>
      </p:sp>
      <p:sp>
        <p:nvSpPr>
          <p:cNvPr id="16" name="kotak-258"/>
          <p:cNvSpPr txBox="1"/>
          <p:nvPr/>
        </p:nvSpPr>
        <p:spPr>
          <a:xfrm>
            <a:off x="411480" y="4818888"/>
            <a:ext cx="28346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Reaktor GFS (BG-V-201): Ø11,5 × 10,8 m, 980 m³</a:t>
            </a:r>
            <a:endParaRPr lang="en-US" sz="750" dirty="0"/>
          </a:p>
        </p:txBody>
      </p:sp>
      <p:sp>
        <p:nvSpPr>
          <p:cNvPr id="17" name="kotak-259"/>
          <p:cNvSpPr/>
          <p:nvPr/>
        </p:nvSpPr>
        <p:spPr>
          <a:xfrm>
            <a:off x="411480" y="5020056"/>
            <a:ext cx="2834640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18" name="gambar-260" descr="/home/user/aspebindo/deck/img/v2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270" y="5029200"/>
            <a:ext cx="1213059" cy="886968"/>
          </a:xfrm>
          <a:prstGeom prst="rect">
            <a:avLst/>
          </a:prstGeom>
        </p:spPr>
      </p:pic>
      <p:sp>
        <p:nvSpPr>
          <p:cNvPr id="19" name="kotak-261"/>
          <p:cNvSpPr txBox="1"/>
          <p:nvPr/>
        </p:nvSpPr>
        <p:spPr>
          <a:xfrm>
            <a:off x="3291840" y="4818888"/>
            <a:ext cx="28346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Skid kontak (BG-M-004): degasser + lamella</a:t>
            </a:r>
            <a:endParaRPr lang="en-US" sz="750" dirty="0"/>
          </a:p>
        </p:txBody>
      </p:sp>
      <p:sp>
        <p:nvSpPr>
          <p:cNvPr id="20" name="kotak-262"/>
          <p:cNvSpPr/>
          <p:nvPr/>
        </p:nvSpPr>
        <p:spPr>
          <a:xfrm>
            <a:off x="3291840" y="5020056"/>
            <a:ext cx="2834640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1" name="gambar-263" descr="/home/user/aspebindo/deck/img/m0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1563" y="5029200"/>
            <a:ext cx="1075195" cy="886968"/>
          </a:xfrm>
          <a:prstGeom prst="rect">
            <a:avLst/>
          </a:prstGeom>
        </p:spPr>
      </p:pic>
      <p:sp>
        <p:nvSpPr>
          <p:cNvPr id="22" name="kotak-264"/>
          <p:cNvSpPr txBox="1"/>
          <p:nvPr/>
        </p:nvSpPr>
        <p:spPr>
          <a:xfrm>
            <a:off x="6263640" y="1143000"/>
            <a:ext cx="553212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Tata letak plot 1:400 (BG-GA-001): 99,65 × 37,7 m = 0,38 ha</a:t>
            </a:r>
            <a:endParaRPr lang="en-US" sz="900" dirty="0"/>
          </a:p>
        </p:txBody>
      </p:sp>
      <p:sp>
        <p:nvSpPr>
          <p:cNvPr id="23" name="kotak-265"/>
          <p:cNvSpPr/>
          <p:nvPr/>
        </p:nvSpPr>
        <p:spPr>
          <a:xfrm>
            <a:off x="6263640" y="1371600"/>
            <a:ext cx="553212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4" name="gambar-266" descr="/home/user/aspebindo/deck/img/plan_g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432" y="1389888"/>
            <a:ext cx="5314537" cy="1837944"/>
          </a:xfrm>
          <a:prstGeom prst="rect">
            <a:avLst/>
          </a:prstGeom>
        </p:spPr>
      </p:pic>
      <p:sp>
        <p:nvSpPr>
          <p:cNvPr id="25" name="kotak-267"/>
          <p:cNvSpPr txBox="1"/>
          <p:nvPr/>
        </p:nvSpPr>
        <p:spPr>
          <a:xfrm>
            <a:off x="6263640" y="3310128"/>
            <a:ext cx="27432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Model 3D set lengkap</a:t>
            </a:r>
            <a:endParaRPr lang="en-US" sz="800" dirty="0"/>
          </a:p>
        </p:txBody>
      </p:sp>
      <p:sp>
        <p:nvSpPr>
          <p:cNvPr id="26" name="kotak-268"/>
          <p:cNvSpPr/>
          <p:nvPr/>
        </p:nvSpPr>
        <p:spPr>
          <a:xfrm>
            <a:off x="6263640" y="3511296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27" name="gambar-269" descr="/home/user/aspebindo/cad/out/render/PLANT_iso-depa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8138" y="3529584"/>
            <a:ext cx="1954203" cy="1243584"/>
          </a:xfrm>
          <a:prstGeom prst="rect">
            <a:avLst/>
          </a:prstGeom>
        </p:spPr>
      </p:pic>
      <p:sp>
        <p:nvSpPr>
          <p:cNvPr id="28" name="kotak-270"/>
          <p:cNvSpPr txBox="1"/>
          <p:nvPr/>
        </p:nvSpPr>
        <p:spPr>
          <a:xfrm>
            <a:off x="9052560" y="3310128"/>
            <a:ext cx="274320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Lokasi di PKS 1:1750 (BG-GA-002)</a:t>
            </a:r>
            <a:endParaRPr lang="en-US" sz="800" dirty="0"/>
          </a:p>
        </p:txBody>
      </p:sp>
      <p:sp>
        <p:nvSpPr>
          <p:cNvPr id="29" name="kotak-271"/>
          <p:cNvSpPr/>
          <p:nvPr/>
        </p:nvSpPr>
        <p:spPr>
          <a:xfrm>
            <a:off x="9052560" y="3511296"/>
            <a:ext cx="27432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pic>
        <p:nvPicPr>
          <p:cNvPr id="30" name="gambar-272" descr="/home/user/aspebindo/deck/img/ga00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3613810"/>
            <a:ext cx="2706624" cy="1075131"/>
          </a:xfrm>
          <a:prstGeom prst="rect">
            <a:avLst/>
          </a:prstGeom>
        </p:spPr>
      </p:pic>
      <p:sp>
        <p:nvSpPr>
          <p:cNvPr id="31" name="kotak-273"/>
          <p:cNvSpPr txBox="1"/>
          <p:nvPr/>
        </p:nvSpPr>
        <p:spPr>
          <a:xfrm>
            <a:off x="6263640" y="4846320"/>
            <a:ext cx="553212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Peralatan utama modul acuan 45 t TBS/jam (dari PFD dan daftar bagian)</a:t>
            </a:r>
            <a:endParaRPr lang="en-US" sz="800" dirty="0"/>
          </a:p>
        </p:txBody>
      </p:sp>
      <p:graphicFrame>
        <p:nvGraphicFramePr>
          <p:cNvPr id="6" name="tabel-2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5056632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06040"/>
                <a:gridCol w="1828800"/>
              </a:tblGrid>
              <a:tr h="1554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Uraian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Ukuran / kapasitas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R-201…203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reaktor kontak GFS dibaut, 55 °C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Ø11,46 × 10,8 m; 3 × 980 m³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DG-301 · LS-301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degasser vakum · settler lamella 60°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m³ · 81 m² proyeksi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GH-301 · FL-301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penampung gas membran ganda · flare tertutup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986 m³ (2 jam) · ≥ 15 m dari GH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BTF-301 · AC-301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bio-scrubber H₂S · karbon aktif penjaga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2.868 → 21 ppm H₂S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GE-401/402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genset biogas kontainer 40 ft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3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600 kWe; η 39,3%</a:t>
                      </a:r>
                      <a:endParaRPr lang="en-US" sz="7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kotak-27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34" name="kotak-27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sudah mencakup PFD, tata letak dengan jarak aman terverifikasi, model 3D, dan gambar unit utama; yang belum ada adalah gambar tangki ekualisasi dan modul keempat untuk skala 60 t TBS/jam.</a:t>
            </a:r>
            <a:endParaRPr lang="en-US" sz="950" dirty="0"/>
          </a:p>
        </p:txBody>
      </p:sp>
      <p:sp>
        <p:nvSpPr>
          <p:cNvPr id="35" name="teks-27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PFD diagram alir proses; GFS baja berlapis kaca; PM modul portabel; DG degasser; LS settler lamella; ISO/ISA standar simbol.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pfd/outputs/PFD_BG-002_Rev3.pdf; cad/drawings/out/BG_drawing_set_A3.pdf (9 lembar, pemeriksa tabrakan teks: 0 temuan); model CadQuery tim.</a:t>
            </a:r>
            <a:endParaRPr lang="en-US" sz="5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 lebih murah dalam modal, tetapi hanya layanan BOO kami yang memberi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 PKS nol dan risiko di operator</a:t>
            </a:r>
            <a:endParaRPr lang="en-US" sz="1900" dirty="0"/>
          </a:p>
        </p:txBody>
      </p:sp>
      <p:sp>
        <p:nvSpPr>
          <p:cNvPr id="3" name="kotak-278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279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280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281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282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283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284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285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kotak-286"/>
          <p:cNvSpPr txBox="1"/>
          <p:nvPr/>
        </p:nvSpPr>
        <p:spPr>
          <a:xfrm>
            <a:off x="411480" y="1143000"/>
            <a:ext cx="6949440" cy="228600"/>
          </a:xfrm>
          <a:prstGeom prst="roundRect">
            <a:avLst>
              <a:gd name="adj" fmla="val 16000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 teknologi dan model penyampaian (per PKS 60 t TBS/jam)</a:t>
            </a:r>
            <a:endParaRPr lang="en-US" sz="950" dirty="0"/>
          </a:p>
        </p:txBody>
      </p:sp>
      <p:graphicFrame>
        <p:nvGraphicFramePr>
          <p:cNvPr id="7" name="tabel-2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89888"/>
          <a:ext cx="9144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914400"/>
                <a:gridCol w="777240"/>
                <a:gridCol w="365760"/>
                <a:gridCol w="1645920"/>
                <a:gridCol w="502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Opsi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 PKS (USD juta)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Biaya POME PKS (USD/t TBS)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 kinerja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TRL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Referensi di Indonesia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Status quo kolam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±85–90% 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Lagun tertutup (milik PKS)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Sei Mangkei 2,4 MW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CSTR mesofilik (milik PKS)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TSE 2 MW (2025)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 Biometana BOOT (klaster)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pengembang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PTPN IV, 8 PKS (2026)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 UASB/IC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±4,4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ada untuk POME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 AnMBR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±8,0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PKS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ada untuk POME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 Kontak termofilik BOO (usulan)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belum (perlu pilot)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</a:t>
                      </a:r>
                      <a:endParaRPr lang="en-US" sz="8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E41"/>
                    </a:solidFill>
                  </a:tcPr>
                </a:tc>
              </a:tr>
            </a:tbl>
          </a:graphicData>
        </a:graphic>
      </p:graphicFrame>
      <p:sp>
        <p:nvSpPr>
          <p:cNvPr id="14" name="teks-288"/>
          <p:cNvSpPr txBox="1"/>
          <p:nvPr/>
        </p:nvSpPr>
        <p:spPr>
          <a:xfrm>
            <a:off x="411480" y="3136392"/>
            <a:ext cx="6949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POME PKS = biaya terlevelisasi 20 tahun (Model Keputusan PKS, solar tergantikan 2,0 L/t TBS); opsi D–F tanpa data biaya publik. Skor 1–5 berbobot (K1–K7, slide 2).</a:t>
            </a:r>
            <a:endParaRPr lang="en-US" sz="730" dirty="0"/>
          </a:p>
        </p:txBody>
      </p:sp>
      <p:sp>
        <p:nvSpPr>
          <p:cNvPr id="15" name="kotak-289"/>
          <p:cNvSpPr txBox="1"/>
          <p:nvPr/>
        </p:nvSpPr>
        <p:spPr>
          <a:xfrm>
            <a:off x="7498080" y="1143000"/>
            <a:ext cx="4297680" cy="228600"/>
          </a:xfrm>
          <a:prstGeom prst="roundRect">
            <a:avLst>
              <a:gd name="adj" fmla="val 16000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posisi: modal PKS vs biaya POME PKS (model)</a:t>
            </a:r>
            <a:endParaRPr lang="en-US" sz="950" dirty="0"/>
          </a:p>
        </p:txBody>
      </p:sp>
      <p:sp>
        <p:nvSpPr>
          <p:cNvPr id="16" name="kotak-290"/>
          <p:cNvSpPr/>
          <p:nvPr/>
        </p:nvSpPr>
        <p:spPr>
          <a:xfrm>
            <a:off x="8001000" y="1600200"/>
            <a:ext cx="36118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7" name="garis-291"/>
          <p:cNvSpPr/>
          <p:nvPr/>
        </p:nvSpPr>
        <p:spPr>
          <a:xfrm>
            <a:off x="8001000" y="2859786"/>
            <a:ext cx="3611880" cy="0"/>
          </a:xfrm>
          <a:prstGeom prst="line">
            <a:avLst/>
          </a:prstGeom>
          <a:noFill/>
          <a:ln w="6350">
            <a:solidFill>
              <a:srgbClr val="E3ECF4"/>
            </a:solidFill>
            <a:prstDash val="solid"/>
          </a:ln>
        </p:spPr>
      </p:sp>
      <p:sp>
        <p:nvSpPr>
          <p:cNvPr id="18" name="teks-292"/>
          <p:cNvSpPr txBox="1"/>
          <p:nvPr/>
        </p:nvSpPr>
        <p:spPr>
          <a:xfrm>
            <a:off x="7680960" y="279577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</a:t>
            </a:r>
            <a:endParaRPr lang="en-US" sz="750" dirty="0"/>
          </a:p>
        </p:txBody>
      </p:sp>
      <p:sp>
        <p:nvSpPr>
          <p:cNvPr id="19" name="garis-293"/>
          <p:cNvSpPr/>
          <p:nvPr/>
        </p:nvSpPr>
        <p:spPr>
          <a:xfrm>
            <a:off x="8001000" y="2528316"/>
            <a:ext cx="3611880" cy="0"/>
          </a:xfrm>
          <a:prstGeom prst="line">
            <a:avLst/>
          </a:prstGeom>
          <a:noFill/>
          <a:ln w="6350">
            <a:solidFill>
              <a:srgbClr val="E3ECF4"/>
            </a:solidFill>
            <a:prstDash val="solid"/>
          </a:ln>
        </p:spPr>
      </p:sp>
      <p:sp>
        <p:nvSpPr>
          <p:cNvPr id="20" name="teks-294"/>
          <p:cNvSpPr txBox="1"/>
          <p:nvPr/>
        </p:nvSpPr>
        <p:spPr>
          <a:xfrm>
            <a:off x="7680960" y="246430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</a:t>
            </a:r>
            <a:endParaRPr lang="en-US" sz="750" dirty="0"/>
          </a:p>
        </p:txBody>
      </p:sp>
      <p:sp>
        <p:nvSpPr>
          <p:cNvPr id="21" name="garis-295"/>
          <p:cNvSpPr/>
          <p:nvPr/>
        </p:nvSpPr>
        <p:spPr>
          <a:xfrm>
            <a:off x="8001000" y="2196846"/>
            <a:ext cx="3611880" cy="0"/>
          </a:xfrm>
          <a:prstGeom prst="line">
            <a:avLst/>
          </a:prstGeom>
          <a:noFill/>
          <a:ln w="6350">
            <a:solidFill>
              <a:srgbClr val="E3ECF4"/>
            </a:solidFill>
            <a:prstDash val="solid"/>
          </a:ln>
        </p:spPr>
      </p:sp>
      <p:sp>
        <p:nvSpPr>
          <p:cNvPr id="22" name="teks-296"/>
          <p:cNvSpPr txBox="1"/>
          <p:nvPr/>
        </p:nvSpPr>
        <p:spPr>
          <a:xfrm>
            <a:off x="7680960" y="213283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</a:t>
            </a:r>
            <a:endParaRPr lang="en-US" sz="750" dirty="0"/>
          </a:p>
        </p:txBody>
      </p:sp>
      <p:sp>
        <p:nvSpPr>
          <p:cNvPr id="23" name="garis-297"/>
          <p:cNvSpPr/>
          <p:nvPr/>
        </p:nvSpPr>
        <p:spPr>
          <a:xfrm>
            <a:off x="8001000" y="1865376"/>
            <a:ext cx="3611880" cy="0"/>
          </a:xfrm>
          <a:prstGeom prst="line">
            <a:avLst/>
          </a:prstGeom>
          <a:noFill/>
          <a:ln w="6350">
            <a:solidFill>
              <a:srgbClr val="E3ECF4"/>
            </a:solidFill>
            <a:prstDash val="solid"/>
          </a:ln>
        </p:spPr>
      </p:sp>
      <p:sp>
        <p:nvSpPr>
          <p:cNvPr id="24" name="teks-298"/>
          <p:cNvSpPr txBox="1"/>
          <p:nvPr/>
        </p:nvSpPr>
        <p:spPr>
          <a:xfrm>
            <a:off x="7680960" y="1801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</a:t>
            </a:r>
            <a:endParaRPr lang="en-US" sz="750" dirty="0"/>
          </a:p>
        </p:txBody>
      </p:sp>
      <p:sp>
        <p:nvSpPr>
          <p:cNvPr id="25" name="teks-299"/>
          <p:cNvSpPr txBox="1"/>
          <p:nvPr/>
        </p:nvSpPr>
        <p:spPr>
          <a:xfrm>
            <a:off x="786384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50" dirty="0"/>
          </a:p>
        </p:txBody>
      </p:sp>
      <p:sp>
        <p:nvSpPr>
          <p:cNvPr id="26" name="teks-300"/>
          <p:cNvSpPr txBox="1"/>
          <p:nvPr/>
        </p:nvSpPr>
        <p:spPr>
          <a:xfrm>
            <a:off x="866648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7" name="teks-301"/>
          <p:cNvSpPr txBox="1"/>
          <p:nvPr/>
        </p:nvSpPr>
        <p:spPr>
          <a:xfrm>
            <a:off x="946912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8" name="teks-302"/>
          <p:cNvSpPr txBox="1"/>
          <p:nvPr/>
        </p:nvSpPr>
        <p:spPr>
          <a:xfrm>
            <a:off x="1027176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29" name="teks-303"/>
          <p:cNvSpPr txBox="1"/>
          <p:nvPr/>
        </p:nvSpPr>
        <p:spPr>
          <a:xfrm>
            <a:off x="11074400" y="2944368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30" name="teks-304"/>
          <p:cNvSpPr txBox="1"/>
          <p:nvPr/>
        </p:nvSpPr>
        <p:spPr>
          <a:xfrm>
            <a:off x="8001000" y="3081528"/>
            <a:ext cx="3611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yang dikeluarkan PKS (USD juta)</a:t>
            </a:r>
            <a:endParaRPr lang="en-US" sz="780" dirty="0"/>
          </a:p>
        </p:txBody>
      </p:sp>
      <p:sp>
        <p:nvSpPr>
          <p:cNvPr id="31" name="teks-305"/>
          <p:cNvSpPr txBox="1"/>
          <p:nvPr/>
        </p:nvSpPr>
        <p:spPr>
          <a:xfrm>
            <a:off x="7479792" y="1600200"/>
            <a:ext cx="502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USD/t TBS</a:t>
            </a:r>
            <a:endParaRPr lang="en-US" sz="750" dirty="0"/>
          </a:p>
        </p:txBody>
      </p:sp>
      <p:sp>
        <p:nvSpPr>
          <p:cNvPr id="32" name="kotak-306"/>
          <p:cNvSpPr txBox="1"/>
          <p:nvPr/>
        </p:nvSpPr>
        <p:spPr>
          <a:xfrm>
            <a:off x="7936992" y="1662853"/>
            <a:ext cx="219456" cy="219456"/>
          </a:xfrm>
          <a:prstGeom prst="roundRect">
            <a:avLst>
              <a:gd name="adj" fmla="val 58333"/>
            </a:avLst>
          </a:prstGeom>
          <a:solidFill>
            <a:srgbClr val="5B6B7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33" name="kotak-307"/>
          <p:cNvSpPr txBox="1"/>
          <p:nvPr/>
        </p:nvSpPr>
        <p:spPr>
          <a:xfrm>
            <a:off x="10716565" y="2408208"/>
            <a:ext cx="219456" cy="219456"/>
          </a:xfrm>
          <a:prstGeom prst="roundRect">
            <a:avLst>
              <a:gd name="adj" fmla="val 58333"/>
            </a:avLst>
          </a:prstGeom>
          <a:solidFill>
            <a:srgbClr val="6898C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900" dirty="0"/>
          </a:p>
        </p:txBody>
      </p:sp>
      <p:sp>
        <p:nvSpPr>
          <p:cNvPr id="34" name="kotak-308"/>
          <p:cNvSpPr txBox="1"/>
          <p:nvPr/>
        </p:nvSpPr>
        <p:spPr>
          <a:xfrm>
            <a:off x="11101832" y="2629639"/>
            <a:ext cx="219456" cy="219456"/>
          </a:xfrm>
          <a:prstGeom prst="roundRect">
            <a:avLst>
              <a:gd name="adj" fmla="val 58333"/>
            </a:avLst>
          </a:prstGeom>
          <a:solidFill>
            <a:srgbClr val="6898C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kotak-309"/>
          <p:cNvSpPr txBox="1"/>
          <p:nvPr/>
        </p:nvSpPr>
        <p:spPr>
          <a:xfrm>
            <a:off x="8183880" y="1753029"/>
            <a:ext cx="219456" cy="219456"/>
          </a:xfrm>
          <a:prstGeom prst="roundRect">
            <a:avLst>
              <a:gd name="adj" fmla="val 58333"/>
            </a:avLst>
          </a:prstGeom>
          <a:solidFill>
            <a:srgbClr val="3E8E41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900" dirty="0"/>
          </a:p>
        </p:txBody>
      </p:sp>
      <p:sp>
        <p:nvSpPr>
          <p:cNvPr id="36" name="teks-310"/>
          <p:cNvSpPr txBox="1"/>
          <p:nvPr/>
        </p:nvSpPr>
        <p:spPr>
          <a:xfrm>
            <a:off x="7635240" y="325526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G: modal nol, biaya setara kolam (A). B dan C lebih murah tetapi menuntut USD 3,5–4,0 juta dan risiko kinerja di PKS.</a:t>
            </a:r>
            <a:endParaRPr lang="en-US" sz="750" dirty="0"/>
          </a:p>
        </p:txBody>
      </p:sp>
      <p:sp>
        <p:nvSpPr>
          <p:cNvPr id="37" name="kotak-311"/>
          <p:cNvSpPr txBox="1"/>
          <p:nvPr/>
        </p:nvSpPr>
        <p:spPr>
          <a:xfrm>
            <a:off x="411480" y="3383280"/>
            <a:ext cx="324612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kekuatan Porter (1–5)</a:t>
            </a:r>
            <a:endParaRPr lang="en-US" sz="900" dirty="0"/>
          </a:p>
        </p:txBody>
      </p:sp>
      <p:sp>
        <p:nvSpPr>
          <p:cNvPr id="38" name="teks-312"/>
          <p:cNvSpPr txBox="1"/>
          <p:nvPr/>
        </p:nvSpPr>
        <p:spPr>
          <a:xfrm>
            <a:off x="411480" y="363931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 (PKS, PLN)</a:t>
            </a:r>
            <a:endParaRPr lang="en-US" sz="800" dirty="0"/>
          </a:p>
        </p:txBody>
      </p:sp>
      <p:sp>
        <p:nvSpPr>
          <p:cNvPr id="39" name="kotak-313"/>
          <p:cNvSpPr/>
          <p:nvPr/>
        </p:nvSpPr>
        <p:spPr>
          <a:xfrm>
            <a:off x="1627632" y="3648456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0" name="kotak-314"/>
          <p:cNvSpPr/>
          <p:nvPr/>
        </p:nvSpPr>
        <p:spPr>
          <a:xfrm>
            <a:off x="1627632" y="3648456"/>
            <a:ext cx="981456" cy="128016"/>
          </a:xfrm>
          <a:prstGeom prst="rect">
            <a:avLst/>
          </a:prstGeom>
          <a:solidFill>
            <a:srgbClr val="C8452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41" name="teks-315"/>
          <p:cNvSpPr txBox="1"/>
          <p:nvPr/>
        </p:nvSpPr>
        <p:spPr>
          <a:xfrm>
            <a:off x="2944368" y="363931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</a:t>
            </a:r>
            <a:endParaRPr lang="en-US" sz="800" dirty="0"/>
          </a:p>
        </p:txBody>
      </p:sp>
      <p:sp>
        <p:nvSpPr>
          <p:cNvPr id="42" name="teks-316"/>
          <p:cNvSpPr txBox="1"/>
          <p:nvPr/>
        </p:nvSpPr>
        <p:spPr>
          <a:xfrm>
            <a:off x="411480" y="3776472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harus &lt; biaya yang dihindari PKS</a:t>
            </a:r>
            <a:endParaRPr lang="en-US" sz="720" dirty="0"/>
          </a:p>
        </p:txBody>
      </p:sp>
      <p:sp>
        <p:nvSpPr>
          <p:cNvPr id="43" name="teks-317"/>
          <p:cNvSpPr txBox="1"/>
          <p:nvPr/>
        </p:nvSpPr>
        <p:spPr>
          <a:xfrm>
            <a:off x="411480" y="3931920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Persaingan</a:t>
            </a:r>
            <a:endParaRPr lang="en-US" sz="800" dirty="0"/>
          </a:p>
        </p:txBody>
      </p:sp>
      <p:sp>
        <p:nvSpPr>
          <p:cNvPr id="44" name="kotak-318"/>
          <p:cNvSpPr/>
          <p:nvPr/>
        </p:nvSpPr>
        <p:spPr>
          <a:xfrm>
            <a:off x="1627632" y="3941064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5" name="kotak-319"/>
          <p:cNvSpPr/>
          <p:nvPr/>
        </p:nvSpPr>
        <p:spPr>
          <a:xfrm>
            <a:off x="1627632" y="3941064"/>
            <a:ext cx="887578" cy="128016"/>
          </a:xfrm>
          <a:prstGeom prst="rect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46" name="teks-320"/>
          <p:cNvSpPr txBox="1"/>
          <p:nvPr/>
        </p:nvSpPr>
        <p:spPr>
          <a:xfrm>
            <a:off x="2944368" y="393192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</a:t>
            </a:r>
            <a:endParaRPr lang="en-US" sz="800" dirty="0"/>
          </a:p>
        </p:txBody>
      </p:sp>
      <p:sp>
        <p:nvSpPr>
          <p:cNvPr id="47" name="teks-321"/>
          <p:cNvSpPr txBox="1"/>
          <p:nvPr/>
        </p:nvSpPr>
        <p:spPr>
          <a:xfrm>
            <a:off x="411480" y="4069080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reNIKOLA, EPC lagun, program grup</a:t>
            </a:r>
            <a:endParaRPr lang="en-US" sz="720" dirty="0"/>
          </a:p>
        </p:txBody>
      </p:sp>
      <p:sp>
        <p:nvSpPr>
          <p:cNvPr id="48" name="teks-322"/>
          <p:cNvSpPr txBox="1"/>
          <p:nvPr/>
        </p:nvSpPr>
        <p:spPr>
          <a:xfrm>
            <a:off x="411480" y="4224528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 substitusi</a:t>
            </a:r>
            <a:endParaRPr lang="en-US" sz="800" dirty="0"/>
          </a:p>
        </p:txBody>
      </p:sp>
      <p:sp>
        <p:nvSpPr>
          <p:cNvPr id="49" name="kotak-323"/>
          <p:cNvSpPr/>
          <p:nvPr/>
        </p:nvSpPr>
        <p:spPr>
          <a:xfrm>
            <a:off x="1627632" y="4233672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0" name="kotak-324"/>
          <p:cNvSpPr/>
          <p:nvPr/>
        </p:nvSpPr>
        <p:spPr>
          <a:xfrm>
            <a:off x="1627632" y="4233672"/>
            <a:ext cx="819302" cy="128016"/>
          </a:xfrm>
          <a:prstGeom prst="rect">
            <a:avLst/>
          </a:prstGeom>
          <a:solidFill>
            <a:srgbClr val="E0A526"/>
          </a:solidFill>
          <a:ln w="12700">
            <a:solidFill>
              <a:srgbClr val="E0A526"/>
            </a:solidFill>
            <a:prstDash val="solid"/>
          </a:ln>
        </p:spPr>
      </p:sp>
      <p:sp>
        <p:nvSpPr>
          <p:cNvPr id="51" name="teks-325"/>
          <p:cNvSpPr txBox="1"/>
          <p:nvPr/>
        </p:nvSpPr>
        <p:spPr>
          <a:xfrm>
            <a:off x="2944368" y="422452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</a:t>
            </a:r>
            <a:endParaRPr lang="en-US" sz="800" dirty="0"/>
          </a:p>
        </p:txBody>
      </p:sp>
      <p:sp>
        <p:nvSpPr>
          <p:cNvPr id="52" name="teks-326"/>
          <p:cNvSpPr txBox="1"/>
          <p:nvPr/>
        </p:nvSpPr>
        <p:spPr>
          <a:xfrm>
            <a:off x="411480" y="4361688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murah; PLTS + baterai</a:t>
            </a:r>
            <a:endParaRPr lang="en-US" sz="720" dirty="0"/>
          </a:p>
        </p:txBody>
      </p:sp>
      <p:sp>
        <p:nvSpPr>
          <p:cNvPr id="53" name="teks-327"/>
          <p:cNvSpPr txBox="1"/>
          <p:nvPr/>
        </p:nvSpPr>
        <p:spPr>
          <a:xfrm>
            <a:off x="411480" y="4517136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Pendatang baru</a:t>
            </a:r>
            <a:endParaRPr lang="en-US" sz="800" dirty="0"/>
          </a:p>
        </p:txBody>
      </p:sp>
      <p:sp>
        <p:nvSpPr>
          <p:cNvPr id="54" name="kotak-328"/>
          <p:cNvSpPr/>
          <p:nvPr/>
        </p:nvSpPr>
        <p:spPr>
          <a:xfrm>
            <a:off x="1627632" y="4526280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5" name="kotak-329"/>
          <p:cNvSpPr/>
          <p:nvPr/>
        </p:nvSpPr>
        <p:spPr>
          <a:xfrm>
            <a:off x="1627632" y="4526280"/>
            <a:ext cx="716890" cy="128016"/>
          </a:xfrm>
          <a:prstGeom prst="rect">
            <a:avLst/>
          </a:prstGeom>
          <a:solidFill>
            <a:srgbClr val="3E8E41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56" name="teks-330"/>
          <p:cNvSpPr txBox="1"/>
          <p:nvPr/>
        </p:nvSpPr>
        <p:spPr>
          <a:xfrm>
            <a:off x="2944368" y="451713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</a:t>
            </a:r>
            <a:endParaRPr lang="en-US" sz="800" dirty="0"/>
          </a:p>
        </p:txBody>
      </p:sp>
      <p:sp>
        <p:nvSpPr>
          <p:cNvPr id="57" name="teks-331"/>
          <p:cNvSpPr txBox="1"/>
          <p:nvPr/>
        </p:nvSpPr>
        <p:spPr>
          <a:xfrm>
            <a:off x="411480" y="4654296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 PLN, modal USD 5,9 juta</a:t>
            </a:r>
            <a:endParaRPr lang="en-US" sz="720" dirty="0"/>
          </a:p>
        </p:txBody>
      </p:sp>
      <p:sp>
        <p:nvSpPr>
          <p:cNvPr id="58" name="teks-332"/>
          <p:cNvSpPr txBox="1"/>
          <p:nvPr/>
        </p:nvSpPr>
        <p:spPr>
          <a:xfrm>
            <a:off x="411480" y="4809744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Pemasok</a:t>
            </a:r>
            <a:endParaRPr lang="en-US" sz="800" dirty="0"/>
          </a:p>
        </p:txBody>
      </p:sp>
      <p:sp>
        <p:nvSpPr>
          <p:cNvPr id="59" name="kotak-333"/>
          <p:cNvSpPr/>
          <p:nvPr/>
        </p:nvSpPr>
        <p:spPr>
          <a:xfrm>
            <a:off x="1627632" y="4818888"/>
            <a:ext cx="1280160" cy="128016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60" name="kotak-334"/>
          <p:cNvSpPr/>
          <p:nvPr/>
        </p:nvSpPr>
        <p:spPr>
          <a:xfrm>
            <a:off x="1627632" y="4818888"/>
            <a:ext cx="648614" cy="128016"/>
          </a:xfrm>
          <a:prstGeom prst="rect">
            <a:avLst/>
          </a:prstGeom>
          <a:solidFill>
            <a:srgbClr val="3E8E41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61" name="teks-335"/>
          <p:cNvSpPr txBox="1"/>
          <p:nvPr/>
        </p:nvSpPr>
        <p:spPr>
          <a:xfrm>
            <a:off x="2944368" y="480974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</a:t>
            </a:r>
            <a:endParaRPr lang="en-US" sz="800" dirty="0"/>
          </a:p>
        </p:txBody>
      </p:sp>
      <p:sp>
        <p:nvSpPr>
          <p:cNvPr id="62" name="teks-336"/>
          <p:cNvSpPr txBox="1"/>
          <p:nvPr/>
        </p:nvSpPr>
        <p:spPr>
          <a:xfrm>
            <a:off x="411480" y="4946904"/>
            <a:ext cx="3200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genset 6–9 bulan; GFS banyak</a:t>
            </a:r>
            <a:endParaRPr lang="en-US" sz="720" dirty="0"/>
          </a:p>
        </p:txBody>
      </p:sp>
      <p:sp>
        <p:nvSpPr>
          <p:cNvPr id="63" name="kotak-337"/>
          <p:cNvSpPr txBox="1"/>
          <p:nvPr/>
        </p:nvSpPr>
        <p:spPr>
          <a:xfrm>
            <a:off x="3794760" y="3383280"/>
            <a:ext cx="36576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PESTLE → keputusan</a:t>
            </a:r>
            <a:endParaRPr lang="en-US" sz="900" dirty="0"/>
          </a:p>
        </p:txBody>
      </p:sp>
      <p:graphicFrame>
        <p:nvGraphicFramePr>
          <p:cNvPr id="13" name="tabel-3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94760" y="3639312"/>
          <a:ext cx="91440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14630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Faktor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Kondisi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Keputusan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Politik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Perpres 112/2022: tarif plafon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dasar tarif 9,81 USc, tanpa F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Ekonomi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Rp 21.000/L; suku bunga tinggi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PKS solar-berat; utang 58%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Sosial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bau POME; kerja lokal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komunitas; 10 pekerja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Teknologi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TRL 4 termofilik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wajib sebelum FID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Hukum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IUPTLS/PJBL belum pasti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jasa energi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Lingkungan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ISPO 2027, RED II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nilai penangkapan metana naik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65" name="kotak-339"/>
          <p:cNvSpPr txBox="1"/>
          <p:nvPr/>
        </p:nvSpPr>
        <p:spPr>
          <a:xfrm>
            <a:off x="7589520" y="3383280"/>
            <a:ext cx="42062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→ TOWS</a:t>
            </a:r>
            <a:endParaRPr lang="en-US" sz="900" dirty="0"/>
          </a:p>
        </p:txBody>
      </p:sp>
      <p:sp>
        <p:nvSpPr>
          <p:cNvPr id="66" name="kotak-340"/>
          <p:cNvSpPr txBox="1"/>
          <p:nvPr/>
        </p:nvSpPr>
        <p:spPr>
          <a:xfrm>
            <a:off x="7589520" y="3639312"/>
            <a:ext cx="2084832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875">
            <a:solidFill>
              <a:srgbClr val="3E8E41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E8E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KEKUATAN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PKS nol; portabel; HRT 5 hari</a:t>
            </a:r>
            <a:endParaRPr lang="en-US" sz="900" dirty="0"/>
          </a:p>
        </p:txBody>
      </p:sp>
      <p:sp>
        <p:nvSpPr>
          <p:cNvPr id="67" name="kotak-341"/>
          <p:cNvSpPr txBox="1"/>
          <p:nvPr/>
        </p:nvSpPr>
        <p:spPr>
          <a:xfrm>
            <a:off x="9710928" y="3639312"/>
            <a:ext cx="2084832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87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KELEMAHAN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TRL 4; CAPEX/kWe tinggi; skala min. 60 t/jam</a:t>
            </a:r>
            <a:endParaRPr lang="en-US" sz="900" dirty="0"/>
          </a:p>
        </p:txBody>
      </p:sp>
      <p:sp>
        <p:nvSpPr>
          <p:cNvPr id="68" name="kotak-342"/>
          <p:cNvSpPr txBox="1"/>
          <p:nvPr/>
        </p:nvSpPr>
        <p:spPr>
          <a:xfrm>
            <a:off x="7589520" y="4050792"/>
            <a:ext cx="2084832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875">
            <a:solidFill>
              <a:srgbClr val="1F4E9E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PELUANG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ISPO 2027; ±1.150 PKS tanpa penangkap</a:t>
            </a:r>
            <a:endParaRPr lang="en-US" sz="900" dirty="0"/>
          </a:p>
        </p:txBody>
      </p:sp>
      <p:sp>
        <p:nvSpPr>
          <p:cNvPr id="69" name="kotak-343"/>
          <p:cNvSpPr txBox="1"/>
          <p:nvPr/>
        </p:nvSpPr>
        <p:spPr>
          <a:xfrm>
            <a:off x="9710928" y="4050792"/>
            <a:ext cx="2084832" cy="38404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5875">
            <a:solidFill>
              <a:srgbClr val="E0A526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ANCAMAN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izin/tarif PLN; karbon rendah; program grup</a:t>
            </a:r>
            <a:endParaRPr lang="en-US" sz="900" dirty="0"/>
          </a:p>
        </p:txBody>
      </p:sp>
      <p:graphicFrame>
        <p:nvGraphicFramePr>
          <p:cNvPr id="19" name="tabel-3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44805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</a:tblGrid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 TOWS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Tindakan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percontohan sebelum ISPO 2027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 untuk TRL 6; jaminan kinerja bertahap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kontrak jasa energi; tarif dasar konservatif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4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mulai 60 t/jam; kuotasi vendor sebelum FID</a:t>
                      </a:r>
                      <a:endParaRPr lang="en-US" sz="74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71" name="kotak-345"/>
          <p:cNvSpPr txBox="1"/>
          <p:nvPr/>
        </p:nvSpPr>
        <p:spPr>
          <a:xfrm>
            <a:off x="411480" y="5394960"/>
            <a:ext cx="2788920" cy="502920"/>
          </a:xfrm>
          <a:prstGeom prst="roundRect">
            <a:avLst>
              <a:gd name="adj" fmla="val 7273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 awal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independen 60 t TBS/jam, solar tergantikan ≥ 2 L/t, jaringan 20 kV ≤ 2 km: ±57 PKS</a:t>
            </a:r>
            <a:endParaRPr lang="en-US" sz="900" dirty="0"/>
          </a:p>
        </p:txBody>
      </p:sp>
      <p:sp>
        <p:nvSpPr>
          <p:cNvPr id="72" name="kotak-346"/>
          <p:cNvSpPr txBox="1"/>
          <p:nvPr/>
        </p:nvSpPr>
        <p:spPr>
          <a:xfrm>
            <a:off x="3282696" y="5394960"/>
            <a:ext cx="2788920" cy="502920"/>
          </a:xfrm>
          <a:prstGeom prst="roundRect">
            <a:avLst>
              <a:gd name="adj" fmla="val 7273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Kemitraan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PKS mitra pilot, kontraktor EPC lokal, laboratorium universitas, vendor genset/GFS</a:t>
            </a:r>
            <a:endParaRPr lang="en-US" sz="900" dirty="0"/>
          </a:p>
        </p:txBody>
      </p:sp>
      <p:sp>
        <p:nvSpPr>
          <p:cNvPr id="73" name="kotak-347"/>
          <p:cNvSpPr txBox="1"/>
          <p:nvPr/>
        </p:nvSpPr>
        <p:spPr>
          <a:xfrm>
            <a:off x="6153912" y="5394960"/>
            <a:ext cx="2788920" cy="502920"/>
          </a:xfrm>
          <a:prstGeom prst="roundRect">
            <a:avLst>
              <a:gd name="adj" fmla="val 7273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USD 1,25/t TBS + USD 0,20/kWh: di dalam jendela USD 1,19–1,39</a:t>
            </a:r>
            <a:endParaRPr lang="en-US" sz="900" dirty="0"/>
          </a:p>
        </p:txBody>
      </p:sp>
      <p:sp>
        <p:nvSpPr>
          <p:cNvPr id="74" name="kotak-348"/>
          <p:cNvSpPr txBox="1"/>
          <p:nvPr/>
        </p:nvSpPr>
        <p:spPr>
          <a:xfrm>
            <a:off x="9025128" y="5394960"/>
            <a:ext cx="2788920" cy="502920"/>
          </a:xfrm>
          <a:prstGeom prst="roundRect">
            <a:avLst>
              <a:gd name="adj" fmla="val 7273"/>
            </a:avLst>
          </a:prstGeom>
          <a:solidFill>
            <a:srgbClr val="EAF4FB"/>
          </a:solidFill>
          <a:ln w="9525">
            <a:solidFill>
              <a:srgbClr val="BFD6E8"/>
            </a:solidFill>
          </a:ln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C2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Pembeda dijaga</a:t>
            </a:r>
            <a:endParaRPr lang="en-US" sz="900" dirty="0"/>
          </a:p>
          <a:p>
            <a:pPr algn="l" indent="0" marL="0">
              <a:buNone/>
            </a:pPr>
            <a:r>
              <a:rPr lang="en-US" sz="76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jaminan kinerja, portabilitas, data operasi; hambatan: izin PLN, kontrak 20 tahun</a:t>
            </a:r>
            <a:endParaRPr lang="en-US" sz="900" dirty="0"/>
          </a:p>
        </p:txBody>
      </p:sp>
      <p:sp>
        <p:nvSpPr>
          <p:cNvPr id="75" name="kotak-349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6" name="kotak-350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Kami tidak menang pada biaya modal atau kematangan; kami menang pada siapa yang menanggung modal dan risiko. Karena itu pasar awal hanya PKS tanpa modal dengan solar berat, dan klaim harus dibuktikan pilot.</a:t>
            </a:r>
            <a:endParaRPr lang="en-US" sz="950" dirty="0"/>
          </a:p>
        </p:txBody>
      </p:sp>
      <p:sp>
        <p:nvSpPr>
          <p:cNvPr id="77" name="teks-351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TRL tingkat kesiapan teknologi; BOOT bangun-miliki-operasikan-alihkan; UASB/IC reaktor lumpur aktif aliran ke atas; AnMBR reaktor membran anaerob; IUPTLS izin usaha penyediaan tenaga listrik untuk kepentingan sendiri; PJBL perjanjian jual beli listrik; FID keputusan investasi akhir.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research/R3 (pesaing: reNIKOLA, KIS, TSE, AANE), R2, R6; Model Keputusan PKS (finance/fin_mill.py); skor K2–K7 penilaian tim.</a:t>
            </a:r>
            <a:endParaRPr lang="en-US" sz="5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Hitungannya lolos, tetapi tipis: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USD 0,13 juta, IRR 10,3%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baru impas bila PKS memakai 74% kapasitasnya</a:t>
            </a:r>
            <a:endParaRPr lang="en-US" sz="1900" dirty="0"/>
          </a:p>
        </p:txBody>
      </p:sp>
      <p:sp>
        <p:nvSpPr>
          <p:cNvPr id="3" name="kotak-352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53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54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355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56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57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58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59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kotak-360"/>
          <p:cNvSpPr/>
          <p:nvPr/>
        </p:nvSpPr>
        <p:spPr>
          <a:xfrm>
            <a:off x="411480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3" name="teks-361"/>
          <p:cNvSpPr txBox="1"/>
          <p:nvPr/>
        </p:nvSpPr>
        <p:spPr>
          <a:xfrm>
            <a:off x="457200" y="11612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5,85 juta</a:t>
            </a:r>
            <a:endParaRPr lang="en-US" sz="1400" dirty="0"/>
          </a:p>
        </p:txBody>
      </p:sp>
      <p:sp>
        <p:nvSpPr>
          <p:cNvPr id="14" name="teks-362"/>
          <p:cNvSpPr txBox="1"/>
          <p:nvPr/>
        </p:nvSpPr>
        <p:spPr>
          <a:xfrm>
            <a:off x="457200" y="1435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Investasi (FCI 2027)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3.587/kWe terpasang</a:t>
            </a:r>
            <a:endParaRPr lang="en-US" sz="740" dirty="0"/>
          </a:p>
        </p:txBody>
      </p:sp>
      <p:sp>
        <p:nvSpPr>
          <p:cNvPr id="15" name="kotak-363"/>
          <p:cNvSpPr/>
          <p:nvPr/>
        </p:nvSpPr>
        <p:spPr>
          <a:xfrm>
            <a:off x="2318004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6" name="teks-364"/>
          <p:cNvSpPr txBox="1"/>
          <p:nvPr/>
        </p:nvSpPr>
        <p:spPr>
          <a:xfrm>
            <a:off x="2363724" y="11612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1,34 juta</a:t>
            </a:r>
            <a:endParaRPr lang="en-US" sz="1400" dirty="0"/>
          </a:p>
        </p:txBody>
      </p:sp>
      <p:sp>
        <p:nvSpPr>
          <p:cNvPr id="17" name="teks-365"/>
          <p:cNvSpPr txBox="1"/>
          <p:nvPr/>
        </p:nvSpPr>
        <p:spPr>
          <a:xfrm>
            <a:off x="2363724" y="1435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Pendapatan tahun penuh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beban PKS 75%</a:t>
            </a:r>
            <a:endParaRPr lang="en-US" sz="740" dirty="0"/>
          </a:p>
        </p:txBody>
      </p:sp>
      <p:sp>
        <p:nvSpPr>
          <p:cNvPr id="18" name="kotak-366"/>
          <p:cNvSpPr/>
          <p:nvPr/>
        </p:nvSpPr>
        <p:spPr>
          <a:xfrm>
            <a:off x="4224528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19" name="teks-367"/>
          <p:cNvSpPr txBox="1"/>
          <p:nvPr/>
        </p:nvSpPr>
        <p:spPr>
          <a:xfrm>
            <a:off x="4270248" y="11612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0,91 juta</a:t>
            </a:r>
            <a:endParaRPr lang="en-US" sz="1400" dirty="0"/>
          </a:p>
        </p:txBody>
      </p:sp>
      <p:sp>
        <p:nvSpPr>
          <p:cNvPr id="20" name="teks-368"/>
          <p:cNvSpPr txBox="1"/>
          <p:nvPr/>
        </p:nvSpPr>
        <p:spPr>
          <a:xfrm>
            <a:off x="4270248" y="1435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tahun penuh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68%</a:t>
            </a:r>
            <a:endParaRPr lang="en-US" sz="740" dirty="0"/>
          </a:p>
        </p:txBody>
      </p:sp>
      <p:sp>
        <p:nvSpPr>
          <p:cNvPr id="21" name="kotak-369"/>
          <p:cNvSpPr/>
          <p:nvPr/>
        </p:nvSpPr>
        <p:spPr>
          <a:xfrm>
            <a:off x="6131052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2" name="teks-370"/>
          <p:cNvSpPr txBox="1"/>
          <p:nvPr/>
        </p:nvSpPr>
        <p:spPr>
          <a:xfrm>
            <a:off x="6176772" y="11612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0,13 juta</a:t>
            </a:r>
            <a:endParaRPr lang="en-US" sz="1400" dirty="0"/>
          </a:p>
        </p:txBody>
      </p:sp>
      <p:sp>
        <p:nvSpPr>
          <p:cNvPr id="23" name="teks-371"/>
          <p:cNvSpPr txBox="1"/>
          <p:nvPr/>
        </p:nvSpPr>
        <p:spPr>
          <a:xfrm>
            <a:off x="6176772" y="1435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proyek, 20 tahun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9,9%</a:t>
            </a:r>
            <a:endParaRPr lang="en-US" sz="740" dirty="0"/>
          </a:p>
        </p:txBody>
      </p:sp>
      <p:sp>
        <p:nvSpPr>
          <p:cNvPr id="24" name="kotak-372"/>
          <p:cNvSpPr/>
          <p:nvPr/>
        </p:nvSpPr>
        <p:spPr>
          <a:xfrm>
            <a:off x="8037576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25" name="teks-373"/>
          <p:cNvSpPr txBox="1"/>
          <p:nvPr/>
        </p:nvSpPr>
        <p:spPr>
          <a:xfrm>
            <a:off x="8083296" y="11612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45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10,3%</a:t>
            </a:r>
            <a:endParaRPr lang="en-US" sz="1400" dirty="0"/>
          </a:p>
        </p:txBody>
      </p:sp>
      <p:sp>
        <p:nvSpPr>
          <p:cNvPr id="26" name="teks-374"/>
          <p:cNvSpPr txBox="1"/>
          <p:nvPr/>
        </p:nvSpPr>
        <p:spPr>
          <a:xfrm>
            <a:off x="8083296" y="1435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proyek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ekuitas 10,9% (&lt; biaya ekuitas 15%)</a:t>
            </a:r>
            <a:endParaRPr lang="en-US" sz="740" dirty="0"/>
          </a:p>
        </p:txBody>
      </p:sp>
      <p:sp>
        <p:nvSpPr>
          <p:cNvPr id="27" name="kotak-375"/>
          <p:cNvSpPr/>
          <p:nvPr/>
        </p:nvSpPr>
        <p:spPr>
          <a:xfrm>
            <a:off x="9944100" y="1143000"/>
            <a:ext cx="182880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2B9FC8"/>
            </a:solidFill>
            <a:prstDash val="solid"/>
          </a:ln>
        </p:spPr>
      </p:sp>
      <p:sp>
        <p:nvSpPr>
          <p:cNvPr id="28" name="teks-376"/>
          <p:cNvSpPr txBox="1"/>
          <p:nvPr/>
        </p:nvSpPr>
        <p:spPr>
          <a:xfrm>
            <a:off x="9989820" y="11612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7,1 tahun</a:t>
            </a:r>
            <a:endParaRPr lang="en-US" sz="1400" dirty="0"/>
          </a:p>
        </p:txBody>
      </p:sp>
      <p:sp>
        <p:nvSpPr>
          <p:cNvPr id="29" name="teks-377"/>
          <p:cNvSpPr txBox="1"/>
          <p:nvPr/>
        </p:nvSpPr>
        <p:spPr>
          <a:xfrm>
            <a:off x="9989820" y="143560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sejak operasi</a:t>
            </a:r>
            <a:endParaRPr lang="en-US" sz="740" dirty="0"/>
          </a:p>
          <a:p>
            <a:pPr algn="ctr" indent="0" marL="0">
              <a:buNone/>
            </a:pPr>
            <a:r>
              <a:rPr lang="en-US" sz="74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DSCR minimum 1,31</a:t>
            </a:r>
            <a:endParaRPr lang="en-US" sz="740" dirty="0"/>
          </a:p>
        </p:txBody>
      </p:sp>
      <p:sp>
        <p:nvSpPr>
          <p:cNvPr id="30" name="kotak-378"/>
          <p:cNvSpPr txBox="1"/>
          <p:nvPr/>
        </p:nvSpPr>
        <p:spPr>
          <a:xfrm>
            <a:off x="411480" y="1828800"/>
            <a:ext cx="56235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Rincian CAPEX bottom-up: USD 5,74 juta (harga 2026, kelas estimasi 4)</a:t>
            </a:r>
            <a:endParaRPr lang="en-US" sz="900" dirty="0"/>
          </a:p>
        </p:txBody>
      </p:sp>
      <p:pic>
        <p:nvPicPr>
          <p:cNvPr id="31" name="grafik-capex" descr="/home/user/aspebindo/deck/img/f_cap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48256"/>
            <a:ext cx="5623560" cy="1828800"/>
          </a:xfrm>
          <a:prstGeom prst="rect">
            <a:avLst/>
          </a:prstGeom>
        </p:spPr>
      </p:pic>
      <p:sp>
        <p:nvSpPr>
          <p:cNvPr id="32" name="kotak-379"/>
          <p:cNvSpPr txBox="1"/>
          <p:nvPr/>
        </p:nvSpPr>
        <p:spPr>
          <a:xfrm>
            <a:off x="6172200" y="1828800"/>
            <a:ext cx="562356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Rincian 8 pos OPEX tunai: USD 397 ribu per tahun</a:t>
            </a:r>
            <a:endParaRPr lang="en-US" sz="900" dirty="0"/>
          </a:p>
        </p:txBody>
      </p:sp>
      <p:pic>
        <p:nvPicPr>
          <p:cNvPr id="33" name="grafik-opex" descr="/home/user/aspebindo/deck/img/f_op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48256"/>
            <a:ext cx="5623560" cy="1828800"/>
          </a:xfrm>
          <a:prstGeom prst="rect">
            <a:avLst/>
          </a:prstGeom>
        </p:spPr>
      </p:pic>
      <p:sp>
        <p:nvSpPr>
          <p:cNvPr id="34" name="kotak-380"/>
          <p:cNvSpPr txBox="1"/>
          <p:nvPr/>
        </p:nvSpPr>
        <p:spPr>
          <a:xfrm>
            <a:off x="411480" y="3931920"/>
            <a:ext cx="365760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Titik impas terhadap beban PKS</a:t>
            </a:r>
            <a:endParaRPr lang="en-US" sz="900" dirty="0"/>
          </a:p>
        </p:txBody>
      </p:sp>
      <p:pic>
        <p:nvPicPr>
          <p:cNvPr id="35" name="grafik-bep" descr="/home/user/aspebindo/deck/img/f_b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151376"/>
            <a:ext cx="3657600" cy="1719072"/>
          </a:xfrm>
          <a:prstGeom prst="rect">
            <a:avLst/>
          </a:prstGeom>
        </p:spPr>
      </p:pic>
      <p:sp>
        <p:nvSpPr>
          <p:cNvPr id="36" name="kotak-381"/>
          <p:cNvSpPr txBox="1"/>
          <p:nvPr/>
        </p:nvSpPr>
        <p:spPr>
          <a:xfrm>
            <a:off x="4160520" y="3931920"/>
            <a:ext cx="4206240" cy="201168"/>
          </a:xfrm>
          <a:prstGeom prst="roundRect">
            <a:avLst>
              <a:gd name="adj" fmla="val 18182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Kurva payback: arus kas kumulatif</a:t>
            </a:r>
            <a:endParaRPr lang="en-US" sz="900" dirty="0"/>
          </a:p>
        </p:txBody>
      </p:sp>
      <p:pic>
        <p:nvPicPr>
          <p:cNvPr id="37" name="grafik-payback" descr="/home/user/aspebindo/deck/img/f_payb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4151376"/>
            <a:ext cx="4206240" cy="1719072"/>
          </a:xfrm>
          <a:prstGeom prst="rect">
            <a:avLst/>
          </a:prstGeom>
        </p:spPr>
      </p:pic>
      <p:sp>
        <p:nvSpPr>
          <p:cNvPr id="38" name="kotak-382"/>
          <p:cNvSpPr txBox="1"/>
          <p:nvPr/>
        </p:nvSpPr>
        <p:spPr>
          <a:xfrm>
            <a:off x="8458200" y="3931920"/>
            <a:ext cx="333756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(e) Ringkasan ekonometrik</a:t>
            </a:r>
            <a:endParaRPr lang="en-US" sz="900" dirty="0"/>
          </a:p>
        </p:txBody>
      </p:sp>
      <p:graphicFrame>
        <p:nvGraphicFramePr>
          <p:cNvPr id="8" name="tabel-3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58200" y="4151376"/>
          <a:ext cx="9144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737360"/>
              </a:tblGrid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· biaya utang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9,9% · 8%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Struktur modal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 utang · 42% ekuitas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 minimum · rata-rata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 · 1,52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Indeks profitabilitas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 terdiskonto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 tahun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LCOE kotor · bersih*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0,186 · 0,108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Impas tunai · akuntansi · NPV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· 52 · 74%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29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0C24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Peluang NPV &gt; 0 (Monte Carlo)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60" b="1" dirty="0">
                          <a:solidFill>
                            <a:srgbClr val="C84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(P50 USD −0,80 juta)</a:t>
                      </a:r>
                      <a:endParaRPr lang="en-US" sz="7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40" name="teks-384"/>
          <p:cNvSpPr txBox="1"/>
          <p:nvPr/>
        </p:nvSpPr>
        <p:spPr>
          <a:xfrm>
            <a:off x="8458200" y="5769864"/>
            <a:ext cx="3337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3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*Bersih: setelah dikurangi pendapatan fee dan karbon.</a:t>
            </a:r>
            <a:endParaRPr lang="en-US" sz="630" dirty="0"/>
          </a:p>
        </p:txBody>
      </p:sp>
      <p:sp>
        <p:nvSpPr>
          <p:cNvPr id="41" name="kotak-38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42" name="kotak-38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set 60 t TBS/jam hanya layak jika PKS memakai ≥ 74% kapasitas, fee ≥ USD 1,19/t, dan CAPEX tidak naik lebih dari 2%; peluang NPV positif baru 25%, dan gerbang G0–G3 yang menaikkannya.</a:t>
            </a:r>
            <a:endParaRPr lang="en-US" sz="950" dirty="0"/>
          </a:p>
        </p:txBody>
      </p:sp>
      <p:sp>
        <p:nvSpPr>
          <p:cNvPr id="43" name="teks-38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FCI biaya modal tetap; WACC biaya modal rata-rata tertimbang; DSCR rasio cakupan layanan utang; LCOE biaya listrik terlevelisasi; MRV pemantauan, pelaporan, verifikasi; O&amp;M operasi dan pemeliharaan.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BG_Model_Keuangan.xlsx; finance/fin_core.py v4 (60 t TBS/jam + tangki ekualisasi PM-12, USD nominal); Monte Carlo 4.000 iterasi; research/R2 dan R6.</a:t>
            </a:r>
            <a:endParaRPr lang="en-US" sz="5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Kami tidak langsung membangun: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gerbang go/no-go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30 bulan menaikkan peluang NPV positif dari 25% menjadi 45%, dengan dana USD 1,3 juta</a:t>
            </a:r>
            <a:endParaRPr lang="en-US" sz="1900" dirty="0"/>
          </a:p>
        </p:txBody>
      </p:sp>
      <p:sp>
        <p:nvSpPr>
          <p:cNvPr id="3" name="kotak-388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389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390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391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392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393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394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395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12" name="kotak-396"/>
          <p:cNvSpPr txBox="1"/>
          <p:nvPr/>
        </p:nvSpPr>
        <p:spPr>
          <a:xfrm>
            <a:off x="411480" y="1143000"/>
            <a:ext cx="726948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Jadwal dan jalur kritis (kuartal 4/2026 – kuartal 2/2029)</a:t>
            </a:r>
            <a:endParaRPr lang="en-US" sz="950" dirty="0"/>
          </a:p>
        </p:txBody>
      </p:sp>
      <p:sp>
        <p:nvSpPr>
          <p:cNvPr id="13" name="kotak-397"/>
          <p:cNvSpPr txBox="1"/>
          <p:nvPr/>
        </p:nvSpPr>
        <p:spPr>
          <a:xfrm>
            <a:off x="315468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 '26</a:t>
            </a:r>
            <a:endParaRPr lang="en-US" sz="680" dirty="0"/>
          </a:p>
        </p:txBody>
      </p:sp>
      <p:sp>
        <p:nvSpPr>
          <p:cNvPr id="14" name="kotak-398"/>
          <p:cNvSpPr txBox="1"/>
          <p:nvPr/>
        </p:nvSpPr>
        <p:spPr>
          <a:xfrm>
            <a:off x="356616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'27</a:t>
            </a:r>
            <a:endParaRPr lang="en-US" sz="680" dirty="0"/>
          </a:p>
        </p:txBody>
      </p:sp>
      <p:sp>
        <p:nvSpPr>
          <p:cNvPr id="15" name="kotak-399"/>
          <p:cNvSpPr txBox="1"/>
          <p:nvPr/>
        </p:nvSpPr>
        <p:spPr>
          <a:xfrm>
            <a:off x="397764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80" dirty="0"/>
          </a:p>
        </p:txBody>
      </p:sp>
      <p:sp>
        <p:nvSpPr>
          <p:cNvPr id="16" name="kotak-400"/>
          <p:cNvSpPr txBox="1"/>
          <p:nvPr/>
        </p:nvSpPr>
        <p:spPr>
          <a:xfrm>
            <a:off x="438912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680" dirty="0"/>
          </a:p>
        </p:txBody>
      </p:sp>
      <p:sp>
        <p:nvSpPr>
          <p:cNvPr id="17" name="kotak-401"/>
          <p:cNvSpPr txBox="1"/>
          <p:nvPr/>
        </p:nvSpPr>
        <p:spPr>
          <a:xfrm>
            <a:off x="480060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680" dirty="0"/>
          </a:p>
        </p:txBody>
      </p:sp>
      <p:sp>
        <p:nvSpPr>
          <p:cNvPr id="18" name="kotak-402"/>
          <p:cNvSpPr txBox="1"/>
          <p:nvPr/>
        </p:nvSpPr>
        <p:spPr>
          <a:xfrm>
            <a:off x="521208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'28</a:t>
            </a:r>
            <a:endParaRPr lang="en-US" sz="680" dirty="0"/>
          </a:p>
        </p:txBody>
      </p:sp>
      <p:sp>
        <p:nvSpPr>
          <p:cNvPr id="19" name="kotak-403"/>
          <p:cNvSpPr txBox="1"/>
          <p:nvPr/>
        </p:nvSpPr>
        <p:spPr>
          <a:xfrm>
            <a:off x="562356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80" dirty="0"/>
          </a:p>
        </p:txBody>
      </p:sp>
      <p:sp>
        <p:nvSpPr>
          <p:cNvPr id="20" name="kotak-404"/>
          <p:cNvSpPr txBox="1"/>
          <p:nvPr/>
        </p:nvSpPr>
        <p:spPr>
          <a:xfrm>
            <a:off x="603504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</a:t>
            </a:r>
            <a:endParaRPr lang="en-US" sz="680" dirty="0"/>
          </a:p>
        </p:txBody>
      </p:sp>
      <p:sp>
        <p:nvSpPr>
          <p:cNvPr id="21" name="kotak-405"/>
          <p:cNvSpPr txBox="1"/>
          <p:nvPr/>
        </p:nvSpPr>
        <p:spPr>
          <a:xfrm>
            <a:off x="644652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K4</a:t>
            </a:r>
            <a:endParaRPr lang="en-US" sz="680" dirty="0"/>
          </a:p>
        </p:txBody>
      </p:sp>
      <p:sp>
        <p:nvSpPr>
          <p:cNvPr id="22" name="kotak-406"/>
          <p:cNvSpPr txBox="1"/>
          <p:nvPr/>
        </p:nvSpPr>
        <p:spPr>
          <a:xfrm>
            <a:off x="685800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 '29</a:t>
            </a:r>
            <a:endParaRPr lang="en-US" sz="680" dirty="0"/>
          </a:p>
        </p:txBody>
      </p:sp>
      <p:sp>
        <p:nvSpPr>
          <p:cNvPr id="23" name="kotak-407"/>
          <p:cNvSpPr txBox="1"/>
          <p:nvPr/>
        </p:nvSpPr>
        <p:spPr>
          <a:xfrm>
            <a:off x="7269480" y="1408176"/>
            <a:ext cx="393192" cy="182880"/>
          </a:xfrm>
          <a:prstGeom prst="roundRect">
            <a:avLst>
              <a:gd name="adj" fmla="val 10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</a:t>
            </a:r>
            <a:endParaRPr lang="en-US" sz="680" dirty="0"/>
          </a:p>
        </p:txBody>
      </p:sp>
      <p:sp>
        <p:nvSpPr>
          <p:cNvPr id="24" name="kotak-408"/>
          <p:cNvSpPr/>
          <p:nvPr/>
        </p:nvSpPr>
        <p:spPr>
          <a:xfrm>
            <a:off x="411480" y="1645920"/>
            <a:ext cx="7269480" cy="274320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25" name="teks-409"/>
          <p:cNvSpPr txBox="1"/>
          <p:nvPr/>
        </p:nvSpPr>
        <p:spPr>
          <a:xfrm>
            <a:off x="475488" y="1645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</a:t>
            </a:r>
            <a:pPr indent="0" marL="0"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solar dan POME PKS mitra</a:t>
            </a:r>
            <a:endParaRPr lang="en-US" sz="830" dirty="0"/>
          </a:p>
        </p:txBody>
      </p:sp>
      <p:sp>
        <p:nvSpPr>
          <p:cNvPr id="26" name="kotak-410"/>
          <p:cNvSpPr txBox="1"/>
          <p:nvPr/>
        </p:nvSpPr>
        <p:spPr>
          <a:xfrm>
            <a:off x="3154680" y="1691640"/>
            <a:ext cx="804672" cy="182880"/>
          </a:xfrm>
          <a:prstGeom prst="roundRect">
            <a:avLst>
              <a:gd name="adj" fmla="val 15000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bln</a:t>
            </a:r>
            <a:endParaRPr lang="en-US" sz="760" dirty="0"/>
          </a:p>
        </p:txBody>
      </p:sp>
      <p:sp>
        <p:nvSpPr>
          <p:cNvPr id="27" name="teks-411"/>
          <p:cNvSpPr txBox="1"/>
          <p:nvPr/>
        </p:nvSpPr>
        <p:spPr>
          <a:xfrm>
            <a:off x="475488" y="1920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</a:t>
            </a:r>
            <a:pPr indent="0" marL="0"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lab semikontinu 55 °C</a:t>
            </a:r>
            <a:endParaRPr lang="en-US" sz="830" dirty="0"/>
          </a:p>
        </p:txBody>
      </p:sp>
      <p:sp>
        <p:nvSpPr>
          <p:cNvPr id="28" name="kotak-412"/>
          <p:cNvSpPr txBox="1"/>
          <p:nvPr/>
        </p:nvSpPr>
        <p:spPr>
          <a:xfrm>
            <a:off x="3154680" y="1965960"/>
            <a:ext cx="1216152" cy="182880"/>
          </a:xfrm>
          <a:prstGeom prst="roundRect">
            <a:avLst>
              <a:gd name="adj" fmla="val 15000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bln</a:t>
            </a:r>
            <a:endParaRPr lang="en-US" sz="760" dirty="0"/>
          </a:p>
        </p:txBody>
      </p:sp>
      <p:sp>
        <p:nvSpPr>
          <p:cNvPr id="29" name="kotak-413"/>
          <p:cNvSpPr/>
          <p:nvPr/>
        </p:nvSpPr>
        <p:spPr>
          <a:xfrm>
            <a:off x="411480" y="2194560"/>
            <a:ext cx="7269480" cy="274320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30" name="teks-414"/>
          <p:cNvSpPr txBox="1"/>
          <p:nvPr/>
        </p:nvSpPr>
        <p:spPr>
          <a:xfrm>
            <a:off x="475488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</a:t>
            </a:r>
            <a:pPr indent="0" marL="0"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vendor, FEED, HAZOP</a:t>
            </a:r>
            <a:endParaRPr lang="en-US" sz="830" dirty="0"/>
          </a:p>
        </p:txBody>
      </p:sp>
      <p:sp>
        <p:nvSpPr>
          <p:cNvPr id="31" name="kotak-415"/>
          <p:cNvSpPr txBox="1"/>
          <p:nvPr/>
        </p:nvSpPr>
        <p:spPr>
          <a:xfrm>
            <a:off x="3566160" y="2240280"/>
            <a:ext cx="1627632" cy="182880"/>
          </a:xfrm>
          <a:prstGeom prst="roundRect">
            <a:avLst>
              <a:gd name="adj" fmla="val 15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bln</a:t>
            </a:r>
            <a:endParaRPr lang="en-US" sz="760" dirty="0"/>
          </a:p>
        </p:txBody>
      </p:sp>
      <p:sp>
        <p:nvSpPr>
          <p:cNvPr id="32" name="teks-416"/>
          <p:cNvSpPr txBox="1"/>
          <p:nvPr/>
        </p:nvSpPr>
        <p:spPr>
          <a:xfrm>
            <a:off x="475488" y="2468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</a:t>
            </a:r>
            <a:pPr indent="0" marL="0"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Perizinan: PBG, SLO, IUPTLS, PJBL</a:t>
            </a:r>
            <a:endParaRPr lang="en-US" sz="830" dirty="0"/>
          </a:p>
        </p:txBody>
      </p:sp>
      <p:sp>
        <p:nvSpPr>
          <p:cNvPr id="33" name="kotak-417"/>
          <p:cNvSpPr txBox="1"/>
          <p:nvPr/>
        </p:nvSpPr>
        <p:spPr>
          <a:xfrm>
            <a:off x="3566160" y="2514600"/>
            <a:ext cx="2450592" cy="182880"/>
          </a:xfrm>
          <a:prstGeom prst="roundRect">
            <a:avLst>
              <a:gd name="adj" fmla="val 15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bln</a:t>
            </a:r>
            <a:endParaRPr lang="en-US" sz="760" dirty="0"/>
          </a:p>
        </p:txBody>
      </p:sp>
      <p:sp>
        <p:nvSpPr>
          <p:cNvPr id="34" name="kotak-418"/>
          <p:cNvSpPr/>
          <p:nvPr/>
        </p:nvSpPr>
        <p:spPr>
          <a:xfrm>
            <a:off x="411480" y="2743200"/>
            <a:ext cx="7269480" cy="274320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35" name="teks-419"/>
          <p:cNvSpPr txBox="1"/>
          <p:nvPr/>
        </p:nvSpPr>
        <p:spPr>
          <a:xfrm>
            <a:off x="475488" y="2743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</a:t>
            </a:r>
            <a:pPr indent="0" marL="0"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10–20 m³ di PKS (TRL 6)</a:t>
            </a:r>
            <a:endParaRPr lang="en-US" sz="830" dirty="0"/>
          </a:p>
        </p:txBody>
      </p:sp>
      <p:sp>
        <p:nvSpPr>
          <p:cNvPr id="36" name="kotak-420"/>
          <p:cNvSpPr txBox="1"/>
          <p:nvPr/>
        </p:nvSpPr>
        <p:spPr>
          <a:xfrm>
            <a:off x="4389120" y="2788920"/>
            <a:ext cx="2039112" cy="182880"/>
          </a:xfrm>
          <a:prstGeom prst="roundRect">
            <a:avLst>
              <a:gd name="adj" fmla="val 15000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bln</a:t>
            </a:r>
            <a:endParaRPr lang="en-US" sz="760" dirty="0"/>
          </a:p>
        </p:txBody>
      </p:sp>
      <p:sp>
        <p:nvSpPr>
          <p:cNvPr id="37" name="teks-421"/>
          <p:cNvSpPr txBox="1"/>
          <p:nvPr/>
        </p:nvSpPr>
        <p:spPr>
          <a:xfrm>
            <a:off x="475488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</a:t>
            </a:r>
            <a:pPr indent="0" marL="0"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Pengadaan dan fabrikasi</a:t>
            </a:r>
            <a:endParaRPr lang="en-US" sz="830" dirty="0"/>
          </a:p>
        </p:txBody>
      </p:sp>
      <p:sp>
        <p:nvSpPr>
          <p:cNvPr id="38" name="kotak-422"/>
          <p:cNvSpPr txBox="1"/>
          <p:nvPr/>
        </p:nvSpPr>
        <p:spPr>
          <a:xfrm>
            <a:off x="5212080" y="3063240"/>
            <a:ext cx="1627632" cy="182880"/>
          </a:xfrm>
          <a:prstGeom prst="roundRect">
            <a:avLst>
              <a:gd name="adj" fmla="val 15000"/>
            </a:avLst>
          </a:prstGeom>
          <a:solidFill>
            <a:srgbClr val="6898C8"/>
          </a:solidFill>
          <a:ln>
            <a:solidFill>
              <a:srgbClr val="6898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bln</a:t>
            </a:r>
            <a:endParaRPr lang="en-US" sz="760" dirty="0"/>
          </a:p>
        </p:txBody>
      </p:sp>
      <p:sp>
        <p:nvSpPr>
          <p:cNvPr id="39" name="kotak-423"/>
          <p:cNvSpPr/>
          <p:nvPr/>
        </p:nvSpPr>
        <p:spPr>
          <a:xfrm>
            <a:off x="411480" y="3291840"/>
            <a:ext cx="7269480" cy="274320"/>
          </a:xfrm>
          <a:prstGeom prst="rect">
            <a:avLst/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</p:sp>
      <p:sp>
        <p:nvSpPr>
          <p:cNvPr id="40" name="teks-424"/>
          <p:cNvSpPr txBox="1"/>
          <p:nvPr/>
        </p:nvSpPr>
        <p:spPr>
          <a:xfrm>
            <a:off x="475488" y="3291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</a:t>
            </a:r>
            <a:pPr indent="0" marL="0"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Konstruksi set 1 dan komisioning</a:t>
            </a:r>
            <a:endParaRPr lang="en-US" sz="830" dirty="0"/>
          </a:p>
        </p:txBody>
      </p:sp>
      <p:sp>
        <p:nvSpPr>
          <p:cNvPr id="41" name="kotak-425"/>
          <p:cNvSpPr txBox="1"/>
          <p:nvPr/>
        </p:nvSpPr>
        <p:spPr>
          <a:xfrm>
            <a:off x="6035040" y="3337560"/>
            <a:ext cx="1216152" cy="182880"/>
          </a:xfrm>
          <a:prstGeom prst="roundRect">
            <a:avLst>
              <a:gd name="adj" fmla="val 15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bln</a:t>
            </a:r>
            <a:endParaRPr lang="en-US" sz="760" dirty="0"/>
          </a:p>
        </p:txBody>
      </p:sp>
      <p:sp>
        <p:nvSpPr>
          <p:cNvPr id="42" name="teks-426"/>
          <p:cNvSpPr txBox="1"/>
          <p:nvPr/>
        </p:nvSpPr>
        <p:spPr>
          <a:xfrm>
            <a:off x="475488" y="3566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1F4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</a:t>
            </a:r>
            <a:pPr indent="0" marL="0">
              <a:buNone/>
            </a:pPr>
            <a:r>
              <a:rPr lang="en-US" sz="83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 demonstrasi (TRL 7) + MRV</a:t>
            </a:r>
            <a:endParaRPr lang="en-US" sz="830" dirty="0"/>
          </a:p>
        </p:txBody>
      </p:sp>
      <p:sp>
        <p:nvSpPr>
          <p:cNvPr id="43" name="kotak-427"/>
          <p:cNvSpPr txBox="1"/>
          <p:nvPr/>
        </p:nvSpPr>
        <p:spPr>
          <a:xfrm>
            <a:off x="6858000" y="3611880"/>
            <a:ext cx="804672" cy="182880"/>
          </a:xfrm>
          <a:prstGeom prst="roundRect">
            <a:avLst>
              <a:gd name="adj" fmla="val 15000"/>
            </a:avLst>
          </a:prstGeom>
          <a:solidFill>
            <a:srgbClr val="3E8E41"/>
          </a:solidFill>
          <a:ln>
            <a:solidFill>
              <a:srgbClr val="3E8E4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bln</a:t>
            </a:r>
            <a:endParaRPr lang="en-US" sz="760" dirty="0"/>
          </a:p>
        </p:txBody>
      </p:sp>
      <p:sp>
        <p:nvSpPr>
          <p:cNvPr id="44" name="garis-428"/>
          <p:cNvSpPr/>
          <p:nvPr/>
        </p:nvSpPr>
        <p:spPr>
          <a:xfrm>
            <a:off x="3977640" y="1609344"/>
            <a:ext cx="0" cy="2249424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45" name="kotak-429"/>
          <p:cNvSpPr txBox="1"/>
          <p:nvPr/>
        </p:nvSpPr>
        <p:spPr>
          <a:xfrm>
            <a:off x="3822192" y="3858768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</a:t>
            </a:r>
            <a:endParaRPr lang="en-US" sz="800" dirty="0"/>
          </a:p>
        </p:txBody>
      </p:sp>
      <p:sp>
        <p:nvSpPr>
          <p:cNvPr id="46" name="garis-430"/>
          <p:cNvSpPr/>
          <p:nvPr/>
        </p:nvSpPr>
        <p:spPr>
          <a:xfrm>
            <a:off x="5212080" y="1609344"/>
            <a:ext cx="0" cy="2249424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47" name="kotak-431"/>
          <p:cNvSpPr txBox="1"/>
          <p:nvPr/>
        </p:nvSpPr>
        <p:spPr>
          <a:xfrm>
            <a:off x="5056632" y="3858768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800" dirty="0"/>
          </a:p>
        </p:txBody>
      </p:sp>
      <p:sp>
        <p:nvSpPr>
          <p:cNvPr id="48" name="garis-432"/>
          <p:cNvSpPr/>
          <p:nvPr/>
        </p:nvSpPr>
        <p:spPr>
          <a:xfrm>
            <a:off x="6446520" y="1609344"/>
            <a:ext cx="0" cy="2249424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49" name="kotak-433"/>
          <p:cNvSpPr txBox="1"/>
          <p:nvPr/>
        </p:nvSpPr>
        <p:spPr>
          <a:xfrm>
            <a:off x="6291072" y="3858768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800" dirty="0"/>
          </a:p>
        </p:txBody>
      </p:sp>
      <p:sp>
        <p:nvSpPr>
          <p:cNvPr id="50" name="garis-434"/>
          <p:cNvSpPr/>
          <p:nvPr/>
        </p:nvSpPr>
        <p:spPr>
          <a:xfrm>
            <a:off x="7475220" y="1609344"/>
            <a:ext cx="0" cy="2249424"/>
          </a:xfrm>
          <a:prstGeom prst="line">
            <a:avLst/>
          </a:prstGeom>
          <a:noFill/>
          <a:ln w="12700">
            <a:solidFill>
              <a:srgbClr val="C8452F"/>
            </a:solidFill>
            <a:prstDash val="dash"/>
          </a:ln>
        </p:spPr>
      </p:sp>
      <p:sp>
        <p:nvSpPr>
          <p:cNvPr id="51" name="kotak-435"/>
          <p:cNvSpPr txBox="1"/>
          <p:nvPr/>
        </p:nvSpPr>
        <p:spPr>
          <a:xfrm>
            <a:off x="7319772" y="3858768"/>
            <a:ext cx="310896" cy="201168"/>
          </a:xfrm>
          <a:prstGeom prst="roundRect">
            <a:avLst>
              <a:gd name="adj" fmla="val 50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800" dirty="0"/>
          </a:p>
        </p:txBody>
      </p:sp>
      <p:sp>
        <p:nvSpPr>
          <p:cNvPr id="52" name="teks-436"/>
          <p:cNvSpPr txBox="1"/>
          <p:nvPr/>
        </p:nvSpPr>
        <p:spPr>
          <a:xfrm>
            <a:off x="457200" y="4114800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kritis: </a:t>
            </a:r>
            <a:pPr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kuotasi dan FEED → izin PLN dan IUPTLS → genset (6–9 bulan) → konstruksi. Gerbang merah = titik berhenti atau lanjut.</a:t>
            </a:r>
            <a:endParaRPr lang="en-US" sz="800" dirty="0"/>
          </a:p>
        </p:txBody>
      </p:sp>
      <p:sp>
        <p:nvSpPr>
          <p:cNvPr id="53" name="kotak-437"/>
          <p:cNvSpPr txBox="1"/>
          <p:nvPr/>
        </p:nvSpPr>
        <p:spPr>
          <a:xfrm>
            <a:off x="7818120" y="1143000"/>
            <a:ext cx="397764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Peluang NPV positif naik di setiap gerbang</a:t>
            </a:r>
            <a:endParaRPr lang="en-US" sz="950" dirty="0"/>
          </a:p>
        </p:txBody>
      </p:sp>
      <p:pic>
        <p:nvPicPr>
          <p:cNvPr id="54" name="grafik-gerbang" descr="/home/user/aspebindo/deck/img/f_gerb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389888"/>
            <a:ext cx="4023360" cy="1371600"/>
          </a:xfrm>
          <a:prstGeom prst="rect">
            <a:avLst/>
          </a:prstGeom>
        </p:spPr>
      </p:pic>
      <p:sp>
        <p:nvSpPr>
          <p:cNvPr id="55" name="kotak-438"/>
          <p:cNvSpPr txBox="1"/>
          <p:nvPr/>
        </p:nvSpPr>
        <p:spPr>
          <a:xfrm>
            <a:off x="7818120" y="2834640"/>
            <a:ext cx="39776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 pengembangan USD 1,3 juta (usulan)</a:t>
            </a:r>
            <a:endParaRPr lang="en-US" sz="950" dirty="0"/>
          </a:p>
        </p:txBody>
      </p:sp>
      <p:pic>
        <p:nvPicPr>
          <p:cNvPr id="56" name="grafik-anggaran" descr="/home/user/aspebindo/deck/img/f_anggar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3081528"/>
            <a:ext cx="4023360" cy="1371600"/>
          </a:xfrm>
          <a:prstGeom prst="rect">
            <a:avLst/>
          </a:prstGeom>
        </p:spPr>
      </p:pic>
      <p:sp>
        <p:nvSpPr>
          <p:cNvPr id="57" name="kotak-439"/>
          <p:cNvSpPr txBox="1"/>
          <p:nvPr/>
        </p:nvSpPr>
        <p:spPr>
          <a:xfrm>
            <a:off x="411480" y="4544568"/>
            <a:ext cx="2788920" cy="228600"/>
          </a:xfrm>
          <a:prstGeom prst="roundRect">
            <a:avLst>
              <a:gd name="adj" fmla="val 16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G0 · Data PKS · bulan 6</a:t>
            </a:r>
            <a:endParaRPr lang="en-US" sz="880" dirty="0"/>
          </a:p>
        </p:txBody>
      </p:sp>
      <p:sp>
        <p:nvSpPr>
          <p:cNvPr id="58" name="kotak-440"/>
          <p:cNvSpPr/>
          <p:nvPr/>
        </p:nvSpPr>
        <p:spPr>
          <a:xfrm>
            <a:off x="411480" y="4773168"/>
            <a:ext cx="2788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59" name="teks-441"/>
          <p:cNvSpPr txBox="1"/>
          <p:nvPr/>
        </p:nvSpPr>
        <p:spPr>
          <a:xfrm>
            <a:off x="484632" y="4818888"/>
            <a:ext cx="2642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tergantikan terukur ≥ 2,0 L/t TBS (log 12 bulan)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 20 kV ≤ 2 km, beban TBS ≥ 70%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Surat minat PKS mitra</a:t>
            </a:r>
            <a:endParaRPr lang="en-US" sz="840" dirty="0"/>
          </a:p>
        </p:txBody>
      </p:sp>
      <p:sp>
        <p:nvSpPr>
          <p:cNvPr id="60" name="kotak-442"/>
          <p:cNvSpPr txBox="1"/>
          <p:nvPr/>
        </p:nvSpPr>
        <p:spPr>
          <a:xfrm>
            <a:off x="484632" y="5577840"/>
            <a:ext cx="2642616" cy="237744"/>
          </a:xfrm>
          <a:prstGeom prst="roundRect">
            <a:avLst>
              <a:gd name="adj" fmla="val 15385"/>
            </a:avLst>
          </a:prstGeom>
          <a:solidFill>
            <a:srgbClr val="FBE6E2"/>
          </a:solidFill>
          <a:ln>
            <a:solidFill>
              <a:srgbClr val="FBE6E2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→ peluang NPV &gt; 0: 24%</a:t>
            </a:r>
            <a:endParaRPr lang="en-US" sz="840" dirty="0"/>
          </a:p>
        </p:txBody>
      </p:sp>
      <p:sp>
        <p:nvSpPr>
          <p:cNvPr id="61" name="kotak-443"/>
          <p:cNvSpPr txBox="1"/>
          <p:nvPr/>
        </p:nvSpPr>
        <p:spPr>
          <a:xfrm>
            <a:off x="3282696" y="4544568"/>
            <a:ext cx="2788920" cy="228600"/>
          </a:xfrm>
          <a:prstGeom prst="roundRect">
            <a:avLst>
              <a:gd name="adj" fmla="val 16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 · Kuotasi · bulan 15</a:t>
            </a:r>
            <a:endParaRPr lang="en-US" sz="880" dirty="0"/>
          </a:p>
        </p:txBody>
      </p:sp>
      <p:sp>
        <p:nvSpPr>
          <p:cNvPr id="62" name="kotak-444"/>
          <p:cNvSpPr/>
          <p:nvPr/>
        </p:nvSpPr>
        <p:spPr>
          <a:xfrm>
            <a:off x="3282696" y="4773168"/>
            <a:ext cx="2788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63" name="teks-445"/>
          <p:cNvSpPr txBox="1"/>
          <p:nvPr/>
        </p:nvSpPr>
        <p:spPr>
          <a:xfrm>
            <a:off x="3355848" y="4818888"/>
            <a:ext cx="2642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 ≤ USD 6,0 juta (±12%)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kuotasi: tangki GFS dan genset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Perjanjian pendahuluan dengan PKS</a:t>
            </a:r>
            <a:endParaRPr lang="en-US" sz="840" dirty="0"/>
          </a:p>
        </p:txBody>
      </p:sp>
      <p:sp>
        <p:nvSpPr>
          <p:cNvPr id="64" name="kotak-446"/>
          <p:cNvSpPr txBox="1"/>
          <p:nvPr/>
        </p:nvSpPr>
        <p:spPr>
          <a:xfrm>
            <a:off x="3355848" y="5577840"/>
            <a:ext cx="2642616" cy="237744"/>
          </a:xfrm>
          <a:prstGeom prst="roundRect">
            <a:avLst>
              <a:gd name="adj" fmla="val 15385"/>
            </a:avLst>
          </a:prstGeom>
          <a:solidFill>
            <a:srgbClr val="FBE6E2"/>
          </a:solidFill>
          <a:ln>
            <a:solidFill>
              <a:srgbClr val="FBE6E2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→ peluang NPV &gt; 0: 35%</a:t>
            </a:r>
            <a:endParaRPr lang="en-US" sz="840" dirty="0"/>
          </a:p>
        </p:txBody>
      </p:sp>
      <p:sp>
        <p:nvSpPr>
          <p:cNvPr id="65" name="kotak-447"/>
          <p:cNvSpPr txBox="1"/>
          <p:nvPr/>
        </p:nvSpPr>
        <p:spPr>
          <a:xfrm>
            <a:off x="6153912" y="4544568"/>
            <a:ext cx="2788920" cy="228600"/>
          </a:xfrm>
          <a:prstGeom prst="roundRect">
            <a:avLst>
              <a:gd name="adj" fmla="val 16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· FEED dan hukum · bulan 24</a:t>
            </a:r>
            <a:endParaRPr lang="en-US" sz="880" dirty="0"/>
          </a:p>
        </p:txBody>
      </p:sp>
      <p:sp>
        <p:nvSpPr>
          <p:cNvPr id="66" name="kotak-448"/>
          <p:cNvSpPr/>
          <p:nvPr/>
        </p:nvSpPr>
        <p:spPr>
          <a:xfrm>
            <a:off x="6153912" y="4773168"/>
            <a:ext cx="2788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67" name="teks-449"/>
          <p:cNvSpPr txBox="1"/>
          <p:nvPr/>
        </p:nvSpPr>
        <p:spPr>
          <a:xfrm>
            <a:off x="6227064" y="4818888"/>
            <a:ext cx="2642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HAZOP tanpa risiko tinggi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kontrak dan tarif dikonfirmasi ESDM/PLN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Penawaran pembiayaan dengan DSCR ≥ 1,30</a:t>
            </a:r>
            <a:endParaRPr lang="en-US" sz="840" dirty="0"/>
          </a:p>
        </p:txBody>
      </p:sp>
      <p:sp>
        <p:nvSpPr>
          <p:cNvPr id="68" name="kotak-450"/>
          <p:cNvSpPr txBox="1"/>
          <p:nvPr/>
        </p:nvSpPr>
        <p:spPr>
          <a:xfrm>
            <a:off x="6227064" y="5577840"/>
            <a:ext cx="2642616" cy="237744"/>
          </a:xfrm>
          <a:prstGeom prst="roundRect">
            <a:avLst>
              <a:gd name="adj" fmla="val 15385"/>
            </a:avLst>
          </a:prstGeom>
          <a:solidFill>
            <a:srgbClr val="FBE6E2"/>
          </a:solidFill>
          <a:ln>
            <a:solidFill>
              <a:srgbClr val="FBE6E2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→ peluang NPV &gt; 0: 46%</a:t>
            </a:r>
            <a:endParaRPr lang="en-US" sz="840" dirty="0"/>
          </a:p>
        </p:txBody>
      </p:sp>
      <p:sp>
        <p:nvSpPr>
          <p:cNvPr id="69" name="kotak-451"/>
          <p:cNvSpPr txBox="1"/>
          <p:nvPr/>
        </p:nvSpPr>
        <p:spPr>
          <a:xfrm>
            <a:off x="9025128" y="4544568"/>
            <a:ext cx="2788920" cy="228600"/>
          </a:xfrm>
          <a:prstGeom prst="roundRect">
            <a:avLst>
              <a:gd name="adj" fmla="val 16000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 · Pilot · bulan 30</a:t>
            </a:r>
            <a:endParaRPr lang="en-US" sz="880" dirty="0"/>
          </a:p>
        </p:txBody>
      </p:sp>
      <p:sp>
        <p:nvSpPr>
          <p:cNvPr id="70" name="kotak-452"/>
          <p:cNvSpPr/>
          <p:nvPr/>
        </p:nvSpPr>
        <p:spPr>
          <a:xfrm>
            <a:off x="9025128" y="4773168"/>
            <a:ext cx="2788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452F"/>
            </a:solidFill>
            <a:prstDash val="solid"/>
          </a:ln>
        </p:spPr>
      </p:sp>
      <p:sp>
        <p:nvSpPr>
          <p:cNvPr id="71" name="teks-453"/>
          <p:cNvSpPr txBox="1"/>
          <p:nvPr/>
        </p:nvSpPr>
        <p:spPr>
          <a:xfrm>
            <a:off x="9098280" y="4818888"/>
            <a:ext cx="2642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≥ 65% pada OLR ≥ 8; settler ≥ 85%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H₂S ke genset ≤ 50 ppm</a:t>
            </a:r>
            <a:endParaRPr lang="en-US" sz="840" dirty="0"/>
          </a:p>
          <a:p>
            <a:pPr marL="114300" indent="-114300">
              <a:spcAft>
                <a:spcPts val="200"/>
              </a:spcAft>
              <a:buSzPct val="100000"/>
              <a:buChar char="•"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Kontrak 20 tahun ditandatangani → FID</a:t>
            </a:r>
            <a:endParaRPr lang="en-US" sz="840" dirty="0"/>
          </a:p>
        </p:txBody>
      </p:sp>
      <p:sp>
        <p:nvSpPr>
          <p:cNvPr id="72" name="kotak-454"/>
          <p:cNvSpPr txBox="1"/>
          <p:nvPr/>
        </p:nvSpPr>
        <p:spPr>
          <a:xfrm>
            <a:off x="9098280" y="5577840"/>
            <a:ext cx="2642616" cy="237744"/>
          </a:xfrm>
          <a:prstGeom prst="roundRect">
            <a:avLst>
              <a:gd name="adj" fmla="val 15385"/>
            </a:avLst>
          </a:prstGeom>
          <a:solidFill>
            <a:srgbClr val="FBE6E2"/>
          </a:solidFill>
          <a:ln>
            <a:solidFill>
              <a:srgbClr val="FBE6E2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Lolos → peluang NPV &gt; 0: 45%</a:t>
            </a:r>
            <a:endParaRPr lang="en-US" sz="840" dirty="0"/>
          </a:p>
        </p:txBody>
      </p:sp>
      <p:sp>
        <p:nvSpPr>
          <p:cNvPr id="73" name="kotak-45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74" name="kotak-45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 USD 1,3 juta membeli kepastian, bukan aset: tiap gerbang mengubah asumsi terlemah menjadi data, dan modal besar (± USD 5,9 juta) baru keluar setelah G3.</a:t>
            </a:r>
            <a:endParaRPr lang="en-US" sz="950" dirty="0"/>
          </a:p>
        </p:txBody>
      </p:sp>
      <p:sp>
        <p:nvSpPr>
          <p:cNvPr id="75" name="teks-45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FEED desain rekayasa awal; HAZOP kajian bahaya dan operabilitas; MRV pemantauan, pelaporan, verifikasi; FID keputusan investasi akhir; PBG persetujuan bangunan gedung; SLO sertifikat laik operasi; PJBL perjanjian jual beli listrik; IUPTLS izin usaha penyediaan tenaga listrik untuk kepentingan sendiri.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usulan tim; durasi izin dari research/R4 dan R6 (SLO ≤ 4 hari kerja setelah inspeksi: FAQ Ditjen Gatrik 2024; lama izin lain belum terverifikasi); Monte Carlo per gerbang (deck/export_data.py). Anggaran belum berkomitmen.</a:t>
            </a:r>
            <a:endParaRPr lang="en-US" sz="5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Pasarnya sempit tetapi nyata: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±57 PKS bernilai USD 73 juta per tahun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10 set menghindari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±320 ribu tCO₂e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setiap tahun</a:t>
            </a:r>
            <a:endParaRPr lang="en-US" sz="1900" dirty="0"/>
          </a:p>
        </p:txBody>
      </p:sp>
      <p:sp>
        <p:nvSpPr>
          <p:cNvPr id="3" name="kotak-458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459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460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61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62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63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64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65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2" name="kotak-466"/>
          <p:cNvSpPr txBox="1"/>
          <p:nvPr/>
        </p:nvSpPr>
        <p:spPr>
          <a:xfrm>
            <a:off x="411480" y="1143000"/>
            <a:ext cx="37490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Corong pasar: set setara 60 t TBS/jam</a:t>
            </a:r>
            <a:endParaRPr lang="en-US" sz="950" dirty="0"/>
          </a:p>
        </p:txBody>
      </p:sp>
      <p:pic>
        <p:nvPicPr>
          <p:cNvPr id="13" name="grafik-pasar" descr="/home/user/aspebindo/deck/img/f_pas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89888"/>
            <a:ext cx="3749040" cy="2148840"/>
          </a:xfrm>
          <a:prstGeom prst="rect">
            <a:avLst/>
          </a:prstGeom>
        </p:spPr>
      </p:pic>
      <p:sp>
        <p:nvSpPr>
          <p:cNvPr id="14" name="kotak-467"/>
          <p:cNvSpPr txBox="1"/>
          <p:nvPr/>
        </p:nvSpPr>
        <p:spPr>
          <a:xfrm>
            <a:off x="4297680" y="1143000"/>
            <a:ext cx="365760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Sebaran PKS menurut provinsi (± pabrik)</a:t>
            </a:r>
            <a:endParaRPr lang="en-US" sz="950" dirty="0"/>
          </a:p>
        </p:txBody>
      </p:sp>
      <p:pic>
        <p:nvPicPr>
          <p:cNvPr id="15" name="grafik-provinsi" descr="/home/user/aspebindo/deck/img/f_pr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89888"/>
            <a:ext cx="3657600" cy="2148840"/>
          </a:xfrm>
          <a:prstGeom prst="rect">
            <a:avLst/>
          </a:prstGeom>
        </p:spPr>
      </p:pic>
      <p:sp>
        <p:nvSpPr>
          <p:cNvPr id="16" name="kotak-468"/>
          <p:cNvSpPr txBox="1"/>
          <p:nvPr/>
        </p:nvSpPr>
        <p:spPr>
          <a:xfrm>
            <a:off x="8092440" y="1143000"/>
            <a:ext cx="370332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(c) Dampak terukur per set 60 t TBS/jam</a:t>
            </a:r>
            <a:endParaRPr lang="en-US" sz="950" dirty="0"/>
          </a:p>
        </p:txBody>
      </p:sp>
      <p:sp>
        <p:nvSpPr>
          <p:cNvPr id="17" name="kotak-469"/>
          <p:cNvSpPr/>
          <p:nvPr/>
        </p:nvSpPr>
        <p:spPr>
          <a:xfrm>
            <a:off x="8092440" y="1417320"/>
            <a:ext cx="1828800" cy="987552"/>
          </a:xfrm>
          <a:prstGeom prst="roundRect">
            <a:avLst>
              <a:gd name="adj" fmla="val 463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18" name="teks-470"/>
          <p:cNvSpPr txBox="1"/>
          <p:nvPr/>
        </p:nvSpPr>
        <p:spPr>
          <a:xfrm>
            <a:off x="8147304" y="1490472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ribu</a:t>
            </a:r>
            <a:endParaRPr lang="en-US" sz="1500" dirty="0"/>
          </a:p>
        </p:txBody>
      </p:sp>
      <p:sp>
        <p:nvSpPr>
          <p:cNvPr id="19" name="teks-471"/>
          <p:cNvSpPr txBox="1"/>
          <p:nvPr/>
        </p:nvSpPr>
        <p:spPr>
          <a:xfrm>
            <a:off x="8183880" y="18928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tCO₂e per tahun dihindari (−96%) · SDG 13</a:t>
            </a:r>
            <a:endParaRPr lang="en-US" sz="800" dirty="0"/>
          </a:p>
        </p:txBody>
      </p:sp>
      <p:sp>
        <p:nvSpPr>
          <p:cNvPr id="20" name="kotak-472"/>
          <p:cNvSpPr/>
          <p:nvPr/>
        </p:nvSpPr>
        <p:spPr>
          <a:xfrm>
            <a:off x="9966960" y="1417320"/>
            <a:ext cx="1828800" cy="987552"/>
          </a:xfrm>
          <a:prstGeom prst="roundRect">
            <a:avLst>
              <a:gd name="adj" fmla="val 463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1" name="teks-473"/>
          <p:cNvSpPr txBox="1"/>
          <p:nvPr/>
        </p:nvSpPr>
        <p:spPr>
          <a:xfrm>
            <a:off x="10021824" y="1490472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GWh</a:t>
            </a:r>
            <a:endParaRPr lang="en-US" sz="1500" dirty="0"/>
          </a:p>
        </p:txBody>
      </p:sp>
      <p:sp>
        <p:nvSpPr>
          <p:cNvPr id="22" name="teks-474"/>
          <p:cNvSpPr txBox="1"/>
          <p:nvPr/>
        </p:nvSpPr>
        <p:spPr>
          <a:xfrm>
            <a:off x="10058400" y="189280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listrik neto per tahun, 1,6 GWh ke PKS · SDG 7</a:t>
            </a:r>
            <a:endParaRPr lang="en-US" sz="800" dirty="0"/>
          </a:p>
        </p:txBody>
      </p:sp>
      <p:sp>
        <p:nvSpPr>
          <p:cNvPr id="23" name="kotak-475"/>
          <p:cNvSpPr/>
          <p:nvPr/>
        </p:nvSpPr>
        <p:spPr>
          <a:xfrm>
            <a:off x="8092440" y="2459736"/>
            <a:ext cx="1828800" cy="987552"/>
          </a:xfrm>
          <a:prstGeom prst="roundRect">
            <a:avLst>
              <a:gd name="adj" fmla="val 463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4" name="teks-476"/>
          <p:cNvSpPr txBox="1"/>
          <p:nvPr/>
        </p:nvSpPr>
        <p:spPr>
          <a:xfrm>
            <a:off x="8147304" y="2532888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±465 ribu L</a:t>
            </a:r>
            <a:endParaRPr lang="en-US" sz="1500" dirty="0"/>
          </a:p>
        </p:txBody>
      </p:sp>
      <p:sp>
        <p:nvSpPr>
          <p:cNvPr id="25" name="teks-477"/>
          <p:cNvSpPr txBox="1"/>
          <p:nvPr/>
        </p:nvSpPr>
        <p:spPr>
          <a:xfrm>
            <a:off x="8183880" y="2935224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tergantikan per tahun (perkiraan)</a:t>
            </a:r>
            <a:endParaRPr lang="en-US" sz="800" dirty="0"/>
          </a:p>
        </p:txBody>
      </p:sp>
      <p:sp>
        <p:nvSpPr>
          <p:cNvPr id="26" name="kotak-478"/>
          <p:cNvSpPr/>
          <p:nvPr/>
        </p:nvSpPr>
        <p:spPr>
          <a:xfrm>
            <a:off x="9966960" y="2459736"/>
            <a:ext cx="1828800" cy="987552"/>
          </a:xfrm>
          <a:prstGeom prst="roundRect">
            <a:avLst>
              <a:gd name="adj" fmla="val 4630"/>
            </a:avLst>
          </a:prstGeom>
          <a:solidFill>
            <a:srgbClr val="EAF4FB"/>
          </a:solidFill>
          <a:ln w="9525">
            <a:solidFill>
              <a:srgbClr val="BFD6E8"/>
            </a:solidFill>
            <a:prstDash val="solid"/>
          </a:ln>
        </p:spPr>
      </p:sp>
      <p:sp>
        <p:nvSpPr>
          <p:cNvPr id="27" name="teks-479"/>
          <p:cNvSpPr txBox="1"/>
          <p:nvPr/>
        </p:nvSpPr>
        <p:spPr>
          <a:xfrm>
            <a:off x="10021824" y="2532888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orang</a:t>
            </a:r>
            <a:endParaRPr lang="en-US" sz="1500" dirty="0"/>
          </a:p>
        </p:txBody>
      </p:sp>
      <p:sp>
        <p:nvSpPr>
          <p:cNvPr id="28" name="teks-480"/>
          <p:cNvSpPr txBox="1"/>
          <p:nvPr/>
        </p:nvSpPr>
        <p:spPr>
          <a:xfrm>
            <a:off x="10058400" y="2935224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pekerja lokal tetap; fabrikasi skid dalam negeri · SDG 8</a:t>
            </a:r>
            <a:endParaRPr lang="en-US" sz="800" dirty="0"/>
          </a:p>
        </p:txBody>
      </p:sp>
      <p:sp>
        <p:nvSpPr>
          <p:cNvPr id="29" name="teks-481"/>
          <p:cNvSpPr txBox="1"/>
          <p:nvPr/>
        </p:nvSpPr>
        <p:spPr>
          <a:xfrm>
            <a:off x="8092440" y="350215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Efluen BOD 1.543 mg/L tidak dibuang ke sungai (SDG 6); HAZOP, SOP, dan detektor gas sebelum operasi (K3).</a:t>
            </a:r>
            <a:endParaRPr lang="en-US" sz="760" dirty="0"/>
          </a:p>
        </p:txBody>
      </p:sp>
      <p:sp>
        <p:nvSpPr>
          <p:cNvPr id="30" name="kotak-482"/>
          <p:cNvSpPr txBox="1"/>
          <p:nvPr/>
        </p:nvSpPr>
        <p:spPr>
          <a:xfrm>
            <a:off x="411480" y="3794760"/>
            <a:ext cx="425196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(d) NPV per set menurut skenario (USD juta)</a:t>
            </a:r>
            <a:endParaRPr lang="en-US" sz="950" dirty="0"/>
          </a:p>
        </p:txBody>
      </p:sp>
      <p:pic>
        <p:nvPicPr>
          <p:cNvPr id="31" name="grafik-skenario" descr="/home/user/aspebindo/deck/img/f_skenar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032504"/>
            <a:ext cx="4251960" cy="1828800"/>
          </a:xfrm>
          <a:prstGeom prst="rect">
            <a:avLst/>
          </a:prstGeom>
        </p:spPr>
      </p:pic>
      <p:sp>
        <p:nvSpPr>
          <p:cNvPr id="32" name="kotak-483"/>
          <p:cNvSpPr txBox="1"/>
          <p:nvPr/>
        </p:nvSpPr>
        <p:spPr>
          <a:xfrm>
            <a:off x="4800600" y="3794760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(e) Armada 10 set: operasi dan emisi dihindari</a:t>
            </a:r>
            <a:endParaRPr lang="en-US" sz="950" dirty="0"/>
          </a:p>
        </p:txBody>
      </p:sp>
      <p:pic>
        <p:nvPicPr>
          <p:cNvPr id="33" name="grafik-armada" descr="/home/user/aspebindo/deck/img/f_arma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4032504"/>
            <a:ext cx="3566160" cy="1783080"/>
          </a:xfrm>
          <a:prstGeom prst="rect">
            <a:avLst/>
          </a:prstGeom>
        </p:spPr>
      </p:pic>
      <p:sp>
        <p:nvSpPr>
          <p:cNvPr id="34" name="kotak-484"/>
          <p:cNvSpPr txBox="1"/>
          <p:nvPr/>
        </p:nvSpPr>
        <p:spPr>
          <a:xfrm>
            <a:off x="8503920" y="3794760"/>
            <a:ext cx="329184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(f) Tawaran kepada pemodal</a:t>
            </a:r>
            <a:endParaRPr lang="en-US" sz="950" dirty="0"/>
          </a:p>
        </p:txBody>
      </p:sp>
      <p:graphicFrame>
        <p:nvGraphicFramePr>
          <p:cNvPr id="10" name="tabel-4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03920" y="4032504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pertama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dana puncak USD 6,5 juta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Imbal hasil set 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10,3% · ekuitas 10,9%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ke-10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 13,5% · NPV USD 1,20 juta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Armada 10 set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puncak USD 43 juta · NPV USD −5,2 juta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Impas korporasi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±11 set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Hemat PKS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4,3% (3,0 L/t: 13,6%)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36" name="kotak-486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1000" dirty="0"/>
          </a:p>
        </p:txBody>
      </p:sp>
      <p:sp>
        <p:nvSpPr>
          <p:cNvPr id="37" name="kotak-487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±57 dari ±1.150 PKS lolos filter solar, jaringan, dan program grup; karena itu pasar dibuktikan dulu di G0, dan armada baru menutup biaya korporasi pada set ke-11.</a:t>
            </a:r>
            <a:endParaRPr lang="en-US" sz="950" dirty="0"/>
          </a:p>
        </p:txBody>
      </p:sp>
      <p:sp>
        <p:nvSpPr>
          <p:cNvPr id="38" name="teks-488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TAM total pasar; SAM pasar yang dapat dilayani; SOM pasar yang dapat dicapai; SDG tujuan pembangunan berkelanjutan; K3 keselamatan dan kesehatan kerja.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fin_market.py (Trase/SEI-PCS, GAPKI 2026, PASPI/BRIN); fin_core.py (skenario, armada); neraca proses Rev 2; LCA AMS-III.H (UF 0,89; GWP 28); research/R1 dan R3.</a:t>
            </a:r>
            <a:endParaRPr lang="en-US" sz="5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256032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Kesimpulan: konsepnya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kuat secara teknis dan lingkungan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ekonominya </a:t>
            </a:r>
            <a:pPr algn="l" indent="0" marL="0">
              <a:buNone/>
            </a:pPr>
            <a:r>
              <a:rPr lang="en-US" sz="1900" b="1" dirty="0">
                <a:solidFill>
                  <a:srgbClr val="2B9F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baru layak bersyarat</a:t>
            </a:r>
            <a:pPr algn="l" indent="0" marL="0">
              <a:buNone/>
            </a:pPr>
            <a:r>
              <a:rPr lang="en-US" sz="190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kami minta USD 1,3 juta untuk membuktikan sisanya</a:t>
            </a:r>
            <a:endParaRPr lang="en-US" sz="1900" dirty="0"/>
          </a:p>
        </p:txBody>
      </p:sp>
      <p:sp>
        <p:nvSpPr>
          <p:cNvPr id="3" name="kotak-489"/>
          <p:cNvSpPr txBox="1"/>
          <p:nvPr/>
        </p:nvSpPr>
        <p:spPr>
          <a:xfrm>
            <a:off x="41148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800" dirty="0"/>
          </a:p>
        </p:txBody>
      </p:sp>
      <p:sp>
        <p:nvSpPr>
          <p:cNvPr id="4" name="kotak-490"/>
          <p:cNvSpPr txBox="1"/>
          <p:nvPr/>
        </p:nvSpPr>
        <p:spPr>
          <a:xfrm>
            <a:off x="189280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800" dirty="0"/>
          </a:p>
        </p:txBody>
      </p:sp>
      <p:sp>
        <p:nvSpPr>
          <p:cNvPr id="5" name="kotak-491"/>
          <p:cNvSpPr txBox="1"/>
          <p:nvPr/>
        </p:nvSpPr>
        <p:spPr>
          <a:xfrm>
            <a:off x="3374136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Pesaing</a:t>
            </a:r>
            <a:endParaRPr lang="en-US" sz="800" dirty="0"/>
          </a:p>
        </p:txBody>
      </p:sp>
      <p:sp>
        <p:nvSpPr>
          <p:cNvPr id="6" name="kotak-492"/>
          <p:cNvSpPr txBox="1"/>
          <p:nvPr/>
        </p:nvSpPr>
        <p:spPr>
          <a:xfrm>
            <a:off x="4855464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Keuangan</a:t>
            </a:r>
            <a:endParaRPr lang="en-US" sz="800" dirty="0"/>
          </a:p>
        </p:txBody>
      </p:sp>
      <p:sp>
        <p:nvSpPr>
          <p:cNvPr id="7" name="kotak-493"/>
          <p:cNvSpPr txBox="1"/>
          <p:nvPr/>
        </p:nvSpPr>
        <p:spPr>
          <a:xfrm>
            <a:off x="6336792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Implementasi</a:t>
            </a:r>
            <a:endParaRPr lang="en-US" sz="800" dirty="0"/>
          </a:p>
        </p:txBody>
      </p:sp>
      <p:sp>
        <p:nvSpPr>
          <p:cNvPr id="8" name="kotak-494"/>
          <p:cNvSpPr txBox="1"/>
          <p:nvPr/>
        </p:nvSpPr>
        <p:spPr>
          <a:xfrm>
            <a:off x="7818120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800" dirty="0"/>
          </a:p>
        </p:txBody>
      </p:sp>
      <p:sp>
        <p:nvSpPr>
          <p:cNvPr id="9" name="kotak-495"/>
          <p:cNvSpPr txBox="1"/>
          <p:nvPr/>
        </p:nvSpPr>
        <p:spPr>
          <a:xfrm>
            <a:off x="9299448" y="6601968"/>
            <a:ext cx="1426464" cy="201168"/>
          </a:xfrm>
          <a:prstGeom prst="roundRect">
            <a:avLst>
              <a:gd name="adj" fmla="val 50000"/>
            </a:avLst>
          </a:prstGeom>
          <a:solidFill>
            <a:srgbClr val="0C2464"/>
          </a:solidFill>
          <a:ln w="12700">
            <a:solidFill>
              <a:srgbClr val="0C246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800" dirty="0"/>
          </a:p>
        </p:txBody>
      </p:sp>
      <p:sp>
        <p:nvSpPr>
          <p:cNvPr id="10" name="kotak-496"/>
          <p:cNvSpPr txBox="1"/>
          <p:nvPr/>
        </p:nvSpPr>
        <p:spPr>
          <a:xfrm>
            <a:off x="11338560" y="6583680"/>
            <a:ext cx="457200" cy="228600"/>
          </a:xfrm>
          <a:prstGeom prst="roundRect">
            <a:avLst>
              <a:gd name="adj" fmla="val 12000"/>
            </a:avLst>
          </a:prstGeom>
          <a:solidFill>
            <a:srgbClr val="1F4E9E"/>
          </a:solidFill>
          <a:ln>
            <a:solidFill>
              <a:srgbClr val="1F4E9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kotak-497"/>
          <p:cNvSpPr/>
          <p:nvPr/>
        </p:nvSpPr>
        <p:spPr>
          <a:xfrm>
            <a:off x="411480" y="1143000"/>
            <a:ext cx="3703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0C2464"/>
            </a:solidFill>
            <a:prstDash val="solid"/>
          </a:ln>
        </p:spPr>
      </p:sp>
      <p:sp>
        <p:nvSpPr>
          <p:cNvPr id="13" name="kotak-498"/>
          <p:cNvSpPr/>
          <p:nvPr/>
        </p:nvSpPr>
        <p:spPr>
          <a:xfrm>
            <a:off x="411480" y="1143000"/>
            <a:ext cx="1143000" cy="1234440"/>
          </a:xfrm>
          <a:prstGeom prst="roundRect">
            <a:avLst>
              <a:gd name="adj" fmla="val 4000"/>
            </a:avLst>
          </a:prstGeom>
          <a:solidFill>
            <a:srgbClr val="0C2464"/>
          </a:solidFill>
          <a:ln w="12700">
            <a:solidFill>
              <a:srgbClr val="0C2464"/>
            </a:solidFill>
            <a:prstDash val="solid"/>
          </a:ln>
        </p:spPr>
      </p:sp>
      <p:sp>
        <p:nvSpPr>
          <p:cNvPr id="14" name="teks-499"/>
          <p:cNvSpPr txBox="1"/>
          <p:nvPr/>
        </p:nvSpPr>
        <p:spPr>
          <a:xfrm>
            <a:off x="411480" y="114300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−96%</a:t>
            </a:r>
            <a:endParaRPr lang="en-US" sz="1700" dirty="0"/>
          </a:p>
        </p:txBody>
      </p:sp>
      <p:sp>
        <p:nvSpPr>
          <p:cNvPr id="15" name="teks-500"/>
          <p:cNvSpPr txBox="1"/>
          <p:nvPr/>
        </p:nvSpPr>
        <p:spPr>
          <a:xfrm>
            <a:off x="1645920" y="11887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C2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Masalahnya nyata</a:t>
            </a:r>
            <a:endParaRPr lang="en-US" sz="1050" dirty="0"/>
          </a:p>
        </p:txBody>
      </p:sp>
      <p:sp>
        <p:nvSpPr>
          <p:cNvPr id="16" name="teks-501"/>
          <p:cNvSpPr txBox="1"/>
          <p:nvPr/>
        </p:nvSpPr>
        <p:spPr>
          <a:xfrm>
            <a:off x="1645920" y="1444752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POME satu PKS 60 t/jam melepas ±33 ribu tCO₂e metana per tahun, sementara PKS bersolar berat membayar USD 0,67 juta per tahun untuk listrik diesel.</a:t>
            </a:r>
            <a:endParaRPr lang="en-US" sz="840" dirty="0"/>
          </a:p>
        </p:txBody>
      </p:sp>
      <p:sp>
        <p:nvSpPr>
          <p:cNvPr id="17" name="kotak-502"/>
          <p:cNvSpPr/>
          <p:nvPr/>
        </p:nvSpPr>
        <p:spPr>
          <a:xfrm>
            <a:off x="4251960" y="1143000"/>
            <a:ext cx="3703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1F4E9E"/>
            </a:solidFill>
            <a:prstDash val="solid"/>
          </a:ln>
        </p:spPr>
      </p:sp>
      <p:sp>
        <p:nvSpPr>
          <p:cNvPr id="18" name="kotak-503"/>
          <p:cNvSpPr/>
          <p:nvPr/>
        </p:nvSpPr>
        <p:spPr>
          <a:xfrm>
            <a:off x="4251960" y="1143000"/>
            <a:ext cx="1143000" cy="1234440"/>
          </a:xfrm>
          <a:prstGeom prst="roundRect">
            <a:avLst>
              <a:gd name="adj" fmla="val 4000"/>
            </a:avLst>
          </a:prstGeom>
          <a:solidFill>
            <a:srgbClr val="1F4E9E"/>
          </a:solidFill>
          <a:ln w="12700">
            <a:solidFill>
              <a:srgbClr val="1F4E9E"/>
            </a:solidFill>
            <a:prstDash val="solid"/>
          </a:ln>
        </p:spPr>
      </p:sp>
      <p:sp>
        <p:nvSpPr>
          <p:cNvPr id="19" name="teks-504"/>
          <p:cNvSpPr txBox="1"/>
          <p:nvPr/>
        </p:nvSpPr>
        <p:spPr>
          <a:xfrm>
            <a:off x="4251960" y="114300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0,0002%</a:t>
            </a:r>
            <a:endParaRPr lang="en-US" sz="1700" dirty="0"/>
          </a:p>
        </p:txBody>
      </p:sp>
      <p:sp>
        <p:nvSpPr>
          <p:cNvPr id="20" name="teks-505"/>
          <p:cNvSpPr txBox="1"/>
          <p:nvPr/>
        </p:nvSpPr>
        <p:spPr>
          <a:xfrm>
            <a:off x="5486400" y="11887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Solusinya kredibel</a:t>
            </a:r>
            <a:endParaRPr lang="en-US" sz="1050" dirty="0"/>
          </a:p>
        </p:txBody>
      </p:sp>
      <p:sp>
        <p:nvSpPr>
          <p:cNvPr id="21" name="teks-506"/>
          <p:cNvSpPr txBox="1"/>
          <p:nvPr/>
        </p:nvSpPr>
        <p:spPr>
          <a:xfrm>
            <a:off x="5486400" y="1444752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Neraca massa menutup dengan galat 0,0002%. Satu m³ POME menjadi 40 kWh neto. Tangki GFS dan genset adalah teknologi matang; TRL sistem baru 4.</a:t>
            </a:r>
            <a:endParaRPr lang="en-US" sz="840" dirty="0"/>
          </a:p>
        </p:txBody>
      </p:sp>
      <p:sp>
        <p:nvSpPr>
          <p:cNvPr id="22" name="kotak-507"/>
          <p:cNvSpPr/>
          <p:nvPr/>
        </p:nvSpPr>
        <p:spPr>
          <a:xfrm>
            <a:off x="8092440" y="1143000"/>
            <a:ext cx="370332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3E8E41"/>
            </a:solidFill>
            <a:prstDash val="solid"/>
          </a:ln>
        </p:spPr>
      </p:sp>
      <p:sp>
        <p:nvSpPr>
          <p:cNvPr id="23" name="kotak-508"/>
          <p:cNvSpPr/>
          <p:nvPr/>
        </p:nvSpPr>
        <p:spPr>
          <a:xfrm>
            <a:off x="8092440" y="1143000"/>
            <a:ext cx="1143000" cy="1234440"/>
          </a:xfrm>
          <a:prstGeom prst="roundRect">
            <a:avLst>
              <a:gd name="adj" fmla="val 4000"/>
            </a:avLst>
          </a:prstGeom>
          <a:solidFill>
            <a:srgbClr val="3E8E41"/>
          </a:solidFill>
          <a:ln w="12700">
            <a:solidFill>
              <a:srgbClr val="3E8E41"/>
            </a:solidFill>
            <a:prstDash val="solid"/>
          </a:ln>
        </p:spPr>
      </p:sp>
      <p:sp>
        <p:nvSpPr>
          <p:cNvPr id="24" name="teks-509"/>
          <p:cNvSpPr txBox="1"/>
          <p:nvPr/>
        </p:nvSpPr>
        <p:spPr>
          <a:xfrm>
            <a:off x="8092440" y="1143000"/>
            <a:ext cx="1143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10,3%</a:t>
            </a:r>
            <a:endParaRPr lang="en-US" sz="1700" dirty="0"/>
          </a:p>
        </p:txBody>
      </p:sp>
      <p:sp>
        <p:nvSpPr>
          <p:cNvPr id="25" name="teks-510"/>
          <p:cNvSpPr txBox="1"/>
          <p:nvPr/>
        </p:nvSpPr>
        <p:spPr>
          <a:xfrm>
            <a:off x="9326880" y="11887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E8E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Ekonominya bersyarat</a:t>
            </a:r>
            <a:endParaRPr lang="en-US" sz="1050" dirty="0"/>
          </a:p>
        </p:txBody>
      </p:sp>
      <p:sp>
        <p:nvSpPr>
          <p:cNvPr id="26" name="teks-511"/>
          <p:cNvSpPr txBox="1"/>
          <p:nvPr/>
        </p:nvSpPr>
        <p:spPr>
          <a:xfrm>
            <a:off x="9326880" y="1444752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USD 0,13 juta, DSCR 1,31, PKS hemat 4,3% tanpa modal. Peluang NPV positif baru 25%; itu sebabnya gerbang data dahulu.</a:t>
            </a:r>
            <a:endParaRPr lang="en-US" sz="840" dirty="0"/>
          </a:p>
        </p:txBody>
      </p:sp>
      <p:sp>
        <p:nvSpPr>
          <p:cNvPr id="27" name="kotak-512"/>
          <p:cNvSpPr txBox="1"/>
          <p:nvPr/>
        </p:nvSpPr>
        <p:spPr>
          <a:xfrm>
            <a:off x="411480" y="2487168"/>
            <a:ext cx="3200400" cy="219456"/>
          </a:xfrm>
          <a:prstGeom prst="roundRect">
            <a:avLst>
              <a:gd name="adj" fmla="val 16667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Kartu skor kesiapan (1–5)</a:t>
            </a:r>
            <a:endParaRPr lang="en-US" sz="950" dirty="0"/>
          </a:p>
        </p:txBody>
      </p:sp>
      <p:pic>
        <p:nvPicPr>
          <p:cNvPr id="28" name="grafik-radar" descr="/home/user/aspebindo/deck/img/f_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24912"/>
            <a:ext cx="3108960" cy="2167128"/>
          </a:xfrm>
          <a:prstGeom prst="rect">
            <a:avLst/>
          </a:prstGeom>
        </p:spPr>
      </p:pic>
      <p:sp>
        <p:nvSpPr>
          <p:cNvPr id="29" name="kotak-513"/>
          <p:cNvSpPr txBox="1"/>
          <p:nvPr/>
        </p:nvSpPr>
        <p:spPr>
          <a:xfrm>
            <a:off x="3749040" y="2487168"/>
            <a:ext cx="4114800" cy="219456"/>
          </a:xfrm>
          <a:prstGeom prst="roundRect">
            <a:avLst>
              <a:gd name="adj" fmla="val 16667"/>
            </a:avLst>
          </a:prstGeom>
          <a:solidFill>
            <a:srgbClr val="C8452F"/>
          </a:solidFill>
          <a:ln>
            <a:solidFill>
              <a:srgbClr val="C8452F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kelayakan: di bawah ini NPV &lt; 0</a:t>
            </a:r>
            <a:endParaRPr lang="en-US" sz="950" dirty="0"/>
          </a:p>
        </p:txBody>
      </p:sp>
      <p:graphicFrame>
        <p:nvGraphicFramePr>
          <p:cNvPr id="11" name="tabel-5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2724912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97280"/>
                <a:gridCol w="9144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Ambang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Dasar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tergantikan (L/t TBS)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1,84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Beban PKS (% nameplate)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74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 jasa (USD/t TBS)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1,19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 ekspor PLN (USc/kWh)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9,29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(FCI 2026)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USD 5,9 juta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Harga karbon (USD/t)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4,0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Produksi biogas (% desain)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91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ks-515"/>
          <p:cNvSpPr txBox="1"/>
          <p:nvPr/>
        </p:nvSpPr>
        <p:spPr>
          <a:xfrm>
            <a:off x="3749040" y="4864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= titik impas NPV, satu variabel per kali. Margin tipis: semua syarat harus dibuktikan di G0–G3.</a:t>
            </a:r>
            <a:endParaRPr lang="en-US" sz="760" dirty="0"/>
          </a:p>
        </p:txBody>
      </p:sp>
      <p:sp>
        <p:nvSpPr>
          <p:cNvPr id="32" name="kotak-516"/>
          <p:cNvSpPr txBox="1"/>
          <p:nvPr/>
        </p:nvSpPr>
        <p:spPr>
          <a:xfrm>
            <a:off x="8001000" y="2487168"/>
            <a:ext cx="3794760" cy="219456"/>
          </a:xfrm>
          <a:prstGeom prst="roundRect">
            <a:avLst>
              <a:gd name="adj" fmla="val 16667"/>
            </a:avLst>
          </a:prstGeom>
          <a:solidFill>
            <a:srgbClr val="2B9FC8"/>
          </a:solidFill>
          <a:ln>
            <a:solidFill>
              <a:srgbClr val="2B9FC8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Langkah berikutnya dan dana (≤ 30 bulan)</a:t>
            </a:r>
            <a:endParaRPr lang="en-US" sz="950" dirty="0"/>
          </a:p>
        </p:txBody>
      </p:sp>
      <p:graphicFrame>
        <p:nvGraphicFramePr>
          <p:cNvPr id="21" name="tabel-5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2724912"/>
          <a:ext cx="9144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463040"/>
                <a:gridCol w="9144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Langkah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 terukur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ribu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46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PKS mitra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≥ 2,0 L/t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Uji lab dan pilot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 ≥ 65%; TRL 6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Kuotasi, FEED, HAZOP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 ≤ USD 6,0 juta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Izin dan hukum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PJBL, IUPTLS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 dan MRV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 1 siap FID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6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60" b="1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D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B"/>
                    </a:solidFill>
                  </a:tcPr>
                </a:tc>
              </a:tr>
            </a:tbl>
          </a:graphicData>
        </a:graphic>
      </p:graphicFrame>
      <p:sp>
        <p:nvSpPr>
          <p:cNvPr id="34" name="teks-518"/>
          <p:cNvSpPr txBox="1"/>
          <p:nvPr/>
        </p:nvSpPr>
        <p:spPr>
          <a:xfrm>
            <a:off x="8001000" y="46177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Usulan tim, belum berkomitmen. Peluang NPV positif per gerbang: 25% → 24% → 35% → 46% → 45%.</a:t>
            </a:r>
            <a:endParaRPr lang="en-US" sz="760" dirty="0"/>
          </a:p>
        </p:txBody>
      </p:sp>
      <p:sp>
        <p:nvSpPr>
          <p:cNvPr id="35" name="kotak-519"/>
          <p:cNvSpPr txBox="1"/>
          <p:nvPr/>
        </p:nvSpPr>
        <p:spPr>
          <a:xfrm>
            <a:off x="411480" y="5193792"/>
            <a:ext cx="11384280" cy="201168"/>
          </a:xfrm>
          <a:prstGeom prst="roundRect">
            <a:avLst>
              <a:gd name="adj" fmla="val 18182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Uji penentang: lima titik terlemah yang masih terbuka</a:t>
            </a:r>
            <a:endParaRPr lang="en-US" sz="900" dirty="0"/>
          </a:p>
        </p:txBody>
      </p:sp>
      <p:sp>
        <p:nvSpPr>
          <p:cNvPr id="36" name="kotak-520"/>
          <p:cNvSpPr txBox="1"/>
          <p:nvPr/>
        </p:nvSpPr>
        <p:spPr>
          <a:xfrm>
            <a:off x="411480" y="5422392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Teknis  </a:t>
            </a:r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OLR 9,9 di atas rekomendasi 8; belum skala penuh</a:t>
            </a:r>
            <a:endParaRPr lang="en-US" sz="780" dirty="0"/>
          </a:p>
        </p:txBody>
      </p:sp>
      <p:sp>
        <p:nvSpPr>
          <p:cNvPr id="37" name="kotak-521"/>
          <p:cNvSpPr txBox="1"/>
          <p:nvPr/>
        </p:nvSpPr>
        <p:spPr>
          <a:xfrm>
            <a:off x="2697480" y="5422392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Keuangan  </a:t>
            </a:r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harga tangki GFS USD 200/m³ belum dikuotasi</a:t>
            </a:r>
            <a:endParaRPr lang="en-US" sz="780" dirty="0"/>
          </a:p>
        </p:txBody>
      </p:sp>
      <p:sp>
        <p:nvSpPr>
          <p:cNvPr id="38" name="kotak-522"/>
          <p:cNvSpPr txBox="1"/>
          <p:nvPr/>
        </p:nvSpPr>
        <p:spPr>
          <a:xfrm>
            <a:off x="4983480" y="5422392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Pesaing  </a:t>
            </a:r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opsi B/C lebih murah bila PKS punya modal</a:t>
            </a:r>
            <a:endParaRPr lang="en-US" sz="780" dirty="0"/>
          </a:p>
        </p:txBody>
      </p:sp>
      <p:sp>
        <p:nvSpPr>
          <p:cNvPr id="39" name="kotak-523"/>
          <p:cNvSpPr txBox="1"/>
          <p:nvPr/>
        </p:nvSpPr>
        <p:spPr>
          <a:xfrm>
            <a:off x="7269480" y="5422392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Eksekusi  </a:t>
            </a:r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jual listrik dan tarif belum pasti</a:t>
            </a:r>
            <a:endParaRPr lang="en-US" sz="780" dirty="0"/>
          </a:p>
        </p:txBody>
      </p:sp>
      <p:sp>
        <p:nvSpPr>
          <p:cNvPr id="40" name="kotak-524"/>
          <p:cNvSpPr txBox="1"/>
          <p:nvPr/>
        </p:nvSpPr>
        <p:spPr>
          <a:xfrm>
            <a:off x="9555480" y="5422392"/>
            <a:ext cx="2240280" cy="457200"/>
          </a:xfrm>
          <a:prstGeom prst="roundRect">
            <a:avLst>
              <a:gd name="adj" fmla="val 8000"/>
            </a:avLst>
          </a:prstGeom>
          <a:solidFill>
            <a:srgbClr val="FBE6E2"/>
          </a:solidFill>
          <a:ln w="9525">
            <a:solidFill>
              <a:srgbClr val="C8452F"/>
            </a:solidFill>
          </a:ln>
        </p:spPr>
        <p:txBody>
          <a:bodyPr wrap="square" lIns="12700" tIns="63500" rIns="63500" bIns="12700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C84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Lingkungan  </a:t>
            </a:r>
            <a:pPr algn="l" indent="0" marL="0">
              <a:buNone/>
            </a:pPr>
            <a:r>
              <a:rPr lang="en-US" sz="78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 efluen 0,3 belum diukur</a:t>
            </a:r>
            <a:endParaRPr lang="en-US" sz="780" dirty="0"/>
          </a:p>
        </p:txBody>
      </p:sp>
      <p:sp>
        <p:nvSpPr>
          <p:cNvPr id="41" name="kotak-525"/>
          <p:cNvSpPr txBox="1"/>
          <p:nvPr/>
        </p:nvSpPr>
        <p:spPr>
          <a:xfrm>
            <a:off x="411480" y="594360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0C2464"/>
          </a:solidFill>
          <a:ln>
            <a:solidFill>
              <a:srgbClr val="0C2464"/>
            </a:solidFill>
          </a:ln>
        </p:spPr>
        <p:txBody>
          <a:bodyPr wrap="square" lIns="25400" tIns="63500" rIns="635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000" dirty="0"/>
          </a:p>
        </p:txBody>
      </p:sp>
      <p:sp>
        <p:nvSpPr>
          <p:cNvPr id="42" name="kotak-526"/>
          <p:cNvSpPr txBox="1"/>
          <p:nvPr/>
        </p:nvSpPr>
        <p:spPr>
          <a:xfrm>
            <a:off x="1828800" y="5943600"/>
            <a:ext cx="9966960" cy="347472"/>
          </a:xfrm>
          <a:prstGeom prst="roundRect">
            <a:avLst>
              <a:gd name="adj" fmla="val 13158"/>
            </a:avLst>
          </a:prstGeom>
          <a:solidFill>
            <a:srgbClr val="D6ECF6"/>
          </a:solidFill>
          <a:ln w="9525">
            <a:solidFill>
              <a:srgbClr val="2B9FC8"/>
            </a:solidFill>
          </a:ln>
        </p:spPr>
        <p:txBody>
          <a:bodyPr wrap="square" lIns="25400" tIns="101600" rIns="1016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Metana POME sudah bisa ditangkap; yang belum ada adalah cara PKS membayarnya tanpa menanggung risiko. Kami hanya membangun setelah data, kuotasi, dan izin membuktikannya.</a:t>
            </a:r>
            <a:endParaRPr lang="en-US" sz="950" dirty="0"/>
          </a:p>
        </p:txBody>
      </p:sp>
      <p:sp>
        <p:nvSpPr>
          <p:cNvPr id="43" name="teks-527"/>
          <p:cNvSpPr txBox="1"/>
          <p:nvPr/>
        </p:nvSpPr>
        <p:spPr>
          <a:xfrm>
            <a:off x="411480" y="6336792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Singkatan: TRL tingkat kesiapan teknologi; OLR laju beban organik; FEED desain rekayasa awal; FID keputusan investasi akhir; MCF faktor koreksi metana; PJBL perjanjian jual beli listrik; IUPTLS izin usaha penyediaan tenaga listrik untuk kepentingan sendiri.</a:t>
            </a:r>
            <a:endParaRPr lang="en-US" sz="560" dirty="0"/>
          </a:p>
          <a:p>
            <a:pPr indent="0" marL="0">
              <a:buNone/>
            </a:pPr>
            <a:r>
              <a:rPr lang="en-US" sz="56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Sumber: ringkasan slide 2–9 (fin_core.py v4; BG_Model_Keuangan.xlsx). Skor kartu adalah penilaian tim atas bukti pada slide terkait; sasaran setelah G3 adalah target, bukan hasil.</a:t>
            </a:r>
            <a:endParaRPr lang="en-US" sz="5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IC 2026 Malataxtax">
  <a:themeElements>
    <a:clrScheme name="EIC 2026 Malataxtax">
      <a:dk1>
        <a:srgbClr val="14213D"/>
      </a:dk1>
      <a:lt1>
        <a:srgbClr val="FFFFFF"/>
      </a:lt1>
      <a:dk2>
        <a:srgbClr val="0C2464"/>
      </a:dk2>
      <a:lt2>
        <a:srgbClr val="EAF4FB"/>
      </a:lt2>
      <a:accent1>
        <a:srgbClr val="1F4E9E"/>
      </a:accent1>
      <a:accent2>
        <a:srgbClr val="3E8E41"/>
      </a:accent2>
      <a:accent3>
        <a:srgbClr val="2B9FC8"/>
      </a:accent3>
      <a:accent4>
        <a:srgbClr val="8CC63F"/>
      </a:accent4>
      <a:accent5>
        <a:srgbClr val="6898C8"/>
      </a:accent5>
      <a:accent6>
        <a:srgbClr val="5B6B7F"/>
      </a:accent6>
      <a:hlink>
        <a:srgbClr val="1F4E9E"/>
      </a:hlink>
      <a:folHlink>
        <a:srgbClr val="0C2464"/>
      </a:folHlink>
    </a:clrScheme>
    <a:fontScheme name="EIC 2026 Malataxta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Malataxtax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Biogas sebagai Layanan: Pengolah POME Termofilik Modular untuk PKS</dc:title>
  <dc:subject>EIC 2026 - Energy Business Plan Competition, Subtema 3</dc:subject>
  <dc:creator>Tim Malataxtax</dc:creator>
  <cp:lastModifiedBy>Tim Malataxtax</cp:lastModifiedBy>
  <cp:revision>1</cp:revision>
  <dcterms:created xsi:type="dcterms:W3CDTF">2026-10-16T14:49:57Z</dcterms:created>
  <dcterms:modified xsi:type="dcterms:W3CDTF">2026-10-16T14:49:57Z</dcterms:modified>
</cp:coreProperties>
</file>