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mpul" id="{1a8df64b-29a4-9cda-6839-f22535149ab2}">
          <p14:sldIdLst>
            <p14:sldId id="256"/>
          </p14:sldIdLst>
        </p14:section>
        <p14:section name="Latar belakang dan masalah" id="{d8335bf7-4ced-4963-a478-bed6de2abc03}">
          <p14:sldIdLst>
            <p14:sldId id="257"/>
          </p14:sldIdLst>
        </p14:section>
        <p14:section name="Solusi: konsep" id="{15ad42d6-4f46-f2f3-9033-7dd70390aaed}">
          <p14:sldIdLst>
            <p14:sldId id="258"/>
          </p14:sldIdLst>
        </p14:section>
        <p14:section name="Solusi: validitas teknis" id="{3e735c22-9f46-08a3-d1c9-5e1704bd1211}">
          <p14:sldIdLst>
            <p14:sldId id="259"/>
          </p14:sldIdLst>
        </p14:section>
        <p14:section name="Solusi: desain produk" id="{d7f75018-6d5f-476e-5cf7-86324fc8051d}">
          <p14:sldIdLst>
            <p14:sldId id="260"/>
          </p14:sldIdLst>
        </p14:section>
        <p14:section name="Analisis pesaing" id="{b0ed5a8f-bb73-22f3-9f99-f6d92a02c24f}">
          <p14:sldIdLst>
            <p14:sldId id="261"/>
          </p14:sldIdLst>
        </p14:section>
        <p14:section name="Model keuangan" id="{109c068d-e943-ebfb-ba2d-c49b7ca4c26e}">
          <p14:sldIdLst>
            <p14:sldId id="262"/>
          </p14:sldIdLst>
        </p14:section>
        <p14:section name="Rencana implementasi" id="{c9021a59-8b76-786c-98a1-a7b455fcec56}">
          <p14:sldIdLst>
            <p14:sldId id="263"/>
          </p14:sldIdLst>
        </p14:section>
        <p14:section name="Peluang bisnis dan dampak" id="{2a19ff6a-c170-6f46-c3f3-15900e5e31e7}">
          <p14:sldIdLst>
            <p14:sldId id="264"/>
          </p14:sldIdLst>
        </p14:section>
        <p14:section name="Kesimpulan" id="{a9d9d7bb-b779-4cb2-e577-2cb6dc1c1f9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</c:v>
                </c:pt>
              </c:strCache>
            </c:strRef>
          </c:tx>
          <c:spPr>
            <a:solidFill>
              <a:srgbClr val="5B6B7F"/>
            </a:solidFill>
            <a:effectLst/>
          </c:spPr>
          <c:invertIfNegative val="0"/>
          <c:dLbls>
            <c:numFmt formatCode="[$-421]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EF2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Energi biogas (LHV)</c:v>
                  </c:pt>
                  <c:pt idx="1">
                    <c:v>Listrik kotor</c:v>
                  </c:pt>
                  <c:pt idx="2">
                    <c:v>Panas selubung</c:v>
                  </c:pt>
                  <c:pt idx="3">
                    <c:v>Panas gas buang</c:v>
                  </c:pt>
                  <c:pt idx="4">
                    <c:v>Rugi radiasi dan sisa</c:v>
                  </c:pt>
                  <c:pt idx="5">
                    <c:v>Pemakaian sendiri</c:v>
                  </c:pt>
                  <c:pt idx="6">
                    <c:v>Listrik neto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2866.5130113140112</c:v>
                </c:pt>
                <c:pt idx="1">
                  <c:v>1126.5831692787917</c:v>
                </c:pt>
                <c:pt idx="2">
                  <c:v>716.6282528285028</c:v>
                </c:pt>
                <c:pt idx="3">
                  <c:v>688.3762174374532</c:v>
                </c:pt>
                <c:pt idx="4">
                  <c:v>334.9253717692635</c:v>
                </c:pt>
                <c:pt idx="5">
                  <c:v>101.58183030730822</c:v>
                </c:pt>
                <c:pt idx="6">
                  <c:v>1025.0013389714836</c:v>
                </c:pt>
              </c:numCache>
            </c:numRef>
          </c:val>
        </c:ser>
        <c:dLbls>
          <c:numFmt formatCode="[$-421]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Daya neto (kW)</c:v>
                </c:pt>
              </c:strCache>
            </c:strRef>
          </c:tx>
          <c:spPr>
            <a:solidFill>
              <a:srgbClr val="1F4E9E"/>
            </a:solidFill>
            <a:ln w="15875" cap="flat">
              <a:solidFill>
                <a:srgbClr val="1F4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9E"/>
              </a:solidFill>
              <a:ln w="9525" cap="flat">
                <a:solidFill>
                  <a:srgbClr val="1F4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>  </c:v>
                  </c:pt>
                  <c:pt idx="2">
                    <c:v>   </c:v>
                  </c:pt>
                  <c:pt idx="3">
                    <c:v>    </c:v>
                  </c:pt>
                  <c:pt idx="4">
                    <c:v>     </c:v>
                  </c:pt>
                  <c:pt idx="5">
                    <c:v>      </c:v>
                  </c:pt>
                  <c:pt idx="6">
                    <c:v>       </c:v>
                  </c:pt>
                  <c:pt idx="7">
                    <c:v>        </c:v>
                  </c:pt>
                  <c:pt idx="8">
                    <c:v>         </c:v>
                  </c:pt>
                  <c:pt idx="9">
                    <c:v>          </c:v>
                  </c:pt>
                  <c:pt idx="10">
                    <c:v>           </c:v>
                  </c:pt>
                  <c:pt idx="11">
                    <c:v>            </c:v>
                  </c:pt>
                  <c:pt idx="12">
                    <c:v>             </c:v>
                  </c:pt>
                  <c:pt idx="13">
                    <c:v>              </c:v>
                  </c:pt>
                  <c:pt idx="14">
                    <c:v>               </c:v>
                  </c:pt>
                  <c:pt idx="15">
                    <c:v>                </c:v>
                  </c:pt>
                  <c:pt idx="16">
                    <c:v>                 </c:v>
                  </c:pt>
                  <c:pt idx="17">
                    <c:v>                  </c:v>
                  </c:pt>
                  <c:pt idx="18">
                    <c:v>                   </c:v>
                  </c:pt>
                  <c:pt idx="19">
                    <c:v>                    </c:v>
                  </c:pt>
                  <c:pt idx="20">
                    <c:v>                     </c:v>
                  </c:pt>
                  <c:pt idx="21">
                    <c:v>                      </c:v>
                  </c:pt>
                  <c:pt idx="22">
                    <c:v>                       </c:v>
                  </c:pt>
                  <c:pt idx="23">
                    <c:v>                        </c:v>
                  </c:pt>
                  <c:pt idx="24">
                    <c:v>                         </c:v>
                  </c:pt>
                  <c:pt idx="25">
                    <c:v>                          </c:v>
                  </c:pt>
                  <c:pt idx="26">
                    <c:v>                           </c:v>
                  </c:pt>
                  <c:pt idx="27">
                    <c:v>                            </c:v>
                  </c:pt>
                  <c:pt idx="28">
                    <c:v>                             </c:v>
                  </c:pt>
                  <c:pt idx="29">
                    <c:v> </c:v>
                  </c:pt>
                  <c:pt idx="30">
                    <c:v>Feb</c:v>
                  </c:pt>
                  <c:pt idx="31">
                    <c:v>   </c:v>
                  </c:pt>
                  <c:pt idx="32">
                    <c:v>    </c:v>
                  </c:pt>
                  <c:pt idx="33">
                    <c:v>     </c:v>
                  </c:pt>
                  <c:pt idx="34">
                    <c:v>      </c:v>
                  </c:pt>
                  <c:pt idx="35">
                    <c:v>       </c:v>
                  </c:pt>
                  <c:pt idx="36">
                    <c:v>        </c:v>
                  </c:pt>
                  <c:pt idx="37">
                    <c:v>         </c:v>
                  </c:pt>
                  <c:pt idx="38">
                    <c:v>          </c:v>
                  </c:pt>
                  <c:pt idx="39">
                    <c:v>           </c:v>
                  </c:pt>
                  <c:pt idx="40">
                    <c:v>            </c:v>
                  </c:pt>
                  <c:pt idx="41">
                    <c:v>             </c:v>
                  </c:pt>
                  <c:pt idx="42">
                    <c:v>              </c:v>
                  </c:pt>
                  <c:pt idx="43">
                    <c:v>               </c:v>
                  </c:pt>
                  <c:pt idx="44">
                    <c:v>                </c:v>
                  </c:pt>
                  <c:pt idx="45">
                    <c:v>                 </c:v>
                  </c:pt>
                  <c:pt idx="46">
                    <c:v>                  </c:v>
                  </c:pt>
                  <c:pt idx="47">
                    <c:v>                   </c:v>
                  </c:pt>
                  <c:pt idx="48">
                    <c:v>                    </c:v>
                  </c:pt>
                  <c:pt idx="49">
                    <c:v>                     </c:v>
                  </c:pt>
                  <c:pt idx="50">
                    <c:v>                      </c:v>
                  </c:pt>
                  <c:pt idx="51">
                    <c:v>                       </c:v>
                  </c:pt>
                  <c:pt idx="52">
                    <c:v>                        </c:v>
                  </c:pt>
                  <c:pt idx="53">
                    <c:v>                         </c:v>
                  </c:pt>
                  <c:pt idx="54">
                    <c:v>                          </c:v>
                  </c:pt>
                  <c:pt idx="55">
                    <c:v>                           </c:v>
                  </c:pt>
                  <c:pt idx="56">
                    <c:v>                            </c:v>
                  </c:pt>
                  <c:pt idx="57">
                    <c:v>                             </c:v>
                  </c:pt>
                  <c:pt idx="58">
                    <c:v> </c:v>
                  </c:pt>
                  <c:pt idx="59">
                    <c:v>  </c:v>
                  </c:pt>
                  <c:pt idx="60">
                    <c:v>Mar</c:v>
                  </c:pt>
                  <c:pt idx="61">
                    <c:v>    </c:v>
                  </c:pt>
                  <c:pt idx="62">
                    <c:v>     </c:v>
                  </c:pt>
                  <c:pt idx="63">
                    <c:v>      </c:v>
                  </c:pt>
                  <c:pt idx="64">
                    <c:v>       </c:v>
                  </c:pt>
                  <c:pt idx="65">
                    <c:v>        </c:v>
                  </c:pt>
                  <c:pt idx="66">
                    <c:v>         </c:v>
                  </c:pt>
                  <c:pt idx="67">
                    <c:v>          </c:v>
                  </c:pt>
                  <c:pt idx="68">
                    <c:v>           </c:v>
                  </c:pt>
                  <c:pt idx="69">
                    <c:v>            </c:v>
                  </c:pt>
                  <c:pt idx="70">
                    <c:v>             </c:v>
                  </c:pt>
                  <c:pt idx="71">
                    <c:v>              </c:v>
                  </c:pt>
                  <c:pt idx="72">
                    <c:v>               </c:v>
                  </c:pt>
                  <c:pt idx="73">
                    <c:v>                </c:v>
                  </c:pt>
                  <c:pt idx="74">
                    <c:v>                 </c:v>
                  </c:pt>
                  <c:pt idx="75">
                    <c:v>                  </c:v>
                  </c:pt>
                  <c:pt idx="76">
                    <c:v>                   </c:v>
                  </c:pt>
                  <c:pt idx="77">
                    <c:v>                    </c:v>
                  </c:pt>
                  <c:pt idx="78">
                    <c:v>                     </c:v>
                  </c:pt>
                  <c:pt idx="79">
                    <c:v>                      </c:v>
                  </c:pt>
                  <c:pt idx="80">
                    <c:v>                       </c:v>
                  </c:pt>
                  <c:pt idx="81">
                    <c:v>                        </c:v>
                  </c:pt>
                  <c:pt idx="82">
                    <c:v>                         </c:v>
                  </c:pt>
                  <c:pt idx="83">
                    <c:v>                          </c:v>
                  </c:pt>
                  <c:pt idx="84">
                    <c:v>                           </c:v>
                  </c:pt>
                  <c:pt idx="85">
                    <c:v>                            </c:v>
                  </c:pt>
                  <c:pt idx="86">
                    <c:v>                             </c:v>
                  </c:pt>
                  <c:pt idx="87">
                    <c:v> </c:v>
                  </c:pt>
                  <c:pt idx="88">
                    <c:v>  </c:v>
                  </c:pt>
                  <c:pt idx="89">
                    <c:v>   </c:v>
                  </c:pt>
                  <c:pt idx="90">
                    <c:v>Apr</c:v>
                  </c:pt>
                  <c:pt idx="91">
                    <c:v>     </c:v>
                  </c:pt>
                  <c:pt idx="92">
                    <c:v>      </c:v>
                  </c:pt>
                  <c:pt idx="93">
                    <c:v>       </c:v>
                  </c:pt>
                  <c:pt idx="94">
                    <c:v>        </c:v>
                  </c:pt>
                  <c:pt idx="95">
                    <c:v>         </c:v>
                  </c:pt>
                  <c:pt idx="96">
                    <c:v>          </c:v>
                  </c:pt>
                  <c:pt idx="97">
                    <c:v>           </c:v>
                  </c:pt>
                  <c:pt idx="98">
                    <c:v>            </c:v>
                  </c:pt>
                  <c:pt idx="99">
                    <c:v>             </c:v>
                  </c:pt>
                  <c:pt idx="100">
                    <c:v>              </c:v>
                  </c:pt>
                  <c:pt idx="101">
                    <c:v>               </c:v>
                  </c:pt>
                  <c:pt idx="102">
                    <c:v>                </c:v>
                  </c:pt>
                  <c:pt idx="103">
                    <c:v>                 </c:v>
                  </c:pt>
                  <c:pt idx="104">
                    <c:v>                  </c:v>
                  </c:pt>
                  <c:pt idx="105">
                    <c:v>                   </c:v>
                  </c:pt>
                  <c:pt idx="106">
                    <c:v>                    </c:v>
                  </c:pt>
                  <c:pt idx="107">
                    <c:v>                     </c:v>
                  </c:pt>
                  <c:pt idx="108">
                    <c:v>                      </c:v>
                  </c:pt>
                  <c:pt idx="109">
                    <c:v>                       </c:v>
                  </c:pt>
                  <c:pt idx="110">
                    <c:v>                        </c:v>
                  </c:pt>
                  <c:pt idx="111">
                    <c:v>                         </c:v>
                  </c:pt>
                  <c:pt idx="112">
                    <c:v>                          </c:v>
                  </c:pt>
                  <c:pt idx="113">
                    <c:v>                           </c:v>
                  </c:pt>
                  <c:pt idx="114">
                    <c:v>                            </c:v>
                  </c:pt>
                  <c:pt idx="115">
                    <c:v>                             </c:v>
                  </c:pt>
                  <c:pt idx="116">
                    <c:v> </c:v>
                  </c:pt>
                  <c:pt idx="117">
                    <c:v>  </c:v>
                  </c:pt>
                  <c:pt idx="118">
                    <c:v>   </c:v>
                  </c:pt>
                  <c:pt idx="119">
                    <c:v>    </c:v>
                  </c:pt>
                  <c:pt idx="120">
                    <c:v>Mei</c:v>
                  </c:pt>
                  <c:pt idx="121">
                    <c:v>      </c:v>
                  </c:pt>
                  <c:pt idx="122">
                    <c:v>       </c:v>
                  </c:pt>
                  <c:pt idx="123">
                    <c:v>        </c:v>
                  </c:pt>
                  <c:pt idx="124">
                    <c:v>         </c:v>
                  </c:pt>
                  <c:pt idx="125">
                    <c:v>          </c:v>
                  </c:pt>
                  <c:pt idx="126">
                    <c:v>           </c:v>
                  </c:pt>
                  <c:pt idx="127">
                    <c:v>            </c:v>
                  </c:pt>
                  <c:pt idx="128">
                    <c:v>             </c:v>
                  </c:pt>
                  <c:pt idx="129">
                    <c:v>              </c:v>
                  </c:pt>
                  <c:pt idx="130">
                    <c:v>               </c:v>
                  </c:pt>
                  <c:pt idx="131">
                    <c:v>                </c:v>
                  </c:pt>
                  <c:pt idx="132">
                    <c:v>                 </c:v>
                  </c:pt>
                  <c:pt idx="133">
                    <c:v>                  </c:v>
                  </c:pt>
                  <c:pt idx="134">
                    <c:v>                   </c:v>
                  </c:pt>
                  <c:pt idx="135">
                    <c:v>                    </c:v>
                  </c:pt>
                  <c:pt idx="136">
                    <c:v>                     </c:v>
                  </c:pt>
                  <c:pt idx="137">
                    <c:v>                      </c:v>
                  </c:pt>
                  <c:pt idx="138">
                    <c:v>                       </c:v>
                  </c:pt>
                  <c:pt idx="139">
                    <c:v>                        </c:v>
                  </c:pt>
                  <c:pt idx="140">
                    <c:v>                         </c:v>
                  </c:pt>
                  <c:pt idx="141">
                    <c:v>                          </c:v>
                  </c:pt>
                  <c:pt idx="142">
                    <c:v>                           </c:v>
                  </c:pt>
                  <c:pt idx="143">
                    <c:v>                            </c:v>
                  </c:pt>
                  <c:pt idx="144">
                    <c:v>                             </c:v>
                  </c:pt>
                  <c:pt idx="145">
                    <c:v> </c:v>
                  </c:pt>
                  <c:pt idx="146">
                    <c:v>  </c:v>
                  </c:pt>
                  <c:pt idx="147">
                    <c:v>   </c:v>
                  </c:pt>
                  <c:pt idx="148">
                    <c:v>    </c:v>
                  </c:pt>
                  <c:pt idx="149">
                    <c:v>     </c:v>
                  </c:pt>
                  <c:pt idx="150">
                    <c:v>Jun</c:v>
                  </c:pt>
                  <c:pt idx="151">
                    <c:v>       </c:v>
                  </c:pt>
                  <c:pt idx="152">
                    <c:v>        </c:v>
                  </c:pt>
                  <c:pt idx="153">
                    <c:v>         </c:v>
                  </c:pt>
                  <c:pt idx="154">
                    <c:v>          </c:v>
                  </c:pt>
                  <c:pt idx="155">
                    <c:v>           </c:v>
                  </c:pt>
                  <c:pt idx="156">
                    <c:v>            </c:v>
                  </c:pt>
                  <c:pt idx="157">
                    <c:v>             </c:v>
                  </c:pt>
                  <c:pt idx="158">
                    <c:v>              </c:v>
                  </c:pt>
                  <c:pt idx="159">
                    <c:v>               </c:v>
                  </c:pt>
                  <c:pt idx="160">
                    <c:v>                </c:v>
                  </c:pt>
                  <c:pt idx="161">
                    <c:v>                 </c:v>
                  </c:pt>
                  <c:pt idx="162">
                    <c:v>                  </c:v>
                  </c:pt>
                  <c:pt idx="163">
                    <c:v>                   </c:v>
                  </c:pt>
                  <c:pt idx="164">
                    <c:v>                    </c:v>
                  </c:pt>
                  <c:pt idx="165">
                    <c:v>                     </c:v>
                  </c:pt>
                  <c:pt idx="166">
                    <c:v>                      </c:v>
                  </c:pt>
                  <c:pt idx="167">
                    <c:v>                       </c:v>
                  </c:pt>
                  <c:pt idx="168">
                    <c:v>                        </c:v>
                  </c:pt>
                  <c:pt idx="169">
                    <c:v>                         </c:v>
                  </c:pt>
                  <c:pt idx="170">
                    <c:v>                          </c:v>
                  </c:pt>
                  <c:pt idx="171">
                    <c:v>                           </c:v>
                  </c:pt>
                  <c:pt idx="172">
                    <c:v>                            </c:v>
                  </c:pt>
                  <c:pt idx="173">
                    <c:v>                             </c:v>
                  </c:pt>
                  <c:pt idx="174">
                    <c:v> </c:v>
                  </c:pt>
                  <c:pt idx="175">
                    <c:v>  </c:v>
                  </c:pt>
                  <c:pt idx="176">
                    <c:v>   </c:v>
                  </c:pt>
                  <c:pt idx="177">
                    <c:v>    </c:v>
                  </c:pt>
                  <c:pt idx="178">
                    <c:v>     </c:v>
                  </c:pt>
                  <c:pt idx="179">
                    <c:v>      </c:v>
                  </c:pt>
                  <c:pt idx="180">
                    <c:v>Jul</c:v>
                  </c:pt>
                  <c:pt idx="181">
                    <c:v>        </c:v>
                  </c:pt>
                  <c:pt idx="182">
                    <c:v>         </c:v>
                  </c:pt>
                  <c:pt idx="183">
                    <c:v>          </c:v>
                  </c:pt>
                  <c:pt idx="184">
                    <c:v>           </c:v>
                  </c:pt>
                  <c:pt idx="185">
                    <c:v>            </c:v>
                  </c:pt>
                  <c:pt idx="186">
                    <c:v>             </c:v>
                  </c:pt>
                  <c:pt idx="187">
                    <c:v>              </c:v>
                  </c:pt>
                  <c:pt idx="188">
                    <c:v>               </c:v>
                  </c:pt>
                  <c:pt idx="189">
                    <c:v>                </c:v>
                  </c:pt>
                  <c:pt idx="190">
                    <c:v>                 </c:v>
                  </c:pt>
                  <c:pt idx="191">
                    <c:v>                  </c:v>
                  </c:pt>
                  <c:pt idx="192">
                    <c:v>                   </c:v>
                  </c:pt>
                  <c:pt idx="193">
                    <c:v>                    </c:v>
                  </c:pt>
                  <c:pt idx="194">
                    <c:v>                     </c:v>
                  </c:pt>
                  <c:pt idx="195">
                    <c:v>                      </c:v>
                  </c:pt>
                  <c:pt idx="196">
                    <c:v>                       </c:v>
                  </c:pt>
                  <c:pt idx="197">
                    <c:v>                        </c:v>
                  </c:pt>
                  <c:pt idx="198">
                    <c:v>                         </c:v>
                  </c:pt>
                  <c:pt idx="199">
                    <c:v>                          </c:v>
                  </c:pt>
                  <c:pt idx="200">
                    <c:v>                           </c:v>
                  </c:pt>
                  <c:pt idx="201">
                    <c:v>                            </c:v>
                  </c:pt>
                  <c:pt idx="202">
                    <c:v>                             </c:v>
                  </c:pt>
                  <c:pt idx="203">
                    <c:v> </c:v>
                  </c:pt>
                  <c:pt idx="204">
                    <c:v>  </c:v>
                  </c:pt>
                  <c:pt idx="205">
                    <c:v>   </c:v>
                  </c:pt>
                  <c:pt idx="206">
                    <c:v>    </c:v>
                  </c:pt>
                  <c:pt idx="207">
                    <c:v>     </c:v>
                  </c:pt>
                  <c:pt idx="208">
                    <c:v>      </c:v>
                  </c:pt>
                  <c:pt idx="209">
                    <c:v>       </c:v>
                  </c:pt>
                  <c:pt idx="210">
                    <c:v>Agu</c:v>
                  </c:pt>
                  <c:pt idx="211">
                    <c:v>         </c:v>
                  </c:pt>
                  <c:pt idx="212">
                    <c:v>          </c:v>
                  </c:pt>
                  <c:pt idx="213">
                    <c:v>           </c:v>
                  </c:pt>
                  <c:pt idx="214">
                    <c:v>            </c:v>
                  </c:pt>
                  <c:pt idx="215">
                    <c:v>             </c:v>
                  </c:pt>
                  <c:pt idx="216">
                    <c:v>              </c:v>
                  </c:pt>
                  <c:pt idx="217">
                    <c:v>               </c:v>
                  </c:pt>
                  <c:pt idx="218">
                    <c:v>                </c:v>
                  </c:pt>
                  <c:pt idx="219">
                    <c:v>                 </c:v>
                  </c:pt>
                  <c:pt idx="220">
                    <c:v>                  </c:v>
                  </c:pt>
                  <c:pt idx="221">
                    <c:v>                   </c:v>
                  </c:pt>
                  <c:pt idx="222">
                    <c:v>                    </c:v>
                  </c:pt>
                  <c:pt idx="223">
                    <c:v>                     </c:v>
                  </c:pt>
                  <c:pt idx="224">
                    <c:v>                      </c:v>
                  </c:pt>
                  <c:pt idx="225">
                    <c:v>                       </c:v>
                  </c:pt>
                  <c:pt idx="226">
                    <c:v>                        </c:v>
                  </c:pt>
                  <c:pt idx="227">
                    <c:v>                         </c:v>
                  </c:pt>
                  <c:pt idx="228">
                    <c:v>                          </c:v>
                  </c:pt>
                  <c:pt idx="229">
                    <c:v>                           </c:v>
                  </c:pt>
                  <c:pt idx="230">
                    <c:v>                            </c:v>
                  </c:pt>
                  <c:pt idx="231">
                    <c:v>                             </c:v>
                  </c:pt>
                  <c:pt idx="232">
                    <c:v> </c:v>
                  </c:pt>
                  <c:pt idx="233">
                    <c:v>  </c:v>
                  </c:pt>
                  <c:pt idx="234">
                    <c:v>   </c:v>
                  </c:pt>
                  <c:pt idx="235">
                    <c:v>    </c:v>
                  </c:pt>
                  <c:pt idx="236">
                    <c:v>     </c:v>
                  </c:pt>
                  <c:pt idx="237">
                    <c:v>      </c:v>
                  </c:pt>
                  <c:pt idx="238">
                    <c:v>       </c:v>
                  </c:pt>
                  <c:pt idx="239">
                    <c:v>        </c:v>
                  </c:pt>
                  <c:pt idx="240">
                    <c:v>Sep</c:v>
                  </c:pt>
                  <c:pt idx="241">
                    <c:v>          </c:v>
                  </c:pt>
                  <c:pt idx="242">
                    <c:v>           </c:v>
                  </c:pt>
                  <c:pt idx="243">
                    <c:v>            </c:v>
                  </c:pt>
                  <c:pt idx="244">
                    <c:v>             </c:v>
                  </c:pt>
                  <c:pt idx="245">
                    <c:v>              </c:v>
                  </c:pt>
                  <c:pt idx="246">
                    <c:v>               </c:v>
                  </c:pt>
                  <c:pt idx="247">
                    <c:v>                </c:v>
                  </c:pt>
                  <c:pt idx="248">
                    <c:v>                 </c:v>
                  </c:pt>
                  <c:pt idx="249">
                    <c:v>                  </c:v>
                  </c:pt>
                  <c:pt idx="250">
                    <c:v>                   </c:v>
                  </c:pt>
                  <c:pt idx="251">
                    <c:v>                    </c:v>
                  </c:pt>
                  <c:pt idx="252">
                    <c:v>                     </c:v>
                  </c:pt>
                  <c:pt idx="253">
                    <c:v>                      </c:v>
                  </c:pt>
                  <c:pt idx="254">
                    <c:v>                       </c:v>
                  </c:pt>
                  <c:pt idx="255">
                    <c:v>                        </c:v>
                  </c:pt>
                  <c:pt idx="256">
                    <c:v>                         </c:v>
                  </c:pt>
                  <c:pt idx="257">
                    <c:v>                          </c:v>
                  </c:pt>
                  <c:pt idx="258">
                    <c:v>                           </c:v>
                  </c:pt>
                  <c:pt idx="259">
                    <c:v>                            </c:v>
                  </c:pt>
                  <c:pt idx="260">
                    <c:v>                             </c:v>
                  </c:pt>
                  <c:pt idx="261">
                    <c:v> </c:v>
                  </c:pt>
                  <c:pt idx="262">
                    <c:v>  </c:v>
                  </c:pt>
                  <c:pt idx="263">
                    <c:v>   </c:v>
                  </c:pt>
                  <c:pt idx="264">
                    <c:v>    </c:v>
                  </c:pt>
                  <c:pt idx="265">
                    <c:v>     </c:v>
                  </c:pt>
                  <c:pt idx="266">
                    <c:v>      </c:v>
                  </c:pt>
                  <c:pt idx="267">
                    <c:v>       </c:v>
                  </c:pt>
                  <c:pt idx="268">
                    <c:v>        </c:v>
                  </c:pt>
                  <c:pt idx="269">
                    <c:v>         </c:v>
                  </c:pt>
                  <c:pt idx="270">
                    <c:v>Okt</c:v>
                  </c:pt>
                  <c:pt idx="271">
                    <c:v>           </c:v>
                  </c:pt>
                  <c:pt idx="272">
                    <c:v>            </c:v>
                  </c:pt>
                  <c:pt idx="273">
                    <c:v>             </c:v>
                  </c:pt>
                  <c:pt idx="274">
                    <c:v>              </c:v>
                  </c:pt>
                  <c:pt idx="275">
                    <c:v>               </c:v>
                  </c:pt>
                  <c:pt idx="276">
                    <c:v>                </c:v>
                  </c:pt>
                  <c:pt idx="277">
                    <c:v>                 </c:v>
                  </c:pt>
                  <c:pt idx="278">
                    <c:v>                  </c:v>
                  </c:pt>
                  <c:pt idx="279">
                    <c:v>                   </c:v>
                  </c:pt>
                  <c:pt idx="280">
                    <c:v>                    </c:v>
                  </c:pt>
                  <c:pt idx="281">
                    <c:v>                     </c:v>
                  </c:pt>
                  <c:pt idx="282">
                    <c:v>                      </c:v>
                  </c:pt>
                  <c:pt idx="283">
                    <c:v>                       </c:v>
                  </c:pt>
                  <c:pt idx="284">
                    <c:v>                        </c:v>
                  </c:pt>
                  <c:pt idx="285">
                    <c:v>                         </c:v>
                  </c:pt>
                  <c:pt idx="286">
                    <c:v>                          </c:v>
                  </c:pt>
                  <c:pt idx="287">
                    <c:v>                           </c:v>
                  </c:pt>
                  <c:pt idx="288">
                    <c:v>                            </c:v>
                  </c:pt>
                  <c:pt idx="289">
                    <c:v>                             </c:v>
                  </c:pt>
                  <c:pt idx="290">
                    <c:v> </c:v>
                  </c:pt>
                  <c:pt idx="291">
                    <c:v>  </c:v>
                  </c:pt>
                  <c:pt idx="292">
                    <c:v>   </c:v>
                  </c:pt>
                  <c:pt idx="293">
                    <c:v>    </c:v>
                  </c:pt>
                  <c:pt idx="294">
                    <c:v>     </c:v>
                  </c:pt>
                  <c:pt idx="295">
                    <c:v>      </c:v>
                  </c:pt>
                  <c:pt idx="296">
                    <c:v>       </c:v>
                  </c:pt>
                  <c:pt idx="297">
                    <c:v>        </c:v>
                  </c:pt>
                  <c:pt idx="298">
                    <c:v>         </c:v>
                  </c:pt>
                  <c:pt idx="299">
                    <c:v>          </c:v>
                  </c:pt>
                  <c:pt idx="300">
                    <c:v>Nov</c:v>
                  </c:pt>
                  <c:pt idx="301">
                    <c:v>            </c:v>
                  </c:pt>
                  <c:pt idx="302">
                    <c:v>             </c:v>
                  </c:pt>
                  <c:pt idx="303">
                    <c:v>              </c:v>
                  </c:pt>
                  <c:pt idx="304">
                    <c:v>               </c:v>
                  </c:pt>
                  <c:pt idx="305">
                    <c:v>                </c:v>
                  </c:pt>
                  <c:pt idx="306">
                    <c:v>                 </c:v>
                  </c:pt>
                  <c:pt idx="307">
                    <c:v>                  </c:v>
                  </c:pt>
                  <c:pt idx="308">
                    <c:v>                   </c:v>
                  </c:pt>
                  <c:pt idx="309">
                    <c:v>                    </c:v>
                  </c:pt>
                  <c:pt idx="310">
                    <c:v>                     </c:v>
                  </c:pt>
                  <c:pt idx="311">
                    <c:v>                      </c:v>
                  </c:pt>
                  <c:pt idx="312">
                    <c:v>                       </c:v>
                  </c:pt>
                  <c:pt idx="313">
                    <c:v>                        </c:v>
                  </c:pt>
                  <c:pt idx="314">
                    <c:v>                         </c:v>
                  </c:pt>
                  <c:pt idx="315">
                    <c:v>                          </c:v>
                  </c:pt>
                  <c:pt idx="316">
                    <c:v>                           </c:v>
                  </c:pt>
                  <c:pt idx="317">
                    <c:v>                            </c:v>
                  </c:pt>
                  <c:pt idx="318">
                    <c:v>                             </c:v>
                  </c:pt>
                  <c:pt idx="319">
                    <c:v> </c:v>
                  </c:pt>
                  <c:pt idx="320">
                    <c:v>  </c:v>
                  </c:pt>
                  <c:pt idx="321">
                    <c:v>   </c:v>
                  </c:pt>
                  <c:pt idx="322">
                    <c:v>    </c:v>
                  </c:pt>
                  <c:pt idx="323">
                    <c:v>     </c:v>
                  </c:pt>
                  <c:pt idx="324">
                    <c:v>      </c:v>
                  </c:pt>
                  <c:pt idx="325">
                    <c:v>       </c:v>
                  </c:pt>
                  <c:pt idx="326">
                    <c:v>        </c:v>
                  </c:pt>
                  <c:pt idx="327">
                    <c:v>         </c:v>
                  </c:pt>
                  <c:pt idx="328">
                    <c:v>          </c:v>
                  </c:pt>
                  <c:pt idx="329">
                    <c:v>           </c:v>
                  </c:pt>
                  <c:pt idx="330">
                    <c:v>Des</c:v>
                  </c:pt>
                  <c:pt idx="331">
                    <c:v>             </c:v>
                  </c:pt>
                  <c:pt idx="332">
                    <c:v>              </c:v>
                  </c:pt>
                  <c:pt idx="333">
                    <c:v>               </c:v>
                  </c:pt>
                  <c:pt idx="334">
                    <c:v>                </c:v>
                  </c:pt>
                  <c:pt idx="335">
                    <c:v>                 </c:v>
                  </c:pt>
                  <c:pt idx="336">
                    <c:v>                  </c:v>
                  </c:pt>
                  <c:pt idx="337">
                    <c:v>                   </c:v>
                  </c:pt>
                  <c:pt idx="338">
                    <c:v>                    </c:v>
                  </c:pt>
                  <c:pt idx="339">
                    <c:v>                     </c:v>
                  </c:pt>
                  <c:pt idx="340">
                    <c:v>                      </c:v>
                  </c:pt>
                  <c:pt idx="341">
                    <c:v>                       </c:v>
                  </c:pt>
                  <c:pt idx="342">
                    <c:v>                        </c:v>
                  </c:pt>
                  <c:pt idx="343">
                    <c:v>                         </c:v>
                  </c:pt>
                  <c:pt idx="344">
                    <c:v>                          </c:v>
                  </c:pt>
                  <c:pt idx="345">
                    <c:v>                           </c:v>
                  </c:pt>
                  <c:pt idx="346">
                    <c:v>                            </c:v>
                  </c:pt>
                  <c:pt idx="347">
                    <c:v>                             </c:v>
                  </c:pt>
                  <c:pt idx="348">
                    <c:v> </c:v>
                  </c:pt>
                  <c:pt idx="349">
                    <c:v>  </c:v>
                  </c:pt>
                  <c:pt idx="350">
                    <c:v>   </c:v>
                  </c:pt>
                  <c:pt idx="351">
                    <c:v>    </c:v>
                  </c:pt>
                  <c:pt idx="352">
                    <c:v>     </c:v>
                  </c:pt>
                  <c:pt idx="353">
                    <c:v>      </c:v>
                  </c:pt>
                  <c:pt idx="354">
                    <c:v>       </c:v>
                  </c:pt>
                  <c:pt idx="355">
                    <c:v>        </c:v>
                  </c:pt>
                  <c:pt idx="356">
                    <c:v>         </c:v>
                  </c:pt>
                  <c:pt idx="357">
                    <c:v>          </c:v>
                  </c:pt>
                  <c:pt idx="358">
                    <c:v>           </c:v>
                  </c:pt>
                  <c:pt idx="359">
                    <c:v>            </c:v>
                  </c:pt>
                  <c:pt idx="360">
                    <c:v/>
                  </c:pt>
                  <c:pt idx="361">
                    <c:v>              </c:v>
                  </c:pt>
                  <c:pt idx="362">
                    <c:v>               </c:v>
                  </c:pt>
                  <c:pt idx="363">
                    <c:v>                </c:v>
                  </c:pt>
                  <c:pt idx="364">
                    <c:v>                 </c:v>
                  </c:pt>
                </c:lvl>
              </c:multiLvlStrCache>
            </c:multiLvlStrRef>
          </c:cat>
          <c:val>
            <c:numRef>
              <c:f>Sheet1!$B$2:$B$366</c:f>
              <c:numCache>
                <c:formatCode>General</c:formatCode>
                <c:ptCount val="365"/>
                <c:pt idx="0">
                  <c:v>768.3679784506738</c:v>
                </c:pt>
                <c:pt idx="1">
                  <c:v>763.2545828010383</c:v>
                </c:pt>
                <c:pt idx="2">
                  <c:v>760.9399207561969</c:v>
                </c:pt>
                <c:pt idx="3">
                  <c:v>741.9042489344962</c:v>
                </c:pt>
                <c:pt idx="4">
                  <c:v>736.6707429605493</c:v>
                </c:pt>
                <c:pt idx="5">
                  <c:v>748.9226313386926</c:v>
                </c:pt>
                <c:pt idx="6">
                  <c:v>100.28755994972609</c:v>
                </c:pt>
                <c:pt idx="7">
                  <c:v>689.1907113260268</c:v>
                </c:pt>
                <c:pt idx="8">
                  <c:v>725.4320258104126</c:v>
                </c:pt>
                <c:pt idx="9">
                  <c:v>743.2892647603974</c:v>
                </c:pt>
                <c:pt idx="10">
                  <c:v>783.2617714640689</c:v>
                </c:pt>
                <c:pt idx="11">
                  <c:v>755.655398580899</c:v>
                </c:pt>
                <c:pt idx="12">
                  <c:v>719.3832367035254</c:v>
                </c:pt>
                <c:pt idx="13">
                  <c:v>96.84564614656418</c:v>
                </c:pt>
                <c:pt idx="14">
                  <c:v>594.5971465285724</c:v>
                </c:pt>
                <c:pt idx="15">
                  <c:v>704.6486690218399</c:v>
                </c:pt>
                <c:pt idx="16">
                  <c:v>718.9335650448468</c:v>
                </c:pt>
                <c:pt idx="17">
                  <c:v>726.9798915334072</c:v>
                </c:pt>
                <c:pt idx="18">
                  <c:v>728.4529281290777</c:v>
                </c:pt>
                <c:pt idx="19">
                  <c:v>761.5821092511812</c:v>
                </c:pt>
                <c:pt idx="20">
                  <c:v>101.46306653009907</c:v>
                </c:pt>
                <c:pt idx="21">
                  <c:v>629.9803988149001</c:v>
                </c:pt>
                <c:pt idx="22">
                  <c:v>800.7070579388101</c:v>
                </c:pt>
                <c:pt idx="23">
                  <c:v>796.1419763618175</c:v>
                </c:pt>
                <c:pt idx="24">
                  <c:v>801.0513677851748</c:v>
                </c:pt>
                <c:pt idx="25">
                  <c:v>747.6867416420181</c:v>
                </c:pt>
                <c:pt idx="26">
                  <c:v>695.5633444432325</c:v>
                </c:pt>
                <c:pt idx="27">
                  <c:v>93.96406777415741</c:v>
                </c:pt>
                <c:pt idx="28">
                  <c:v>628.048656928941</c:v>
                </c:pt>
                <c:pt idx="29">
                  <c:v>723.8472558429917</c:v>
                </c:pt>
                <c:pt idx="30">
                  <c:v>700.4356537863368</c:v>
                </c:pt>
                <c:pt idx="31">
                  <c:v>679.4801467684202</c:v>
                </c:pt>
                <c:pt idx="32">
                  <c:v>707.6476955713072</c:v>
                </c:pt>
                <c:pt idx="33">
                  <c:v>640.025797676147</c:v>
                </c:pt>
                <c:pt idx="34">
                  <c:v>86.92471751507424</c:v>
                </c:pt>
                <c:pt idx="35">
                  <c:v>519.0128344503712</c:v>
                </c:pt>
                <c:pt idx="36">
                  <c:v>590.3866450460995</c:v>
                </c:pt>
                <c:pt idx="37">
                  <c:v>600.5765262444633</c:v>
                </c:pt>
                <c:pt idx="38">
                  <c:v>592.3791243062188</c:v>
                </c:pt>
                <c:pt idx="39">
                  <c:v>622.8170178627206</c:v>
                </c:pt>
                <c:pt idx="40">
                  <c:v>83.85070839398463</c:v>
                </c:pt>
                <c:pt idx="41">
                  <c:v>11.701921700195044</c:v>
                </c:pt>
                <c:pt idx="42">
                  <c:v>-2.2836900373969407</c:v>
                </c:pt>
                <c:pt idx="43">
                  <c:v>-5.5773619422948535</c:v>
                </c:pt>
                <c:pt idx="44">
                  <c:v>-6.741675830192069</c:v>
                </c:pt>
                <c:pt idx="45">
                  <c:v>-7.447121803592676</c:v>
                </c:pt>
                <c:pt idx="46">
                  <c:v>-8.038961382843869</c:v>
                </c:pt>
                <c:pt idx="47">
                  <c:v>-8.591285217498298</c:v>
                </c:pt>
                <c:pt idx="48">
                  <c:v>-9.12060590709358</c:v>
                </c:pt>
                <c:pt idx="49">
                  <c:v>-9.630981569677049</c:v>
                </c:pt>
                <c:pt idx="50">
                  <c:v>-10.123650906226699</c:v>
                </c:pt>
                <c:pt idx="51">
                  <c:v>-10.599240543710229</c:v>
                </c:pt>
                <c:pt idx="52">
                  <c:v>-11.058263085448704</c:v>
                </c:pt>
                <c:pt idx="53">
                  <c:v>-11.501218936656224</c:v>
                </c:pt>
                <c:pt idx="54">
                  <c:v>484.2919188654207</c:v>
                </c:pt>
                <c:pt idx="55">
                  <c:v>64.738679934338</c:v>
                </c:pt>
                <c:pt idx="56">
                  <c:v>480.55585219629995</c:v>
                </c:pt>
                <c:pt idx="57">
                  <c:v>547.0422257824972</c:v>
                </c:pt>
                <c:pt idx="58">
                  <c:v>535.9210540601863</c:v>
                </c:pt>
                <c:pt idx="59">
                  <c:v>579.4691547732244</c:v>
                </c:pt>
                <c:pt idx="60">
                  <c:v>547.3319690563219</c:v>
                </c:pt>
                <c:pt idx="61">
                  <c:v>514.0333239906743</c:v>
                </c:pt>
                <c:pt idx="62">
                  <c:v>69.26574861953189</c:v>
                </c:pt>
                <c:pt idx="63">
                  <c:v>505.01307612686617</c:v>
                </c:pt>
                <c:pt idx="64">
                  <c:v>525.7264348207375</c:v>
                </c:pt>
                <c:pt idx="65">
                  <c:v>581.9246505487791</c:v>
                </c:pt>
                <c:pt idx="66">
                  <c:v>608.0149121639197</c:v>
                </c:pt>
                <c:pt idx="67">
                  <c:v>577.8330080300808</c:v>
                </c:pt>
                <c:pt idx="68">
                  <c:v>540.3603161329995</c:v>
                </c:pt>
                <c:pt idx="69">
                  <c:v>72.81258720884821</c:v>
                </c:pt>
                <c:pt idx="70">
                  <c:v>520.5767316102854</c:v>
                </c:pt>
                <c:pt idx="71">
                  <c:v>506.62484104448833</c:v>
                </c:pt>
                <c:pt idx="72">
                  <c:v>524.9086352940059</c:v>
                </c:pt>
                <c:pt idx="73">
                  <c:v>492.44161632671046</c:v>
                </c:pt>
                <c:pt idx="74">
                  <c:v>520.1653599551869</c:v>
                </c:pt>
                <c:pt idx="75">
                  <c:v>504.4034729187239</c:v>
                </c:pt>
                <c:pt idx="76">
                  <c:v>68.10393310864534</c:v>
                </c:pt>
                <c:pt idx="77">
                  <c:v>415.24248914583933</c:v>
                </c:pt>
                <c:pt idx="78">
                  <c:v>497.61308450619384</c:v>
                </c:pt>
                <c:pt idx="79">
                  <c:v>482.1615709059359</c:v>
                </c:pt>
                <c:pt idx="80">
                  <c:v>500.0439556132919</c:v>
                </c:pt>
                <c:pt idx="81">
                  <c:v>487.93079572197496</c:v>
                </c:pt>
                <c:pt idx="82">
                  <c:v>509.6225916989912</c:v>
                </c:pt>
                <c:pt idx="83">
                  <c:v>68.57672631311047</c:v>
                </c:pt>
                <c:pt idx="84">
                  <c:v>442.8731677577808</c:v>
                </c:pt>
                <c:pt idx="85">
                  <c:v>483.3639529847185</c:v>
                </c:pt>
                <c:pt idx="86">
                  <c:v>485.2195583703452</c:v>
                </c:pt>
                <c:pt idx="87">
                  <c:v>515.8523297273598</c:v>
                </c:pt>
                <c:pt idx="88">
                  <c:v>520.21747480627</c:v>
                </c:pt>
                <c:pt idx="89">
                  <c:v>512.37445768151</c:v>
                </c:pt>
                <c:pt idx="90">
                  <c:v>62.98856658688169</c:v>
                </c:pt>
                <c:pt idx="91">
                  <c:v>495.22909703851343</c:v>
                </c:pt>
                <c:pt idx="92">
                  <c:v>513.8956540031567</c:v>
                </c:pt>
                <c:pt idx="93">
                  <c:v>544.7290509297571</c:v>
                </c:pt>
                <c:pt idx="94">
                  <c:v>569.506969325249</c:v>
                </c:pt>
                <c:pt idx="95">
                  <c:v>600.5908935258185</c:v>
                </c:pt>
                <c:pt idx="96">
                  <c:v>573.72133956595</c:v>
                </c:pt>
                <c:pt idx="97">
                  <c:v>76.99504177300308</c:v>
                </c:pt>
                <c:pt idx="98">
                  <c:v>517.1119639193201</c:v>
                </c:pt>
                <c:pt idx="99">
                  <c:v>530.4988694408237</c:v>
                </c:pt>
                <c:pt idx="100">
                  <c:v>535.2575243993851</c:v>
                </c:pt>
                <c:pt idx="101">
                  <c:v>514.247550627038</c:v>
                </c:pt>
                <c:pt idx="102">
                  <c:v>492.4920812607673</c:v>
                </c:pt>
                <c:pt idx="103">
                  <c:v>521.1091442876542</c:v>
                </c:pt>
                <c:pt idx="104">
                  <c:v>70.12839031850828</c:v>
                </c:pt>
                <c:pt idx="105">
                  <c:v>452.0376351321714</c:v>
                </c:pt>
                <c:pt idx="106">
                  <c:v>513.1738233099393</c:v>
                </c:pt>
                <c:pt idx="107">
                  <c:v>501.44882995777505</c:v>
                </c:pt>
                <c:pt idx="108">
                  <c:v>528.7047295727264</c:v>
                </c:pt>
                <c:pt idx="109">
                  <c:v>538.6308780116776</c:v>
                </c:pt>
                <c:pt idx="110">
                  <c:v>542.8312269176494</c:v>
                </c:pt>
                <c:pt idx="111">
                  <c:v>72.96168218590942</c:v>
                </c:pt>
                <c:pt idx="112">
                  <c:v>481.21165528299036</c:v>
                </c:pt>
                <c:pt idx="113">
                  <c:v>511.48912894132417</c:v>
                </c:pt>
                <c:pt idx="114">
                  <c:v>511.39657505529107</c:v>
                </c:pt>
                <c:pt idx="115">
                  <c:v>508.2458830335086</c:v>
                </c:pt>
                <c:pt idx="116">
                  <c:v>513.949688699804</c:v>
                </c:pt>
                <c:pt idx="117">
                  <c:v>545.8196136193272</c:v>
                </c:pt>
                <c:pt idx="118">
                  <c:v>73.20653671344436</c:v>
                </c:pt>
                <c:pt idx="119">
                  <c:v>479.64915575970997</c:v>
                </c:pt>
                <c:pt idx="120">
                  <c:v>515.5009712424625</c:v>
                </c:pt>
                <c:pt idx="121">
                  <c:v>502.5275425926084</c:v>
                </c:pt>
                <c:pt idx="122">
                  <c:v>490.4358795806644</c:v>
                </c:pt>
                <c:pt idx="123">
                  <c:v>514.9599476323913</c:v>
                </c:pt>
                <c:pt idx="124">
                  <c:v>482.757927811433</c:v>
                </c:pt>
                <c:pt idx="125">
                  <c:v>65.25636233230091</c:v>
                </c:pt>
                <c:pt idx="126">
                  <c:v>444.86741152833537</c:v>
                </c:pt>
                <c:pt idx="127">
                  <c:v>491.2117635032437</c:v>
                </c:pt>
                <c:pt idx="128">
                  <c:v>492.54262736438756</c:v>
                </c:pt>
                <c:pt idx="129">
                  <c:v>501.41111811257167</c:v>
                </c:pt>
                <c:pt idx="130">
                  <c:v>505.9461506925079</c:v>
                </c:pt>
                <c:pt idx="131">
                  <c:v>537.235894512656</c:v>
                </c:pt>
                <c:pt idx="132">
                  <c:v>72.07772528907613</c:v>
                </c:pt>
                <c:pt idx="133">
                  <c:v>491.76893440583234</c:v>
                </c:pt>
                <c:pt idx="134">
                  <c:v>547.371722988313</c:v>
                </c:pt>
                <c:pt idx="135">
                  <c:v>557.8870081937662</c:v>
                </c:pt>
                <c:pt idx="136">
                  <c:v>542.5066245664198</c:v>
                </c:pt>
                <c:pt idx="137">
                  <c:v>528.9203807406616</c:v>
                </c:pt>
                <c:pt idx="138">
                  <c:v>537.6919068775023</c:v>
                </c:pt>
                <c:pt idx="139">
                  <c:v>72.31867434109895</c:v>
                </c:pt>
                <c:pt idx="140">
                  <c:v>506.6885677805927</c:v>
                </c:pt>
                <c:pt idx="141">
                  <c:v>515.2468337905409</c:v>
                </c:pt>
                <c:pt idx="142">
                  <c:v>531.9234925858658</c:v>
                </c:pt>
                <c:pt idx="143">
                  <c:v>523.4314682295322</c:v>
                </c:pt>
                <c:pt idx="144">
                  <c:v>554.4827798011347</c:v>
                </c:pt>
                <c:pt idx="145">
                  <c:v>526.6481293276889</c:v>
                </c:pt>
                <c:pt idx="146">
                  <c:v>71.04191468460567</c:v>
                </c:pt>
                <c:pt idx="147">
                  <c:v>504.6828997594883</c:v>
                </c:pt>
                <c:pt idx="148">
                  <c:v>503.8743633597673</c:v>
                </c:pt>
                <c:pt idx="149">
                  <c:v>506.0232141559187</c:v>
                </c:pt>
                <c:pt idx="150">
                  <c:v>520.9146741428152</c:v>
                </c:pt>
                <c:pt idx="151">
                  <c:v>532.45837537827</c:v>
                </c:pt>
                <c:pt idx="152">
                  <c:v>572.375952342696</c:v>
                </c:pt>
                <c:pt idx="153">
                  <c:v>76.65820996324365</c:v>
                </c:pt>
                <c:pt idx="154">
                  <c:v>517.3108445180361</c:v>
                </c:pt>
                <c:pt idx="155">
                  <c:v>568.7192894255738</c:v>
                </c:pt>
                <c:pt idx="156">
                  <c:v>558.8795140209793</c:v>
                </c:pt>
                <c:pt idx="157">
                  <c:v>556.8598944468981</c:v>
                </c:pt>
                <c:pt idx="158">
                  <c:v>565.4524723639123</c:v>
                </c:pt>
                <c:pt idx="159">
                  <c:v>555.2460218946713</c:v>
                </c:pt>
                <c:pt idx="160">
                  <c:v>74.72645299875771</c:v>
                </c:pt>
                <c:pt idx="161">
                  <c:v>516.6048641198687</c:v>
                </c:pt>
                <c:pt idx="162">
                  <c:v>483.2522401297569</c:v>
                </c:pt>
                <c:pt idx="163">
                  <c:v>543.3139974497193</c:v>
                </c:pt>
                <c:pt idx="164">
                  <c:v>560.6924402356055</c:v>
                </c:pt>
                <c:pt idx="165">
                  <c:v>559.7074134312039</c:v>
                </c:pt>
                <c:pt idx="166">
                  <c:v>562.4193409177924</c:v>
                </c:pt>
                <c:pt idx="167">
                  <c:v>75.59397928109385</c:v>
                </c:pt>
                <c:pt idx="168">
                  <c:v>483.2125387090579</c:v>
                </c:pt>
                <c:pt idx="169">
                  <c:v>552.411209769747</c:v>
                </c:pt>
                <c:pt idx="170">
                  <c:v>583.665909273985</c:v>
                </c:pt>
                <c:pt idx="171">
                  <c:v>560.9765289317653</c:v>
                </c:pt>
                <c:pt idx="172">
                  <c:v>550.5847736715809</c:v>
                </c:pt>
                <c:pt idx="173">
                  <c:v>558.3331451540107</c:v>
                </c:pt>
                <c:pt idx="174">
                  <c:v>75.10981365473529</c:v>
                </c:pt>
                <c:pt idx="175">
                  <c:v>517.3785480493924</c:v>
                </c:pt>
                <c:pt idx="176">
                  <c:v>569.5800339777295</c:v>
                </c:pt>
                <c:pt idx="177">
                  <c:v>647.8532512511367</c:v>
                </c:pt>
                <c:pt idx="178">
                  <c:v>640.3119689819579</c:v>
                </c:pt>
                <c:pt idx="179">
                  <c:v>665.5186731710307</c:v>
                </c:pt>
                <c:pt idx="180">
                  <c:v>618.5448549596725</c:v>
                </c:pt>
                <c:pt idx="181">
                  <c:v>83.0837004362628</c:v>
                </c:pt>
                <c:pt idx="182">
                  <c:v>561.6575634412004</c:v>
                </c:pt>
                <c:pt idx="183">
                  <c:v>648.7529293716711</c:v>
                </c:pt>
                <c:pt idx="184">
                  <c:v>669.4636852865103</c:v>
                </c:pt>
                <c:pt idx="185">
                  <c:v>659.5531885165461</c:v>
                </c:pt>
                <c:pt idx="186">
                  <c:v>651.1955974258855</c:v>
                </c:pt>
                <c:pt idx="187">
                  <c:v>662.0603665641988</c:v>
                </c:pt>
                <c:pt idx="188">
                  <c:v>88.51366208532389</c:v>
                </c:pt>
                <c:pt idx="189">
                  <c:v>573.2590975397471</c:v>
                </c:pt>
                <c:pt idx="190">
                  <c:v>658.7921117758942</c:v>
                </c:pt>
                <c:pt idx="191">
                  <c:v>686.325454355043</c:v>
                </c:pt>
                <c:pt idx="192">
                  <c:v>665.3593608812168</c:v>
                </c:pt>
                <c:pt idx="193">
                  <c:v>713.1206748946536</c:v>
                </c:pt>
                <c:pt idx="194">
                  <c:v>756.8233337318247</c:v>
                </c:pt>
                <c:pt idx="195">
                  <c:v>100.24320407063104</c:v>
                </c:pt>
                <c:pt idx="196">
                  <c:v>638.5180202716053</c:v>
                </c:pt>
                <c:pt idx="197">
                  <c:v>729.4199109784643</c:v>
                </c:pt>
                <c:pt idx="198">
                  <c:v>794.083488541718</c:v>
                </c:pt>
                <c:pt idx="199">
                  <c:v>796.3627185287343</c:v>
                </c:pt>
                <c:pt idx="200">
                  <c:v>805.421406633429</c:v>
                </c:pt>
                <c:pt idx="201">
                  <c:v>783.1547904722538</c:v>
                </c:pt>
                <c:pt idx="202">
                  <c:v>104.15520894697393</c:v>
                </c:pt>
                <c:pt idx="203">
                  <c:v>620.9157113422502</c:v>
                </c:pt>
                <c:pt idx="204">
                  <c:v>662.6671602999752</c:v>
                </c:pt>
                <c:pt idx="205">
                  <c:v>687.8327721938701</c:v>
                </c:pt>
                <c:pt idx="206">
                  <c:v>710.9515338013115</c:v>
                </c:pt>
                <c:pt idx="207">
                  <c:v>783.6388727104147</c:v>
                </c:pt>
                <c:pt idx="208">
                  <c:v>744.5240366271519</c:v>
                </c:pt>
                <c:pt idx="209">
                  <c:v>99.5244261565706</c:v>
                </c:pt>
                <c:pt idx="210">
                  <c:v>628.3460306043693</c:v>
                </c:pt>
                <c:pt idx="211">
                  <c:v>719.9666099085298</c:v>
                </c:pt>
                <c:pt idx="212">
                  <c:v>767.1870366707143</c:v>
                </c:pt>
                <c:pt idx="213">
                  <c:v>748.8141585806724</c:v>
                </c:pt>
                <c:pt idx="214">
                  <c:v>739.741356054417</c:v>
                </c:pt>
                <c:pt idx="215">
                  <c:v>780.2598977319311</c:v>
                </c:pt>
                <c:pt idx="216">
                  <c:v>103.67149475076526</c:v>
                </c:pt>
                <c:pt idx="217">
                  <c:v>695.9858708710666</c:v>
                </c:pt>
                <c:pt idx="218">
                  <c:v>799.2423285683936</c:v>
                </c:pt>
                <c:pt idx="219">
                  <c:v>824.1385079127409</c:v>
                </c:pt>
                <c:pt idx="220">
                  <c:v>818.410563460687</c:v>
                </c:pt>
                <c:pt idx="221">
                  <c:v>894.5215980506484</c:v>
                </c:pt>
                <c:pt idx="222">
                  <c:v>906.7211549465997</c:v>
                </c:pt>
                <c:pt idx="223">
                  <c:v>119.4578979420724</c:v>
                </c:pt>
                <c:pt idx="224">
                  <c:v>791.1910735594537</c:v>
                </c:pt>
                <c:pt idx="225">
                  <c:v>847.881791472239</c:v>
                </c:pt>
                <c:pt idx="226">
                  <c:v>847.4257314173817</c:v>
                </c:pt>
                <c:pt idx="227">
                  <c:v>776.6775371901394</c:v>
                </c:pt>
                <c:pt idx="228">
                  <c:v>798.1340190536421</c:v>
                </c:pt>
                <c:pt idx="229">
                  <c:v>778.106568545312</c:v>
                </c:pt>
                <c:pt idx="230">
                  <c:v>104.33450356615134</c:v>
                </c:pt>
                <c:pt idx="231">
                  <c:v>731.8626573061446</c:v>
                </c:pt>
                <c:pt idx="232">
                  <c:v>832.9928304718644</c:v>
                </c:pt>
                <c:pt idx="233">
                  <c:v>858.5256129010415</c:v>
                </c:pt>
                <c:pt idx="234">
                  <c:v>833.0357429156068</c:v>
                </c:pt>
                <c:pt idx="235">
                  <c:v>816.3113346695466</c:v>
                </c:pt>
                <c:pt idx="236">
                  <c:v>847.8709627452538</c:v>
                </c:pt>
                <c:pt idx="237">
                  <c:v>112.61645906042243</c:v>
                </c:pt>
                <c:pt idx="238">
                  <c:v>754.9232307131343</c:v>
                </c:pt>
                <c:pt idx="239">
                  <c:v>854.4302622675655</c:v>
                </c:pt>
                <c:pt idx="240">
                  <c:v>841.0987282849369</c:v>
                </c:pt>
                <c:pt idx="241">
                  <c:v>883.8231221979801</c:v>
                </c:pt>
                <c:pt idx="242">
                  <c:v>890.7489840726731</c:v>
                </c:pt>
                <c:pt idx="243">
                  <c:v>924.0311659808438</c:v>
                </c:pt>
                <c:pt idx="244">
                  <c:v>121.98898765930551</c:v>
                </c:pt>
                <c:pt idx="245">
                  <c:v>836.1631390145508</c:v>
                </c:pt>
                <c:pt idx="246">
                  <c:v>928.2232337066281</c:v>
                </c:pt>
                <c:pt idx="247">
                  <c:v>970.4147471164976</c:v>
                </c:pt>
                <c:pt idx="248">
                  <c:v>1011.3173134004821</c:v>
                </c:pt>
                <c:pt idx="249">
                  <c:v>1009.968668501452</c:v>
                </c:pt>
                <c:pt idx="250">
                  <c:v>999.5012293789945</c:v>
                </c:pt>
                <c:pt idx="251">
                  <c:v>132.558182467527</c:v>
                </c:pt>
                <c:pt idx="252">
                  <c:v>860.8360137886293</c:v>
                </c:pt>
                <c:pt idx="253">
                  <c:v>913.3194308581984</c:v>
                </c:pt>
                <c:pt idx="254">
                  <c:v>902.6445791164641</c:v>
                </c:pt>
                <c:pt idx="255">
                  <c:v>879.1516187487257</c:v>
                </c:pt>
                <c:pt idx="256">
                  <c:v>869.5969310430788</c:v>
                </c:pt>
                <c:pt idx="257">
                  <c:v>893.4627663450083</c:v>
                </c:pt>
                <c:pt idx="258">
                  <c:v>119.01288760865603</c:v>
                </c:pt>
                <c:pt idx="259">
                  <c:v>789.7793727375507</c:v>
                </c:pt>
                <c:pt idx="260">
                  <c:v>841.4912400456568</c:v>
                </c:pt>
                <c:pt idx="261">
                  <c:v>827.719208260239</c:v>
                </c:pt>
                <c:pt idx="262">
                  <c:v>829.0964901110323</c:v>
                </c:pt>
                <c:pt idx="263">
                  <c:v>885.844754198015</c:v>
                </c:pt>
                <c:pt idx="264">
                  <c:v>920.1450676930714</c:v>
                </c:pt>
                <c:pt idx="265">
                  <c:v>121.86036777297481</c:v>
                </c:pt>
                <c:pt idx="266">
                  <c:v>783.1089228363907</c:v>
                </c:pt>
                <c:pt idx="267">
                  <c:v>847.4054812405365</c:v>
                </c:pt>
                <c:pt idx="268">
                  <c:v>883.3636269446132</c:v>
                </c:pt>
                <c:pt idx="269">
                  <c:v>955.8326545897456</c:v>
                </c:pt>
                <c:pt idx="270">
                  <c:v>971.3042455617422</c:v>
                </c:pt>
                <c:pt idx="271">
                  <c:v>989.1008479304521</c:v>
                </c:pt>
                <c:pt idx="272">
                  <c:v>130.90287385861208</c:v>
                </c:pt>
                <c:pt idx="273">
                  <c:v>922.0248589290394</c:v>
                </c:pt>
                <c:pt idx="274">
                  <c:v>1033.3116376380851</c:v>
                </c:pt>
                <c:pt idx="275">
                  <c:v>1027.3556040510973</c:v>
                </c:pt>
                <c:pt idx="276">
                  <c:v>1006.726927455662</c:v>
                </c:pt>
                <c:pt idx="277">
                  <c:v>1030.0150431785357</c:v>
                </c:pt>
                <c:pt idx="278">
                  <c:v>989.37058414144</c:v>
                </c:pt>
                <c:pt idx="279">
                  <c:v>131.93456641993475</c:v>
                </c:pt>
                <c:pt idx="280">
                  <c:v>809.8853153270122</c:v>
                </c:pt>
                <c:pt idx="281">
                  <c:v>892.7228089409297</c:v>
                </c:pt>
                <c:pt idx="282">
                  <c:v>880.7963076220808</c:v>
                </c:pt>
                <c:pt idx="283">
                  <c:v>899.7822272691212</c:v>
                </c:pt>
                <c:pt idx="284">
                  <c:v>883.0389483852543</c:v>
                </c:pt>
                <c:pt idx="285">
                  <c:v>942.6209940581105</c:v>
                </c:pt>
                <c:pt idx="286">
                  <c:v>124.94474199140527</c:v>
                </c:pt>
                <c:pt idx="287">
                  <c:v>750.7757148871733</c:v>
                </c:pt>
                <c:pt idx="288">
                  <c:v>879.2513400841874</c:v>
                </c:pt>
                <c:pt idx="289">
                  <c:v>900.5160616756109</c:v>
                </c:pt>
                <c:pt idx="290">
                  <c:v>933.1710541457816</c:v>
                </c:pt>
                <c:pt idx="291">
                  <c:v>962.7356824089919</c:v>
                </c:pt>
                <c:pt idx="292">
                  <c:v>971.4035283339122</c:v>
                </c:pt>
                <c:pt idx="293">
                  <c:v>128.8163913905642</c:v>
                </c:pt>
                <c:pt idx="294">
                  <c:v>827.6786620970863</c:v>
                </c:pt>
                <c:pt idx="295">
                  <c:v>876.2131969777753</c:v>
                </c:pt>
                <c:pt idx="296">
                  <c:v>906.2688841602496</c:v>
                </c:pt>
                <c:pt idx="297">
                  <c:v>945.5988029297345</c:v>
                </c:pt>
                <c:pt idx="298">
                  <c:v>958.4729157865055</c:v>
                </c:pt>
                <c:pt idx="299">
                  <c:v>957.8561228788726</c:v>
                </c:pt>
                <c:pt idx="300">
                  <c:v>127.11704357042953</c:v>
                </c:pt>
                <c:pt idx="301">
                  <c:v>817.3308241181071</c:v>
                </c:pt>
                <c:pt idx="302">
                  <c:v>892.323270290525</c:v>
                </c:pt>
                <c:pt idx="303">
                  <c:v>987.4870523324672</c:v>
                </c:pt>
                <c:pt idx="304">
                  <c:v>956.0163335126454</c:v>
                </c:pt>
                <c:pt idx="305">
                  <c:v>947.0310198542654</c:v>
                </c:pt>
                <c:pt idx="306">
                  <c:v>973.9987717251194</c:v>
                </c:pt>
                <c:pt idx="307">
                  <c:v>129.24074898565652</c:v>
                </c:pt>
                <c:pt idx="308">
                  <c:v>832.4250069465675</c:v>
                </c:pt>
                <c:pt idx="309">
                  <c:v>958.2623637485259</c:v>
                </c:pt>
                <c:pt idx="310">
                  <c:v>984.2641751082633</c:v>
                </c:pt>
                <c:pt idx="311">
                  <c:v>959.1846441675023</c:v>
                </c:pt>
                <c:pt idx="312">
                  <c:v>998.777178751973</c:v>
                </c:pt>
                <c:pt idx="313">
                  <c:v>1030.6537218446267</c:v>
                </c:pt>
                <c:pt idx="314">
                  <c:v>136.98089457370511</c:v>
                </c:pt>
                <c:pt idx="315">
                  <c:v>880.6515304484444</c:v>
                </c:pt>
                <c:pt idx="316">
                  <c:v>923.5127011427477</c:v>
                </c:pt>
                <c:pt idx="317">
                  <c:v>913.5348255096472</c:v>
                </c:pt>
                <c:pt idx="318">
                  <c:v>951.7585201933632</c:v>
                </c:pt>
                <c:pt idx="319">
                  <c:v>927.8611797577696</c:v>
                </c:pt>
                <c:pt idx="320">
                  <c:v>978.3379421537993</c:v>
                </c:pt>
                <c:pt idx="321">
                  <c:v>129.87094939203547</c:v>
                </c:pt>
                <c:pt idx="322">
                  <c:v>814.9927087012977</c:v>
                </c:pt>
                <c:pt idx="323">
                  <c:v>894.9992359101507</c:v>
                </c:pt>
                <c:pt idx="324">
                  <c:v>917.8953131217825</c:v>
                </c:pt>
                <c:pt idx="325">
                  <c:v>862.3740501372705</c:v>
                </c:pt>
                <c:pt idx="326">
                  <c:v>825.1245711136277</c:v>
                </c:pt>
                <c:pt idx="327">
                  <c:v>843.5648105188219</c:v>
                </c:pt>
                <c:pt idx="328">
                  <c:v>113.13708073774269</c:v>
                </c:pt>
                <c:pt idx="329">
                  <c:v>781.7087250660909</c:v>
                </c:pt>
                <c:pt idx="330">
                  <c:v>878.2717969173037</c:v>
                </c:pt>
                <c:pt idx="331">
                  <c:v>870.1096759368874</c:v>
                </c:pt>
                <c:pt idx="332">
                  <c:v>899.5974884291131</c:v>
                </c:pt>
                <c:pt idx="333">
                  <c:v>931.6481056367558</c:v>
                </c:pt>
                <c:pt idx="334">
                  <c:v>938.9899613963297</c:v>
                </c:pt>
                <c:pt idx="335">
                  <c:v>124.42942082276461</c:v>
                </c:pt>
                <c:pt idx="336">
                  <c:v>777.4438742803163</c:v>
                </c:pt>
                <c:pt idx="337">
                  <c:v>867.9053499497309</c:v>
                </c:pt>
                <c:pt idx="338">
                  <c:v>879.3137564454967</c:v>
                </c:pt>
                <c:pt idx="339">
                  <c:v>845.8336991533221</c:v>
                </c:pt>
                <c:pt idx="340">
                  <c:v>832.0994151199175</c:v>
                </c:pt>
                <c:pt idx="341">
                  <c:v>789.0273252756592</c:v>
                </c:pt>
                <c:pt idx="342">
                  <c:v>106.49451928068181</c:v>
                </c:pt>
                <c:pt idx="343">
                  <c:v>675.2007071545863</c:v>
                </c:pt>
                <c:pt idx="344">
                  <c:v>827.6683266779745</c:v>
                </c:pt>
                <c:pt idx="345">
                  <c:v>770.3209140296923</c:v>
                </c:pt>
                <c:pt idx="346">
                  <c:v>763.666623949035</c:v>
                </c:pt>
                <c:pt idx="347">
                  <c:v>738.1653164289673</c:v>
                </c:pt>
                <c:pt idx="348">
                  <c:v>806.0428213372371</c:v>
                </c:pt>
                <c:pt idx="349">
                  <c:v>107.45439987366629</c:v>
                </c:pt>
                <c:pt idx="350">
                  <c:v>716.8076877213641</c:v>
                </c:pt>
                <c:pt idx="351">
                  <c:v>841.1017368769885</c:v>
                </c:pt>
                <c:pt idx="352">
                  <c:v>898.3018210334839</c:v>
                </c:pt>
                <c:pt idx="353">
                  <c:v>888.7958805706901</c:v>
                </c:pt>
                <c:pt idx="354">
                  <c:v>898.3334656160675</c:v>
                </c:pt>
                <c:pt idx="355">
                  <c:v>928.3696498576332</c:v>
                </c:pt>
                <c:pt idx="356">
                  <c:v>122.54429213821294</c:v>
                </c:pt>
                <c:pt idx="357">
                  <c:v>729.2904311898542</c:v>
                </c:pt>
                <c:pt idx="358">
                  <c:v>882.5283049997333</c:v>
                </c:pt>
                <c:pt idx="359">
                  <c:v>922.5427515592849</c:v>
                </c:pt>
                <c:pt idx="360">
                  <c:v>869.6509769875148</c:v>
                </c:pt>
                <c:pt idx="361">
                  <c:v>813.3623229773551</c:v>
                </c:pt>
                <c:pt idx="362">
                  <c:v>877.6966390457796</c:v>
                </c:pt>
                <c:pt idx="363">
                  <c:v>116.44292617609949</c:v>
                </c:pt>
                <c:pt idx="364">
                  <c:v>711.606209036783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0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MWh neto per blok 30 hari</c:v>
                </c:pt>
              </c:strCache>
            </c:strRef>
          </c:tx>
          <c:spPr>
            <a:solidFill>
              <a:srgbClr val="2B9F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465.28929512530414</c:v>
                </c:pt>
                <c:pt idx="1">
                  <c:v>202.23704682649614</c:v>
                </c:pt>
                <c:pt idx="2">
                  <c:v>326.41518653256304</c:v>
                </c:pt>
                <c:pt idx="3">
                  <c:v>321.4382203006818</c:v>
                </c:pt>
                <c:pt idx="4">
                  <c:v>327.34176570680086</c:v>
                </c:pt>
                <c:pt idx="5">
                  <c:v>355.3469369197685</c:v>
                </c:pt>
                <c:pt idx="6">
                  <c:v>426.1900522281842</c:v>
                </c:pt>
                <c:pt idx="7">
                  <c:v>507.18683577380415</c:v>
                </c:pt>
                <c:pt idx="8">
                  <c:v>568.1642139772911</c:v>
                </c:pt>
                <c:pt idx="9">
                  <c:v>591.950325372359</c:v>
                </c:pt>
                <c:pt idx="10">
                  <c:v>563.7700126424395</c:v>
                </c:pt>
                <c:pt idx="11">
                  <c:v>534.19918847181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00" b="0" i="0" u="none" strike="noStrike">
                <a:solidFill>
                  <a:srgbClr val="5B6B7F"/>
                </a:solidFill>
                <a:latin typeface="Calibri"/>
              </a:defRPr>
            </a:pPr>
            <a:r>
              <a:rPr sz="800" b="0" i="0" u="none" strike="noStrike">
                <a:solidFill>
                  <a:srgbClr val="5B6B7F"/>
                </a:solidFill>
                <a:latin typeface="Calibri"/>
              </a:rPr>
              <a:t>Korelasi peringkat (ρ) terhadap daya neto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Korelasi peringkat dengan daya neto</c:v>
                </c:pt>
              </c:strCache>
            </c:strRef>
          </c:tx>
          <c:spPr>
            <a:solidFill>
              <a:srgbClr val="1F4E9E"/>
            </a:solidFill>
            <a:effectLst/>
          </c:spPr>
          <c:invertIfNegative val="0"/>
          <c:dLbls>
            <c:numFmt formatCode="[$-421]#,##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COD POME</c:v>
                  </c:pt>
                  <c:pt idx="1">
                    <c:v>Beban TBS PKS</c:v>
                  </c:pt>
                  <c:pt idx="2">
                    <c:v>Volume POME/t TBS</c:v>
                  </c:pt>
                  <c:pt idx="3">
                    <c:v>Kation POME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0.5553465959162244</c:v>
                </c:pt>
                <c:pt idx="1">
                  <c:v>0.5421249507809424</c:v>
                </c:pt>
                <c:pt idx="2">
                  <c:v>0.13125138282114263</c:v>
                </c:pt>
                <c:pt idx="3">
                  <c:v>-0.08481615510096938</c:v>
                </c:pt>
              </c:numCache>
            </c:numRef>
          </c:val>
        </c:ser>
        <c:dLbls>
          <c:numFmt formatCode="[$-421]#,##0.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Satu set 60 t TBS/jam menghindari ≈ 32.001 tCO2e per tahun (−96% dari kolam terbuka; AMS-III.H, UF 0,89, GWP 28) tanpa modal pabrik. Model 3D (CadQuery) dari neraca proses; modul acuan 45 t TBS/jam, konfigurasi komersial 60 t TBS/jam.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Latar belakang. SCQA: situasi (1.300 PKS, hanya 11% menangkap metana), komplikasi (kolam terbuka ≈ 26 juta tCO2e/tahun; biogas milik sendiri mahal dan berisiko), pertanyaan, jawaban (layanan BOO).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Konsep: urutan proses dari POME sampai listrik; modularitas 2/3/4 tangki identik; hanya skala 60 t TBS/jam yang layak pada asumsi dasar.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Validitas teknis (modul acuan 45 t TBS/jam; skala 60 t/jam = ×4/3 karena HRT, SRT, dan beban per tangki identik). Neraca massa menutup 0,0002%; energi neto 1.025 kW; ketidakpastian dari 400 sampel Monte Carlo.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Desain produk. Semua gambar dihasilkan dari model parametrik yang sama dengan neraca proses (pfd/, cad/). Modul acuan 45 t TBS/jam: 3 reaktor GFS, 2 genset 600 kWe, plot 99,65 × 37,7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Pesaing. Sumber: research/R3 (reNIKOLA, KIS, Pertamina NRE, Aiken Kakoki, TSE, AANE, program grup Wilmar/Musim Mas/Asian Agri, Veolia/Kubota). Skor berbobot K1-K7 (bobot: biaya POME 25%, modal PKS 20%, risiko kinerja 15%, kematangan 15%, lahan dan waktu 10%, metana dan bau 10%, dapat dipindah 5%); K2-K7 adalah penilaian tim. Peringkat 1 pada 78% dari 20.000 variasi bobot Dirichlet dan 7/7 uji bobot +-50%. Kelemahan yang dikelola: kematangan (TRL 4, pilot G3), CAPEX per kWe lebih tinggi dari tangki CSTR (TSE USD 1,8 juta/MW) sehingga skala dan kurva belajar menjadi kunci.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Keuangan. Konfigurasi 60 t TBS/jam + PM-12. Kasus target = kasus awal + solar tergantikan 3,0 L/t (G0) + CAPEX -15% (G1, hasil kuotasi) + fee USD 1,35/t (G2, di dalam jendela 0,67-1,84) + karbon USD 8,3/t; selebihnya identik. Kasus awal (solar 2,0 L/t, fee 1,25, karbon 5,0, tanpa potongan CAPEX): NPV USD 0,13 juta, IRR 10,3%, payback 7,1 tahun, peluang NPV positif Monte Carlo 25% (naik setelah tiap gerbang). Semua angka dari model Excel berumus hidup dan Python (fin_core.py, deck/export_target.py). Batas aman kasus target: NPV tetap positif sampai beban PKS 54%, fee USD 0,26/t, CAPEX +47%, produksi gas 23% dari desain.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Implementasi. Gantt, peta risiko (peluang x dampak, penilaian tim), KPI, gerbang tahap, dan anggaran usulan USD 1,3 juta (G0 150, G1 340, G2 400, G3 410 ribu). NPV dan IRR per gerbang dihitung kumulatif: kasus awal -&gt; G0 solar 3,0 L/t -&gt; G1 CAPEX -15% -&gt; G2 fee 1,35 -&gt; karbon 8,3. RACI: tim A untuk data, FEED, konstruksi; PKS A untuk izin lahan; EPC R untuk FEED dan konstruksi; laboratorium R untuk uji. Perizinan: PBG/SLF (pemda, bulan 18); UKL-UPL dan persetujuan teknis air limbah (KLH/DLH, bulan 18); IUPTLS/IUPTLU, PJBL, SLO (ESDM, PLN, LIT, bulan 24); K3 bejana tekan (Kemnaker, bulan 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Peluang bisnis dan dampak. Pasar bottom-up per filter (filter solar, jaringan, dan program grup adalah hipotesis yang divalidasi di G0). Peta NPV dan hemat PKS dihitung pada kasus target (CAPEX -15%, karbon 8,3). Armada 10 set (2027-2034); NPV armada setelah overhead holding. Skenario yang menurunkan NPV (tanpa ekspor PLN, tanpa jasa POME, modul 30-45 t/jam) ada di BG_Model_Keuangan.xlsx.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Kesimpulan. Pesan utama, ketahanan kasus target, peta jalan gerbang, dan permintaan. Titik yang dikelola lewat gerbang (uji penentang): OLR 9,9 di atas rekomendasi 8 (pilot G3); harga tangki GFS USD 200/m3 belum dikuotasi (G1); opsi B/C lebih murah bila PKS punya modal (kami menang pada modal nol); struktur jual listrik dan tarif (G2); MCF efluen 0,3 belum diukur (pilot). Kasus awal: NPV USD 0,13 juta, IRR 10,3%, payback 7,1 tahun.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MP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3" name="Shape 0"/>
          <p:cNvSpPr/>
          <p:nvPr/>
        </p:nvSpPr>
        <p:spPr>
          <a:xfrm>
            <a:off x="411480" y="1033272"/>
            <a:ext cx="11384280" cy="0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625328" y="274320"/>
            <a:ext cx="420624" cy="420624"/>
          </a:xfrm>
          <a:prstGeom prst="rect">
            <a:avLst>
              <a:gd name="adj" fmla="val 17391"/>
            </a:avLst>
          </a:prstGeom>
          <a:solidFill>
            <a:srgbClr val="0C2464"/>
          </a:solidFill>
          <a:ln/>
        </p:spPr>
      </p:sp>
      <p:sp>
        <p:nvSpPr>
          <p:cNvPr id="5" name="Text 2"/>
          <p:cNvSpPr/>
          <p:nvPr/>
        </p:nvSpPr>
        <p:spPr>
          <a:xfrm>
            <a:off x="10625328" y="274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1100816" y="2743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00816" y="4937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 2026 · Business Plan</a:t>
            </a:r>
            <a:endParaRPr lang="en-US" sz="6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tar-sampul" descr="/home/user/aspebindo/deck/img/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kotak-1"/>
          <p:cNvSpPr txBox="1"/>
          <p:nvPr/>
        </p:nvSpPr>
        <p:spPr>
          <a:xfrm>
            <a:off x="502920" y="411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000" dirty="0"/>
          </a:p>
        </p:txBody>
      </p:sp>
      <p:sp>
        <p:nvSpPr>
          <p:cNvPr id="4" name="teks-2"/>
          <p:cNvSpPr txBox="1"/>
          <p:nvPr/>
        </p:nvSpPr>
        <p:spPr>
          <a:xfrm>
            <a:off x="1051560" y="411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1200" dirty="0"/>
          </a:p>
        </p:txBody>
      </p:sp>
      <p:sp>
        <p:nvSpPr>
          <p:cNvPr id="5" name="teks-3"/>
          <p:cNvSpPr txBox="1"/>
          <p:nvPr/>
        </p:nvSpPr>
        <p:spPr>
          <a:xfrm>
            <a:off x="1051560" y="64922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Business Plan Competition · EIC 2026</a:t>
            </a:r>
            <a:endParaRPr lang="en-US" sz="900" dirty="0"/>
          </a:p>
        </p:txBody>
      </p:sp>
      <p:sp>
        <p:nvSpPr>
          <p:cNvPr id="6" name="kotak-4"/>
          <p:cNvSpPr txBox="1"/>
          <p:nvPr/>
        </p:nvSpPr>
        <p:spPr>
          <a:xfrm>
            <a:off x="502920" y="1188720"/>
            <a:ext cx="4251960" cy="256032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solidFill>
              <a:srgbClr val="8CC63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SUBTEMA 3 · EKONOMI SIRKULAR DAN SOLUSI LINGKUNGAN</a:t>
            </a:r>
            <a:endParaRPr lang="en-US" sz="850" dirty="0"/>
          </a:p>
        </p:txBody>
      </p:sp>
      <p:sp>
        <p:nvSpPr>
          <p:cNvPr id="7" name="teks-5"/>
          <p:cNvSpPr txBox="1"/>
          <p:nvPr/>
        </p:nvSpPr>
        <p:spPr>
          <a:xfrm>
            <a:off x="502920" y="16002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kolam limbah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7FD3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 pembangkit listrik</a:t>
            </a:r>
            <a:endParaRPr lang="en-US" sz="3000" dirty="0"/>
          </a:p>
        </p:txBody>
      </p:sp>
      <p:sp>
        <p:nvSpPr>
          <p:cNvPr id="8" name="teks-6"/>
          <p:cNvSpPr txBox="1"/>
          <p:nvPr/>
        </p:nvSpPr>
        <p:spPr>
          <a:xfrm>
            <a:off x="502920" y="29260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Biogas sebagai Layanan: pengolah POME termofilik modular untuk pabrik kelapa sawit</a:t>
            </a:r>
            <a:endParaRPr lang="en-US" sz="1300" dirty="0"/>
          </a:p>
        </p:txBody>
      </p:sp>
      <p:sp>
        <p:nvSpPr>
          <p:cNvPr id="9" name="teks-7"/>
          <p:cNvSpPr txBox="1"/>
          <p:nvPr/>
        </p:nvSpPr>
        <p:spPr>
          <a:xfrm>
            <a:off x="502920" y="3611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tahun, satu pabrik sawit besar melepas ±33 ribu ton CO₂e metana dari kolam limbahnya. Kami menangkap gas itu, mengubahnya menjadi listrik, dan membiarkan pabrik membayar per ton buah yang diolah, tanpa mengeluarkan modal.</a:t>
            </a:r>
            <a:endParaRPr lang="en-US" sz="1150" dirty="0"/>
          </a:p>
        </p:txBody>
      </p:sp>
      <p:sp>
        <p:nvSpPr>
          <p:cNvPr id="10" name="kotak-8"/>
          <p:cNvSpPr/>
          <p:nvPr/>
        </p:nvSpPr>
        <p:spPr>
          <a:xfrm>
            <a:off x="50292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ks-9"/>
          <p:cNvSpPr txBox="1"/>
          <p:nvPr/>
        </p:nvSpPr>
        <p:spPr>
          <a:xfrm>
            <a:off x="54864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2000" dirty="0"/>
          </a:p>
        </p:txBody>
      </p:sp>
      <p:sp>
        <p:nvSpPr>
          <p:cNvPr id="12" name="teks-10"/>
          <p:cNvSpPr txBox="1"/>
          <p:nvPr/>
        </p:nvSpPr>
        <p:spPr>
          <a:xfrm>
            <a:off x="59436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 metana kolam POME dihindari</a:t>
            </a:r>
            <a:endParaRPr lang="en-US" sz="850" dirty="0"/>
          </a:p>
        </p:txBody>
      </p:sp>
      <p:sp>
        <p:nvSpPr>
          <p:cNvPr id="13" name="kotak-11"/>
          <p:cNvSpPr/>
          <p:nvPr/>
        </p:nvSpPr>
        <p:spPr>
          <a:xfrm>
            <a:off x="228600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ks-12"/>
          <p:cNvSpPr txBox="1"/>
          <p:nvPr/>
        </p:nvSpPr>
        <p:spPr>
          <a:xfrm>
            <a:off x="233172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</a:t>
            </a:r>
            <a:endParaRPr lang="en-US" sz="2000" dirty="0"/>
          </a:p>
        </p:txBody>
      </p:sp>
      <p:sp>
        <p:nvSpPr>
          <p:cNvPr id="15" name="teks-13"/>
          <p:cNvSpPr txBox="1"/>
          <p:nvPr/>
        </p:nvSpPr>
        <p:spPr>
          <a:xfrm>
            <a:off x="237744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dari pabrik (skema BOO)</a:t>
            </a:r>
            <a:endParaRPr lang="en-US" sz="850" dirty="0"/>
          </a:p>
        </p:txBody>
      </p:sp>
      <p:sp>
        <p:nvSpPr>
          <p:cNvPr id="16" name="kotak-14"/>
          <p:cNvSpPr/>
          <p:nvPr/>
        </p:nvSpPr>
        <p:spPr>
          <a:xfrm>
            <a:off x="406908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ks-15"/>
          <p:cNvSpPr txBox="1"/>
          <p:nvPr/>
        </p:nvSpPr>
        <p:spPr>
          <a:xfrm>
            <a:off x="411480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2000" dirty="0"/>
          </a:p>
        </p:txBody>
      </p:sp>
      <p:sp>
        <p:nvSpPr>
          <p:cNvPr id="18" name="teks-16"/>
          <p:cNvSpPr txBox="1"/>
          <p:nvPr/>
        </p:nvSpPr>
        <p:spPr>
          <a:xfrm>
            <a:off x="416052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 per set</a:t>
            </a:r>
            <a:endParaRPr lang="en-US" sz="850" dirty="0"/>
          </a:p>
        </p:txBody>
      </p:sp>
      <p:sp>
        <p:nvSpPr>
          <p:cNvPr id="19" name="teks-17"/>
          <p:cNvSpPr txBox="1"/>
          <p:nvPr/>
        </p:nvSpPr>
        <p:spPr>
          <a:xfrm>
            <a:off x="502920" y="5989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Malataxtax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[Nama lengkap 1] · [Nama lengkap 2] · [Nama lengkap 3]  |  [Nama perguruan tinggi]</a:t>
            </a:r>
            <a:endParaRPr lang="en-US" sz="900" dirty="0"/>
          </a:p>
        </p:txBody>
      </p:sp>
      <p:sp>
        <p:nvSpPr>
          <p:cNvPr id="20" name="kotak-18"/>
          <p:cNvSpPr txBox="1"/>
          <p:nvPr/>
        </p:nvSpPr>
        <p:spPr>
          <a:xfrm>
            <a:off x="10100302" y="18238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1" name="kotak-19"/>
          <p:cNvSpPr txBox="1"/>
          <p:nvPr/>
        </p:nvSpPr>
        <p:spPr>
          <a:xfrm>
            <a:off x="9833609" y="312877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kotak-20"/>
          <p:cNvSpPr txBox="1"/>
          <p:nvPr/>
        </p:nvSpPr>
        <p:spPr>
          <a:xfrm>
            <a:off x="9271648" y="17000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kotak-21"/>
          <p:cNvSpPr txBox="1"/>
          <p:nvPr/>
        </p:nvSpPr>
        <p:spPr>
          <a:xfrm>
            <a:off x="13195850" y="26239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kotak-22"/>
          <p:cNvSpPr txBox="1"/>
          <p:nvPr/>
        </p:nvSpPr>
        <p:spPr>
          <a:xfrm>
            <a:off x="11957631" y="31478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kotak-23"/>
          <p:cNvSpPr/>
          <p:nvPr/>
        </p:nvSpPr>
        <p:spPr>
          <a:xfrm>
            <a:off x="7452360" y="228600"/>
            <a:ext cx="4343400" cy="1508760"/>
          </a:xfrm>
          <a:prstGeom prst="roundRect">
            <a:avLst>
              <a:gd name="adj" fmla="val 303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ks-24"/>
          <p:cNvSpPr txBox="1"/>
          <p:nvPr/>
        </p:nvSpPr>
        <p:spPr>
          <a:xfrm>
            <a:off x="7589520" y="2743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integrasi dengan PKS</a:t>
            </a:r>
            <a:endParaRPr lang="en-US" sz="950" dirty="0"/>
          </a:p>
        </p:txBody>
      </p:sp>
      <p:sp>
        <p:nvSpPr>
          <p:cNvPr id="27" name="kotak-25"/>
          <p:cNvSpPr txBox="1"/>
          <p:nvPr/>
        </p:nvSpPr>
        <p:spPr>
          <a:xfrm>
            <a:off x="7589520" y="5669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ks-26"/>
          <p:cNvSpPr txBox="1"/>
          <p:nvPr/>
        </p:nvSpPr>
        <p:spPr>
          <a:xfrm>
            <a:off x="7863840" y="5486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85 °C dari fat pit ke praolah</a:t>
            </a:r>
            <a:endParaRPr lang="en-US" sz="900" dirty="0"/>
          </a:p>
        </p:txBody>
      </p:sp>
      <p:sp>
        <p:nvSpPr>
          <p:cNvPr id="29" name="kotak-27"/>
          <p:cNvSpPr txBox="1"/>
          <p:nvPr/>
        </p:nvSpPr>
        <p:spPr>
          <a:xfrm>
            <a:off x="7589520" y="7955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ks-28"/>
          <p:cNvSpPr txBox="1"/>
          <p:nvPr/>
        </p:nvSpPr>
        <p:spPr>
          <a:xfrm>
            <a:off x="7863840" y="7772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di bekas kolam, 0,38 ha</a:t>
            </a:r>
            <a:endParaRPr lang="en-US" sz="900" dirty="0"/>
          </a:p>
        </p:txBody>
      </p:sp>
      <p:sp>
        <p:nvSpPr>
          <p:cNvPr id="31" name="kotak-29"/>
          <p:cNvSpPr txBox="1"/>
          <p:nvPr/>
        </p:nvSpPr>
        <p:spPr>
          <a:xfrm>
            <a:off x="7589520" y="10241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2" name="teks-30"/>
          <p:cNvSpPr txBox="1"/>
          <p:nvPr/>
        </p:nvSpPr>
        <p:spPr>
          <a:xfrm>
            <a:off x="7863840" y="10058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rumah mesin PKS dan jaringan PLN</a:t>
            </a:r>
            <a:endParaRPr lang="en-US" sz="900" dirty="0"/>
          </a:p>
        </p:txBody>
      </p:sp>
      <p:sp>
        <p:nvSpPr>
          <p:cNvPr id="33" name="kotak-31"/>
          <p:cNvSpPr txBox="1"/>
          <p:nvPr/>
        </p:nvSpPr>
        <p:spPr>
          <a:xfrm>
            <a:off x="7589520" y="12527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ks-32"/>
          <p:cNvSpPr txBox="1"/>
          <p:nvPr/>
        </p:nvSpPr>
        <p:spPr>
          <a:xfrm>
            <a:off x="7863840" y="12344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ke kolam polishing</a:t>
            </a:r>
            <a:endParaRPr lang="en-US" sz="900" dirty="0"/>
          </a:p>
        </p:txBody>
      </p:sp>
      <p:sp>
        <p:nvSpPr>
          <p:cNvPr id="35" name="kotak-33"/>
          <p:cNvSpPr txBox="1"/>
          <p:nvPr/>
        </p:nvSpPr>
        <p:spPr>
          <a:xfrm>
            <a:off x="7589520" y="14813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36" name="teks-34"/>
          <p:cNvSpPr txBox="1"/>
          <p:nvPr/>
        </p:nvSpPr>
        <p:spPr>
          <a:xfrm>
            <a:off x="7863840" y="14630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anaerobik lama (±1,1 ha) dibebaskan</a:t>
            </a:r>
            <a:endParaRPr lang="en-US" sz="900" dirty="0"/>
          </a:p>
        </p:txBody>
      </p:sp>
      <p:sp>
        <p:nvSpPr>
          <p:cNvPr id="37" name="kotak-35"/>
          <p:cNvSpPr/>
          <p:nvPr/>
        </p:nvSpPr>
        <p:spPr>
          <a:xfrm>
            <a:off x="8458200" y="4594860"/>
            <a:ext cx="3383280" cy="19431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render-produk" descr="/home/user/aspebindo/cad/out/render/DIORAMA_produk_ra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640580"/>
            <a:ext cx="3291840" cy="1851660"/>
          </a:xfrm>
          <a:prstGeom prst="rect">
            <a:avLst/>
          </a:prstGeom>
        </p:spPr>
      </p:pic>
      <p:sp>
        <p:nvSpPr>
          <p:cNvPr id="39" name="kotak-36"/>
          <p:cNvSpPr txBox="1"/>
          <p:nvPr/>
        </p:nvSpPr>
        <p:spPr>
          <a:xfrm>
            <a:off x="8503920" y="6236208"/>
            <a:ext cx="3291840" cy="256032"/>
          </a:xfrm>
          <a:prstGeom prst="rect">
            <a:avLst/>
          </a:prstGeom>
          <a:solidFill>
            <a:srgbClr val="0C2464">
              <a:alpha val="85000"/>
            </a:srgbClr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modular, dapat dipindahkan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Metana POME dari ±1.150 PKS lepas ke udara karena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dan risiko kinerja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karena teknologinya belum ada</a:t>
            </a:r>
            <a:endParaRPr lang="en-US" sz="1900" dirty="0"/>
          </a:p>
        </p:txBody>
      </p:sp>
      <p:sp>
        <p:nvSpPr>
          <p:cNvPr id="3" name="kotak-3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kotak-45"/>
          <p:cNvSpPr txBox="1"/>
          <p:nvPr/>
        </p:nvSpPr>
        <p:spPr>
          <a:xfrm>
            <a:off x="411480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SITUASI</a:t>
            </a:r>
            <a:endParaRPr lang="en-US" sz="900" dirty="0"/>
          </a:p>
        </p:txBody>
      </p:sp>
      <p:sp>
        <p:nvSpPr>
          <p:cNvPr id="13" name="kotak-46"/>
          <p:cNvSpPr/>
          <p:nvPr/>
        </p:nvSpPr>
        <p:spPr>
          <a:xfrm>
            <a:off x="411480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4" name="teks-47"/>
          <p:cNvSpPr txBox="1"/>
          <p:nvPr/>
        </p:nvSpPr>
        <p:spPr>
          <a:xfrm>
            <a:off x="502920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±1.150 PKS</a:t>
            </a:r>
            <a:endParaRPr lang="en-US" sz="1400" dirty="0"/>
          </a:p>
        </p:txBody>
      </p:sp>
      <p:sp>
        <p:nvSpPr>
          <p:cNvPr id="15" name="teks-48"/>
          <p:cNvSpPr txBox="1"/>
          <p:nvPr/>
        </p:nvSpPr>
        <p:spPr>
          <a:xfrm>
            <a:off x="502920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±1.300 PKS belum menangkap metana POME (±150 juta m³ POME per tahun)</a:t>
            </a:r>
            <a:endParaRPr lang="en-US" sz="880" dirty="0"/>
          </a:p>
        </p:txBody>
      </p:sp>
      <p:sp>
        <p:nvSpPr>
          <p:cNvPr id="16" name="kotak-49"/>
          <p:cNvSpPr txBox="1"/>
          <p:nvPr/>
        </p:nvSpPr>
        <p:spPr>
          <a:xfrm>
            <a:off x="3282696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KOMPLIKASI</a:t>
            </a:r>
            <a:endParaRPr lang="en-US" sz="900" dirty="0"/>
          </a:p>
        </p:txBody>
      </p:sp>
      <p:sp>
        <p:nvSpPr>
          <p:cNvPr id="17" name="kotak-50"/>
          <p:cNvSpPr/>
          <p:nvPr/>
        </p:nvSpPr>
        <p:spPr>
          <a:xfrm>
            <a:off x="3282696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8" name="teks-51"/>
          <p:cNvSpPr txBox="1"/>
          <p:nvPr/>
        </p:nvSpPr>
        <p:spPr>
          <a:xfrm>
            <a:off x="3374136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26 juta tCO₂e</a:t>
            </a:r>
            <a:endParaRPr lang="en-US" sz="1400" dirty="0"/>
          </a:p>
        </p:txBody>
      </p:sp>
      <p:sp>
        <p:nvSpPr>
          <p:cNvPr id="19" name="teks-52"/>
          <p:cNvSpPr txBox="1"/>
          <p:nvPr/>
        </p:nvSpPr>
        <p:spPr>
          <a:xfrm>
            <a:off x="3374136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tahun lepas dari kolam; biogas milik sendiri USD 3,5–4,0 juta per set dan berisiko</a:t>
            </a:r>
            <a:endParaRPr lang="en-US" sz="880" dirty="0"/>
          </a:p>
        </p:txBody>
      </p:sp>
      <p:sp>
        <p:nvSpPr>
          <p:cNvPr id="20" name="kotak-53"/>
          <p:cNvSpPr txBox="1"/>
          <p:nvPr/>
        </p:nvSpPr>
        <p:spPr>
          <a:xfrm>
            <a:off x="6153912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</a:t>
            </a:r>
            <a:endParaRPr lang="en-US" sz="900" dirty="0"/>
          </a:p>
        </p:txBody>
      </p:sp>
      <p:sp>
        <p:nvSpPr>
          <p:cNvPr id="21" name="kotak-54"/>
          <p:cNvSpPr/>
          <p:nvPr/>
        </p:nvSpPr>
        <p:spPr>
          <a:xfrm>
            <a:off x="6153912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55"/>
          <p:cNvSpPr txBox="1"/>
          <p:nvPr/>
        </p:nvSpPr>
        <p:spPr>
          <a:xfrm>
            <a:off x="6245352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ks-56"/>
          <p:cNvSpPr txBox="1"/>
          <p:nvPr/>
        </p:nvSpPr>
        <p:spPr>
          <a:xfrm>
            <a:off x="6245352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menangkap metana tanpa modal dan tanpa risiko kinerja, dengan biaya tidak melebihi kolam?</a:t>
            </a:r>
            <a:endParaRPr lang="en-US" sz="880" dirty="0"/>
          </a:p>
        </p:txBody>
      </p:sp>
      <p:sp>
        <p:nvSpPr>
          <p:cNvPr id="24" name="kotak-57"/>
          <p:cNvSpPr txBox="1"/>
          <p:nvPr/>
        </p:nvSpPr>
        <p:spPr>
          <a:xfrm>
            <a:off x="9025128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JAWABAN</a:t>
            </a:r>
            <a:endParaRPr lang="en-US" sz="900" dirty="0"/>
          </a:p>
        </p:txBody>
      </p:sp>
      <p:sp>
        <p:nvSpPr>
          <p:cNvPr id="25" name="kotak-58"/>
          <p:cNvSpPr/>
          <p:nvPr/>
        </p:nvSpPr>
        <p:spPr>
          <a:xfrm>
            <a:off x="9025128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6" name="teks-59"/>
          <p:cNvSpPr txBox="1"/>
          <p:nvPr/>
        </p:nvSpPr>
        <p:spPr>
          <a:xfrm>
            <a:off x="9116568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 modal PKS</a:t>
            </a:r>
            <a:endParaRPr lang="en-US" sz="1400" dirty="0"/>
          </a:p>
        </p:txBody>
      </p:sp>
      <p:sp>
        <p:nvSpPr>
          <p:cNvPr id="27" name="teks-60"/>
          <p:cNvSpPr txBox="1"/>
          <p:nvPr/>
        </p:nvSpPr>
        <p:spPr>
          <a:xfrm>
            <a:off x="9116568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set termofilik modular dibayar per t TBS dan per kWh (slide 3–7)</a:t>
            </a:r>
            <a:endParaRPr lang="en-US" sz="880" dirty="0"/>
          </a:p>
        </p:txBody>
      </p:sp>
      <p:sp>
        <p:nvSpPr>
          <p:cNvPr id="28" name="kotak-61"/>
          <p:cNvSpPr txBox="1"/>
          <p:nvPr/>
        </p:nvSpPr>
        <p:spPr>
          <a:xfrm>
            <a:off x="411480" y="2130552"/>
            <a:ext cx="22402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29" name="kotak-62"/>
          <p:cNvSpPr txBox="1"/>
          <p:nvPr/>
        </p:nvSpPr>
        <p:spPr>
          <a:xfrm>
            <a:off x="2743200" y="2130552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Sub-masalah</a:t>
            </a:r>
            <a:endParaRPr lang="en-US" sz="1000" dirty="0"/>
          </a:p>
        </p:txBody>
      </p:sp>
      <p:sp>
        <p:nvSpPr>
          <p:cNvPr id="30" name="kotak-63"/>
          <p:cNvSpPr txBox="1"/>
          <p:nvPr/>
        </p:nvSpPr>
        <p:spPr>
          <a:xfrm>
            <a:off x="4846320" y="2130552"/>
            <a:ext cx="3657600" cy="237744"/>
          </a:xfrm>
          <a:prstGeom prst="roundRect">
            <a:avLst>
              <a:gd name="adj" fmla="val 1538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Akar masalah (terukur)</a:t>
            </a:r>
            <a:endParaRPr lang="en-US" sz="1000" dirty="0"/>
          </a:p>
        </p:txBody>
      </p:sp>
      <p:sp>
        <p:nvSpPr>
          <p:cNvPr id="31" name="kotak-64"/>
          <p:cNvSpPr txBox="1"/>
          <p:nvPr/>
        </p:nvSpPr>
        <p:spPr>
          <a:xfrm>
            <a:off x="8595360" y="2130552"/>
            <a:ext cx="3154680" cy="237744"/>
          </a:xfrm>
          <a:prstGeom prst="roundRect">
            <a:avLst>
              <a:gd name="adj" fmla="val 1538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solusi</a:t>
            </a:r>
            <a:endParaRPr lang="en-US" sz="1000" dirty="0"/>
          </a:p>
        </p:txBody>
      </p:sp>
      <p:sp>
        <p:nvSpPr>
          <p:cNvPr id="32" name="kotak-65"/>
          <p:cNvSpPr txBox="1"/>
          <p:nvPr/>
        </p:nvSpPr>
        <p:spPr>
          <a:xfrm>
            <a:off x="411480" y="2404872"/>
            <a:ext cx="2240280" cy="1682496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independen dapat menangkap metana POME tanpa modal dan tanpa menanggung risiko kinerja, dengan biaya tidak melebihi kolam?</a:t>
            </a:r>
            <a:endParaRPr lang="en-US" sz="1000" dirty="0"/>
          </a:p>
        </p:txBody>
      </p:sp>
      <p:sp>
        <p:nvSpPr>
          <p:cNvPr id="33" name="kotak-66"/>
          <p:cNvSpPr txBox="1"/>
          <p:nvPr/>
        </p:nvSpPr>
        <p:spPr>
          <a:xfrm>
            <a:off x="2743200" y="2404872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1000" dirty="0"/>
          </a:p>
        </p:txBody>
      </p:sp>
      <p:sp>
        <p:nvSpPr>
          <p:cNvPr id="34" name="kotak-67"/>
          <p:cNvSpPr txBox="1"/>
          <p:nvPr/>
        </p:nvSpPr>
        <p:spPr>
          <a:xfrm>
            <a:off x="4846320" y="2404872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terbuka: 100% CH₄ lepas, 33.457 tCO₂e/tahun per PKS 60 t/jam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konvensional: HRT 25–40 hari, lahan luas</a:t>
            </a:r>
            <a:endParaRPr lang="en-US" sz="850" dirty="0"/>
          </a:p>
        </p:txBody>
      </p:sp>
      <p:sp>
        <p:nvSpPr>
          <p:cNvPr id="35" name="kotak-68"/>
          <p:cNvSpPr txBox="1"/>
          <p:nvPr/>
        </p:nvSpPr>
        <p:spPr>
          <a:xfrm>
            <a:off x="8595360" y="2404872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kontak termofilik: HRT 5 hari, tangki GFS dibaut</a:t>
            </a:r>
            <a:endParaRPr lang="en-US" sz="900" dirty="0"/>
          </a:p>
        </p:txBody>
      </p:sp>
      <p:sp>
        <p:nvSpPr>
          <p:cNvPr id="36" name="garis-69"/>
          <p:cNvSpPr/>
          <p:nvPr/>
        </p:nvSpPr>
        <p:spPr>
          <a:xfrm flipV="1">
            <a:off x="2651760" y="2601468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37" name="garis-70"/>
          <p:cNvSpPr/>
          <p:nvPr/>
        </p:nvSpPr>
        <p:spPr>
          <a:xfrm>
            <a:off x="475488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8" name="garis-71"/>
          <p:cNvSpPr/>
          <p:nvPr/>
        </p:nvSpPr>
        <p:spPr>
          <a:xfrm>
            <a:off x="850392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kotak-72"/>
          <p:cNvSpPr txBox="1"/>
          <p:nvPr/>
        </p:nvSpPr>
        <p:spPr>
          <a:xfrm>
            <a:off x="2743200" y="2834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Ekonomi</a:t>
            </a:r>
            <a:endParaRPr lang="en-US" sz="1000" dirty="0"/>
          </a:p>
        </p:txBody>
      </p:sp>
      <p:sp>
        <p:nvSpPr>
          <p:cNvPr id="40" name="kotak-73"/>
          <p:cNvSpPr txBox="1"/>
          <p:nvPr/>
        </p:nvSpPr>
        <p:spPr>
          <a:xfrm>
            <a:off x="4846320" y="2834640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USD 3,5–4,0 juta per set; kinerja tidak dijamin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kecil: tarif 9,81 USc/kWh, karbon USD 3–5/t</a:t>
            </a:r>
            <a:endParaRPr lang="en-US" sz="850" dirty="0"/>
          </a:p>
        </p:txBody>
      </p:sp>
      <p:sp>
        <p:nvSpPr>
          <p:cNvPr id="41" name="kotak-74"/>
          <p:cNvSpPr txBox="1"/>
          <p:nvPr/>
        </p:nvSpPr>
        <p:spPr>
          <a:xfrm>
            <a:off x="8595360" y="2834640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modal PKS nol; pendapatan jasa + listrik + karbon</a:t>
            </a:r>
            <a:endParaRPr lang="en-US" sz="900" dirty="0"/>
          </a:p>
        </p:txBody>
      </p:sp>
      <p:sp>
        <p:nvSpPr>
          <p:cNvPr id="42" name="garis-75"/>
          <p:cNvSpPr/>
          <p:nvPr/>
        </p:nvSpPr>
        <p:spPr>
          <a:xfrm flipV="1">
            <a:off x="2651760" y="3031236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3" name="garis-76"/>
          <p:cNvSpPr/>
          <p:nvPr/>
        </p:nvSpPr>
        <p:spPr>
          <a:xfrm>
            <a:off x="475488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4" name="garis-77"/>
          <p:cNvSpPr/>
          <p:nvPr/>
        </p:nvSpPr>
        <p:spPr>
          <a:xfrm>
            <a:off x="850392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5" name="kotak-78"/>
          <p:cNvSpPr txBox="1"/>
          <p:nvPr/>
        </p:nvSpPr>
        <p:spPr>
          <a:xfrm>
            <a:off x="2743200" y="3264408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dan pasar</a:t>
            </a:r>
            <a:endParaRPr lang="en-US" sz="1000" dirty="0"/>
          </a:p>
        </p:txBody>
      </p:sp>
      <p:sp>
        <p:nvSpPr>
          <p:cNvPr id="46" name="kotak-79"/>
          <p:cNvSpPr txBox="1"/>
          <p:nvPr/>
        </p:nvSpPr>
        <p:spPr>
          <a:xfrm>
            <a:off x="4846320" y="3264408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mandat penangkapan metana (ISPO bioenergi 2027)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jual listrik dan PJBL lambat</a:t>
            </a:r>
            <a:endParaRPr lang="en-US" sz="850" dirty="0"/>
          </a:p>
        </p:txBody>
      </p:sp>
      <p:sp>
        <p:nvSpPr>
          <p:cNvPr id="47" name="kotak-80"/>
          <p:cNvSpPr txBox="1"/>
          <p:nvPr/>
        </p:nvSpPr>
        <p:spPr>
          <a:xfrm>
            <a:off x="8595360" y="3264408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energi; gerbang izin sebelum modal</a:t>
            </a:r>
            <a:endParaRPr lang="en-US" sz="900" dirty="0"/>
          </a:p>
        </p:txBody>
      </p:sp>
      <p:sp>
        <p:nvSpPr>
          <p:cNvPr id="48" name="garis-81"/>
          <p:cNvSpPr/>
          <p:nvPr/>
        </p:nvSpPr>
        <p:spPr>
          <a:xfrm>
            <a:off x="2651760" y="3246120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9" name="garis-82"/>
          <p:cNvSpPr/>
          <p:nvPr/>
        </p:nvSpPr>
        <p:spPr>
          <a:xfrm>
            <a:off x="475488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0" name="garis-83"/>
          <p:cNvSpPr/>
          <p:nvPr/>
        </p:nvSpPr>
        <p:spPr>
          <a:xfrm>
            <a:off x="850392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1" name="kotak-84"/>
          <p:cNvSpPr txBox="1"/>
          <p:nvPr/>
        </p:nvSpPr>
        <p:spPr>
          <a:xfrm>
            <a:off x="2743200" y="3694176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</a:t>
            </a:r>
            <a:endParaRPr lang="en-US" sz="1000" dirty="0"/>
          </a:p>
        </p:txBody>
      </p:sp>
      <p:sp>
        <p:nvSpPr>
          <p:cNvPr id="52" name="kotak-85"/>
          <p:cNvSpPr txBox="1"/>
          <p:nvPr/>
        </p:nvSpPr>
        <p:spPr>
          <a:xfrm>
            <a:off x="4846320" y="3694176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bukan operator biogas (±442 PKS tanpa kebun)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dan POME tidak terukur per PKS</a:t>
            </a:r>
            <a:endParaRPr lang="en-US" sz="850" dirty="0"/>
          </a:p>
        </p:txBody>
      </p:sp>
      <p:sp>
        <p:nvSpPr>
          <p:cNvPr id="53" name="kotak-86"/>
          <p:cNvSpPr txBox="1"/>
          <p:nvPr/>
        </p:nvSpPr>
        <p:spPr>
          <a:xfrm>
            <a:off x="8595360" y="3694176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menjamin kinerja; data solar diukur pada gerbang G0</a:t>
            </a:r>
            <a:endParaRPr lang="en-US" sz="900" dirty="0"/>
          </a:p>
        </p:txBody>
      </p:sp>
      <p:sp>
        <p:nvSpPr>
          <p:cNvPr id="54" name="garis-87"/>
          <p:cNvSpPr/>
          <p:nvPr/>
        </p:nvSpPr>
        <p:spPr>
          <a:xfrm>
            <a:off x="2651760" y="3246120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55" name="garis-88"/>
          <p:cNvSpPr/>
          <p:nvPr/>
        </p:nvSpPr>
        <p:spPr>
          <a:xfrm>
            <a:off x="475488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6" name="garis-89"/>
          <p:cNvSpPr/>
          <p:nvPr/>
        </p:nvSpPr>
        <p:spPr>
          <a:xfrm>
            <a:off x="850392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kotak-90"/>
          <p:cNvSpPr txBox="1"/>
          <p:nvPr/>
        </p:nvSpPr>
        <p:spPr>
          <a:xfrm>
            <a:off x="411480" y="4224528"/>
            <a:ext cx="507492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Mengapa: dari gejala ke akar</a:t>
            </a:r>
            <a:endParaRPr lang="en-US" sz="1000" dirty="0"/>
          </a:p>
        </p:txBody>
      </p:sp>
      <p:sp>
        <p:nvSpPr>
          <p:cNvPr id="58" name="kotak-91"/>
          <p:cNvSpPr txBox="1"/>
          <p:nvPr/>
        </p:nvSpPr>
        <p:spPr>
          <a:xfrm>
            <a:off x="411480" y="4480560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kotak-92"/>
          <p:cNvSpPr txBox="1"/>
          <p:nvPr/>
        </p:nvSpPr>
        <p:spPr>
          <a:xfrm>
            <a:off x="713232" y="4480560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tidak ditangkap → tidak ada reaktor biogas di PKS.</a:t>
            </a:r>
            <a:endParaRPr lang="en-US" sz="850" dirty="0"/>
          </a:p>
        </p:txBody>
      </p:sp>
      <p:sp>
        <p:nvSpPr>
          <p:cNvPr id="60" name="kotak-93"/>
          <p:cNvSpPr txBox="1"/>
          <p:nvPr/>
        </p:nvSpPr>
        <p:spPr>
          <a:xfrm>
            <a:off x="411480" y="4727448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kotak-94"/>
          <p:cNvSpPr txBox="1"/>
          <p:nvPr/>
        </p:nvSpPr>
        <p:spPr>
          <a:xfrm>
            <a:off x="713232" y="4727448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Modal USD 3,5–4,0 juta per set tidak sepadan dengan imbal hasil.</a:t>
            </a:r>
            <a:endParaRPr lang="en-US" sz="850" dirty="0"/>
          </a:p>
        </p:txBody>
      </p:sp>
      <p:sp>
        <p:nvSpPr>
          <p:cNvPr id="62" name="kotak-95"/>
          <p:cNvSpPr txBox="1"/>
          <p:nvPr/>
        </p:nvSpPr>
        <p:spPr>
          <a:xfrm>
            <a:off x="411480" y="4974336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kotak-96"/>
          <p:cNvSpPr txBox="1"/>
          <p:nvPr/>
        </p:nvSpPr>
        <p:spPr>
          <a:xfrm>
            <a:off x="713232" y="4974336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Pendapatan listrik dan karbon kecil, risiko kinerja ditanggung PKS.</a:t>
            </a:r>
            <a:endParaRPr lang="en-US" sz="850" dirty="0"/>
          </a:p>
        </p:txBody>
      </p:sp>
      <p:sp>
        <p:nvSpPr>
          <p:cNvPr id="64" name="kotak-97"/>
          <p:cNvSpPr txBox="1"/>
          <p:nvPr/>
        </p:nvSpPr>
        <p:spPr>
          <a:xfrm>
            <a:off x="411480" y="5221224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5" name="kotak-98"/>
          <p:cNvSpPr txBox="1"/>
          <p:nvPr/>
        </p:nvSpPr>
        <p:spPr>
          <a:xfrm>
            <a:off x="713232" y="5221224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PKS bukan operator biogas; tidak ada penjamin kinerja.</a:t>
            </a:r>
            <a:endParaRPr lang="en-US" sz="850" dirty="0"/>
          </a:p>
        </p:txBody>
      </p:sp>
      <p:sp>
        <p:nvSpPr>
          <p:cNvPr id="66" name="kotak-99"/>
          <p:cNvSpPr txBox="1"/>
          <p:nvPr/>
        </p:nvSpPr>
        <p:spPr>
          <a:xfrm>
            <a:off x="411480" y="5468112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kotak-100"/>
          <p:cNvSpPr txBox="1"/>
          <p:nvPr/>
        </p:nvSpPr>
        <p:spPr>
          <a:xfrm>
            <a:off x="713232" y="5468112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Akar: teknologi dijual sebagai proyek sekali jadi, bukan layanan modular yang dijamin operator.</a:t>
            </a:r>
            <a:endParaRPr lang="en-US" sz="850" dirty="0"/>
          </a:p>
        </p:txBody>
      </p:sp>
      <p:sp>
        <p:nvSpPr>
          <p:cNvPr id="68" name="kotak-101"/>
          <p:cNvSpPr txBox="1"/>
          <p:nvPr/>
        </p:nvSpPr>
        <p:spPr>
          <a:xfrm>
            <a:off x="5623560" y="4224528"/>
            <a:ext cx="617220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konsep: matriks keputusan berbobot (skor 1–5)</a:t>
            </a:r>
            <a:endParaRPr lang="en-US" sz="1000" dirty="0"/>
          </a:p>
        </p:txBody>
      </p:sp>
      <p:graphicFrame>
        <p:nvGraphicFramePr>
          <p:cNvPr id="3" name="tabel-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44805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"/>
                <a:gridCol w="384048"/>
                <a:gridCol w="384048"/>
                <a:gridCol w="384048"/>
                <a:gridCol w="384048"/>
                <a:gridCol w="384048"/>
                <a:gridCol w="384048"/>
                <a:gridCol w="411480"/>
                <a:gridCol w="603504"/>
              </a:tblGrid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Alternatif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 25%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 20%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K4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K5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K6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K7 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peringkat 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Status quo kolam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Lagun tertutup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CSTR mesofilik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 Biometana BOOT klaster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 UASB/IC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 AnMBR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 Kontak termofilik BOO (usulan)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teks-103"/>
          <p:cNvSpPr txBox="1"/>
          <p:nvPr/>
        </p:nvSpPr>
        <p:spPr>
          <a:xfrm>
            <a:off x="411480" y="5824728"/>
            <a:ext cx="11338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biaya POME bagi PKS · K2 modal PKS · K3 risiko kinerja ditanggung PKS · K4 referensi di Indonesia · K5 lahan dan waktu bangun · K6 penangkapan metana · K7 dapat dipindah · % peringkat 1: dari 20.000 variasi bobot (G tetap peringkat 1 pada uji ±50% tiap bobot).</a:t>
            </a:r>
            <a:endParaRPr lang="en-US" sz="630" dirty="0"/>
          </a:p>
        </p:txBody>
      </p:sp>
      <p:sp>
        <p:nvSpPr>
          <p:cNvPr id="71" name="kotak-10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72" name="kotak-10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terukur: turunkan emisi metana ≥ 90% (≈ 32 ribu tCO₂e/tahun per PKS 60 t TBS/jam) tanpa modal PKS, dengan biaya POME ≤ kolam (USD 3,14/t TBS) dan DSCR proyek ≥ 1,30.</a:t>
            </a:r>
            <a:endParaRPr lang="en-US" sz="950" dirty="0"/>
          </a:p>
        </p:txBody>
      </p:sp>
      <p:sp>
        <p:nvSpPr>
          <p:cNvPr id="73" name="teks-10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PKS pabrik kelapa sawit; TBS tandan buah segar; BOO bangun-miliki-operasikan; BOOT bangun-miliki-operasikan-alihkan; HRT waktu tinggal hidraulik; PJBL perjanjian jual beli listrik; GFS baja berlapis kaca; DSCR rasio cakupan layanan utang.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Trase/SEI-PCS 2024; IOP/ERL; GAPKI 2026; RTM Berita 2024; PASPI/BRIN; Perpres 16/2025 dan 112/2022; model tim (neraca proses Rev 2, Model Keputusan PKS); skor K2–K7 penilaian tim (research/R3, R6).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biogas termofilik 55 °C mengolah POME dalam 5 hari menjadi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 listrik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dibayar sebagai layanan, dan dapat dibongkar-pasang</a:t>
            </a:r>
            <a:endParaRPr lang="en-US" sz="1900" dirty="0"/>
          </a:p>
        </p:txBody>
      </p:sp>
      <p:sp>
        <p:nvSpPr>
          <p:cNvPr id="3" name="kotak-10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0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0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1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1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1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1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1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kotak-115"/>
          <p:cNvSpPr txBox="1"/>
          <p:nvPr/>
        </p:nvSpPr>
        <p:spPr>
          <a:xfrm>
            <a:off x="411480" y="11430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Wujud produk (modul acuan 45 t TBS/jam)</a:t>
            </a:r>
            <a:endParaRPr lang="en-US" sz="1000" dirty="0"/>
          </a:p>
        </p:txBody>
      </p:sp>
      <p:pic>
        <p:nvPicPr>
          <p:cNvPr id="13" name="render-produk" descr="/home/user/aspebindo/cad/out/render/DIORAMA_produ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35608"/>
            <a:ext cx="5257800" cy="2377440"/>
          </a:xfrm>
          <a:prstGeom prst="rect">
            <a:avLst/>
          </a:prstGeom>
        </p:spPr>
      </p:pic>
      <p:sp>
        <p:nvSpPr>
          <p:cNvPr id="14" name="kotak-116"/>
          <p:cNvSpPr txBox="1"/>
          <p:nvPr/>
        </p:nvSpPr>
        <p:spPr>
          <a:xfrm>
            <a:off x="411480" y="38862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dan portabel</a:t>
            </a:r>
            <a:endParaRPr lang="en-US" sz="1000" dirty="0"/>
          </a:p>
        </p:txBody>
      </p:sp>
      <p:sp>
        <p:nvSpPr>
          <p:cNvPr id="15" name="kotak-117"/>
          <p:cNvSpPr/>
          <p:nvPr/>
        </p:nvSpPr>
        <p:spPr>
          <a:xfrm>
            <a:off x="41148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118"/>
          <p:cNvSpPr txBox="1"/>
          <p:nvPr/>
        </p:nvSpPr>
        <p:spPr>
          <a:xfrm>
            <a:off x="48463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500" dirty="0"/>
          </a:p>
        </p:txBody>
      </p:sp>
      <p:sp>
        <p:nvSpPr>
          <p:cNvPr id="17" name="teks-119"/>
          <p:cNvSpPr txBox="1"/>
          <p:nvPr/>
        </p:nvSpPr>
        <p:spPr>
          <a:xfrm>
            <a:off x="48463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kontainer dan skid 40 ft per modul acuan</a:t>
            </a:r>
            <a:endParaRPr lang="en-US" sz="800" dirty="0"/>
          </a:p>
        </p:txBody>
      </p:sp>
      <p:sp>
        <p:nvSpPr>
          <p:cNvPr id="18" name="kotak-120"/>
          <p:cNvSpPr/>
          <p:nvPr/>
        </p:nvSpPr>
        <p:spPr>
          <a:xfrm>
            <a:off x="219456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121"/>
          <p:cNvSpPr txBox="1"/>
          <p:nvPr/>
        </p:nvSpPr>
        <p:spPr>
          <a:xfrm>
            <a:off x="226771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980 m³</a:t>
            </a:r>
            <a:endParaRPr lang="en-US" sz="1500" dirty="0"/>
          </a:p>
        </p:txBody>
      </p:sp>
      <p:sp>
        <p:nvSpPr>
          <p:cNvPr id="20" name="teks-122"/>
          <p:cNvSpPr txBox="1"/>
          <p:nvPr/>
        </p:nvSpPr>
        <p:spPr>
          <a:xfrm>
            <a:off x="226771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tangki GFS dibaut identik; 2, 3, atau 4 per set</a:t>
            </a:r>
            <a:endParaRPr lang="en-US" sz="800" dirty="0"/>
          </a:p>
        </p:txBody>
      </p:sp>
      <p:sp>
        <p:nvSpPr>
          <p:cNvPr id="21" name="kotak-123"/>
          <p:cNvSpPr/>
          <p:nvPr/>
        </p:nvSpPr>
        <p:spPr>
          <a:xfrm>
            <a:off x="397764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124"/>
          <p:cNvSpPr txBox="1"/>
          <p:nvPr/>
        </p:nvSpPr>
        <p:spPr>
          <a:xfrm>
            <a:off x="405079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±6 bulan</a:t>
            </a:r>
            <a:endParaRPr lang="en-US" sz="1500" dirty="0"/>
          </a:p>
        </p:txBody>
      </p:sp>
      <p:sp>
        <p:nvSpPr>
          <p:cNvPr id="23" name="teks-125"/>
          <p:cNvSpPr txBox="1"/>
          <p:nvPr/>
        </p:nvSpPr>
        <p:spPr>
          <a:xfrm>
            <a:off x="405079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bongkar-pasang antar-PKS, biaya 15% FCI</a:t>
            </a:r>
            <a:endParaRPr lang="en-US" sz="800" dirty="0"/>
          </a:p>
        </p:txBody>
      </p:sp>
      <p:graphicFrame>
        <p:nvGraphicFramePr>
          <p:cNvPr id="4" name="tabel-1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001768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731520"/>
                <a:gridCol w="868680"/>
                <a:gridCol w="594360"/>
                <a:gridCol w="77724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 (t TBS/jam)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Tangki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(kWe)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7.891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(acuan)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acuan gambar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(komersial)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komersial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otak-127"/>
          <p:cNvSpPr txBox="1"/>
          <p:nvPr/>
        </p:nvSpPr>
        <p:spPr>
          <a:xfrm>
            <a:off x="5852160" y="1143000"/>
            <a:ext cx="59436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kerja, dari POME sampai listrik (set 60 t TBS/jam)</a:t>
            </a:r>
            <a:endParaRPr lang="en-US" sz="1000" dirty="0"/>
          </a:p>
        </p:txBody>
      </p:sp>
      <p:sp>
        <p:nvSpPr>
          <p:cNvPr id="26" name="teks-128"/>
          <p:cNvSpPr txBox="1"/>
          <p:nvPr/>
        </p:nvSpPr>
        <p:spPr>
          <a:xfrm>
            <a:off x="5852160" y="1435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Pengolahan POME</a:t>
            </a:r>
            <a:endParaRPr lang="en-US" sz="900" dirty="0"/>
          </a:p>
        </p:txBody>
      </p:sp>
      <p:sp>
        <p:nvSpPr>
          <p:cNvPr id="27" name="kotak-129"/>
          <p:cNvSpPr txBox="1"/>
          <p:nvPr/>
        </p:nvSpPr>
        <p:spPr>
          <a:xfrm>
            <a:off x="5852160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Penerimaan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 m³ POME/hari, 85 °C, dari fat pit</a:t>
            </a:r>
            <a:endParaRPr lang="en-US" sz="900" dirty="0"/>
          </a:p>
        </p:txBody>
      </p:sp>
      <p:sp>
        <p:nvSpPr>
          <p:cNvPr id="28" name="garis-130"/>
          <p:cNvSpPr/>
          <p:nvPr/>
        </p:nvSpPr>
        <p:spPr>
          <a:xfrm>
            <a:off x="7242048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29" name="kotak-131"/>
          <p:cNvSpPr txBox="1"/>
          <p:nvPr/>
        </p:nvSpPr>
        <p:spPr>
          <a:xfrm>
            <a:off x="7370064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Praolah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pendingin ke 55 °C</a:t>
            </a:r>
            <a:endParaRPr lang="en-US" sz="900" dirty="0"/>
          </a:p>
        </p:txBody>
      </p:sp>
      <p:sp>
        <p:nvSpPr>
          <p:cNvPr id="30" name="garis-132"/>
          <p:cNvSpPr/>
          <p:nvPr/>
        </p:nvSpPr>
        <p:spPr>
          <a:xfrm>
            <a:off x="8759952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1" name="kotak-133"/>
          <p:cNvSpPr txBox="1"/>
          <p:nvPr/>
        </p:nvSpPr>
        <p:spPr>
          <a:xfrm>
            <a:off x="8887968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Reaktor kontak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tangki GFS, 55 °C, HRT 5 hari</a:t>
            </a:r>
            <a:endParaRPr lang="en-US" sz="900" dirty="0"/>
          </a:p>
        </p:txBody>
      </p:sp>
      <p:sp>
        <p:nvSpPr>
          <p:cNvPr id="32" name="garis-134"/>
          <p:cNvSpPr/>
          <p:nvPr/>
        </p:nvSpPr>
        <p:spPr>
          <a:xfrm>
            <a:off x="10277856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3" name="kotak-135"/>
          <p:cNvSpPr txBox="1"/>
          <p:nvPr/>
        </p:nvSpPr>
        <p:spPr>
          <a:xfrm>
            <a:off x="10405872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kembali ke reaktor (SRT 12 hari)</a:t>
            </a:r>
            <a:endParaRPr lang="en-US" sz="900" dirty="0"/>
          </a:p>
        </p:txBody>
      </p:sp>
      <p:sp>
        <p:nvSpPr>
          <p:cNvPr id="34" name="garis-136"/>
          <p:cNvSpPr/>
          <p:nvPr/>
        </p:nvSpPr>
        <p:spPr>
          <a:xfrm>
            <a:off x="11100816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5" name="garis-137"/>
          <p:cNvSpPr/>
          <p:nvPr/>
        </p:nvSpPr>
        <p:spPr>
          <a:xfrm>
            <a:off x="9582912" y="1655064"/>
            <a:ext cx="1517904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6" name="garis-138"/>
          <p:cNvSpPr/>
          <p:nvPr/>
        </p:nvSpPr>
        <p:spPr>
          <a:xfrm>
            <a:off x="9582912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37" name="teks-139"/>
          <p:cNvSpPr txBox="1"/>
          <p:nvPr/>
        </p:nvSpPr>
        <p:spPr>
          <a:xfrm>
            <a:off x="9674352" y="14904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780 m³/hari</a:t>
            </a:r>
            <a:endParaRPr lang="en-US" sz="800" dirty="0"/>
          </a:p>
        </p:txBody>
      </p:sp>
      <p:sp>
        <p:nvSpPr>
          <p:cNvPr id="38" name="garis-140"/>
          <p:cNvSpPr/>
          <p:nvPr/>
        </p:nvSpPr>
        <p:spPr>
          <a:xfrm>
            <a:off x="8065008" y="2569464"/>
            <a:ext cx="0" cy="201168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teks-141"/>
          <p:cNvSpPr txBox="1"/>
          <p:nvPr/>
        </p:nvSpPr>
        <p:spPr>
          <a:xfrm>
            <a:off x="7333488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saringan dan pasir ke PKS</a:t>
            </a:r>
            <a:endParaRPr lang="en-US" sz="800" dirty="0"/>
          </a:p>
        </p:txBody>
      </p:sp>
      <p:sp>
        <p:nvSpPr>
          <p:cNvPr id="40" name="garis-142"/>
          <p:cNvSpPr/>
          <p:nvPr/>
        </p:nvSpPr>
        <p:spPr>
          <a:xfrm>
            <a:off x="11100816" y="2569464"/>
            <a:ext cx="0" cy="201168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  <a:tailEnd type="triangle"/>
          </a:ln>
        </p:spPr>
      </p:sp>
      <p:sp>
        <p:nvSpPr>
          <p:cNvPr id="41" name="teks-143"/>
          <p:cNvSpPr txBox="1"/>
          <p:nvPr/>
        </p:nvSpPr>
        <p:spPr>
          <a:xfrm>
            <a:off x="10387584" y="278892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725 m³/hari ke kolam polishing</a:t>
            </a:r>
            <a:endParaRPr lang="en-US" sz="800" dirty="0"/>
          </a:p>
        </p:txBody>
      </p:sp>
      <p:sp>
        <p:nvSpPr>
          <p:cNvPr id="42" name="teks-144"/>
          <p:cNvSpPr txBox="1"/>
          <p:nvPr/>
        </p:nvSpPr>
        <p:spPr>
          <a:xfrm>
            <a:off x="5852160" y="29992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Biogas menjadi listrik</a:t>
            </a:r>
            <a:endParaRPr lang="en-US" sz="900" dirty="0"/>
          </a:p>
        </p:txBody>
      </p:sp>
      <p:sp>
        <p:nvSpPr>
          <p:cNvPr id="43" name="garis-145"/>
          <p:cNvSpPr/>
          <p:nvPr/>
        </p:nvSpPr>
        <p:spPr>
          <a:xfrm>
            <a:off x="9582912" y="2569464"/>
            <a:ext cx="0" cy="59436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4" name="garis-146"/>
          <p:cNvSpPr/>
          <p:nvPr/>
        </p:nvSpPr>
        <p:spPr>
          <a:xfrm>
            <a:off x="6547104" y="3163824"/>
            <a:ext cx="3035808" cy="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5" name="garis-147"/>
          <p:cNvSpPr/>
          <p:nvPr/>
        </p:nvSpPr>
        <p:spPr>
          <a:xfrm>
            <a:off x="6547104" y="3163824"/>
            <a:ext cx="0" cy="146304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46" name="teks-148"/>
          <p:cNvSpPr txBox="1"/>
          <p:nvPr/>
        </p:nvSpPr>
        <p:spPr>
          <a:xfrm>
            <a:off x="7644384" y="2999232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15.781 Nm³ biogas/hari (CH₄ 58%)</a:t>
            </a:r>
            <a:endParaRPr lang="en-US" sz="800" dirty="0"/>
          </a:p>
        </p:txBody>
      </p:sp>
      <p:sp>
        <p:nvSpPr>
          <p:cNvPr id="47" name="kotak-149"/>
          <p:cNvSpPr txBox="1"/>
          <p:nvPr/>
        </p:nvSpPr>
        <p:spPr>
          <a:xfrm>
            <a:off x="5852160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Pemurnian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2.868 → 21 ppm (bio-scrubber, karbon aktif)</a:t>
            </a:r>
            <a:endParaRPr lang="en-US" sz="900" dirty="0"/>
          </a:p>
        </p:txBody>
      </p:sp>
      <p:sp>
        <p:nvSpPr>
          <p:cNvPr id="48" name="garis-150"/>
          <p:cNvSpPr/>
          <p:nvPr/>
        </p:nvSpPr>
        <p:spPr>
          <a:xfrm>
            <a:off x="7242048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49" name="kotak-151"/>
          <p:cNvSpPr txBox="1"/>
          <p:nvPr/>
        </p:nvSpPr>
        <p:spPr>
          <a:xfrm>
            <a:off x="7370064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Penampung gas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 ganda 2 jam; flare tertutup</a:t>
            </a:r>
            <a:endParaRPr lang="en-US" sz="900" dirty="0"/>
          </a:p>
        </p:txBody>
      </p:sp>
      <p:sp>
        <p:nvSpPr>
          <p:cNvPr id="50" name="garis-152"/>
          <p:cNvSpPr/>
          <p:nvPr/>
        </p:nvSpPr>
        <p:spPr>
          <a:xfrm>
            <a:off x="8759952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1" name="kotak-153"/>
          <p:cNvSpPr txBox="1"/>
          <p:nvPr/>
        </p:nvSpPr>
        <p:spPr>
          <a:xfrm>
            <a:off x="8887968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Genset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800 kWe, efisiensi listrik 39,3%</a:t>
            </a:r>
            <a:endParaRPr lang="en-US" sz="900" dirty="0"/>
          </a:p>
        </p:txBody>
      </p:sp>
      <p:sp>
        <p:nvSpPr>
          <p:cNvPr id="52" name="garis-154"/>
          <p:cNvSpPr/>
          <p:nvPr/>
        </p:nvSpPr>
        <p:spPr>
          <a:xfrm>
            <a:off x="10277856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3" name="kotak-155"/>
          <p:cNvSpPr txBox="1"/>
          <p:nvPr/>
        </p:nvSpPr>
        <p:spPr>
          <a:xfrm>
            <a:off x="10405872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Listrik dan panas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kV ke PKS dan PLN; panas ke reaktor</a:t>
            </a:r>
            <a:endParaRPr lang="en-US" sz="900" dirty="0"/>
          </a:p>
        </p:txBody>
      </p:sp>
      <p:sp>
        <p:nvSpPr>
          <p:cNvPr id="54" name="garis-156"/>
          <p:cNvSpPr/>
          <p:nvPr/>
        </p:nvSpPr>
        <p:spPr>
          <a:xfrm>
            <a:off x="11100816" y="4096512"/>
            <a:ext cx="0" cy="246888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5" name="garis-157"/>
          <p:cNvSpPr/>
          <p:nvPr/>
        </p:nvSpPr>
        <p:spPr>
          <a:xfrm>
            <a:off x="6560820" y="4343400"/>
            <a:ext cx="4539996" cy="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6" name="garis-158"/>
          <p:cNvSpPr/>
          <p:nvPr/>
        </p:nvSpPr>
        <p:spPr>
          <a:xfrm>
            <a:off x="656082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7" name="kotak-159"/>
          <p:cNvSpPr txBox="1"/>
          <p:nvPr/>
        </p:nvSpPr>
        <p:spPr>
          <a:xfrm>
            <a:off x="585216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PKS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 GWh/tahun, menggantikan solar</a:t>
            </a:r>
            <a:endParaRPr lang="en-US" sz="900" dirty="0"/>
          </a:p>
        </p:txBody>
      </p:sp>
      <p:sp>
        <p:nvSpPr>
          <p:cNvPr id="58" name="garis-160"/>
          <p:cNvSpPr/>
          <p:nvPr/>
        </p:nvSpPr>
        <p:spPr>
          <a:xfrm>
            <a:off x="806958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9" name="kotak-161"/>
          <p:cNvSpPr txBox="1"/>
          <p:nvPr/>
        </p:nvSpPr>
        <p:spPr>
          <a:xfrm>
            <a:off x="736092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ke PLN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 GWh/tahun, 9,81 USc/kWh</a:t>
            </a:r>
            <a:endParaRPr lang="en-US" sz="900" dirty="0"/>
          </a:p>
        </p:txBody>
      </p:sp>
      <p:sp>
        <p:nvSpPr>
          <p:cNvPr id="60" name="garis-162"/>
          <p:cNvSpPr/>
          <p:nvPr/>
        </p:nvSpPr>
        <p:spPr>
          <a:xfrm>
            <a:off x="957834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1" name="kotak-163"/>
          <p:cNvSpPr txBox="1"/>
          <p:nvPr/>
        </p:nvSpPr>
        <p:spPr>
          <a:xfrm>
            <a:off x="886968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karbon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ribu tCO₂e/tahun</a:t>
            </a:r>
            <a:endParaRPr lang="en-US" sz="900" dirty="0"/>
          </a:p>
        </p:txBody>
      </p:sp>
      <p:sp>
        <p:nvSpPr>
          <p:cNvPr id="62" name="garis-164"/>
          <p:cNvSpPr/>
          <p:nvPr/>
        </p:nvSpPr>
        <p:spPr>
          <a:xfrm>
            <a:off x="1108710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3" name="kotak-165"/>
          <p:cNvSpPr txBox="1"/>
          <p:nvPr/>
        </p:nvSpPr>
        <p:spPr>
          <a:xfrm>
            <a:off x="1037844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Jasa pengolahan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1,25 per t TBS</a:t>
            </a:r>
            <a:endParaRPr lang="en-US" sz="900" dirty="0"/>
          </a:p>
        </p:txBody>
      </p:sp>
      <p:sp>
        <p:nvSpPr>
          <p:cNvPr id="64" name="kotak-166"/>
          <p:cNvSpPr txBox="1"/>
          <p:nvPr/>
        </p:nvSpPr>
        <p:spPr>
          <a:xfrm>
            <a:off x="585216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dan nilai</a:t>
            </a:r>
            <a:endParaRPr lang="en-US" sz="950" dirty="0"/>
          </a:p>
        </p:txBody>
      </p:sp>
      <p:sp>
        <p:nvSpPr>
          <p:cNvPr id="65" name="kotak-167"/>
          <p:cNvSpPr txBox="1"/>
          <p:nvPr/>
        </p:nvSpPr>
        <p:spPr>
          <a:xfrm>
            <a:off x="889254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 dari praktik saat ini</a:t>
            </a:r>
            <a:endParaRPr lang="en-US" sz="950" dirty="0"/>
          </a:p>
        </p:txBody>
      </p:sp>
      <p:sp>
        <p:nvSpPr>
          <p:cNvPr id="66" name="kotak-168"/>
          <p:cNvSpPr/>
          <p:nvPr/>
        </p:nvSpPr>
        <p:spPr>
          <a:xfrm>
            <a:off x="585216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7" name="kotak-169"/>
          <p:cNvSpPr/>
          <p:nvPr/>
        </p:nvSpPr>
        <p:spPr>
          <a:xfrm>
            <a:off x="889254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8" name="teks-170"/>
          <p:cNvSpPr txBox="1"/>
          <p:nvPr/>
        </p:nvSpPr>
        <p:spPr>
          <a:xfrm>
            <a:off x="592531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45–60 t TBS/jam, solar tergantikan ≥ 2,0 L/t TBS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bayar USD 3,00 vs 3,14/t TBS bila memakai kolam</a:t>
            </a:r>
            <a:endParaRPr lang="en-US" sz="900" dirty="0"/>
          </a:p>
        </p:txBody>
      </p:sp>
      <p:sp>
        <p:nvSpPr>
          <p:cNvPr id="69" name="teks-171"/>
          <p:cNvSpPr txBox="1"/>
          <p:nvPr/>
        </p:nvSpPr>
        <p:spPr>
          <a:xfrm>
            <a:off x="896569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Layanan, bukan proyek: operator menjamin kinerja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5 hari (kolam tertutup 25–40 hari), plot 0,38–0,5 ha</a:t>
            </a:r>
            <a:endParaRPr lang="en-US" sz="900" dirty="0"/>
          </a:p>
        </p:txBody>
      </p:sp>
      <p:sp>
        <p:nvSpPr>
          <p:cNvPr id="70" name="kotak-172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1" name="kotak-173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ini menukar proyek rekayasa sekali jadi dengan layanan modular: modal PKS nol, reaktor 5 hari, dan set yang dapat dipindah bila PKS berhenti beroperasi.</a:t>
            </a:r>
            <a:endParaRPr lang="en-US" sz="950" dirty="0"/>
          </a:p>
        </p:txBody>
      </p:sp>
      <p:sp>
        <p:nvSpPr>
          <p:cNvPr id="72" name="teks-174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GFS baja berlapis kaca; HRT/SRT waktu tinggal hidraulik/lumpur; FCI biaya modal tetap; NPV nilai kini neto; PKS pabrik kelapa sawit.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neraca proses Rev 2 (process/outputs/results.json; aliran 60 t/jam = modul acuan × 4/3); Model Keputusan PKS; model 3D tim; research/R3, R6.</a:t>
            </a:r>
            <a:endParaRPr lang="en-US" sz="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dan energi menutup: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 m³ POME per hari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menghasilkan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11.836 Nm³ biogas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 GWh listrik neto per tahun</a:t>
            </a:r>
            <a:endParaRPr lang="en-US" sz="1900" dirty="0"/>
          </a:p>
        </p:txBody>
      </p:sp>
      <p:sp>
        <p:nvSpPr>
          <p:cNvPr id="3" name="kotak-175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76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77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78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79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80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81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82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kotak-183"/>
          <p:cNvSpPr/>
          <p:nvPr/>
        </p:nvSpPr>
        <p:spPr>
          <a:xfrm>
            <a:off x="41148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3" name="teks-184"/>
          <p:cNvSpPr txBox="1"/>
          <p:nvPr/>
        </p:nvSpPr>
        <p:spPr>
          <a:xfrm>
            <a:off x="46634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Suhu</a:t>
            </a:r>
            <a:endParaRPr lang="en-US" sz="750" dirty="0"/>
          </a:p>
        </p:txBody>
      </p:sp>
      <p:sp>
        <p:nvSpPr>
          <p:cNvPr id="14" name="teks-185"/>
          <p:cNvSpPr txBox="1"/>
          <p:nvPr/>
        </p:nvSpPr>
        <p:spPr>
          <a:xfrm>
            <a:off x="46634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°C</a:t>
            </a:r>
            <a:endParaRPr lang="en-US" sz="950" dirty="0"/>
          </a:p>
        </p:txBody>
      </p:sp>
      <p:sp>
        <p:nvSpPr>
          <p:cNvPr id="15" name="kotak-186"/>
          <p:cNvSpPr/>
          <p:nvPr/>
        </p:nvSpPr>
        <p:spPr>
          <a:xfrm>
            <a:off x="1709928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6" name="teks-187"/>
          <p:cNvSpPr txBox="1"/>
          <p:nvPr/>
        </p:nvSpPr>
        <p:spPr>
          <a:xfrm>
            <a:off x="1764792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/ SRT</a:t>
            </a:r>
            <a:endParaRPr lang="en-US" sz="750" dirty="0"/>
          </a:p>
        </p:txBody>
      </p:sp>
      <p:sp>
        <p:nvSpPr>
          <p:cNvPr id="17" name="teks-188"/>
          <p:cNvSpPr txBox="1"/>
          <p:nvPr/>
        </p:nvSpPr>
        <p:spPr>
          <a:xfrm>
            <a:off x="1764792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 / 12 hari</a:t>
            </a:r>
            <a:endParaRPr lang="en-US" sz="950" dirty="0"/>
          </a:p>
        </p:txBody>
      </p:sp>
      <p:sp>
        <p:nvSpPr>
          <p:cNvPr id="18" name="kotak-189"/>
          <p:cNvSpPr/>
          <p:nvPr/>
        </p:nvSpPr>
        <p:spPr>
          <a:xfrm>
            <a:off x="3008376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9" name="teks-190"/>
          <p:cNvSpPr txBox="1"/>
          <p:nvPr/>
        </p:nvSpPr>
        <p:spPr>
          <a:xfrm>
            <a:off x="3063240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OLR</a:t>
            </a:r>
            <a:endParaRPr lang="en-US" sz="750" dirty="0"/>
          </a:p>
        </p:txBody>
      </p:sp>
      <p:sp>
        <p:nvSpPr>
          <p:cNvPr id="20" name="teks-191"/>
          <p:cNvSpPr txBox="1"/>
          <p:nvPr/>
        </p:nvSpPr>
        <p:spPr>
          <a:xfrm>
            <a:off x="3063240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 kg COD/m³·hari</a:t>
            </a:r>
            <a:endParaRPr lang="en-US" sz="950" dirty="0"/>
          </a:p>
        </p:txBody>
      </p:sp>
      <p:sp>
        <p:nvSpPr>
          <p:cNvPr id="21" name="kotak-192"/>
          <p:cNvSpPr/>
          <p:nvPr/>
        </p:nvSpPr>
        <p:spPr>
          <a:xfrm>
            <a:off x="4306824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2" name="teks-193"/>
          <p:cNvSpPr txBox="1"/>
          <p:nvPr/>
        </p:nvSpPr>
        <p:spPr>
          <a:xfrm>
            <a:off x="4361688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umpan</a:t>
            </a:r>
            <a:endParaRPr lang="en-US" sz="750" dirty="0"/>
          </a:p>
        </p:txBody>
      </p:sp>
      <p:sp>
        <p:nvSpPr>
          <p:cNvPr id="23" name="teks-194"/>
          <p:cNvSpPr txBox="1"/>
          <p:nvPr/>
        </p:nvSpPr>
        <p:spPr>
          <a:xfrm>
            <a:off x="4361688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49,7 g/L</a:t>
            </a:r>
            <a:endParaRPr lang="en-US" sz="950" dirty="0"/>
          </a:p>
        </p:txBody>
      </p:sp>
      <p:sp>
        <p:nvSpPr>
          <p:cNvPr id="24" name="kotak-195"/>
          <p:cNvSpPr/>
          <p:nvPr/>
        </p:nvSpPr>
        <p:spPr>
          <a:xfrm>
            <a:off x="5605272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5" name="teks-196"/>
          <p:cNvSpPr txBox="1"/>
          <p:nvPr/>
        </p:nvSpPr>
        <p:spPr>
          <a:xfrm>
            <a:off x="5660136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Penyisihan COD</a:t>
            </a:r>
            <a:endParaRPr lang="en-US" sz="750" dirty="0"/>
          </a:p>
        </p:txBody>
      </p:sp>
      <p:sp>
        <p:nvSpPr>
          <p:cNvPr id="26" name="teks-197"/>
          <p:cNvSpPr txBox="1"/>
          <p:nvPr/>
        </p:nvSpPr>
        <p:spPr>
          <a:xfrm>
            <a:off x="5660136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50" dirty="0"/>
          </a:p>
        </p:txBody>
      </p:sp>
      <p:sp>
        <p:nvSpPr>
          <p:cNvPr id="27" name="kotak-198"/>
          <p:cNvSpPr/>
          <p:nvPr/>
        </p:nvSpPr>
        <p:spPr>
          <a:xfrm>
            <a:off x="690372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8" name="teks-199"/>
          <p:cNvSpPr txBox="1"/>
          <p:nvPr/>
        </p:nvSpPr>
        <p:spPr>
          <a:xfrm>
            <a:off x="695858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</a:t>
            </a:r>
            <a:endParaRPr lang="en-US" sz="750" dirty="0"/>
          </a:p>
        </p:txBody>
      </p:sp>
      <p:sp>
        <p:nvSpPr>
          <p:cNvPr id="29" name="teks-200"/>
          <p:cNvSpPr txBox="1"/>
          <p:nvPr/>
        </p:nvSpPr>
        <p:spPr>
          <a:xfrm>
            <a:off x="695858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980 m³</a:t>
            </a:r>
            <a:endParaRPr lang="en-US" sz="950" dirty="0"/>
          </a:p>
        </p:txBody>
      </p:sp>
      <p:sp>
        <p:nvSpPr>
          <p:cNvPr id="30" name="kotak-201"/>
          <p:cNvSpPr txBox="1"/>
          <p:nvPr/>
        </p:nvSpPr>
        <p:spPr>
          <a:xfrm>
            <a:off x="411480" y="1572768"/>
            <a:ext cx="76809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nameplate, modul acuan 45 t TBS/jam (kg/jam)</a:t>
            </a:r>
            <a:endParaRPr lang="en-US" sz="950" dirty="0"/>
          </a:p>
        </p:txBody>
      </p:sp>
      <p:sp>
        <p:nvSpPr>
          <p:cNvPr id="31" name="kotak-202"/>
          <p:cNvSpPr txBox="1"/>
          <p:nvPr/>
        </p:nvSpPr>
        <p:spPr>
          <a:xfrm>
            <a:off x="41148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mentah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°C · 24.375</a:t>
            </a:r>
            <a:endParaRPr lang="en-US" sz="900" dirty="0"/>
          </a:p>
        </p:txBody>
      </p:sp>
      <p:sp>
        <p:nvSpPr>
          <p:cNvPr id="32" name="kotak-203"/>
          <p:cNvSpPr txBox="1"/>
          <p:nvPr/>
        </p:nvSpPr>
        <p:spPr>
          <a:xfrm>
            <a:off x="242316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Praolah + pendingin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85 → 55 °C</a:t>
            </a:r>
            <a:endParaRPr lang="en-US" sz="900" dirty="0"/>
          </a:p>
        </p:txBody>
      </p:sp>
      <p:sp>
        <p:nvSpPr>
          <p:cNvPr id="33" name="kotak-204"/>
          <p:cNvSpPr txBox="1"/>
          <p:nvPr/>
        </p:nvSpPr>
        <p:spPr>
          <a:xfrm>
            <a:off x="443484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+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tangki GFS 55 °C</a:t>
            </a:r>
            <a:endParaRPr lang="en-US" sz="900" dirty="0"/>
          </a:p>
        </p:txBody>
      </p:sp>
      <p:sp>
        <p:nvSpPr>
          <p:cNvPr id="34" name="kotak-205"/>
          <p:cNvSpPr txBox="1"/>
          <p:nvPr/>
        </p:nvSpPr>
        <p:spPr>
          <a:xfrm>
            <a:off x="644652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kolam polishing</a:t>
            </a:r>
            <a:endParaRPr lang="en-US" sz="900" dirty="0"/>
          </a:p>
        </p:txBody>
      </p:sp>
      <p:sp>
        <p:nvSpPr>
          <p:cNvPr id="35" name="garis-206"/>
          <p:cNvSpPr/>
          <p:nvPr/>
        </p:nvSpPr>
        <p:spPr>
          <a:xfrm>
            <a:off x="205740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6" name="teks-207"/>
          <p:cNvSpPr txBox="1"/>
          <p:nvPr/>
        </p:nvSpPr>
        <p:spPr>
          <a:xfrm>
            <a:off x="205740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24.375</a:t>
            </a:r>
            <a:endParaRPr lang="en-US" sz="800" dirty="0"/>
          </a:p>
        </p:txBody>
      </p:sp>
      <p:sp>
        <p:nvSpPr>
          <p:cNvPr id="37" name="garis-208"/>
          <p:cNvSpPr/>
          <p:nvPr/>
        </p:nvSpPr>
        <p:spPr>
          <a:xfrm>
            <a:off x="406908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8" name="teks-209"/>
          <p:cNvSpPr txBox="1"/>
          <p:nvPr/>
        </p:nvSpPr>
        <p:spPr>
          <a:xfrm>
            <a:off x="406908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24.129</a:t>
            </a:r>
            <a:endParaRPr lang="en-US" sz="800" dirty="0"/>
          </a:p>
        </p:txBody>
      </p:sp>
      <p:sp>
        <p:nvSpPr>
          <p:cNvPr id="39" name="garis-210"/>
          <p:cNvSpPr/>
          <p:nvPr/>
        </p:nvSpPr>
        <p:spPr>
          <a:xfrm>
            <a:off x="608076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0" name="teks-211"/>
          <p:cNvSpPr txBox="1"/>
          <p:nvPr/>
        </p:nvSpPr>
        <p:spPr>
          <a:xfrm>
            <a:off x="608076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22.664</a:t>
            </a:r>
            <a:endParaRPr lang="en-US" sz="800" dirty="0"/>
          </a:p>
        </p:txBody>
      </p:sp>
      <p:sp>
        <p:nvSpPr>
          <p:cNvPr id="41" name="garis-212"/>
          <p:cNvSpPr/>
          <p:nvPr/>
        </p:nvSpPr>
        <p:spPr>
          <a:xfrm>
            <a:off x="5852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2" name="garis-213"/>
          <p:cNvSpPr/>
          <p:nvPr/>
        </p:nvSpPr>
        <p:spPr>
          <a:xfrm>
            <a:off x="4709160" y="1911096"/>
            <a:ext cx="1143000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3" name="garis-214"/>
          <p:cNvSpPr/>
          <p:nvPr/>
        </p:nvSpPr>
        <p:spPr>
          <a:xfrm>
            <a:off x="4709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44" name="teks-215"/>
          <p:cNvSpPr txBox="1"/>
          <p:nvPr/>
        </p:nvSpPr>
        <p:spPr>
          <a:xfrm>
            <a:off x="4846320" y="1892808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lumpur 24.127</a:t>
            </a:r>
            <a:endParaRPr lang="en-US" sz="750" dirty="0"/>
          </a:p>
        </p:txBody>
      </p:sp>
      <p:sp>
        <p:nvSpPr>
          <p:cNvPr id="45" name="garis-216"/>
          <p:cNvSpPr/>
          <p:nvPr/>
        </p:nvSpPr>
        <p:spPr>
          <a:xfrm>
            <a:off x="2880360" y="2596896"/>
            <a:ext cx="0" cy="22860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6" name="teks-217"/>
          <p:cNvSpPr txBox="1"/>
          <p:nvPr/>
        </p:nvSpPr>
        <p:spPr>
          <a:xfrm>
            <a:off x="2011680" y="2651760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246</a:t>
            </a:r>
            <a:endParaRPr lang="en-US" sz="750" dirty="0"/>
          </a:p>
        </p:txBody>
      </p:sp>
      <p:sp>
        <p:nvSpPr>
          <p:cNvPr id="47" name="garis-218"/>
          <p:cNvSpPr/>
          <p:nvPr/>
        </p:nvSpPr>
        <p:spPr>
          <a:xfrm>
            <a:off x="4526280" y="2596896"/>
            <a:ext cx="0" cy="484632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</a:ln>
        </p:spPr>
      </p:sp>
      <p:sp>
        <p:nvSpPr>
          <p:cNvPr id="48" name="garis-219"/>
          <p:cNvSpPr/>
          <p:nvPr/>
        </p:nvSpPr>
        <p:spPr>
          <a:xfrm>
            <a:off x="4069080" y="3081528"/>
            <a:ext cx="457200" cy="0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  <a:headEnd type="triangle"/>
          </a:ln>
        </p:spPr>
      </p:sp>
      <p:sp>
        <p:nvSpPr>
          <p:cNvPr id="49" name="teks-220"/>
          <p:cNvSpPr txBox="1"/>
          <p:nvPr/>
        </p:nvSpPr>
        <p:spPr>
          <a:xfrm>
            <a:off x="2971800" y="2651760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buangan 4.531</a:t>
            </a:r>
            <a:endParaRPr lang="en-US" sz="750" dirty="0"/>
          </a:p>
        </p:txBody>
      </p:sp>
      <p:sp>
        <p:nvSpPr>
          <p:cNvPr id="50" name="kotak-221"/>
          <p:cNvSpPr txBox="1"/>
          <p:nvPr/>
        </p:nvSpPr>
        <p:spPr>
          <a:xfrm>
            <a:off x="242316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press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kue 785 + filtrat 3.746</a:t>
            </a:r>
            <a:endParaRPr lang="en-US" sz="900" dirty="0"/>
          </a:p>
        </p:txBody>
      </p:sp>
      <p:sp>
        <p:nvSpPr>
          <p:cNvPr id="51" name="garis-222"/>
          <p:cNvSpPr/>
          <p:nvPr/>
        </p:nvSpPr>
        <p:spPr>
          <a:xfrm>
            <a:off x="5303520" y="2596896"/>
            <a:ext cx="0" cy="256032"/>
          </a:xfrm>
          <a:prstGeom prst="line">
            <a:avLst/>
          </a:prstGeom>
          <a:noFill/>
          <a:ln w="25400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52" name="teks-223"/>
          <p:cNvSpPr txBox="1"/>
          <p:nvPr/>
        </p:nvSpPr>
        <p:spPr>
          <a:xfrm>
            <a:off x="5349240" y="2651760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biogas 681</a:t>
            </a:r>
            <a:endParaRPr lang="en-US" sz="750" dirty="0"/>
          </a:p>
        </p:txBody>
      </p:sp>
      <p:sp>
        <p:nvSpPr>
          <p:cNvPr id="53" name="kotak-224"/>
          <p:cNvSpPr txBox="1"/>
          <p:nvPr/>
        </p:nvSpPr>
        <p:spPr>
          <a:xfrm>
            <a:off x="46177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Pemurnian biogas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616 kg/jam (buang 72)</a:t>
            </a:r>
            <a:endParaRPr lang="en-US" sz="900" dirty="0"/>
          </a:p>
        </p:txBody>
      </p:sp>
      <p:sp>
        <p:nvSpPr>
          <p:cNvPr id="54" name="garis-225"/>
          <p:cNvSpPr/>
          <p:nvPr/>
        </p:nvSpPr>
        <p:spPr>
          <a:xfrm>
            <a:off x="6263640" y="3081528"/>
            <a:ext cx="182880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5" name="kotak-226"/>
          <p:cNvSpPr txBox="1"/>
          <p:nvPr/>
        </p:nvSpPr>
        <p:spPr>
          <a:xfrm>
            <a:off x="64465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Genset 2 × 600 kWe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buang 6.988 (150 °C)</a:t>
            </a:r>
            <a:endParaRPr lang="en-US" sz="900" dirty="0"/>
          </a:p>
        </p:txBody>
      </p:sp>
      <p:sp>
        <p:nvSpPr>
          <p:cNvPr id="56" name="garis-227"/>
          <p:cNvSpPr/>
          <p:nvPr/>
        </p:nvSpPr>
        <p:spPr>
          <a:xfrm>
            <a:off x="7772400" y="2670048"/>
            <a:ext cx="0" cy="18288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teks-228"/>
          <p:cNvSpPr txBox="1"/>
          <p:nvPr/>
        </p:nvSpPr>
        <p:spPr>
          <a:xfrm>
            <a:off x="6812280" y="265176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6.372</a:t>
            </a:r>
            <a:endParaRPr lang="en-US" sz="750" dirty="0"/>
          </a:p>
        </p:txBody>
      </p:sp>
      <p:sp>
        <p:nvSpPr>
          <p:cNvPr id="58" name="teks-229"/>
          <p:cNvSpPr txBox="1"/>
          <p:nvPr/>
        </p:nvSpPr>
        <p:spPr>
          <a:xfrm>
            <a:off x="411480" y="340156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masuk 30.756 = Σ keluar 30.755 kg/jam</a:t>
            </a:r>
            <a:pPr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(galat 0,0002%; neraca unsur C, H, O, N, S &lt; 10⁻⁴)</a:t>
            </a:r>
            <a:endParaRPr lang="en-US" sz="850" dirty="0"/>
          </a:p>
        </p:txBody>
      </p:sp>
      <p:sp>
        <p:nvSpPr>
          <p:cNvPr id="59" name="kotak-230"/>
          <p:cNvSpPr txBox="1"/>
          <p:nvPr/>
        </p:nvSpPr>
        <p:spPr>
          <a:xfrm>
            <a:off x="8275320" y="1143000"/>
            <a:ext cx="35204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limbah ke kWh (per hari nameplate)</a:t>
            </a:r>
            <a:endParaRPr lang="en-US" sz="950" dirty="0"/>
          </a:p>
        </p:txBody>
      </p:sp>
      <p:sp>
        <p:nvSpPr>
          <p:cNvPr id="60" name="kotak-231"/>
          <p:cNvSpPr txBox="1"/>
          <p:nvPr/>
        </p:nvSpPr>
        <p:spPr>
          <a:xfrm>
            <a:off x="8275320" y="14173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m³ POME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29,1 t/hari (49,7 g/L)</a:t>
            </a:r>
            <a:endParaRPr lang="en-US" sz="900" dirty="0"/>
          </a:p>
        </p:txBody>
      </p:sp>
      <p:sp>
        <p:nvSpPr>
          <p:cNvPr id="61" name="kotak-232"/>
          <p:cNvSpPr txBox="1"/>
          <p:nvPr/>
        </p:nvSpPr>
        <p:spPr>
          <a:xfrm>
            <a:off x="8275320" y="178308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11.836 Nm³ biogas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20,2 Nm³ per m³ POME; CH₄ 58%</a:t>
            </a:r>
            <a:endParaRPr lang="en-US" sz="900" dirty="0"/>
          </a:p>
        </p:txBody>
      </p:sp>
      <p:sp>
        <p:nvSpPr>
          <p:cNvPr id="62" name="kotak-233"/>
          <p:cNvSpPr txBox="1"/>
          <p:nvPr/>
        </p:nvSpPr>
        <p:spPr>
          <a:xfrm>
            <a:off x="8275320" y="214884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6.919 Nm³ CH₄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 Nm³ per m³ POME</a:t>
            </a:r>
            <a:endParaRPr lang="en-US" sz="900" dirty="0"/>
          </a:p>
        </p:txBody>
      </p:sp>
      <p:sp>
        <p:nvSpPr>
          <p:cNvPr id="63" name="kotak-234"/>
          <p:cNvSpPr txBox="1"/>
          <p:nvPr/>
        </p:nvSpPr>
        <p:spPr>
          <a:xfrm>
            <a:off x="8275320" y="251460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1.127 kWe kotor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 kWh per m³ POME</a:t>
            </a:r>
            <a:endParaRPr lang="en-US" sz="900" dirty="0"/>
          </a:p>
        </p:txBody>
      </p:sp>
      <p:sp>
        <p:nvSpPr>
          <p:cNvPr id="64" name="kotak-235"/>
          <p:cNvSpPr txBox="1"/>
          <p:nvPr/>
        </p:nvSpPr>
        <p:spPr>
          <a:xfrm>
            <a:off x="8275320" y="288036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1.025 kWe neto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 kWh per m³ POME</a:t>
            </a:r>
            <a:endParaRPr lang="en-US" sz="900" dirty="0"/>
          </a:p>
        </p:txBody>
      </p:sp>
      <p:sp>
        <p:nvSpPr>
          <p:cNvPr id="65" name="kotak-236"/>
          <p:cNvSpPr txBox="1"/>
          <p:nvPr/>
        </p:nvSpPr>
        <p:spPr>
          <a:xfrm>
            <a:off x="8275320" y="32461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3E8E41"/>
          </a:solidFill>
          <a:ln w="9525">
            <a:solidFill>
              <a:srgbClr val="3E8E4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5,27 GWh/tahun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tahunan: 40,0 kWh/m³ POME; 26,0 kWh/t TBS</a:t>
            </a:r>
            <a:endParaRPr lang="en-US" sz="900" dirty="0"/>
          </a:p>
        </p:txBody>
      </p:sp>
      <p:sp>
        <p:nvSpPr>
          <p:cNvPr id="66" name="kotak-237"/>
          <p:cNvSpPr txBox="1"/>
          <p:nvPr/>
        </p:nvSpPr>
        <p:spPr>
          <a:xfrm>
            <a:off x="4114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energi (kW, nameplate)</a:t>
            </a:r>
            <a:endParaRPr lang="en-US" sz="95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365760" y="3913632"/>
          <a:ext cx="384048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teks-238"/>
          <p:cNvSpPr txBox="1"/>
          <p:nvPr/>
        </p:nvSpPr>
        <p:spPr>
          <a:xfrm>
            <a:off x="41148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listrik 39,3%; pemakaian sendiri 9% dari daya kotor (pencampur jet 24 kW, menara pendingin 13 kW, bantu genset 36 kW). Panas selubung dan gas buang (1.405 kW) cukup memanasi reaktor (17 kW).</a:t>
            </a:r>
            <a:endParaRPr lang="en-US" sz="780" dirty="0"/>
          </a:p>
        </p:txBody>
      </p:sp>
      <p:sp>
        <p:nvSpPr>
          <p:cNvPr id="69" name="kotak-239"/>
          <p:cNvSpPr txBox="1"/>
          <p:nvPr/>
        </p:nvSpPr>
        <p:spPr>
          <a:xfrm>
            <a:off x="42976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reaktor selama setahun (simulasi 365 hari)</a:t>
            </a:r>
            <a:endParaRPr lang="en-US" sz="95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4251960" y="3913632"/>
          <a:ext cx="3840480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1" name="Chart 2" descr=""/>
          <p:cNvGraphicFramePr/>
          <p:nvPr/>
        </p:nvGraphicFramePr>
        <p:xfrm>
          <a:off x="4251960" y="4791456"/>
          <a:ext cx="3840480" cy="7132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2" name="teks-240"/>
          <p:cNvSpPr txBox="1"/>
          <p:nvPr/>
        </p:nvSpPr>
        <p:spPr>
          <a:xfrm>
            <a:off x="4297680" y="55046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Stabil: pH 7,11–7,2; FOS/TAC maks 0,05 (batas 0,3); VFA ≈ 85 mg/L. Dip: hari Minggu (≈ 94 kW) dan henti 14 hari; musiman ±25%.</a:t>
            </a:r>
            <a:endParaRPr lang="en-US" sz="780" dirty="0"/>
          </a:p>
        </p:txBody>
      </p:sp>
      <p:sp>
        <p:nvSpPr>
          <p:cNvPr id="73" name="kotak-241"/>
          <p:cNvSpPr txBox="1"/>
          <p:nvPr/>
        </p:nvSpPr>
        <p:spPr>
          <a:xfrm>
            <a:off x="8183880" y="3675888"/>
            <a:ext cx="361188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Ketidakpastian umpan dan kinerja (400 sampel)</a:t>
            </a:r>
            <a:endParaRPr lang="en-US" sz="950" dirty="0"/>
          </a:p>
        </p:txBody>
      </p:sp>
      <p:graphicFrame>
        <p:nvGraphicFramePr>
          <p:cNvPr id="74" name="Chart 3" descr=""/>
          <p:cNvGraphicFramePr/>
          <p:nvPr/>
        </p:nvGraphicFramePr>
        <p:xfrm>
          <a:off x="8138160" y="3913632"/>
          <a:ext cx="3703320" cy="896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tabel-2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4846320"/>
          <a:ext cx="91440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685800"/>
                <a:gridCol w="685800"/>
                <a:gridCol w="7315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Keluaran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Daya 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OLR (kg COD/m³·hari)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Penyisihan COD (%)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kotak-243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7" name="kotak-244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m³ POME menghasilkan ≈ 40 kWh listrik neto per tahun; kolam metana ditutup dengan reaktor 5 hari, dan 91% daya kotor tersedia untuk dijual karena pemakaian sendiri hanya 9%.</a:t>
            </a:r>
            <a:endParaRPr lang="en-US" sz="950" dirty="0"/>
          </a:p>
        </p:txBody>
      </p:sp>
      <p:sp>
        <p:nvSpPr>
          <p:cNvPr id="78" name="teks-245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COD kebutuhan oksigen kimiawi; OLR laju beban organik; FOS/TAC rasio asam volatil terhadap alkalinitas; VFA asam lemak volatil; LHV nilai kalor bawah; Nm³ meter kubik normal.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process/biogas_balance.py Rev 2 (ADM1-lite terkalibrasi; simulasi 365 hari; Monte Carlo 400 sampel; results.json), research/R4 (Choorit 2007). Parameter kinetika: literatur; belum ada data terukur di lokasi (TRL 4).</a:t>
            </a:r>
            <a:endParaRPr lang="en-US" sz="5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 produk: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PFD, tata letak, model 3D, dan sembilan lembar gambar rekayasa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menunjukkan set yang dirancang rinci, bukan sekadar konsep</a:t>
            </a:r>
            <a:endParaRPr lang="en-US" sz="1900" dirty="0"/>
          </a:p>
        </p:txBody>
      </p:sp>
      <p:sp>
        <p:nvSpPr>
          <p:cNvPr id="3" name="kotak-246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47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48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49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50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51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52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53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" name="kotak-254"/>
          <p:cNvSpPr txBox="1"/>
          <p:nvPr/>
        </p:nvSpPr>
        <p:spPr>
          <a:xfrm>
            <a:off x="411480" y="1143000"/>
            <a:ext cx="571500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Diagram alir proses (PFD BG-002 Rev 3): dibaca dari kiri ke kanan</a:t>
            </a:r>
            <a:endParaRPr lang="en-US" sz="950" dirty="0"/>
          </a:p>
        </p:txBody>
      </p:sp>
      <p:sp>
        <p:nvSpPr>
          <p:cNvPr id="13" name="kotak-255"/>
          <p:cNvSpPr/>
          <p:nvPr/>
        </p:nvSpPr>
        <p:spPr>
          <a:xfrm>
            <a:off x="411480" y="1371600"/>
            <a:ext cx="57150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4" name="gambar-256" descr="/home/user/aspebindo/deck/img/pf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42" y="1389888"/>
            <a:ext cx="5444076" cy="3072384"/>
          </a:xfrm>
          <a:prstGeom prst="rect">
            <a:avLst/>
          </a:prstGeom>
        </p:spPr>
      </p:pic>
      <p:sp>
        <p:nvSpPr>
          <p:cNvPr id="15" name="teks-257"/>
          <p:cNvSpPr txBox="1"/>
          <p:nvPr/>
        </p:nvSpPr>
        <p:spPr>
          <a:xfrm>
            <a:off x="411480" y="4507992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A-100 praolah · A-200 reaktor kontak · A-300 degasser, settler, lumpur · A-400 pemurnian dan penampung gas · A-500 genset dan pemulih panas · A-600 menara pendingin. Tag, nomor aliran 1–26, suhu, tekanan, dan laju massa tertera pada lembar A2.</a:t>
            </a:r>
            <a:endParaRPr lang="en-US" sz="750" dirty="0"/>
          </a:p>
        </p:txBody>
      </p:sp>
      <p:sp>
        <p:nvSpPr>
          <p:cNvPr id="16" name="kotak-258"/>
          <p:cNvSpPr txBox="1"/>
          <p:nvPr/>
        </p:nvSpPr>
        <p:spPr>
          <a:xfrm>
            <a:off x="411480" y="4818888"/>
            <a:ext cx="28346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Reaktor GFS (BG-V-201): Ø11,5 × 10,8 m, 980 m³</a:t>
            </a:r>
            <a:endParaRPr lang="en-US" sz="750" dirty="0"/>
          </a:p>
        </p:txBody>
      </p:sp>
      <p:sp>
        <p:nvSpPr>
          <p:cNvPr id="17" name="kotak-259"/>
          <p:cNvSpPr/>
          <p:nvPr/>
        </p:nvSpPr>
        <p:spPr>
          <a:xfrm>
            <a:off x="411480" y="5020056"/>
            <a:ext cx="2834640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8" name="gambar-260" descr="/home/user/aspebindo/deck/img/v2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270" y="5029200"/>
            <a:ext cx="1213059" cy="886968"/>
          </a:xfrm>
          <a:prstGeom prst="rect">
            <a:avLst/>
          </a:prstGeom>
        </p:spPr>
      </p:pic>
      <p:sp>
        <p:nvSpPr>
          <p:cNvPr id="19" name="kotak-261"/>
          <p:cNvSpPr txBox="1"/>
          <p:nvPr/>
        </p:nvSpPr>
        <p:spPr>
          <a:xfrm>
            <a:off x="3291840" y="4818888"/>
            <a:ext cx="28346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Skid kontak (BG-M-004): degasser + lamella</a:t>
            </a:r>
            <a:endParaRPr lang="en-US" sz="750" dirty="0"/>
          </a:p>
        </p:txBody>
      </p:sp>
      <p:sp>
        <p:nvSpPr>
          <p:cNvPr id="20" name="kotak-262"/>
          <p:cNvSpPr/>
          <p:nvPr/>
        </p:nvSpPr>
        <p:spPr>
          <a:xfrm>
            <a:off x="3291840" y="5020056"/>
            <a:ext cx="2834640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1" name="gambar-263" descr="/home/user/aspebindo/deck/img/m0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1563" y="5029200"/>
            <a:ext cx="1075195" cy="886968"/>
          </a:xfrm>
          <a:prstGeom prst="rect">
            <a:avLst/>
          </a:prstGeom>
        </p:spPr>
      </p:pic>
      <p:sp>
        <p:nvSpPr>
          <p:cNvPr id="22" name="kotak-264"/>
          <p:cNvSpPr txBox="1"/>
          <p:nvPr/>
        </p:nvSpPr>
        <p:spPr>
          <a:xfrm>
            <a:off x="6263640" y="1143000"/>
            <a:ext cx="55321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Tata letak plot 1:400 (BG-GA-001): 99,65 × 37,7 m = 0,38 ha</a:t>
            </a:r>
            <a:endParaRPr lang="en-US" sz="900" dirty="0"/>
          </a:p>
        </p:txBody>
      </p:sp>
      <p:sp>
        <p:nvSpPr>
          <p:cNvPr id="23" name="kotak-265"/>
          <p:cNvSpPr/>
          <p:nvPr/>
        </p:nvSpPr>
        <p:spPr>
          <a:xfrm>
            <a:off x="6263640" y="1371600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4" name="gambar-266" descr="/home/user/aspebindo/deck/img/plan_g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432" y="1389888"/>
            <a:ext cx="5314537" cy="1837944"/>
          </a:xfrm>
          <a:prstGeom prst="rect">
            <a:avLst/>
          </a:prstGeom>
        </p:spPr>
      </p:pic>
      <p:sp>
        <p:nvSpPr>
          <p:cNvPr id="25" name="kotak-267"/>
          <p:cNvSpPr txBox="1"/>
          <p:nvPr/>
        </p:nvSpPr>
        <p:spPr>
          <a:xfrm>
            <a:off x="6263640" y="3310128"/>
            <a:ext cx="27432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Model 3D set lengkap</a:t>
            </a:r>
            <a:endParaRPr lang="en-US" sz="800" dirty="0"/>
          </a:p>
        </p:txBody>
      </p:sp>
      <p:sp>
        <p:nvSpPr>
          <p:cNvPr id="26" name="kotak-268"/>
          <p:cNvSpPr/>
          <p:nvPr/>
        </p:nvSpPr>
        <p:spPr>
          <a:xfrm>
            <a:off x="6263640" y="3511296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7" name="gambar-269" descr="/home/user/aspebindo/cad/out/render/PLANT_iso-dep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138" y="3529584"/>
            <a:ext cx="1954203" cy="1243584"/>
          </a:xfrm>
          <a:prstGeom prst="rect">
            <a:avLst/>
          </a:prstGeom>
        </p:spPr>
      </p:pic>
      <p:sp>
        <p:nvSpPr>
          <p:cNvPr id="28" name="kotak-270"/>
          <p:cNvSpPr txBox="1"/>
          <p:nvPr/>
        </p:nvSpPr>
        <p:spPr>
          <a:xfrm>
            <a:off x="9052560" y="3310128"/>
            <a:ext cx="27432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Lokasi di PKS 1:1750 (BG-GA-002)</a:t>
            </a:r>
            <a:endParaRPr lang="en-US" sz="800" dirty="0"/>
          </a:p>
        </p:txBody>
      </p:sp>
      <p:sp>
        <p:nvSpPr>
          <p:cNvPr id="29" name="kotak-271"/>
          <p:cNvSpPr/>
          <p:nvPr/>
        </p:nvSpPr>
        <p:spPr>
          <a:xfrm>
            <a:off x="9052560" y="3511296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30" name="gambar-272" descr="/home/user/aspebindo/deck/img/ga00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3613810"/>
            <a:ext cx="2706624" cy="1075131"/>
          </a:xfrm>
          <a:prstGeom prst="rect">
            <a:avLst/>
          </a:prstGeom>
        </p:spPr>
      </p:pic>
      <p:sp>
        <p:nvSpPr>
          <p:cNvPr id="31" name="kotak-273"/>
          <p:cNvSpPr txBox="1"/>
          <p:nvPr/>
        </p:nvSpPr>
        <p:spPr>
          <a:xfrm>
            <a:off x="6263640" y="4846320"/>
            <a:ext cx="553212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Peralatan utama modul acuan 45 t TBS/jam (dari PFD dan daftar bagian)</a:t>
            </a:r>
            <a:endParaRPr lang="en-US" sz="800" dirty="0"/>
          </a:p>
        </p:txBody>
      </p:sp>
      <p:graphicFrame>
        <p:nvGraphicFramePr>
          <p:cNvPr id="6" name="tabel-2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056632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1828800"/>
              </a:tblGrid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Uraian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Ukuran / kapasitas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R-201…203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reaktor kontak GFS dibaut, 55 °C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Ø11,46 × 10,8 m; 3 × 980 m³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DG-301 · LS-301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degasser vakum · settler lamella 60°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m³ · 81 m² proyeksi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GH-301 · FL-301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penampung gas membran ganda · flare tertutup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986 m³ (2 jam) · ≥ 15 m dari GH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BTF-301 · AC-301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bio-scrubber H₂S · karbon aktif penjaga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2.868 → 21 ppm H₂S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GE-401/402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biogas kontainer 40 ft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 kWe; η 39,3%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kotak-27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34" name="kotak-27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sudah mencakup PFD, tata letak dengan jarak aman terverifikasi, model 3D, dan gambar unit utama; skala komersial 60 t TBS/jam menambahkan satu reaktor identik dan tangki ekualisasi 24 jam pada desain yang sama.</a:t>
            </a:r>
            <a:endParaRPr lang="en-US" sz="950" dirty="0"/>
          </a:p>
        </p:txBody>
      </p:sp>
      <p:sp>
        <p:nvSpPr>
          <p:cNvPr id="35" name="teks-27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PFD diagram alir proses; GFS baja berlapis kaca; PM modul portabel; DG degasser; LS settler lamella; ISO/ISA standar simbol.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pfd/outputs/PFD_BG-002_Rev3.pdf; cad/drawings/out/BG_drawing_set_A3.pdf (9 lembar, pemeriksa tabrakan teks: 0 temuan); model CadQuery tim.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 kuat di klaster besar dan modal sendiri;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 termofilik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menempati ruang kosong, yaitu PKS independen tanpa modal, dengan skor berbobot tertinggi (3,83)</a:t>
            </a:r>
            <a:endParaRPr lang="en-US" sz="1900" dirty="0"/>
          </a:p>
        </p:txBody>
      </p:sp>
      <p:sp>
        <p:nvSpPr>
          <p:cNvPr id="3" name="kotak-278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79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80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81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82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83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84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85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kotak-286"/>
          <p:cNvSpPr txBox="1"/>
          <p:nvPr/>
        </p:nvSpPr>
        <p:spPr>
          <a:xfrm>
            <a:off x="411480" y="1143000"/>
            <a:ext cx="681228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Profil pesaing utama di Indonesia</a:t>
            </a:r>
            <a:endParaRPr lang="en-US" sz="950" dirty="0"/>
          </a:p>
        </p:txBody>
      </p:sp>
      <p:graphicFrame>
        <p:nvGraphicFramePr>
          <p:cNvPr id="7" name="tabel-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1371600"/>
                <a:gridCol w="15087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Pesaing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dan skala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Kekuatan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Celah yang kami isi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reNIKOLA + PTPN IV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BOO(T) biometana; 8 PKS, USD 40–45 juta, kontrak gas 15 tahun (2026)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besar, offtake pasti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 di luar klaster dan pipa gas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KIS Group + Toyota Tsusho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teknologi → BOOT; biometana ke PGN, 150 ribu MMBtu/th (2027)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rekam jejak sejak 2013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fokus gas; skala klaster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Pertamina NRE + PTPN III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IPP PLTBg Sei Mangkei 2,4 MW, lagun tertutup ±2 ha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dukungan BUMN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lahan ±2 ha; hanya aset BUMN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Aiken Kakoki + PTPN IV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dan teknologi; Sei Garo, beroperasi Nov 2025 (±24 bulan)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teknologi Jepang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 bangun; modal di PKS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TSE Group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milik sendiri; 2 tangki 7.800 m³, 2 MW, USD 3,6 juta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per MW rendah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dan risiko di PKS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AANE (Austindo)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IPP POME komersial pertama, Belitung, jual ke PLN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pengalaman PPA PLN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lagun; satu lokasi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Wilmar, Musim Mas, Asian Agri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internal: 25, 17, dan ±7–20 fasilitas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dan skala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 melayani PKS lain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Veolia Memthane, Kubota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AnMBR; belum ada referensi POME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teknologi membran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±USD 5 juta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KAMI: kontak termofilik BOO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PKS nol; HRT 5 hari; modul 21 kontainer; fee USD 1,35/t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portabel, tanpa pipa gas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2027–28: TRL 4 → 7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</a:tbl>
          </a:graphicData>
        </a:graphic>
      </p:graphicFrame>
      <p:sp>
        <p:nvSpPr>
          <p:cNvPr id="14" name="kotak-288"/>
          <p:cNvSpPr txBox="1"/>
          <p:nvPr/>
        </p:nvSpPr>
        <p:spPr>
          <a:xfrm>
            <a:off x="7269480" y="1143000"/>
            <a:ext cx="452628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Peta posisi pesaing (dari skor)</a:t>
            </a:r>
            <a:endParaRPr lang="en-US" sz="950" dirty="0"/>
          </a:p>
        </p:txBody>
      </p:sp>
      <p:pic>
        <p:nvPicPr>
          <p:cNvPr id="15" name="grafik-posisi" descr="/home/user/aspebindo/deck/img/f_posisi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371600"/>
            <a:ext cx="4526280" cy="2109246"/>
          </a:xfrm>
          <a:prstGeom prst="rect">
            <a:avLst/>
          </a:prstGeom>
        </p:spPr>
      </p:pic>
      <p:sp>
        <p:nvSpPr>
          <p:cNvPr id="16" name="kotak-289"/>
          <p:cNvSpPr txBox="1"/>
          <p:nvPr/>
        </p:nvSpPr>
        <p:spPr>
          <a:xfrm>
            <a:off x="7269480" y="3520440"/>
            <a:ext cx="4526280" cy="256032"/>
          </a:xfrm>
          <a:prstGeom prst="roundRect">
            <a:avLst>
              <a:gd name="adj" fmla="val 17857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Peringkat 1 pada 78% dari 20.000 variasi bobot dan pada 7/7 uji ±50%</a:t>
            </a:r>
            <a:endParaRPr lang="en-US" sz="820" dirty="0"/>
          </a:p>
        </p:txBody>
      </p:sp>
      <p:sp>
        <p:nvSpPr>
          <p:cNvPr id="17" name="kotak-290"/>
          <p:cNvSpPr txBox="1"/>
          <p:nvPr/>
        </p:nvSpPr>
        <p:spPr>
          <a:xfrm>
            <a:off x="411480" y="3840480"/>
            <a:ext cx="3657600" cy="210312"/>
          </a:xfrm>
          <a:prstGeom prst="roundRect">
            <a:avLst>
              <a:gd name="adj" fmla="val 17391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Peta panas skor (1–5)</a:t>
            </a:r>
            <a:endParaRPr lang="en-US" sz="900" dirty="0"/>
          </a:p>
        </p:txBody>
      </p:sp>
      <p:pic>
        <p:nvPicPr>
          <p:cNvPr id="18" name="grafik-heatskor" descr="/home/user/aspebindo/deck/img/f_heatsk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69080"/>
            <a:ext cx="3657600" cy="1743740"/>
          </a:xfrm>
          <a:prstGeom prst="rect">
            <a:avLst/>
          </a:prstGeom>
        </p:spPr>
      </p:pic>
      <p:sp>
        <p:nvSpPr>
          <p:cNvPr id="19" name="kotak-291"/>
          <p:cNvSpPr txBox="1"/>
          <p:nvPr/>
        </p:nvSpPr>
        <p:spPr>
          <a:xfrm>
            <a:off x="4160520" y="3840480"/>
            <a:ext cx="3931920" cy="210312"/>
          </a:xfrm>
          <a:prstGeom prst="roundRect">
            <a:avLst>
              <a:gd name="adj" fmla="val 17391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Segmentasi pasar: siapa melayani siapa</a:t>
            </a:r>
            <a:endParaRPr lang="en-US" sz="900" dirty="0"/>
          </a:p>
        </p:txBody>
      </p:sp>
      <p:pic>
        <p:nvPicPr>
          <p:cNvPr id="20" name="grafik-segmen" descr="/home/user/aspebindo/deck/img/f_segm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069080"/>
            <a:ext cx="3931920" cy="1965960"/>
          </a:xfrm>
          <a:prstGeom prst="rect">
            <a:avLst/>
          </a:prstGeom>
        </p:spPr>
      </p:pic>
      <p:sp>
        <p:nvSpPr>
          <p:cNvPr id="21" name="kotak-292"/>
          <p:cNvSpPr txBox="1"/>
          <p:nvPr/>
        </p:nvSpPr>
        <p:spPr>
          <a:xfrm>
            <a:off x="8183880" y="3840480"/>
            <a:ext cx="3611880" cy="210312"/>
          </a:xfrm>
          <a:prstGeom prst="roundRect">
            <a:avLst>
              <a:gd name="adj" fmla="val 17391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Lima kekuatan Porter</a:t>
            </a:r>
            <a:endParaRPr lang="en-US" sz="900" dirty="0"/>
          </a:p>
        </p:txBody>
      </p:sp>
      <p:pic>
        <p:nvPicPr>
          <p:cNvPr id="22" name="grafik-porter" descr="/home/user/aspebindo/deck/img/f_por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4069080"/>
            <a:ext cx="3611880" cy="1948514"/>
          </a:xfrm>
          <a:prstGeom prst="rect">
            <a:avLst/>
          </a:prstGeom>
        </p:spPr>
      </p:pic>
      <p:sp>
        <p:nvSpPr>
          <p:cNvPr id="23" name="kotak-293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24" name="kotak-294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Pesaing melayani klaster bergas atau PKS bermodal; kami melayani 57 PKS independen yang tidak tersentuh keduanya, tanpa modal PKS dan dengan skor tertinggi.</a:t>
            </a:r>
            <a:endParaRPr lang="en-US" sz="950" dirty="0"/>
          </a:p>
        </p:txBody>
      </p:sp>
      <p:sp>
        <p:nvSpPr>
          <p:cNvPr id="25" name="teks-295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BOO bangun-miliki-operasikan; BOOT bangun-miliki-operasikan-alihkan; IPP produsen listrik swasta; PLTBg pembangkit listrik tenaga biogas; AnMBR reaktor membran anaerob; HRT waktu tinggal hidraulik; TRL tingkat kesiapan teknologi; PPA perjanjian jual beli listrik.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research/R3 dan R6 (reNIKOLA/The Star 2026, KIS, Pertamina NRE, InfoSawit TSE 2025, Petromindo Sei Garo); Model Keputusan PKS (fin_mill.py); bobot dan skor K2–K7 penilaian tim; 20.000 variasi bobot Dirichlet.</a:t>
            </a:r>
            <a:endParaRPr lang="en-US" sz="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gerbang G0–G2, satu set 60 t TBS/jam bernilai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USD 2,37 juta, IRR 16,5%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balik modal dalam 5,2 tahun</a:t>
            </a:r>
            <a:endParaRPr lang="en-US" sz="1900" dirty="0"/>
          </a:p>
        </p:txBody>
      </p:sp>
      <p:sp>
        <p:nvSpPr>
          <p:cNvPr id="3" name="kotak-296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97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98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99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00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01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02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03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kotak-304"/>
          <p:cNvSpPr/>
          <p:nvPr/>
        </p:nvSpPr>
        <p:spPr>
          <a:xfrm>
            <a:off x="411480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3" name="teks-305"/>
          <p:cNvSpPr txBox="1"/>
          <p:nvPr/>
        </p:nvSpPr>
        <p:spPr>
          <a:xfrm>
            <a:off x="457200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4,88 juta</a:t>
            </a:r>
            <a:endParaRPr lang="en-US" sz="1500" dirty="0"/>
          </a:p>
        </p:txBody>
      </p:sp>
      <p:sp>
        <p:nvSpPr>
          <p:cNvPr id="14" name="teks-306"/>
          <p:cNvSpPr txBox="1"/>
          <p:nvPr/>
        </p:nvSpPr>
        <p:spPr>
          <a:xfrm>
            <a:off x="457200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(FCI, harga 2026)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3.049/kWe terpasang</a:t>
            </a:r>
            <a:endParaRPr lang="en-US" sz="760" dirty="0"/>
          </a:p>
        </p:txBody>
      </p:sp>
      <p:sp>
        <p:nvSpPr>
          <p:cNvPr id="15" name="kotak-307"/>
          <p:cNvSpPr/>
          <p:nvPr/>
        </p:nvSpPr>
        <p:spPr>
          <a:xfrm>
            <a:off x="2318004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308"/>
          <p:cNvSpPr txBox="1"/>
          <p:nvPr/>
        </p:nvSpPr>
        <p:spPr>
          <a:xfrm>
            <a:off x="2363724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1,55 juta</a:t>
            </a:r>
            <a:endParaRPr lang="en-US" sz="1500" dirty="0"/>
          </a:p>
        </p:txBody>
      </p:sp>
      <p:sp>
        <p:nvSpPr>
          <p:cNvPr id="17" name="teks-309"/>
          <p:cNvSpPr txBox="1"/>
          <p:nvPr/>
        </p:nvSpPr>
        <p:spPr>
          <a:xfrm>
            <a:off x="2363724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tahun penuh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 GWh neto per tahun</a:t>
            </a:r>
            <a:endParaRPr lang="en-US" sz="760" dirty="0"/>
          </a:p>
        </p:txBody>
      </p:sp>
      <p:sp>
        <p:nvSpPr>
          <p:cNvPr id="18" name="kotak-310"/>
          <p:cNvSpPr/>
          <p:nvPr/>
        </p:nvSpPr>
        <p:spPr>
          <a:xfrm>
            <a:off x="4224528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311"/>
          <p:cNvSpPr txBox="1"/>
          <p:nvPr/>
        </p:nvSpPr>
        <p:spPr>
          <a:xfrm>
            <a:off x="4270248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1,14 juta</a:t>
            </a:r>
            <a:endParaRPr lang="en-US" sz="1500" dirty="0"/>
          </a:p>
        </p:txBody>
      </p:sp>
      <p:sp>
        <p:nvSpPr>
          <p:cNvPr id="20" name="teks-312"/>
          <p:cNvSpPr txBox="1"/>
          <p:nvPr/>
        </p:nvSpPr>
        <p:spPr>
          <a:xfrm>
            <a:off x="4270248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tahun penuh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73%</a:t>
            </a:r>
            <a:endParaRPr lang="en-US" sz="760" dirty="0"/>
          </a:p>
        </p:txBody>
      </p:sp>
      <p:sp>
        <p:nvSpPr>
          <p:cNvPr id="21" name="kotak-313"/>
          <p:cNvSpPr/>
          <p:nvPr/>
        </p:nvSpPr>
        <p:spPr>
          <a:xfrm>
            <a:off x="6131052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2" name="teks-314"/>
          <p:cNvSpPr txBox="1"/>
          <p:nvPr/>
        </p:nvSpPr>
        <p:spPr>
          <a:xfrm>
            <a:off x="6176772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2,37 juta</a:t>
            </a:r>
            <a:endParaRPr lang="en-US" sz="1500" dirty="0"/>
          </a:p>
        </p:txBody>
      </p:sp>
      <p:sp>
        <p:nvSpPr>
          <p:cNvPr id="23" name="teks-315"/>
          <p:cNvSpPr txBox="1"/>
          <p:nvPr/>
        </p:nvSpPr>
        <p:spPr>
          <a:xfrm>
            <a:off x="6176772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proyek, 20 tahun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9,9%</a:t>
            </a:r>
            <a:endParaRPr lang="en-US" sz="760" dirty="0"/>
          </a:p>
        </p:txBody>
      </p:sp>
      <p:sp>
        <p:nvSpPr>
          <p:cNvPr id="24" name="kotak-316"/>
          <p:cNvSpPr/>
          <p:nvPr/>
        </p:nvSpPr>
        <p:spPr>
          <a:xfrm>
            <a:off x="8037576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5" name="teks-317"/>
          <p:cNvSpPr txBox="1"/>
          <p:nvPr/>
        </p:nvSpPr>
        <p:spPr>
          <a:xfrm>
            <a:off x="8083296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16,5%</a:t>
            </a:r>
            <a:endParaRPr lang="en-US" sz="1500" dirty="0"/>
          </a:p>
        </p:txBody>
      </p:sp>
      <p:sp>
        <p:nvSpPr>
          <p:cNvPr id="26" name="teks-318"/>
          <p:cNvSpPr txBox="1"/>
          <p:nvPr/>
        </p:nvSpPr>
        <p:spPr>
          <a:xfrm>
            <a:off x="8083296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proyek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ekuitas 21,3%</a:t>
            </a:r>
            <a:endParaRPr lang="en-US" sz="760" dirty="0"/>
          </a:p>
        </p:txBody>
      </p:sp>
      <p:sp>
        <p:nvSpPr>
          <p:cNvPr id="27" name="kotak-319"/>
          <p:cNvSpPr/>
          <p:nvPr/>
        </p:nvSpPr>
        <p:spPr>
          <a:xfrm>
            <a:off x="9944100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8" name="teks-320"/>
          <p:cNvSpPr txBox="1"/>
          <p:nvPr/>
        </p:nvSpPr>
        <p:spPr>
          <a:xfrm>
            <a:off x="9989820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 tahun</a:t>
            </a:r>
            <a:endParaRPr lang="en-US" sz="1500" dirty="0"/>
          </a:p>
        </p:txBody>
      </p:sp>
      <p:sp>
        <p:nvSpPr>
          <p:cNvPr id="29" name="teks-321"/>
          <p:cNvSpPr txBox="1"/>
          <p:nvPr/>
        </p:nvSpPr>
        <p:spPr>
          <a:xfrm>
            <a:off x="9989820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sejak operasi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 minimum 1,90</a:t>
            </a:r>
            <a:endParaRPr lang="en-US" sz="760" dirty="0"/>
          </a:p>
        </p:txBody>
      </p:sp>
      <p:sp>
        <p:nvSpPr>
          <p:cNvPr id="30" name="kotak-322"/>
          <p:cNvSpPr txBox="1"/>
          <p:nvPr/>
        </p:nvSpPr>
        <p:spPr>
          <a:xfrm>
            <a:off x="411480" y="1847088"/>
            <a:ext cx="42519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CAPEX bottom-up: USD 4,88 juta (2026)</a:t>
            </a:r>
            <a:endParaRPr lang="en-US" sz="900" dirty="0"/>
          </a:p>
        </p:txBody>
      </p:sp>
      <p:pic>
        <p:nvPicPr>
          <p:cNvPr id="31" name="grafik-capex" descr="/home/user/aspebindo/deck/img/f_ca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66544"/>
            <a:ext cx="4251960" cy="1828800"/>
          </a:xfrm>
          <a:prstGeom prst="rect">
            <a:avLst/>
          </a:prstGeom>
        </p:spPr>
      </p:pic>
      <p:sp>
        <p:nvSpPr>
          <p:cNvPr id="32" name="kotak-323"/>
          <p:cNvSpPr txBox="1"/>
          <p:nvPr/>
        </p:nvSpPr>
        <p:spPr>
          <a:xfrm>
            <a:off x="4754880" y="1847088"/>
            <a:ext cx="425196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OPEX tunai: USD 397 ribu per tahun</a:t>
            </a:r>
            <a:endParaRPr lang="en-US" sz="900" dirty="0"/>
          </a:p>
        </p:txBody>
      </p:sp>
      <p:pic>
        <p:nvPicPr>
          <p:cNvPr id="33" name="grafik-opex" descr="/home/user/aspebindo/deck/img/f_op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066544"/>
            <a:ext cx="4251960" cy="1828800"/>
          </a:xfrm>
          <a:prstGeom prst="rect">
            <a:avLst/>
          </a:prstGeom>
        </p:spPr>
      </p:pic>
      <p:sp>
        <p:nvSpPr>
          <p:cNvPr id="34" name="kotak-324"/>
          <p:cNvSpPr txBox="1"/>
          <p:nvPr/>
        </p:nvSpPr>
        <p:spPr>
          <a:xfrm>
            <a:off x="9098280" y="1847088"/>
            <a:ext cx="269748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Ringkasan ekonometrik</a:t>
            </a:r>
            <a:endParaRPr lang="en-US" sz="900" dirty="0"/>
          </a:p>
        </p:txBody>
      </p:sp>
      <p:graphicFrame>
        <p:nvGraphicFramePr>
          <p:cNvPr id="8" name="tabel-3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98280" y="2066544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66928"/>
                <a:gridCol w="1033272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Indikator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Acuan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(USD juta)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9,9%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proyek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+6,5 poin dari WACC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ekuitas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biaya ekuitas 15%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 (tahun)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umur proyek 20 tahun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 terdiskonto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 th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pada WACC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minimum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ambang bank 1,30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profitabilitas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1,0 layak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LCOE bersih (USD/kWh)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setelah fee dan karbon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Impas beban PKS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asumsi dasar 75%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kotak-326"/>
          <p:cNvSpPr txBox="1"/>
          <p:nvPr/>
        </p:nvSpPr>
        <p:spPr>
          <a:xfrm>
            <a:off x="411480" y="3959352"/>
            <a:ext cx="365760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Titik impas terhadap beban PKS</a:t>
            </a:r>
            <a:endParaRPr lang="en-US" sz="900" dirty="0"/>
          </a:p>
        </p:txBody>
      </p:sp>
      <p:pic>
        <p:nvPicPr>
          <p:cNvPr id="37" name="grafik-bep" descr="/home/user/aspebindo/deck/img/f_b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178808"/>
            <a:ext cx="3657600" cy="1719072"/>
          </a:xfrm>
          <a:prstGeom prst="rect">
            <a:avLst/>
          </a:prstGeom>
        </p:spPr>
      </p:pic>
      <p:sp>
        <p:nvSpPr>
          <p:cNvPr id="38" name="kotak-327"/>
          <p:cNvSpPr txBox="1"/>
          <p:nvPr/>
        </p:nvSpPr>
        <p:spPr>
          <a:xfrm>
            <a:off x="4160520" y="3959352"/>
            <a:ext cx="42062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Kurva payback: arus kas kumulatif</a:t>
            </a:r>
            <a:endParaRPr lang="en-US" sz="900" dirty="0"/>
          </a:p>
        </p:txBody>
      </p:sp>
      <p:pic>
        <p:nvPicPr>
          <p:cNvPr id="39" name="grafik-payback" descr="/home/user/aspebindo/deck/img/f_payb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178808"/>
            <a:ext cx="4206240" cy="1719072"/>
          </a:xfrm>
          <a:prstGeom prst="rect">
            <a:avLst/>
          </a:prstGeom>
        </p:spPr>
      </p:pic>
      <p:sp>
        <p:nvSpPr>
          <p:cNvPr id="40" name="kotak-328"/>
          <p:cNvSpPr txBox="1"/>
          <p:nvPr/>
        </p:nvSpPr>
        <p:spPr>
          <a:xfrm>
            <a:off x="8458200" y="3959352"/>
            <a:ext cx="33375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(f) Pendapatan per aliran dan EBITDA</a:t>
            </a:r>
            <a:endParaRPr lang="en-US" sz="900" dirty="0"/>
          </a:p>
        </p:txBody>
      </p:sp>
      <p:pic>
        <p:nvPicPr>
          <p:cNvPr id="41" name="grafik-pendapatan" descr="/home/user/aspebindo/deck/img/f_pendapat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4178808"/>
            <a:ext cx="3337560" cy="1719072"/>
          </a:xfrm>
          <a:prstGeom prst="rect">
            <a:avLst/>
          </a:prstGeom>
        </p:spPr>
      </p:pic>
      <p:sp>
        <p:nvSpPr>
          <p:cNvPr id="42" name="kotak-329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43" name="kotak-330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IRR terhadap WACC +6,5 poin dan DSCR 1,90 (ambang 1,30); NPV tetap positif sampai beban PKS turun ke 54% atau CAPEX naik +47%.</a:t>
            </a:r>
            <a:endParaRPr lang="en-US" sz="950" dirty="0"/>
          </a:p>
        </p:txBody>
      </p:sp>
      <p:sp>
        <p:nvSpPr>
          <p:cNvPr id="44" name="teks-331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FCI biaya modal tetap; WACC biaya modal rata-rata tertimbang; DSCR rasio cakupan layanan utang; LCOE biaya listrik terlevelisasi; PI indeks profitabilitas; MRV pemantauan, pelaporan, verifikasi.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BG_Model_Keuangan.xlsx; finance/fin_core.py v4 (60 t TBS/jam + PM-12, USD nominal, 20 tahun). Kasus target = kasus awal + solar tergantikan 3,0 L/t (G0) + CAPEX −15% (G1) + fee USD 1,35/t (G2; jendela 0,67–1,84) + karbon USD 8,3/t; asumsi lain identik.</a:t>
            </a:r>
            <a:endParaRPr lang="en-US" sz="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30 bulan dengan empat gerbang, enam risiko yang dipetakan dan dimitigasi, serta lima KPI terukur: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set pertama naik ke USD 2,37 juta</a:t>
            </a:r>
            <a:endParaRPr lang="en-US" sz="1900" dirty="0"/>
          </a:p>
        </p:txBody>
      </p:sp>
      <p:sp>
        <p:nvSpPr>
          <p:cNvPr id="3" name="kotak-332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33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34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35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36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37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38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39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2" name="kotak-340"/>
          <p:cNvSpPr txBox="1"/>
          <p:nvPr/>
        </p:nvSpPr>
        <p:spPr>
          <a:xfrm>
            <a:off x="411480" y="1143000"/>
            <a:ext cx="59436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Jadwal dan jalur kritis (K4/2026 – K2/2029)</a:t>
            </a:r>
            <a:endParaRPr lang="en-US" sz="950" dirty="0"/>
          </a:p>
        </p:txBody>
      </p:sp>
      <p:sp>
        <p:nvSpPr>
          <p:cNvPr id="13" name="kotak-341"/>
          <p:cNvSpPr txBox="1"/>
          <p:nvPr/>
        </p:nvSpPr>
        <p:spPr>
          <a:xfrm>
            <a:off x="2880360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 '26</a:t>
            </a:r>
            <a:endParaRPr lang="en-US" sz="600" dirty="0"/>
          </a:p>
        </p:txBody>
      </p:sp>
      <p:sp>
        <p:nvSpPr>
          <p:cNvPr id="14" name="kotak-342"/>
          <p:cNvSpPr txBox="1"/>
          <p:nvPr/>
        </p:nvSpPr>
        <p:spPr>
          <a:xfrm>
            <a:off x="3186684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'27</a:t>
            </a:r>
            <a:endParaRPr lang="en-US" sz="600" dirty="0"/>
          </a:p>
        </p:txBody>
      </p:sp>
      <p:sp>
        <p:nvSpPr>
          <p:cNvPr id="15" name="kotak-343"/>
          <p:cNvSpPr txBox="1"/>
          <p:nvPr/>
        </p:nvSpPr>
        <p:spPr>
          <a:xfrm>
            <a:off x="3493008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00" dirty="0"/>
          </a:p>
        </p:txBody>
      </p:sp>
      <p:sp>
        <p:nvSpPr>
          <p:cNvPr id="16" name="kotak-344"/>
          <p:cNvSpPr txBox="1"/>
          <p:nvPr/>
        </p:nvSpPr>
        <p:spPr>
          <a:xfrm>
            <a:off x="3799332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600" dirty="0"/>
          </a:p>
        </p:txBody>
      </p:sp>
      <p:sp>
        <p:nvSpPr>
          <p:cNvPr id="17" name="kotak-345"/>
          <p:cNvSpPr txBox="1"/>
          <p:nvPr/>
        </p:nvSpPr>
        <p:spPr>
          <a:xfrm>
            <a:off x="4105656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600" dirty="0"/>
          </a:p>
        </p:txBody>
      </p:sp>
      <p:sp>
        <p:nvSpPr>
          <p:cNvPr id="18" name="kotak-346"/>
          <p:cNvSpPr txBox="1"/>
          <p:nvPr/>
        </p:nvSpPr>
        <p:spPr>
          <a:xfrm>
            <a:off x="4411980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'28</a:t>
            </a:r>
            <a:endParaRPr lang="en-US" sz="600" dirty="0"/>
          </a:p>
        </p:txBody>
      </p:sp>
      <p:sp>
        <p:nvSpPr>
          <p:cNvPr id="19" name="kotak-347"/>
          <p:cNvSpPr txBox="1"/>
          <p:nvPr/>
        </p:nvSpPr>
        <p:spPr>
          <a:xfrm>
            <a:off x="4718304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00" dirty="0"/>
          </a:p>
        </p:txBody>
      </p:sp>
      <p:sp>
        <p:nvSpPr>
          <p:cNvPr id="20" name="kotak-348"/>
          <p:cNvSpPr txBox="1"/>
          <p:nvPr/>
        </p:nvSpPr>
        <p:spPr>
          <a:xfrm>
            <a:off x="5024628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600" dirty="0"/>
          </a:p>
        </p:txBody>
      </p:sp>
      <p:sp>
        <p:nvSpPr>
          <p:cNvPr id="21" name="kotak-349"/>
          <p:cNvSpPr txBox="1"/>
          <p:nvPr/>
        </p:nvSpPr>
        <p:spPr>
          <a:xfrm>
            <a:off x="5330952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600" dirty="0"/>
          </a:p>
        </p:txBody>
      </p:sp>
      <p:sp>
        <p:nvSpPr>
          <p:cNvPr id="22" name="kotak-350"/>
          <p:cNvSpPr txBox="1"/>
          <p:nvPr/>
        </p:nvSpPr>
        <p:spPr>
          <a:xfrm>
            <a:off x="5637276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'29</a:t>
            </a:r>
            <a:endParaRPr lang="en-US" sz="600" dirty="0"/>
          </a:p>
        </p:txBody>
      </p:sp>
      <p:sp>
        <p:nvSpPr>
          <p:cNvPr id="23" name="kotak-351"/>
          <p:cNvSpPr txBox="1"/>
          <p:nvPr/>
        </p:nvSpPr>
        <p:spPr>
          <a:xfrm>
            <a:off x="5943600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00" dirty="0"/>
          </a:p>
        </p:txBody>
      </p:sp>
      <p:sp>
        <p:nvSpPr>
          <p:cNvPr id="24" name="kotak-352"/>
          <p:cNvSpPr/>
          <p:nvPr/>
        </p:nvSpPr>
        <p:spPr>
          <a:xfrm>
            <a:off x="411480" y="1600200"/>
            <a:ext cx="59436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25" name="teks-353"/>
          <p:cNvSpPr txBox="1"/>
          <p:nvPr/>
        </p:nvSpPr>
        <p:spPr>
          <a:xfrm>
            <a:off x="457200" y="1600200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PKS dan uji lab 55 °C</a:t>
            </a:r>
            <a:endParaRPr lang="en-US" sz="740" dirty="0"/>
          </a:p>
        </p:txBody>
      </p:sp>
      <p:sp>
        <p:nvSpPr>
          <p:cNvPr id="26" name="kotak-354"/>
          <p:cNvSpPr txBox="1"/>
          <p:nvPr/>
        </p:nvSpPr>
        <p:spPr>
          <a:xfrm>
            <a:off x="2880360" y="1627632"/>
            <a:ext cx="900684" cy="141732"/>
          </a:xfrm>
          <a:prstGeom prst="roundRect">
            <a:avLst>
              <a:gd name="adj" fmla="val 19355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660" dirty="0"/>
          </a:p>
        </p:txBody>
      </p:sp>
      <p:sp>
        <p:nvSpPr>
          <p:cNvPr id="27" name="teks-355"/>
          <p:cNvSpPr txBox="1"/>
          <p:nvPr/>
        </p:nvSpPr>
        <p:spPr>
          <a:xfrm>
            <a:off x="457200" y="1796796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GFS dan genset</a:t>
            </a:r>
            <a:endParaRPr lang="en-US" sz="740" dirty="0"/>
          </a:p>
        </p:txBody>
      </p:sp>
      <p:sp>
        <p:nvSpPr>
          <p:cNvPr id="28" name="kotak-356"/>
          <p:cNvSpPr txBox="1"/>
          <p:nvPr/>
        </p:nvSpPr>
        <p:spPr>
          <a:xfrm>
            <a:off x="3186684" y="1824228"/>
            <a:ext cx="594360" cy="141732"/>
          </a:xfrm>
          <a:prstGeom prst="roundRect">
            <a:avLst>
              <a:gd name="adj" fmla="val 1935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" dirty="0"/>
          </a:p>
        </p:txBody>
      </p:sp>
      <p:sp>
        <p:nvSpPr>
          <p:cNvPr id="29" name="kotak-357"/>
          <p:cNvSpPr/>
          <p:nvPr/>
        </p:nvSpPr>
        <p:spPr>
          <a:xfrm>
            <a:off x="411480" y="1993392"/>
            <a:ext cx="59436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0" name="teks-358"/>
          <p:cNvSpPr txBox="1"/>
          <p:nvPr/>
        </p:nvSpPr>
        <p:spPr>
          <a:xfrm>
            <a:off x="457200" y="1993392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dan HAZOP</a:t>
            </a:r>
            <a:endParaRPr lang="en-US" sz="740" dirty="0"/>
          </a:p>
        </p:txBody>
      </p:sp>
      <p:sp>
        <p:nvSpPr>
          <p:cNvPr id="31" name="kotak-359"/>
          <p:cNvSpPr txBox="1"/>
          <p:nvPr/>
        </p:nvSpPr>
        <p:spPr>
          <a:xfrm>
            <a:off x="3493008" y="2020824"/>
            <a:ext cx="900684" cy="141732"/>
          </a:xfrm>
          <a:prstGeom prst="roundRect">
            <a:avLst>
              <a:gd name="adj" fmla="val 1935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60" dirty="0"/>
          </a:p>
        </p:txBody>
      </p:sp>
      <p:sp>
        <p:nvSpPr>
          <p:cNvPr id="32" name="teks-360"/>
          <p:cNvSpPr txBox="1"/>
          <p:nvPr/>
        </p:nvSpPr>
        <p:spPr>
          <a:xfrm>
            <a:off x="457200" y="2189988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Perizinan (PBG, IUPTLS, PJBL, SLO)</a:t>
            </a:r>
            <a:endParaRPr lang="en-US" sz="740" dirty="0"/>
          </a:p>
        </p:txBody>
      </p:sp>
      <p:sp>
        <p:nvSpPr>
          <p:cNvPr id="33" name="kotak-361"/>
          <p:cNvSpPr txBox="1"/>
          <p:nvPr/>
        </p:nvSpPr>
        <p:spPr>
          <a:xfrm>
            <a:off x="3186684" y="2217420"/>
            <a:ext cx="1819656" cy="141732"/>
          </a:xfrm>
          <a:prstGeom prst="roundRect">
            <a:avLst>
              <a:gd name="adj" fmla="val 1935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bln</a:t>
            </a:r>
            <a:endParaRPr lang="en-US" sz="660" dirty="0"/>
          </a:p>
        </p:txBody>
      </p:sp>
      <p:sp>
        <p:nvSpPr>
          <p:cNvPr id="34" name="kotak-362"/>
          <p:cNvSpPr/>
          <p:nvPr/>
        </p:nvSpPr>
        <p:spPr>
          <a:xfrm>
            <a:off x="411480" y="2386584"/>
            <a:ext cx="59436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5" name="teks-363"/>
          <p:cNvSpPr txBox="1"/>
          <p:nvPr/>
        </p:nvSpPr>
        <p:spPr>
          <a:xfrm>
            <a:off x="457200" y="2386584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20 tahun dan utang</a:t>
            </a:r>
            <a:endParaRPr lang="en-US" sz="740" dirty="0"/>
          </a:p>
        </p:txBody>
      </p:sp>
      <p:sp>
        <p:nvSpPr>
          <p:cNvPr id="36" name="kotak-364"/>
          <p:cNvSpPr txBox="1"/>
          <p:nvPr/>
        </p:nvSpPr>
        <p:spPr>
          <a:xfrm>
            <a:off x="4105656" y="2414016"/>
            <a:ext cx="1207008" cy="141732"/>
          </a:xfrm>
          <a:prstGeom prst="roundRect">
            <a:avLst>
              <a:gd name="adj" fmla="val 1935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60" dirty="0"/>
          </a:p>
        </p:txBody>
      </p:sp>
      <p:sp>
        <p:nvSpPr>
          <p:cNvPr id="37" name="teks-365"/>
          <p:cNvSpPr txBox="1"/>
          <p:nvPr/>
        </p:nvSpPr>
        <p:spPr>
          <a:xfrm>
            <a:off x="457200" y="2583180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10–20 m³ di PKS (TRL 6)</a:t>
            </a:r>
            <a:endParaRPr lang="en-US" sz="740" dirty="0"/>
          </a:p>
        </p:txBody>
      </p:sp>
      <p:sp>
        <p:nvSpPr>
          <p:cNvPr id="38" name="kotak-366"/>
          <p:cNvSpPr txBox="1"/>
          <p:nvPr/>
        </p:nvSpPr>
        <p:spPr>
          <a:xfrm>
            <a:off x="3799332" y="2610612"/>
            <a:ext cx="1513332" cy="141732"/>
          </a:xfrm>
          <a:prstGeom prst="roundRect">
            <a:avLst>
              <a:gd name="adj" fmla="val 1935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bln</a:t>
            </a:r>
            <a:endParaRPr lang="en-US" sz="660" dirty="0"/>
          </a:p>
        </p:txBody>
      </p:sp>
      <p:sp>
        <p:nvSpPr>
          <p:cNvPr id="39" name="kotak-367"/>
          <p:cNvSpPr/>
          <p:nvPr/>
        </p:nvSpPr>
        <p:spPr>
          <a:xfrm>
            <a:off x="411480" y="2779776"/>
            <a:ext cx="59436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40" name="teks-368"/>
          <p:cNvSpPr txBox="1"/>
          <p:nvPr/>
        </p:nvSpPr>
        <p:spPr>
          <a:xfrm>
            <a:off x="457200" y="2779776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Pengadaan, konstruksi, komisioning</a:t>
            </a:r>
            <a:endParaRPr lang="en-US" sz="740" dirty="0"/>
          </a:p>
        </p:txBody>
      </p:sp>
      <p:sp>
        <p:nvSpPr>
          <p:cNvPr id="41" name="kotak-369"/>
          <p:cNvSpPr txBox="1"/>
          <p:nvPr/>
        </p:nvSpPr>
        <p:spPr>
          <a:xfrm>
            <a:off x="4411980" y="2807208"/>
            <a:ext cx="1513332" cy="141732"/>
          </a:xfrm>
          <a:prstGeom prst="roundRect">
            <a:avLst>
              <a:gd name="adj" fmla="val 19355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bln</a:t>
            </a:r>
            <a:endParaRPr lang="en-US" sz="660" dirty="0"/>
          </a:p>
        </p:txBody>
      </p:sp>
      <p:sp>
        <p:nvSpPr>
          <p:cNvPr id="42" name="teks-370"/>
          <p:cNvSpPr txBox="1"/>
          <p:nvPr/>
        </p:nvSpPr>
        <p:spPr>
          <a:xfrm>
            <a:off x="457200" y="2976372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Demonstrasi TRL 7 lalu replikasi 2–10</a:t>
            </a:r>
            <a:endParaRPr lang="en-US" sz="740" dirty="0"/>
          </a:p>
        </p:txBody>
      </p:sp>
      <p:sp>
        <p:nvSpPr>
          <p:cNvPr id="43" name="kotak-371"/>
          <p:cNvSpPr txBox="1"/>
          <p:nvPr/>
        </p:nvSpPr>
        <p:spPr>
          <a:xfrm>
            <a:off x="5637276" y="3003804"/>
            <a:ext cx="594360" cy="141732"/>
          </a:xfrm>
          <a:prstGeom prst="roundRect">
            <a:avLst>
              <a:gd name="adj" fmla="val 1935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660" dirty="0"/>
          </a:p>
        </p:txBody>
      </p:sp>
      <p:sp>
        <p:nvSpPr>
          <p:cNvPr id="44" name="garis-372"/>
          <p:cNvSpPr/>
          <p:nvPr/>
        </p:nvSpPr>
        <p:spPr>
          <a:xfrm>
            <a:off x="3493008" y="1591056"/>
            <a:ext cx="0" cy="1600200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5" name="kotak-373"/>
          <p:cNvSpPr txBox="1"/>
          <p:nvPr/>
        </p:nvSpPr>
        <p:spPr>
          <a:xfrm>
            <a:off x="3346704" y="3191256"/>
            <a:ext cx="292608" cy="182880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750" dirty="0"/>
          </a:p>
        </p:txBody>
      </p:sp>
      <p:sp>
        <p:nvSpPr>
          <p:cNvPr id="46" name="garis-374"/>
          <p:cNvSpPr/>
          <p:nvPr/>
        </p:nvSpPr>
        <p:spPr>
          <a:xfrm>
            <a:off x="4411980" y="1591056"/>
            <a:ext cx="0" cy="1600200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7" name="kotak-375"/>
          <p:cNvSpPr txBox="1"/>
          <p:nvPr/>
        </p:nvSpPr>
        <p:spPr>
          <a:xfrm>
            <a:off x="4265676" y="3191256"/>
            <a:ext cx="292608" cy="182880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750" dirty="0"/>
          </a:p>
        </p:txBody>
      </p:sp>
      <p:sp>
        <p:nvSpPr>
          <p:cNvPr id="48" name="garis-376"/>
          <p:cNvSpPr/>
          <p:nvPr/>
        </p:nvSpPr>
        <p:spPr>
          <a:xfrm>
            <a:off x="5330952" y="1591056"/>
            <a:ext cx="0" cy="1600200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9" name="kotak-377"/>
          <p:cNvSpPr txBox="1"/>
          <p:nvPr/>
        </p:nvSpPr>
        <p:spPr>
          <a:xfrm>
            <a:off x="5184648" y="3191256"/>
            <a:ext cx="292608" cy="182880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750" dirty="0"/>
          </a:p>
        </p:txBody>
      </p:sp>
      <p:sp>
        <p:nvSpPr>
          <p:cNvPr id="50" name="garis-378"/>
          <p:cNvSpPr/>
          <p:nvPr/>
        </p:nvSpPr>
        <p:spPr>
          <a:xfrm>
            <a:off x="6096762" y="1591056"/>
            <a:ext cx="0" cy="1600200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51" name="kotak-379"/>
          <p:cNvSpPr txBox="1"/>
          <p:nvPr/>
        </p:nvSpPr>
        <p:spPr>
          <a:xfrm>
            <a:off x="5950458" y="3191256"/>
            <a:ext cx="292608" cy="182880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750" dirty="0"/>
          </a:p>
        </p:txBody>
      </p:sp>
      <p:sp>
        <p:nvSpPr>
          <p:cNvPr id="52" name="teks-380"/>
          <p:cNvSpPr txBox="1"/>
          <p:nvPr/>
        </p:nvSpPr>
        <p:spPr>
          <a:xfrm>
            <a:off x="457200" y="319125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kritis: </a:t>
            </a:r>
            <a:pPr indent="0" marL="0">
              <a:buNone/>
            </a:pPr>
            <a:r>
              <a:rPr lang="en-US" sz="7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→ FEED → izin → genset → konstruksi</a:t>
            </a:r>
            <a:endParaRPr lang="en-US" sz="720" dirty="0"/>
          </a:p>
        </p:txBody>
      </p:sp>
      <p:sp>
        <p:nvSpPr>
          <p:cNvPr id="53" name="kotak-381"/>
          <p:cNvSpPr txBox="1"/>
          <p:nvPr/>
        </p:nvSpPr>
        <p:spPr>
          <a:xfrm>
            <a:off x="6492240" y="1143000"/>
            <a:ext cx="5303520" cy="219456"/>
          </a:xfrm>
          <a:prstGeom prst="roundRect">
            <a:avLst>
              <a:gd name="adj" fmla="val 16667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Peta risiko: sebelum dan sesudah mitigasi</a:t>
            </a:r>
            <a:endParaRPr lang="en-US" sz="950" dirty="0"/>
          </a:p>
        </p:txBody>
      </p:sp>
      <p:pic>
        <p:nvPicPr>
          <p:cNvPr id="54" name="grafik-risiko" descr="/home/user/aspebindo/deck/img/f_risi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389888"/>
            <a:ext cx="4846320" cy="2008385"/>
          </a:xfrm>
          <a:prstGeom prst="rect">
            <a:avLst/>
          </a:prstGeom>
        </p:spPr>
      </p:pic>
      <p:sp>
        <p:nvSpPr>
          <p:cNvPr id="55" name="kotak-382"/>
          <p:cNvSpPr txBox="1"/>
          <p:nvPr/>
        </p:nvSpPr>
        <p:spPr>
          <a:xfrm>
            <a:off x="411480" y="3438144"/>
            <a:ext cx="59436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KPI proyek dan target</a:t>
            </a:r>
            <a:endParaRPr lang="en-US" sz="900" dirty="0"/>
          </a:p>
        </p:txBody>
      </p:sp>
      <p:graphicFrame>
        <p:nvGraphicFramePr>
          <p:cNvPr id="9" name="tabel-3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657600"/>
          <a:ext cx="9144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1280160"/>
                <a:gridCol w="182880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Bidang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Pengukuran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Teknis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 tersisih pada OLR ≥ 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65% (G3)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analisis lab mingguan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Listrik neto per m³ POME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40 kWh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meter genset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Operasi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Ketersediaan set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93%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SCADA jarak jauh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Komersial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 jasa terkontrak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USD 1,35/t TBS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20 tahun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Dampak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tCO₂e dihindari per set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30 ribu/tahun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MRV terverifikasi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kotak-384"/>
          <p:cNvSpPr txBox="1"/>
          <p:nvPr/>
        </p:nvSpPr>
        <p:spPr>
          <a:xfrm>
            <a:off x="6492240" y="3438144"/>
            <a:ext cx="5303520" cy="201168"/>
          </a:xfrm>
          <a:prstGeom prst="roundRect">
            <a:avLst>
              <a:gd name="adj" fmla="val 18182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Mitigasi risiko dan pemilik</a:t>
            </a:r>
            <a:endParaRPr lang="en-US" sz="900" dirty="0"/>
          </a:p>
        </p:txBody>
      </p:sp>
      <p:graphicFrame>
        <p:nvGraphicFramePr>
          <p:cNvPr id="17" name="tabel-3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365760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554480"/>
                <a:gridCol w="2468880"/>
                <a:gridCol w="9601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Mitigasi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Pemilik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 dan izin jual listrik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konfirmasi ESDM/PLN; kontrak jasa energi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hukum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Kinerja termofilik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G3; jaminan kinerja bertahap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teknis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melampaui rencana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tiga kuotasi G1; pesan genset dini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pengadaan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PKS di bawah target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pilih PKS solar ≥ 3,0 L/t di G0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komersial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Beban TBS PKS rendah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klausul beban minimum, fee dasar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komersial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Keselamatan gas dan bejana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HAZOP, SOP, detektor gas, SLO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59" name="kotak-386"/>
          <p:cNvSpPr txBox="1"/>
          <p:nvPr/>
        </p:nvSpPr>
        <p:spPr>
          <a:xfrm>
            <a:off x="411480" y="5084064"/>
            <a:ext cx="2788920" cy="192024"/>
          </a:xfrm>
          <a:prstGeom prst="roundRect">
            <a:avLst>
              <a:gd name="adj" fmla="val 19048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 · bulan 6 · USD 150 ribu</a:t>
            </a:r>
            <a:endParaRPr lang="en-US" sz="820" dirty="0"/>
          </a:p>
        </p:txBody>
      </p:sp>
      <p:sp>
        <p:nvSpPr>
          <p:cNvPr id="60" name="kotak-387"/>
          <p:cNvSpPr/>
          <p:nvPr/>
        </p:nvSpPr>
        <p:spPr>
          <a:xfrm>
            <a:off x="411480" y="5276088"/>
            <a:ext cx="2788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61" name="teks-388"/>
          <p:cNvSpPr txBox="1"/>
          <p:nvPr/>
        </p:nvSpPr>
        <p:spPr>
          <a:xfrm>
            <a:off x="475488" y="5294376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bila PKS mitra solar ≥ 3,0 L/t dan jaringan ≤ 2 km</a:t>
            </a:r>
            <a:endParaRPr lang="en-US" sz="780" dirty="0"/>
          </a:p>
        </p:txBody>
      </p:sp>
      <p:sp>
        <p:nvSpPr>
          <p:cNvPr id="62" name="kotak-389"/>
          <p:cNvSpPr txBox="1"/>
          <p:nvPr/>
        </p:nvSpPr>
        <p:spPr>
          <a:xfrm>
            <a:off x="475488" y="5614416"/>
            <a:ext cx="2660904" cy="228600"/>
          </a:xfrm>
          <a:prstGeom prst="roundRect">
            <a:avLst>
              <a:gd name="adj" fmla="val 16000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NPV USD 0,86 juta · IRR 12,0%</a:t>
            </a:r>
            <a:endParaRPr lang="en-US" sz="830" dirty="0"/>
          </a:p>
        </p:txBody>
      </p:sp>
      <p:sp>
        <p:nvSpPr>
          <p:cNvPr id="63" name="kotak-390"/>
          <p:cNvSpPr txBox="1"/>
          <p:nvPr/>
        </p:nvSpPr>
        <p:spPr>
          <a:xfrm>
            <a:off x="3282696" y="5084064"/>
            <a:ext cx="2788920" cy="192024"/>
          </a:xfrm>
          <a:prstGeom prst="roundRect">
            <a:avLst>
              <a:gd name="adj" fmla="val 19048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 · bulan 15 · USD 340 ribu</a:t>
            </a:r>
            <a:endParaRPr lang="en-US" sz="820" dirty="0"/>
          </a:p>
        </p:txBody>
      </p:sp>
      <p:sp>
        <p:nvSpPr>
          <p:cNvPr id="64" name="kotak-391"/>
          <p:cNvSpPr/>
          <p:nvPr/>
        </p:nvSpPr>
        <p:spPr>
          <a:xfrm>
            <a:off x="3282696" y="5276088"/>
            <a:ext cx="2788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65" name="teks-392"/>
          <p:cNvSpPr txBox="1"/>
          <p:nvPr/>
        </p:nvSpPr>
        <p:spPr>
          <a:xfrm>
            <a:off x="3346704" y="5294376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bila tiga kuotasi mendukung FCI ≤ USD 5,0 juta</a:t>
            </a:r>
            <a:endParaRPr lang="en-US" sz="780" dirty="0"/>
          </a:p>
        </p:txBody>
      </p:sp>
      <p:sp>
        <p:nvSpPr>
          <p:cNvPr id="66" name="kotak-393"/>
          <p:cNvSpPr txBox="1"/>
          <p:nvPr/>
        </p:nvSpPr>
        <p:spPr>
          <a:xfrm>
            <a:off x="3346704" y="5614416"/>
            <a:ext cx="2660904" cy="228600"/>
          </a:xfrm>
          <a:prstGeom prst="roundRect">
            <a:avLst>
              <a:gd name="adj" fmla="val 16000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NPV USD 1,75 juta · IRR 14,8%</a:t>
            </a:r>
            <a:endParaRPr lang="en-US" sz="830" dirty="0"/>
          </a:p>
        </p:txBody>
      </p:sp>
      <p:sp>
        <p:nvSpPr>
          <p:cNvPr id="67" name="kotak-394"/>
          <p:cNvSpPr txBox="1"/>
          <p:nvPr/>
        </p:nvSpPr>
        <p:spPr>
          <a:xfrm>
            <a:off x="6153912" y="5084064"/>
            <a:ext cx="2788920" cy="192024"/>
          </a:xfrm>
          <a:prstGeom prst="roundRect">
            <a:avLst>
              <a:gd name="adj" fmla="val 19048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· bulan 24 · USD 400 ribu</a:t>
            </a:r>
            <a:endParaRPr lang="en-US" sz="820" dirty="0"/>
          </a:p>
        </p:txBody>
      </p:sp>
      <p:sp>
        <p:nvSpPr>
          <p:cNvPr id="68" name="kotak-395"/>
          <p:cNvSpPr/>
          <p:nvPr/>
        </p:nvSpPr>
        <p:spPr>
          <a:xfrm>
            <a:off x="6153912" y="5276088"/>
            <a:ext cx="2788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69" name="teks-396"/>
          <p:cNvSpPr txBox="1"/>
          <p:nvPr/>
        </p:nvSpPr>
        <p:spPr>
          <a:xfrm>
            <a:off x="6217920" y="5294376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bila kontrak fee ≥ USD 1,35/t dan HAZOP bersih</a:t>
            </a:r>
            <a:endParaRPr lang="en-US" sz="780" dirty="0"/>
          </a:p>
        </p:txBody>
      </p:sp>
      <p:sp>
        <p:nvSpPr>
          <p:cNvPr id="70" name="kotak-397"/>
          <p:cNvSpPr txBox="1"/>
          <p:nvPr/>
        </p:nvSpPr>
        <p:spPr>
          <a:xfrm>
            <a:off x="6217920" y="5614416"/>
            <a:ext cx="2660904" cy="228600"/>
          </a:xfrm>
          <a:prstGeom prst="roundRect">
            <a:avLst>
              <a:gd name="adj" fmla="val 16000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NPV USD 1,96 juta · IRR 15,3%</a:t>
            </a:r>
            <a:endParaRPr lang="en-US" sz="830" dirty="0"/>
          </a:p>
        </p:txBody>
      </p:sp>
      <p:sp>
        <p:nvSpPr>
          <p:cNvPr id="71" name="kotak-398"/>
          <p:cNvSpPr txBox="1"/>
          <p:nvPr/>
        </p:nvSpPr>
        <p:spPr>
          <a:xfrm>
            <a:off x="9025128" y="5084064"/>
            <a:ext cx="2788920" cy="192024"/>
          </a:xfrm>
          <a:prstGeom prst="roundRect">
            <a:avLst>
              <a:gd name="adj" fmla="val 19048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 · bulan 30 · USD 410 ribu</a:t>
            </a:r>
            <a:endParaRPr lang="en-US" sz="820" dirty="0"/>
          </a:p>
        </p:txBody>
      </p:sp>
      <p:sp>
        <p:nvSpPr>
          <p:cNvPr id="72" name="kotak-399"/>
          <p:cNvSpPr/>
          <p:nvPr/>
        </p:nvSpPr>
        <p:spPr>
          <a:xfrm>
            <a:off x="9025128" y="5276088"/>
            <a:ext cx="2788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73" name="teks-400"/>
          <p:cNvSpPr txBox="1"/>
          <p:nvPr/>
        </p:nvSpPr>
        <p:spPr>
          <a:xfrm>
            <a:off x="9089136" y="5294376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bila pilot COD ≥ 65%, MRV siap → FID</a:t>
            </a:r>
            <a:endParaRPr lang="en-US" sz="780" dirty="0"/>
          </a:p>
        </p:txBody>
      </p:sp>
      <p:sp>
        <p:nvSpPr>
          <p:cNvPr id="74" name="kotak-401"/>
          <p:cNvSpPr txBox="1"/>
          <p:nvPr/>
        </p:nvSpPr>
        <p:spPr>
          <a:xfrm>
            <a:off x="9089136" y="5614416"/>
            <a:ext cx="2660904" cy="228600"/>
          </a:xfrm>
          <a:prstGeom prst="roundRect">
            <a:avLst>
              <a:gd name="adj" fmla="val 16000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NPV USD 2,37 juta · IRR 16,5%</a:t>
            </a:r>
            <a:endParaRPr lang="en-US" sz="830" dirty="0"/>
          </a:p>
        </p:txBody>
      </p:sp>
      <p:sp>
        <p:nvSpPr>
          <p:cNvPr id="75" name="kotak-402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6" name="kotak-403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USD 1,3 juta (usulan) dibelanjakan bertahap per gerbang; modal utama (± USD 4,9 juta) baru keluar setelah kontrak, kuotasi, dan pilot terkunci.</a:t>
            </a:r>
            <a:endParaRPr lang="en-US" sz="950" dirty="0"/>
          </a:p>
        </p:txBody>
      </p:sp>
      <p:sp>
        <p:nvSpPr>
          <p:cNvPr id="77" name="teks-404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FEED desain rekayasa awal; HAZOP kajian bahaya dan operabilitas; MRV pemantauan, pelaporan, verifikasi; FID keputusan investasi akhir; OLR laju beban organik; PBG persetujuan bangunan gedung; SLO sertifikat laik operasi; PJBL perjanjian jual beli listrik; IUPTLS izin usaha penyediaan tenaga listrik untuk kepentingan sendiri; K3 keselamatan dan kesehatan kerja.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usulan tim; peluang × dampak risiko adalah penilaian tim; durasi izin dari research/R4 dan R6 (SLO ≤ 4 hari kerja setelah inspeksi: FAQ Ditjen Gatrik 2024; lama izin lain perkiraan tim); NPV dan IRR per gerbang dari fin_core.py.</a:t>
            </a:r>
            <a:endParaRPr lang="en-US" sz="5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Peluang besar dan terukur: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756 set setara bernilai USD 960 juta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57 PKS siap dilayani lebih dulu, dan 10 set menghasilkan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15 juta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pendapatan per tahun</a:t>
            </a:r>
            <a:endParaRPr lang="en-US" sz="1900" dirty="0"/>
          </a:p>
        </p:txBody>
      </p:sp>
      <p:sp>
        <p:nvSpPr>
          <p:cNvPr id="3" name="kotak-405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06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07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08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09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10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11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12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2" name="kotak-413"/>
          <p:cNvSpPr txBox="1"/>
          <p:nvPr/>
        </p:nvSpPr>
        <p:spPr>
          <a:xfrm>
            <a:off x="411480" y="1143000"/>
            <a:ext cx="27432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Corong pasar (set setara 60 t/jam)</a:t>
            </a:r>
            <a:endParaRPr lang="en-US" sz="820" dirty="0"/>
          </a:p>
        </p:txBody>
      </p:sp>
      <p:pic>
        <p:nvPicPr>
          <p:cNvPr id="13" name="grafik-a0" descr="/home/user/aspebindo/deck/img/f_pas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89888"/>
            <a:ext cx="2743200" cy="1828800"/>
          </a:xfrm>
          <a:prstGeom prst="rect">
            <a:avLst/>
          </a:prstGeom>
        </p:spPr>
      </p:pic>
      <p:sp>
        <p:nvSpPr>
          <p:cNvPr id="14" name="kotak-414"/>
          <p:cNvSpPr txBox="1"/>
          <p:nvPr/>
        </p:nvSpPr>
        <p:spPr>
          <a:xfrm>
            <a:off x="3291840" y="1143000"/>
            <a:ext cx="27432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Sebaran PKS menurut provinsi</a:t>
            </a:r>
            <a:endParaRPr lang="en-US" sz="820" dirty="0"/>
          </a:p>
        </p:txBody>
      </p:sp>
      <p:pic>
        <p:nvPicPr>
          <p:cNvPr id="15" name="grafik-a1" descr="/home/user/aspebindo/deck/img/f_pr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89888"/>
            <a:ext cx="2743200" cy="1828800"/>
          </a:xfrm>
          <a:prstGeom prst="rect">
            <a:avLst/>
          </a:prstGeom>
        </p:spPr>
      </p:pic>
      <p:sp>
        <p:nvSpPr>
          <p:cNvPr id="16" name="kotak-415"/>
          <p:cNvSpPr txBox="1"/>
          <p:nvPr/>
        </p:nvSpPr>
        <p:spPr>
          <a:xfrm>
            <a:off x="6172200" y="1143000"/>
            <a:ext cx="27432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Peta NPV: fee × solar tergantikan (USD juta)</a:t>
            </a:r>
            <a:endParaRPr lang="en-US" sz="820" dirty="0"/>
          </a:p>
        </p:txBody>
      </p:sp>
      <p:pic>
        <p:nvPicPr>
          <p:cNvPr id="17" name="grafik-a2" descr="/home/user/aspebindo/deck/img/f_heatnp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89888"/>
            <a:ext cx="2743200" cy="1828800"/>
          </a:xfrm>
          <a:prstGeom prst="rect">
            <a:avLst/>
          </a:prstGeom>
        </p:spPr>
      </p:pic>
      <p:sp>
        <p:nvSpPr>
          <p:cNvPr id="18" name="kotak-416"/>
          <p:cNvSpPr txBox="1"/>
          <p:nvPr/>
        </p:nvSpPr>
        <p:spPr>
          <a:xfrm>
            <a:off x="9052560" y="1143000"/>
            <a:ext cx="27432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Tuas nilai: NPV per set (USD juta)</a:t>
            </a:r>
            <a:endParaRPr lang="en-US" sz="820" dirty="0"/>
          </a:p>
        </p:txBody>
      </p:sp>
      <p:pic>
        <p:nvPicPr>
          <p:cNvPr id="19" name="grafik-a3" descr="/home/user/aspebindo/deck/img/f_tu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389888"/>
            <a:ext cx="2743200" cy="1828800"/>
          </a:xfrm>
          <a:prstGeom prst="rect">
            <a:avLst/>
          </a:prstGeom>
        </p:spPr>
      </p:pic>
      <p:sp>
        <p:nvSpPr>
          <p:cNvPr id="20" name="kotak-417"/>
          <p:cNvSpPr txBox="1"/>
          <p:nvPr/>
        </p:nvSpPr>
        <p:spPr>
          <a:xfrm>
            <a:off x="411480" y="3419856"/>
            <a:ext cx="27432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Pendapatan armada 10 set dan EBITDA</a:t>
            </a:r>
            <a:endParaRPr lang="en-US" sz="820" dirty="0"/>
          </a:p>
        </p:txBody>
      </p:sp>
      <p:pic>
        <p:nvPicPr>
          <p:cNvPr id="21" name="grafik-armada" descr="/home/user/aspebindo/deck/img/f_armad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666744"/>
            <a:ext cx="2743200" cy="2103120"/>
          </a:xfrm>
          <a:prstGeom prst="rect">
            <a:avLst/>
          </a:prstGeom>
        </p:spPr>
      </p:pic>
      <p:sp>
        <p:nvSpPr>
          <p:cNvPr id="22" name="kotak-418"/>
          <p:cNvSpPr txBox="1"/>
          <p:nvPr/>
        </p:nvSpPr>
        <p:spPr>
          <a:xfrm>
            <a:off x="3291840" y="3419856"/>
            <a:ext cx="27432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(f) Hemat biaya POME PKS menurut solar</a:t>
            </a:r>
            <a:endParaRPr lang="en-US" sz="820" dirty="0"/>
          </a:p>
        </p:txBody>
      </p:sp>
      <p:pic>
        <p:nvPicPr>
          <p:cNvPr id="23" name="grafik-segsave" descr="/home/user/aspebindo/deck/img/f_segsav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3666744"/>
            <a:ext cx="2743200" cy="2103120"/>
          </a:xfrm>
          <a:prstGeom prst="rect">
            <a:avLst/>
          </a:prstGeom>
        </p:spPr>
      </p:pic>
      <p:sp>
        <p:nvSpPr>
          <p:cNvPr id="24" name="kotak-419"/>
          <p:cNvSpPr txBox="1"/>
          <p:nvPr/>
        </p:nvSpPr>
        <p:spPr>
          <a:xfrm>
            <a:off x="6172200" y="3419856"/>
            <a:ext cx="27432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(g) Dampak per set 60 t TBS/jam</a:t>
            </a:r>
            <a:endParaRPr lang="en-US" sz="820" dirty="0"/>
          </a:p>
        </p:txBody>
      </p:sp>
      <p:sp>
        <p:nvSpPr>
          <p:cNvPr id="25" name="kotak-420"/>
          <p:cNvSpPr/>
          <p:nvPr/>
        </p:nvSpPr>
        <p:spPr>
          <a:xfrm>
            <a:off x="6172200" y="3694176"/>
            <a:ext cx="1353312" cy="987552"/>
          </a:xfrm>
          <a:prstGeom prst="roundRect">
            <a:avLst>
              <a:gd name="adj" fmla="val 463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6" name="teks-421"/>
          <p:cNvSpPr txBox="1"/>
          <p:nvPr/>
        </p:nvSpPr>
        <p:spPr>
          <a:xfrm>
            <a:off x="6199632" y="378561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ribu</a:t>
            </a:r>
            <a:endParaRPr lang="en-US" sz="1300" dirty="0"/>
          </a:p>
        </p:txBody>
      </p:sp>
      <p:sp>
        <p:nvSpPr>
          <p:cNvPr id="27" name="teks-422"/>
          <p:cNvSpPr txBox="1"/>
          <p:nvPr/>
        </p:nvSpPr>
        <p:spPr>
          <a:xfrm>
            <a:off x="6245352" y="4169664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tCO₂e dihindari per tahun (−96%) · SDG 13</a:t>
            </a:r>
            <a:endParaRPr lang="en-US" sz="780" dirty="0"/>
          </a:p>
        </p:txBody>
      </p:sp>
      <p:sp>
        <p:nvSpPr>
          <p:cNvPr id="28" name="kotak-423"/>
          <p:cNvSpPr/>
          <p:nvPr/>
        </p:nvSpPr>
        <p:spPr>
          <a:xfrm>
            <a:off x="7562088" y="3694176"/>
            <a:ext cx="1353312" cy="987552"/>
          </a:xfrm>
          <a:prstGeom prst="roundRect">
            <a:avLst>
              <a:gd name="adj" fmla="val 463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9" name="teks-424"/>
          <p:cNvSpPr txBox="1"/>
          <p:nvPr/>
        </p:nvSpPr>
        <p:spPr>
          <a:xfrm>
            <a:off x="7589520" y="378561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1300" dirty="0"/>
          </a:p>
        </p:txBody>
      </p:sp>
      <p:sp>
        <p:nvSpPr>
          <p:cNvPr id="30" name="teks-425"/>
          <p:cNvSpPr txBox="1"/>
          <p:nvPr/>
        </p:nvSpPr>
        <p:spPr>
          <a:xfrm>
            <a:off x="7635240" y="4169664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 · SDG 7</a:t>
            </a:r>
            <a:endParaRPr lang="en-US" sz="780" dirty="0"/>
          </a:p>
        </p:txBody>
      </p:sp>
      <p:sp>
        <p:nvSpPr>
          <p:cNvPr id="31" name="kotak-426"/>
          <p:cNvSpPr/>
          <p:nvPr/>
        </p:nvSpPr>
        <p:spPr>
          <a:xfrm>
            <a:off x="6172200" y="4736592"/>
            <a:ext cx="1353312" cy="987552"/>
          </a:xfrm>
          <a:prstGeom prst="roundRect">
            <a:avLst>
              <a:gd name="adj" fmla="val 463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32" name="teks-427"/>
          <p:cNvSpPr txBox="1"/>
          <p:nvPr/>
        </p:nvSpPr>
        <p:spPr>
          <a:xfrm>
            <a:off x="6199632" y="482803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±682 ribu L</a:t>
            </a:r>
            <a:endParaRPr lang="en-US" sz="1300" dirty="0"/>
          </a:p>
        </p:txBody>
      </p:sp>
      <p:sp>
        <p:nvSpPr>
          <p:cNvPr id="33" name="teks-428"/>
          <p:cNvSpPr txBox="1"/>
          <p:nvPr/>
        </p:nvSpPr>
        <p:spPr>
          <a:xfrm>
            <a:off x="6245352" y="52120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tergantikan per tahun</a:t>
            </a:r>
            <a:endParaRPr lang="en-US" sz="780" dirty="0"/>
          </a:p>
        </p:txBody>
      </p:sp>
      <p:sp>
        <p:nvSpPr>
          <p:cNvPr id="34" name="kotak-429"/>
          <p:cNvSpPr/>
          <p:nvPr/>
        </p:nvSpPr>
        <p:spPr>
          <a:xfrm>
            <a:off x="7562088" y="4736592"/>
            <a:ext cx="1353312" cy="987552"/>
          </a:xfrm>
          <a:prstGeom prst="roundRect">
            <a:avLst>
              <a:gd name="adj" fmla="val 463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35" name="teks-430"/>
          <p:cNvSpPr txBox="1"/>
          <p:nvPr/>
        </p:nvSpPr>
        <p:spPr>
          <a:xfrm>
            <a:off x="7589520" y="482803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orang</a:t>
            </a:r>
            <a:endParaRPr lang="en-US" sz="1300" dirty="0"/>
          </a:p>
        </p:txBody>
      </p:sp>
      <p:sp>
        <p:nvSpPr>
          <p:cNvPr id="36" name="teks-431"/>
          <p:cNvSpPr txBox="1"/>
          <p:nvPr/>
        </p:nvSpPr>
        <p:spPr>
          <a:xfrm>
            <a:off x="7635240" y="52120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pekerja lokal tetap · SDG 8</a:t>
            </a:r>
            <a:endParaRPr lang="en-US" sz="780" dirty="0"/>
          </a:p>
        </p:txBody>
      </p:sp>
      <p:sp>
        <p:nvSpPr>
          <p:cNvPr id="37" name="kotak-432"/>
          <p:cNvSpPr txBox="1"/>
          <p:nvPr/>
        </p:nvSpPr>
        <p:spPr>
          <a:xfrm>
            <a:off x="9052560" y="3419856"/>
            <a:ext cx="27432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(h) Tawaran kepada pemodal</a:t>
            </a:r>
            <a:endParaRPr lang="en-US" sz="820" dirty="0"/>
          </a:p>
        </p:txBody>
      </p:sp>
      <p:graphicFrame>
        <p:nvGraphicFramePr>
          <p:cNvPr id="10" name="tabel-4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3694176"/>
          <a:ext cx="91440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78308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pertama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 puncak USD 5,5 juta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16,5% · ekuitas 21,3%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tahun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 (utang 58%)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Armada 10 set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pendapatan 2035 USD 15,2 juta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2035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10,7 juta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armada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4,1 juta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Hemat PKS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11%, modal nol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39" name="kotak-43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40" name="kotak-43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PKS lolos filter pertama (USD 73 juta per tahun); 10 set menghasilkan pendapatan USD 15,2 juta per tahun (2035) dan NPV armada USD 4,1 juta.</a:t>
            </a:r>
            <a:endParaRPr lang="en-US" sz="950" dirty="0"/>
          </a:p>
        </p:txBody>
      </p:sp>
      <p:sp>
        <p:nvSpPr>
          <p:cNvPr id="41" name="teks-43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TAM total pasar; SAM pasar yang dapat dilayani; SOM pasar yang dapat dicapai; SDG tujuan pembangunan berkelanjutan; K3 keselamatan dan kesehatan kerja; EBITDA laba sebelum bunga, pajak, penyusutan, amortisasi.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fin_market.py (Trase/SEI-PCS, GAPKI 2026, PASPI/BRIN); fin_core.py (kasus target, armada); neraca proses Rev 2; LCA AMS-III.H (UF 0,89; GWP 28); research/R1 dan R3. Sebaran provinsi dari direktori PKS (jumlah berbeda dari TAM karena sumber berbeda).</a:t>
            </a:r>
            <a:endParaRPr lang="en-US" sz="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Kesimpulan: limbah POME menjadi aset berimbal hasil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 16,5%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5,2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dengan dampak iklim terukur; langkah berikutnya adalah pilot dan kontrak</a:t>
            </a:r>
            <a:endParaRPr lang="en-US" sz="1900" dirty="0"/>
          </a:p>
        </p:txBody>
      </p:sp>
      <p:sp>
        <p:nvSpPr>
          <p:cNvPr id="3" name="kotak-43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3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3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4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4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4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4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4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kotak-445"/>
          <p:cNvSpPr/>
          <p:nvPr/>
        </p:nvSpPr>
        <p:spPr>
          <a:xfrm>
            <a:off x="411480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3" name="teks-446"/>
          <p:cNvSpPr txBox="1"/>
          <p:nvPr/>
        </p:nvSpPr>
        <p:spPr>
          <a:xfrm>
            <a:off x="457200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1700" dirty="0"/>
          </a:p>
        </p:txBody>
      </p:sp>
      <p:sp>
        <p:nvSpPr>
          <p:cNvPr id="14" name="teks-447"/>
          <p:cNvSpPr txBox="1"/>
          <p:nvPr/>
        </p:nvSpPr>
        <p:spPr>
          <a:xfrm>
            <a:off x="457200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 metana kolam POME dihindari</a:t>
            </a:r>
            <a:endParaRPr lang="en-US" sz="840" dirty="0"/>
          </a:p>
        </p:txBody>
      </p:sp>
      <p:sp>
        <p:nvSpPr>
          <p:cNvPr id="15" name="kotak-448"/>
          <p:cNvSpPr/>
          <p:nvPr/>
        </p:nvSpPr>
        <p:spPr>
          <a:xfrm>
            <a:off x="2715768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449"/>
          <p:cNvSpPr txBox="1"/>
          <p:nvPr/>
        </p:nvSpPr>
        <p:spPr>
          <a:xfrm>
            <a:off x="2761488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0,0002%</a:t>
            </a:r>
            <a:endParaRPr lang="en-US" sz="1700" dirty="0"/>
          </a:p>
        </p:txBody>
      </p:sp>
      <p:sp>
        <p:nvSpPr>
          <p:cNvPr id="17" name="teks-450"/>
          <p:cNvSpPr txBox="1"/>
          <p:nvPr/>
        </p:nvSpPr>
        <p:spPr>
          <a:xfrm>
            <a:off x="2761488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galat penutupan neraca massa</a:t>
            </a:r>
            <a:endParaRPr lang="en-US" sz="840" dirty="0"/>
          </a:p>
        </p:txBody>
      </p:sp>
      <p:sp>
        <p:nvSpPr>
          <p:cNvPr id="18" name="kotak-451"/>
          <p:cNvSpPr/>
          <p:nvPr/>
        </p:nvSpPr>
        <p:spPr>
          <a:xfrm>
            <a:off x="5020056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9" name="teks-452"/>
          <p:cNvSpPr txBox="1"/>
          <p:nvPr/>
        </p:nvSpPr>
        <p:spPr>
          <a:xfrm>
            <a:off x="5065776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2,37 juta</a:t>
            </a:r>
            <a:endParaRPr lang="en-US" sz="1700" dirty="0"/>
          </a:p>
        </p:txBody>
      </p:sp>
      <p:sp>
        <p:nvSpPr>
          <p:cNvPr id="20" name="teks-453"/>
          <p:cNvSpPr txBox="1"/>
          <p:nvPr/>
        </p:nvSpPr>
        <p:spPr>
          <a:xfrm>
            <a:off x="5065776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per set, 20 tahun</a:t>
            </a:r>
            <a:endParaRPr lang="en-US" sz="840" dirty="0"/>
          </a:p>
        </p:txBody>
      </p:sp>
      <p:sp>
        <p:nvSpPr>
          <p:cNvPr id="21" name="kotak-454"/>
          <p:cNvSpPr/>
          <p:nvPr/>
        </p:nvSpPr>
        <p:spPr>
          <a:xfrm>
            <a:off x="7324344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2" name="teks-455"/>
          <p:cNvSpPr txBox="1"/>
          <p:nvPr/>
        </p:nvSpPr>
        <p:spPr>
          <a:xfrm>
            <a:off x="7370064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16,5%</a:t>
            </a:r>
            <a:endParaRPr lang="en-US" sz="1700" dirty="0"/>
          </a:p>
        </p:txBody>
      </p:sp>
      <p:sp>
        <p:nvSpPr>
          <p:cNvPr id="23" name="teks-456"/>
          <p:cNvSpPr txBox="1"/>
          <p:nvPr/>
        </p:nvSpPr>
        <p:spPr>
          <a:xfrm>
            <a:off x="7370064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proyek; ekuitas 21,3%</a:t>
            </a:r>
            <a:endParaRPr lang="en-US" sz="840" dirty="0"/>
          </a:p>
        </p:txBody>
      </p:sp>
      <p:sp>
        <p:nvSpPr>
          <p:cNvPr id="24" name="kotak-457"/>
          <p:cNvSpPr/>
          <p:nvPr/>
        </p:nvSpPr>
        <p:spPr>
          <a:xfrm>
            <a:off x="9628632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5" name="teks-458"/>
          <p:cNvSpPr txBox="1"/>
          <p:nvPr/>
        </p:nvSpPr>
        <p:spPr>
          <a:xfrm>
            <a:off x="9674352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 tahun</a:t>
            </a:r>
            <a:endParaRPr lang="en-US" sz="1700" dirty="0"/>
          </a:p>
        </p:txBody>
      </p:sp>
      <p:sp>
        <p:nvSpPr>
          <p:cNvPr id="26" name="teks-459"/>
          <p:cNvSpPr txBox="1"/>
          <p:nvPr/>
        </p:nvSpPr>
        <p:spPr>
          <a:xfrm>
            <a:off x="9674352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payback; DSCR 1,90</a:t>
            </a:r>
            <a:endParaRPr lang="en-US" sz="840" dirty="0"/>
          </a:p>
        </p:txBody>
      </p:sp>
      <p:sp>
        <p:nvSpPr>
          <p:cNvPr id="27" name="kotak-460"/>
          <p:cNvSpPr txBox="1"/>
          <p:nvPr/>
        </p:nvSpPr>
        <p:spPr>
          <a:xfrm>
            <a:off x="411480" y="1901952"/>
            <a:ext cx="3703320" cy="256032"/>
          </a:xfrm>
          <a:prstGeom prst="roundRect">
            <a:avLst>
              <a:gd name="adj" fmla="val 14286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Masalahnya nyata</a:t>
            </a:r>
            <a:endParaRPr lang="en-US" sz="1000" dirty="0"/>
          </a:p>
        </p:txBody>
      </p:sp>
      <p:sp>
        <p:nvSpPr>
          <p:cNvPr id="28" name="kotak-461"/>
          <p:cNvSpPr/>
          <p:nvPr/>
        </p:nvSpPr>
        <p:spPr>
          <a:xfrm>
            <a:off x="411480" y="2157984"/>
            <a:ext cx="370332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0C2464"/>
            </a:solidFill>
            <a:prstDash val="solid"/>
          </a:ln>
        </p:spPr>
      </p:sp>
      <p:sp>
        <p:nvSpPr>
          <p:cNvPr id="29" name="teks-462"/>
          <p:cNvSpPr txBox="1"/>
          <p:nvPr/>
        </p:nvSpPr>
        <p:spPr>
          <a:xfrm>
            <a:off x="521208" y="2231136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±1.150 PKS melepas metana POME ke udara: ≈ 26 juta tCO₂e per tahun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bersolar berat membayar USD 0,67 juta per tahun untuk listrik diesel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yang ada menuntut modal PKS atau klaster dengan pipa gas</a:t>
            </a:r>
            <a:endParaRPr lang="en-US" sz="940" dirty="0"/>
          </a:p>
        </p:txBody>
      </p:sp>
      <p:sp>
        <p:nvSpPr>
          <p:cNvPr id="30" name="kotak-463"/>
          <p:cNvSpPr txBox="1"/>
          <p:nvPr/>
        </p:nvSpPr>
        <p:spPr>
          <a:xfrm>
            <a:off x="4251960" y="1901952"/>
            <a:ext cx="3703320" cy="256032"/>
          </a:xfrm>
          <a:prstGeom prst="roundRect">
            <a:avLst>
              <a:gd name="adj" fmla="val 14286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Solusinya teruji</a:t>
            </a:r>
            <a:endParaRPr lang="en-US" sz="1000" dirty="0"/>
          </a:p>
        </p:txBody>
      </p:sp>
      <p:sp>
        <p:nvSpPr>
          <p:cNvPr id="31" name="kotak-464"/>
          <p:cNvSpPr/>
          <p:nvPr/>
        </p:nvSpPr>
        <p:spPr>
          <a:xfrm>
            <a:off x="4251960" y="2157984"/>
            <a:ext cx="370332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E9E"/>
            </a:solidFill>
            <a:prstDash val="solid"/>
          </a:ln>
        </p:spPr>
      </p:sp>
      <p:sp>
        <p:nvSpPr>
          <p:cNvPr id="32" name="teks-465"/>
          <p:cNvSpPr txBox="1"/>
          <p:nvPr/>
        </p:nvSpPr>
        <p:spPr>
          <a:xfrm>
            <a:off x="4361688" y="2231136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kontak termofilik 55 °C, waktu tinggal 5 hari; neraca massa menutup 0,0002%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m³ POME menjadi 40 kWh neto; satu set 60 t TBS/jam: 6,5 GWh per tahun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(21 kontainer), dapat dipindah; skema BOO: modal PKS nol</a:t>
            </a:r>
            <a:endParaRPr lang="en-US" sz="940" dirty="0"/>
          </a:p>
        </p:txBody>
      </p:sp>
      <p:sp>
        <p:nvSpPr>
          <p:cNvPr id="33" name="kotak-466"/>
          <p:cNvSpPr txBox="1"/>
          <p:nvPr/>
        </p:nvSpPr>
        <p:spPr>
          <a:xfrm>
            <a:off x="8092440" y="1901952"/>
            <a:ext cx="3703320" cy="256032"/>
          </a:xfrm>
          <a:prstGeom prst="roundRect">
            <a:avLst>
              <a:gd name="adj" fmla="val 14286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Nilainya terukur</a:t>
            </a:r>
            <a:endParaRPr lang="en-US" sz="1000" dirty="0"/>
          </a:p>
        </p:txBody>
      </p:sp>
      <p:sp>
        <p:nvSpPr>
          <p:cNvPr id="34" name="kotak-467"/>
          <p:cNvSpPr/>
          <p:nvPr/>
        </p:nvSpPr>
        <p:spPr>
          <a:xfrm>
            <a:off x="8092440" y="2157984"/>
            <a:ext cx="370332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3E8E41"/>
            </a:solidFill>
            <a:prstDash val="solid"/>
          </a:ln>
        </p:spPr>
      </p:sp>
      <p:sp>
        <p:nvSpPr>
          <p:cNvPr id="35" name="teks-468"/>
          <p:cNvSpPr txBox="1"/>
          <p:nvPr/>
        </p:nvSpPr>
        <p:spPr>
          <a:xfrm>
            <a:off x="8202168" y="2231136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USD 2,37 juta per set; PKS hemat 11% biaya POME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set: pendapatan USD 15,2 juta per tahun (2035), NPV armada USD 4,1 juta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±320 ribu tCO₂e dihindari per tahun pada 2035</a:t>
            </a:r>
            <a:endParaRPr lang="en-US" sz="940" dirty="0"/>
          </a:p>
        </p:txBody>
      </p:sp>
      <p:sp>
        <p:nvSpPr>
          <p:cNvPr id="36" name="kotak-469"/>
          <p:cNvSpPr txBox="1"/>
          <p:nvPr/>
        </p:nvSpPr>
        <p:spPr>
          <a:xfrm>
            <a:off x="411480" y="3685032"/>
            <a:ext cx="5577840" cy="219456"/>
          </a:xfrm>
          <a:prstGeom prst="roundRect">
            <a:avLst>
              <a:gd name="adj" fmla="val 16667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Ketahanan kasus target: NPV tetap positif</a:t>
            </a:r>
            <a:endParaRPr lang="en-US" sz="950" dirty="0"/>
          </a:p>
        </p:txBody>
      </p:sp>
      <p:pic>
        <p:nvPicPr>
          <p:cNvPr id="37" name="grafik-robust" descr="/home/user/aspebindo/deck/img/f_rob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931920"/>
            <a:ext cx="5577840" cy="1520190"/>
          </a:xfrm>
          <a:prstGeom prst="rect">
            <a:avLst/>
          </a:prstGeom>
        </p:spPr>
      </p:pic>
      <p:sp>
        <p:nvSpPr>
          <p:cNvPr id="38" name="teks-470"/>
          <p:cNvSpPr txBox="1"/>
          <p:nvPr/>
        </p:nvSpPr>
        <p:spPr>
          <a:xfrm>
            <a:off x="411480" y="5468112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impas NPV = 0: beban PKS 54% · CAPEX +47% · fee USD 0,26/t TBS</a:t>
            </a:r>
            <a:endParaRPr lang="en-US" sz="800" dirty="0"/>
          </a:p>
        </p:txBody>
      </p:sp>
      <p:sp>
        <p:nvSpPr>
          <p:cNvPr id="39" name="kotak-471"/>
          <p:cNvSpPr txBox="1"/>
          <p:nvPr/>
        </p:nvSpPr>
        <p:spPr>
          <a:xfrm>
            <a:off x="6126480" y="3685032"/>
            <a:ext cx="566928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Peta jalan dan permintaan kami</a:t>
            </a:r>
            <a:endParaRPr lang="en-US" sz="950" dirty="0"/>
          </a:p>
        </p:txBody>
      </p:sp>
      <p:sp>
        <p:nvSpPr>
          <p:cNvPr id="40" name="kotak-472"/>
          <p:cNvSpPr txBox="1"/>
          <p:nvPr/>
        </p:nvSpPr>
        <p:spPr>
          <a:xfrm>
            <a:off x="6126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6 · data PKS</a:t>
            </a:r>
            <a:endParaRPr lang="en-US" sz="900" dirty="0"/>
          </a:p>
        </p:txBody>
      </p:sp>
      <p:sp>
        <p:nvSpPr>
          <p:cNvPr id="41" name="garis-473"/>
          <p:cNvSpPr/>
          <p:nvPr/>
        </p:nvSpPr>
        <p:spPr>
          <a:xfrm>
            <a:off x="7223760" y="4187952"/>
            <a:ext cx="4572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2" name="kotak-474"/>
          <p:cNvSpPr txBox="1"/>
          <p:nvPr/>
        </p:nvSpPr>
        <p:spPr>
          <a:xfrm>
            <a:off x="7269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15 · kuotasi</a:t>
            </a:r>
            <a:endParaRPr lang="en-US" sz="900" dirty="0"/>
          </a:p>
        </p:txBody>
      </p:sp>
      <p:sp>
        <p:nvSpPr>
          <p:cNvPr id="43" name="garis-475"/>
          <p:cNvSpPr/>
          <p:nvPr/>
        </p:nvSpPr>
        <p:spPr>
          <a:xfrm>
            <a:off x="8366760" y="4187952"/>
            <a:ext cx="4572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4" name="kotak-476"/>
          <p:cNvSpPr txBox="1"/>
          <p:nvPr/>
        </p:nvSpPr>
        <p:spPr>
          <a:xfrm>
            <a:off x="8412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24 · FEED, kontrak</a:t>
            </a:r>
            <a:endParaRPr lang="en-US" sz="900" dirty="0"/>
          </a:p>
        </p:txBody>
      </p:sp>
      <p:sp>
        <p:nvSpPr>
          <p:cNvPr id="45" name="garis-477"/>
          <p:cNvSpPr/>
          <p:nvPr/>
        </p:nvSpPr>
        <p:spPr>
          <a:xfrm>
            <a:off x="9509760" y="4187952"/>
            <a:ext cx="4572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6" name="kotak-478"/>
          <p:cNvSpPr txBox="1"/>
          <p:nvPr/>
        </p:nvSpPr>
        <p:spPr>
          <a:xfrm>
            <a:off x="9555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30 · pilot</a:t>
            </a:r>
            <a:endParaRPr lang="en-US" sz="900" dirty="0"/>
          </a:p>
        </p:txBody>
      </p:sp>
      <p:sp>
        <p:nvSpPr>
          <p:cNvPr id="47" name="garis-479"/>
          <p:cNvSpPr/>
          <p:nvPr/>
        </p:nvSpPr>
        <p:spPr>
          <a:xfrm>
            <a:off x="10652760" y="4187952"/>
            <a:ext cx="4572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8" name="kotak-480"/>
          <p:cNvSpPr txBox="1"/>
          <p:nvPr/>
        </p:nvSpPr>
        <p:spPr>
          <a:xfrm>
            <a:off x="10698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 · set 1</a:t>
            </a:r>
            <a:endParaRPr lang="en-US" sz="900" dirty="0"/>
          </a:p>
        </p:txBody>
      </p:sp>
      <p:sp>
        <p:nvSpPr>
          <p:cNvPr id="49" name="kotak-481"/>
          <p:cNvSpPr txBox="1"/>
          <p:nvPr/>
        </p:nvSpPr>
        <p:spPr>
          <a:xfrm>
            <a:off x="6126480" y="4526280"/>
            <a:ext cx="2807208" cy="512064"/>
          </a:xfrm>
          <a:prstGeom prst="roundRect">
            <a:avLst>
              <a:gd name="adj" fmla="val 714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mitra pilot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t TBS/jam, solar ≥ 3,0 L/t, jaringan 20 kV ≤ 2 km</a:t>
            </a:r>
            <a:endParaRPr lang="en-US" sz="900" dirty="0"/>
          </a:p>
        </p:txBody>
      </p:sp>
      <p:sp>
        <p:nvSpPr>
          <p:cNvPr id="50" name="kotak-482"/>
          <p:cNvSpPr txBox="1"/>
          <p:nvPr/>
        </p:nvSpPr>
        <p:spPr>
          <a:xfrm>
            <a:off x="8988552" y="4526280"/>
            <a:ext cx="2807208" cy="512064"/>
          </a:xfrm>
          <a:prstGeom prst="roundRect">
            <a:avLst>
              <a:gd name="adj" fmla="val 714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pengembangan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1,3 juta: lab, pilot, FEED, izin, kuotasi</a:t>
            </a:r>
            <a:endParaRPr lang="en-US" sz="900" dirty="0"/>
          </a:p>
        </p:txBody>
      </p:sp>
      <p:sp>
        <p:nvSpPr>
          <p:cNvPr id="51" name="kotak-483"/>
          <p:cNvSpPr txBox="1"/>
          <p:nvPr/>
        </p:nvSpPr>
        <p:spPr>
          <a:xfrm>
            <a:off x="6126480" y="5093208"/>
            <a:ext cx="2807208" cy="512064"/>
          </a:xfrm>
          <a:prstGeom prst="roundRect">
            <a:avLst>
              <a:gd name="adj" fmla="val 714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Pemodal set pertama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5,5 juta, utang 58%, IRR 16,5%</a:t>
            </a:r>
            <a:endParaRPr lang="en-US" sz="900" dirty="0"/>
          </a:p>
        </p:txBody>
      </p:sp>
      <p:sp>
        <p:nvSpPr>
          <p:cNvPr id="52" name="kotak-484"/>
          <p:cNvSpPr txBox="1"/>
          <p:nvPr/>
        </p:nvSpPr>
        <p:spPr>
          <a:xfrm>
            <a:off x="8988552" y="5093208"/>
            <a:ext cx="2807208" cy="512064"/>
          </a:xfrm>
          <a:prstGeom prst="roundRect">
            <a:avLst>
              <a:gd name="adj" fmla="val 714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 teknologi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GFS dan genset, EPC lokal, universitas</a:t>
            </a:r>
            <a:endParaRPr lang="en-US" sz="900" dirty="0"/>
          </a:p>
        </p:txBody>
      </p:sp>
      <p:sp>
        <p:nvSpPr>
          <p:cNvPr id="53" name="kotak-48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54" name="kotak-48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sudah bisa ditangkap; yang kami bawa adalah cara PKS membayarnya tanpa modal, imbal hasil yang menarik bagi pemodal, dan dampak iklim yang terukur.</a:t>
            </a:r>
            <a:endParaRPr lang="en-US" sz="950" dirty="0"/>
          </a:p>
        </p:txBody>
      </p:sp>
      <p:sp>
        <p:nvSpPr>
          <p:cNvPr id="55" name="teks-48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TRL tingkat kesiapan teknologi; FEED desain rekayasa awal; FID keputusan investasi akhir; GFS baja berlapis kaca; DSCR rasio cakupan layanan utang; BOO bangun-miliki-operasikan.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ringkasan slide 2–9 (fin_core.py v4; BG_Model_Keuangan.xlsx). Kasus target = solar 3,0 L/t (G0) + CAPEX −15% (G1) + fee USD 1,35/t (G2) + karbon USD 8,3/t. Anggaran adalah usulan tim.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IC 2026 Malataxtax">
  <a:themeElements>
    <a:clrScheme name="EIC 2026 Malataxtax">
      <a:dk1>
        <a:srgbClr val="14213D"/>
      </a:dk1>
      <a:lt1>
        <a:srgbClr val="FFFFFF"/>
      </a:lt1>
      <a:dk2>
        <a:srgbClr val="0C2464"/>
      </a:dk2>
      <a:lt2>
        <a:srgbClr val="EAF4FB"/>
      </a:lt2>
      <a:accent1>
        <a:srgbClr val="1F4E9E"/>
      </a:accent1>
      <a:accent2>
        <a:srgbClr val="3E8E41"/>
      </a:accent2>
      <a:accent3>
        <a:srgbClr val="2B9FC8"/>
      </a:accent3>
      <a:accent4>
        <a:srgbClr val="8CC63F"/>
      </a:accent4>
      <a:accent5>
        <a:srgbClr val="6898C8"/>
      </a:accent5>
      <a:accent6>
        <a:srgbClr val="5B6B7F"/>
      </a:accent6>
      <a:hlink>
        <a:srgbClr val="1F4E9E"/>
      </a:hlink>
      <a:folHlink>
        <a:srgbClr val="0C2464"/>
      </a:folHlink>
    </a:clrScheme>
    <a:fontScheme name="EIC 2026 Malataxta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Malataxtax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Biogas sebagai Layanan: Pengolah POME Termofilik Modular untuk PKS</dc:title>
  <dc:subject>EIC 2026 - Energy Business Plan Competition, Subtema 3</dc:subject>
  <dc:creator>Tim Malataxtax</dc:creator>
  <cp:lastModifiedBy>Tim Malataxtax</cp:lastModifiedBy>
  <cp:revision>1</cp:revision>
  <dcterms:created xsi:type="dcterms:W3CDTF">2026-10-16T15:22:22Z</dcterms:created>
  <dcterms:modified xsi:type="dcterms:W3CDTF">2026-10-16T15:22:22Z</dcterms:modified>
</cp:coreProperties>
</file>