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09fae57d-199b-9ab7-023e-cc10e300877c}">
          <p14:sldIdLst>
            <p14:sldId id="256"/>
          </p14:sldIdLst>
        </p14:section>
        <p14:section name="Masalah" id="{41ec94a7-4f64-653e-a35d-e8d537be3f57}">
          <p14:sldIdLst>
            <p14:sldId id="257"/>
          </p14:sldIdLst>
        </p14:section>
        <p14:section name="Solusi" id="{3b04bd4e-2bed-4f1d-84f1-0c8f7687318b}">
          <p14:sldIdLst>
            <p14:sldId id="258"/>
          </p14:sldIdLst>
        </p14:section>
        <p14:section name="Inovasi" id="{015523f4-88ae-5d3b-e5f0-66a5f0de016d}">
          <p14:sldIdLst>
            <p14:sldId id="259"/>
          </p14:sldIdLst>
        </p14:section>
        <p14:section name="Pasar" id="{3cea17bc-6d5a-e92f-90cd-6c51b3bf98b7}">
          <p14:sldIdLst>
            <p14:sldId id="260"/>
          </p14:sldIdLst>
        </p14:section>
        <p14:section name="Model bisnis" id="{3c20dcfa-99ae-69f2-ba10-7c5858fee940}">
          <p14:sldIdLst>
            <p14:sldId id="261"/>
          </p14:sldIdLst>
        </p14:section>
        <p14:section name="Keuangan" id="{84b62ecf-7999-9895-72e9-78a4f34e3cc3}">
          <p14:sldIdLst>
            <p14:sldId id="262"/>
          </p14:sldIdLst>
        </p14:section>
        <p14:section name="Dampak" id="{22fdbf68-d6d7-632a-ca8f-0c7bf559b178}">
          <p14:sldIdLst>
            <p14:sldId id="263"/>
          </p14:sldIdLst>
        </p14:section>
        <p14:section name="Skala" id="{b1fadd15-2c6e-38a2-bcaa-dc3082e914d4}">
          <p14:sldIdLst>
            <p14:sldId id="264"/>
          </p14:sldIdLst>
        </p14:section>
        <p14:section name="Penutup" id="{f647f78d-89de-7751-cbc0-ff3ead86cd4e}">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4E3D"/>
                </a:solidFill>
                <a:latin typeface="+mn-lt"/>
              </a:defRPr>
            </a:pPr>
            <a:r>
              <a:rPr sz="1100" b="0" i="0" u="none" strike="noStrike">
                <a:solidFill>
                  <a:srgbClr val="1F4E3D"/>
                </a:solidFill>
                <a:latin typeface="+mn-lt"/>
              </a:rPr>
              <a:t>Porsi PKS yang menangkap metana</a:t>
            </a:r>
          </a:p>
        </c:rich>
      </c:tx>
      <c:layout/>
      <c:overlay val="0"/>
    </c:title>
    <c:autoTitleDeleted val="0"/>
    <c:plotArea>
      <c:layout/>
      <c:barChart>
        <c:barDir val="bar"/>
        <c:grouping val="clustered"/>
        <c:varyColors val="0"/>
        <c:ser>
          <c:idx val="0"/>
          <c:order val="0"/>
          <c:tx>
            <c:strRef>
              <c:f>Sheet1!$B$1</c:f>
              <c:strCache>
                <c:ptCount val="1"/>
                <c:pt idx="0">
                  <c:v>PKS dengan penangkapan metana</c:v>
                </c:pt>
              </c:strCache>
            </c:strRef>
          </c:tx>
          <c:spPr>
            <a:solidFill>
              <a:srgbClr val="B5462F"/>
            </a:solidFill>
            <a:effectLst/>
          </c:spPr>
          <c:invertIfNegative val="0"/>
          <c:dLbls>
            <c:numFmt formatCode="0&quot;%&quot;"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B5462F"/>
              </a:solidFill>
              <a:effectLst/>
            </c:spPr>
          </c:dPt>
          <c:dPt>
            <c:idx val="1"/>
            <c:invertIfNegative val="0"/>
            <c:bubble3D val="0"/>
            <c:spPr>
              <a:solidFill>
                <a:srgbClr val="2E7D6B"/>
              </a:solidFill>
              <a:effectLst/>
            </c:spPr>
          </c:dPt>
          <c:cat>
            <c:multiLvlStrRef>
              <c:f>Sheet1!$A$2:$A$3</c:f>
              <c:multiLvlStrCache>
                <c:ptCount val="2"/>
                <c:lvl>
                  <c:pt idx="0">
                    <c:v>Indonesia</c:v>
                  </c:pt>
                  <c:pt idx="1">
                    <c:v>Malaysia</c:v>
                  </c:pt>
                </c:lvl>
              </c:multiLvlStrCache>
            </c:multiLvlStrRef>
          </c:cat>
          <c:val>
            <c:numRef>
              <c:f>Sheet1!$B$2:$B$3</c:f>
              <c:numCache>
                <c:formatCode>General</c:formatCode>
                <c:ptCount val="2"/>
                <c:pt idx="0">
                  <c:v>10</c:v>
                </c:pt>
                <c:pt idx="1">
                  <c:v>38</c:v>
                </c:pt>
              </c:numCache>
            </c:numRef>
          </c:val>
        </c:ser>
        <c:dLbls>
          <c:numFmt formatCode="0&quot;%&quot;"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2B26"/>
                </a:solidFill>
                <a:latin typeface="+mn-lt"/>
              </a:defRPr>
            </a:pPr>
            <a:endParaRPr lang="en-US"/>
          </a:p>
        </c:txPr>
        <c:crossAx val="2094734552"/>
        <c:crosses val="autoZero"/>
        <c:auto val="1"/>
        <c:lblAlgn val="ctr"/>
        <c:noMultiLvlLbl val="1"/>
      </c:catAx>
      <c:valAx>
        <c:axId val="2094734552"/>
        <c:scaling>
          <c:orientation val="minMax"/>
          <c:max val="4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4E3D"/>
                </a:solidFill>
                <a:latin typeface="+mn-lt"/>
              </a:defRPr>
            </a:pPr>
            <a:r>
              <a:rPr sz="1050" b="0" i="0" u="none" strike="noStrike">
                <a:solidFill>
                  <a:srgbClr val="1F4E3D"/>
                </a:solidFill>
                <a:latin typeface="+mn-lt"/>
              </a:rPr>
              <a:t>Neraca COD (kg/hari)</a:t>
            </a:r>
          </a:p>
        </c:rich>
      </c:tx>
      <c:layout/>
      <c:overlay val="0"/>
    </c:title>
    <c:autoTitleDeleted val="0"/>
    <c:plotArea>
      <c:layout/>
      <c:doughnutChart>
        <c:varyColors val="1"/>
        <c:ser>
          <c:idx val="0"/>
          <c:order val="0"/>
          <c:tx>
            <c:strRef>
              <c:f>Sheet1!$B$1</c:f>
              <c:strCache>
                <c:ptCount val="1"/>
                <c:pt idx="0">
                  <c:v>COD</c:v>
                </c:pt>
              </c:strCache>
            </c:strRef>
          </c:tx>
          <c:spPr>
            <a:solidFill>
              <a:schemeClr val="accent1"/>
            </a:solidFill>
            <a:ln w="9525" cap="flat">
              <a:solidFill>
                <a:srgbClr val="F9F9F9"/>
              </a:solidFill>
              <a:prstDash val="solid"/>
              <a:round/>
            </a:ln>
            <a:effectLst/>
          </c:spPr>
          <c:dPt>
            <c:idx val="0"/>
            <c:bubble3D val="0"/>
            <c:spPr>
              <a:solidFill>
                <a:srgbClr val="2E7D6B"/>
              </a:solidFill>
              <a:effectLst/>
            </c:spPr>
          </c:dPt>
          <c:dPt>
            <c:idx val="1"/>
            <c:bubble3D val="0"/>
            <c:spPr>
              <a:solidFill>
                <a:srgbClr val="6B6F6C"/>
              </a:solidFill>
              <a:effectLst/>
            </c:spPr>
          </c:dPt>
          <c:dPt>
            <c:idx val="2"/>
            <c:bubble3D val="0"/>
            <c:spPr>
              <a:solidFill>
                <a:srgbClr val="4E87A0"/>
              </a:solidFill>
              <a:effectLst/>
            </c:spPr>
          </c:dPt>
          <c:dPt>
            <c:idx val="3"/>
            <c:bubble3D val="0"/>
            <c:spPr>
              <a:solidFill>
                <a:srgbClr val="D99A2B"/>
              </a:solidFill>
              <a:effectLst/>
            </c:spPr>
          </c:dPt>
          <c:dLbls>
            <c:dLbl>
              <c:idx val="0"/>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Metana</c:v>
                </c:pt>
                <c:pt idx="1">
                  <c:v>Biomassa + Partikulat</c:v>
                </c:pt>
                <c:pt idx="2">
                  <c:v>Efluen terlarut</c:v>
                </c:pt>
                <c:pt idx="3">
                  <c:v>Lain-lain</c:v>
                </c:pt>
              </c:strCache>
            </c:strRef>
          </c:cat>
          <c:val>
            <c:numRef>
              <c:f>Sheet1!$B$2:$B$5</c:f>
              <c:numCache>
                <c:ptCount val="4"/>
                <c:pt idx="0">
                  <c:v>19756.33642680186</c:v>
                </c:pt>
                <c:pt idx="1">
                  <c:v>7218.801720071171</c:v>
                </c:pt>
                <c:pt idx="2">
                  <c:v>1970.6029539179249</c:v>
                </c:pt>
                <c:pt idx="3">
                  <c:v>150.3211865187566</c:v>
                </c:pt>
              </c:numCache>
            </c:numRef>
          </c:val>
        </c:ser>
        <c:firstSliceAng val="0"/>
        <c:holeSize val="50"/>
      </c:doughnutChart>
      <c:spPr>
        <a:noFill/>
        <a:ln>
          <a:noFill/>
        </a:ln>
        <a:effectLst/>
      </c:spPr>
    </c:plotArea>
    <c:legend>
      <c:legendPos val="r"/>
      <c:overlay val="0"/>
      <c:txPr>
        <a:bodyPr/>
        <a:lstStyle/>
        <a:p>
          <a:pPr>
            <a:defRPr sz="85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F4E3D"/>
                </a:solidFill>
                <a:latin typeface="+mn-lt"/>
              </a:defRPr>
            </a:pPr>
            <a:r>
              <a:rPr sz="1000" b="0" i="0" u="none" strike="noStrike">
                <a:solidFill>
                  <a:srgbClr val="1F4E3D"/>
                </a:solidFill>
                <a:latin typeface="+mn-lt"/>
              </a:rPr>
              <a:t>Nilai relokasi bagi pemberi pinjaman: NPV (USD juta)</a:t>
            </a:r>
          </a:p>
        </c:rich>
      </c:tx>
      <c:layout/>
      <c:overlay val="0"/>
    </c:title>
    <c:autoTitleDeleted val="0"/>
    <c:plotArea>
      <c:layout/>
      <c:barChart>
        <c:barDir val="bar"/>
        <c:grouping val="clustered"/>
        <c:varyColors val="0"/>
        <c:ser>
          <c:idx val="0"/>
          <c:order val="0"/>
          <c:tx>
            <c:strRef>
              <c:f>Sheet1!$B$1</c:f>
              <c:strCache>
                <c:ptCount val="1"/>
                <c:pt idx="0">
                  <c:v>NPV pengembang</c:v>
                </c:pt>
              </c:strCache>
            </c:strRef>
          </c:tx>
          <c:spPr>
            <a:solidFill>
              <a:srgbClr val="2E7D6B"/>
            </a:solidFill>
            <a:effectLst/>
          </c:spPr>
          <c:invertIfNegative val="0"/>
          <c:dLbls>
            <c:numFmt formatCode="0.0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2E7D6B"/>
              </a:solidFill>
              <a:effectLst/>
            </c:spPr>
          </c:dPt>
          <c:dPt>
            <c:idx val="1"/>
            <c:invertIfNegative val="0"/>
            <c:bubble3D val="0"/>
            <c:spPr>
              <a:solidFill>
                <a:srgbClr val="D99A2B"/>
              </a:solidFill>
              <a:effectLst/>
            </c:spPr>
          </c:dPt>
          <c:dPt>
            <c:idx val="2"/>
            <c:invertIfNegative val="0"/>
            <c:bubble3D val="0"/>
            <c:spPr>
              <a:solidFill>
                <a:srgbClr val="B5462F"/>
              </a:solidFill>
              <a:effectLst/>
            </c:spPr>
          </c:dPt>
          <c:cat>
            <c:multiLvlStrRef>
              <c:f>Sheet1!$A$2:$A$4</c:f>
              <c:multiLvlStrCache>
                <c:ptCount val="3"/>
                <c:lvl>
                  <c:pt idx="0">
                    <c:v>Tetap 20 th</c:v>
                  </c:pt>
                  <c:pt idx="1">
                    <c:v>PKS tutup th 8, set dipindah</c:v>
                  </c:pt>
                  <c:pt idx="2">
                    <c:v>PKS tutup th 8, aset terdampar</c:v>
                  </c:pt>
                </c:lvl>
              </c:multiLvlStrCache>
            </c:multiLvlStrRef>
          </c:cat>
          <c:val>
            <c:numRef>
              <c:f>Sheet1!$B$2:$B$4</c:f>
              <c:numCache>
                <c:formatCode>General</c:formatCode>
                <c:ptCount val="3"/>
                <c:pt idx="0">
                  <c:v>0.6833537257154244</c:v>
                </c:pt>
                <c:pt idx="1">
                  <c:v>0.19890777946091567</c:v>
                </c:pt>
                <c:pt idx="2">
                  <c:v>-0.8378491818792938</c:v>
                </c:pt>
              </c:numCache>
            </c:numRef>
          </c:val>
        </c:ser>
        <c:dLbls>
          <c:numFmt formatCode="0.0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2"/>
          <c:min val="-1.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4E3D"/>
                </a:solidFill>
                <a:latin typeface="+mn-lt"/>
              </a:defRPr>
            </a:pPr>
            <a:r>
              <a:rPr sz="1100" b="0" i="0" u="none" strike="noStrike">
                <a:solidFill>
                  <a:srgbClr val="1F4E3D"/>
                </a:solidFill>
                <a:latin typeface="+mn-lt"/>
              </a:rPr>
              <a:t>Porsi pendapatan 20 th</a:t>
            </a:r>
          </a:p>
        </c:rich>
      </c:tx>
      <c:layout/>
      <c:overlay val="0"/>
    </c:title>
    <c:autoTitleDeleted val="0"/>
    <c:plotArea>
      <c:layout/>
      <c:doughnutChart>
        <c:varyColors val="1"/>
        <c:ser>
          <c:idx val="0"/>
          <c:order val="0"/>
          <c:tx>
            <c:strRef>
              <c:f>Sheet1!$B$1</c:f>
              <c:strCache>
                <c:ptCount val="1"/>
                <c:pt idx="0">
                  <c:v>Pendapatan</c:v>
                </c:pt>
              </c:strCache>
            </c:strRef>
          </c:tx>
          <c:spPr>
            <a:solidFill>
              <a:schemeClr val="accent1"/>
            </a:solidFill>
            <a:ln w="9525" cap="flat">
              <a:solidFill>
                <a:srgbClr val="F9F9F9"/>
              </a:solidFill>
              <a:prstDash val="solid"/>
              <a:round/>
            </a:ln>
            <a:effectLst/>
          </c:spPr>
          <c:dPt>
            <c:idx val="0"/>
            <c:bubble3D val="0"/>
            <c:spPr>
              <a:solidFill>
                <a:srgbClr val="2E7D6B"/>
              </a:solidFill>
              <a:effectLst/>
            </c:spPr>
          </c:dPt>
          <c:dPt>
            <c:idx val="1"/>
            <c:bubble3D val="0"/>
            <c:spPr>
              <a:solidFill>
                <a:srgbClr val="D99A2B"/>
              </a:solidFill>
              <a:effectLst/>
            </c:spPr>
          </c:dPt>
          <c:dPt>
            <c:idx val="2"/>
            <c:bubble3D val="0"/>
            <c:spPr>
              <a:solidFill>
                <a:srgbClr val="4E87A0"/>
              </a:solidFill>
              <a:effectLst/>
            </c:spPr>
          </c:dPt>
          <c:dLbls>
            <c:dLbl>
              <c:idx val="0"/>
              <c:numFmt formatCode="0%" sourceLinked="0"/>
              <c:spPr/>
              <c:txPr>
                <a:bodyPr/>
                <a:lstStyle/>
                <a:p>
                  <a:pPr>
                    <a:defRPr sz="10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Listrik (PKS + PLN)</c:v>
                </c:pt>
                <c:pt idx="1">
                  <c:v>Jasa POME</c:v>
                </c:pt>
                <c:pt idx="2">
                  <c:v>Karbon</c:v>
                </c:pt>
              </c:strCache>
            </c:strRef>
          </c:cat>
          <c:val>
            <c:numRef>
              <c:f>Sheet1!$B$2:$B$4</c:f>
              <c:numCache>
                <c:ptCount val="3"/>
                <c:pt idx="0">
                  <c:v>70.17196130034506</c:v>
                </c:pt>
                <c:pt idx="1">
                  <c:v>24.726984662955868</c:v>
                </c:pt>
                <c:pt idx="2">
                  <c:v>5.10105403669908</c:v>
                </c:pt>
              </c:numCache>
            </c:numRef>
          </c:val>
        </c:ser>
        <c:firstSliceAng val="0"/>
        <c:holeSize val="55"/>
      </c:doughnutChart>
      <c:spPr>
        <a:noFill/>
        <a:ln>
          <a:noFill/>
        </a:ln>
        <a:effectLst/>
      </c:spPr>
    </c:plotArea>
    <c:legend>
      <c:legendPos val="b"/>
      <c:overlay val="0"/>
      <c:txPr>
        <a:bodyPr/>
        <a:lstStyle/>
        <a:p>
          <a:pPr>
            <a:defRPr sz="95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4E3D"/>
                </a:solidFill>
                <a:latin typeface="+mn-lt"/>
              </a:defRPr>
            </a:pPr>
            <a:r>
              <a:rPr sz="1100" b="0" i="0" u="none" strike="noStrike">
                <a:solidFill>
                  <a:srgbClr val="1F4E3D"/>
                </a:solidFill>
                <a:latin typeface="+mn-lt"/>
              </a:rPr>
              <a:t>NPV per skenario (USD juta)</a:t>
            </a:r>
          </a:p>
        </c:rich>
      </c:tx>
      <c:layout/>
      <c:overlay val="0"/>
    </c:title>
    <c:autoTitleDeleted val="0"/>
    <c:plotArea>
      <c:layout/>
      <c:barChart>
        <c:barDir val="bar"/>
        <c:grouping val="clustered"/>
        <c:varyColors val="0"/>
        <c:ser>
          <c:idx val="0"/>
          <c:order val="0"/>
          <c:tx>
            <c:strRef>
              <c:f>Sheet1!$B$1</c:f>
              <c:strCache>
                <c:ptCount val="1"/>
                <c:pt idx="0">
                  <c:v>NPV</c:v>
                </c:pt>
              </c:strCache>
            </c:strRef>
          </c:tx>
          <c:spPr>
            <a:solidFill>
              <a:srgbClr val="2E7D6B"/>
            </a:solidFill>
            <a:effectLst/>
          </c:spPr>
          <c:invertIfNegative val="0"/>
          <c:dLbls>
            <c:numFmt formatCode="0.0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2E7D6B"/>
              </a:solidFill>
              <a:effectLst/>
            </c:spPr>
          </c:dPt>
          <c:dPt>
            <c:idx val="1"/>
            <c:invertIfNegative val="0"/>
            <c:bubble3D val="0"/>
            <c:spPr>
              <a:solidFill>
                <a:srgbClr val="B5462F"/>
              </a:solidFill>
              <a:effectLst/>
            </c:spPr>
          </c:dPt>
          <c:dPt>
            <c:idx val="2"/>
            <c:invertIfNegative val="0"/>
            <c:bubble3D val="0"/>
            <c:spPr>
              <a:solidFill>
                <a:srgbClr val="B5462F"/>
              </a:solidFill>
              <a:effectLst/>
            </c:spPr>
          </c:dPt>
          <c:dPt>
            <c:idx val="3"/>
            <c:invertIfNegative val="0"/>
            <c:bubble3D val="0"/>
            <c:spPr>
              <a:solidFill>
                <a:srgbClr val="2E7D6B"/>
              </a:solidFill>
              <a:effectLst/>
            </c:spPr>
          </c:dPt>
          <c:dPt>
            <c:idx val="4"/>
            <c:invertIfNegative val="0"/>
            <c:bubble3D val="0"/>
            <c:spPr>
              <a:solidFill>
                <a:srgbClr val="2E7D6B"/>
              </a:solidFill>
              <a:effectLst/>
            </c:spPr>
          </c:dPt>
          <c:dPt>
            <c:idx val="5"/>
            <c:invertIfNegative val="0"/>
            <c:bubble3D val="0"/>
            <c:spPr>
              <a:solidFill>
                <a:srgbClr val="2E7D6B"/>
              </a:solidFill>
              <a:effectLst/>
            </c:spPr>
          </c:dPt>
          <c:dPt>
            <c:idx val="6"/>
            <c:invertIfNegative val="0"/>
            <c:bubble3D val="0"/>
            <c:spPr>
              <a:solidFill>
                <a:srgbClr val="B5462F"/>
              </a:solidFill>
              <a:effectLst/>
            </c:spPr>
          </c:dPt>
          <c:dPt>
            <c:idx val="7"/>
            <c:invertIfNegative val="0"/>
            <c:bubble3D val="0"/>
            <c:spPr>
              <a:solidFill>
                <a:srgbClr val="2E7D6B"/>
              </a:solidFill>
              <a:effectLst/>
            </c:spPr>
          </c:dPt>
          <c:cat>
            <c:multiLvlStrRef>
              <c:f>Sheet1!$A$2:$A$9</c:f>
              <c:multiLvlStrCache>
                <c:ptCount val="8"/>
                <c:lvl>
                  <c:pt idx="0">
                    <c:v>Dasar S3</c:v>
                  </c:pt>
                  <c:pt idx="1">
                    <c:v>Tanpa fee POME</c:v>
                  </c:pt>
                  <c:pt idx="2">
                    <c:v>PKS terhubung PLN (S1)</c:v>
                  </c:pt>
                  <c:pt idx="3">
                    <c:v>Karbon USD 8,3/t</c:v>
                  </c:pt>
                  <c:pt idx="4">
                    <c:v>Relokasi th-11</c:v>
                  </c:pt>
                  <c:pt idx="5">
                    <c:v>Unit ke-10</c:v>
                  </c:pt>
                  <c:pt idx="6">
                    <c:v>Set 30 t/jam</c:v>
                  </c:pt>
                  <c:pt idx="7">
                    <c:v>Set 60 t/jam</c:v>
                  </c:pt>
                </c:lvl>
              </c:multiLvlStrCache>
            </c:multiLvlStrRef>
          </c:cat>
          <c:val>
            <c:numRef>
              <c:f>Sheet1!$B$2:$B$9</c:f>
              <c:numCache>
                <c:formatCode>General</c:formatCode>
                <c:ptCount val="8"/>
                <c:pt idx="0">
                  <c:v>0.6833537257154244</c:v>
                </c:pt>
                <c:pt idx="1">
                  <c:v>-1.0302559331978434</c:v>
                </c:pt>
                <c:pt idx="2">
                  <c:v>-0.8047310521045422</c:v>
                </c:pt>
                <c:pt idx="3">
                  <c:v>1.0087512698443855</c:v>
                </c:pt>
                <c:pt idx="4">
                  <c:v>0.7093975614115016</c:v>
                </c:pt>
                <c:pt idx="5">
                  <c:v>1.4100297321016306</c:v>
                </c:pt>
                <c:pt idx="6">
                  <c:v>-0.28098897685810725</c:v>
                </c:pt>
                <c:pt idx="7">
                  <c:v>1.580216797938611</c:v>
                </c:pt>
              </c:numCache>
            </c:numRef>
          </c:val>
        </c:ser>
        <c:dLbls>
          <c:numFmt formatCode="0.00" sourceLinked="0"/>
          <c:txPr>
            <a:bodyPr/>
            <a:lstStyle/>
            <a:p>
              <a:pPr>
                <a:defRPr b="0" i="0" strike="noStrike" sz="9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2.2"/>
          <c:min val="-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Kami menawarkan pengolahan POME sebagai layanan (BOO): kami membangun, memiliki dan mengoperasikan set biogas di PKS, PKS membayar jasa per ton TBS dan membeli listrik lebih murah dari solarnya. Empat angka kunci: PKS hemat 21% tanpa capex, 24.025 tCO2e/th dihindari, IRR proyek 12,2%. Gambar adalah model 3D dari desain kami.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Empat akar masalah: kolam terbuka, ketergantungan solar, capex dan risiko PLTBg milik PKS, serta regulasi yang mengetat. Inti masalah: POME menjadi biaya dan emisi. Untuk PKS 45 t/jam yang bergantung solar, biaya status quo USD 4,30/t TBS atau USD 871 ribu per tahun, dan kolam melepas 25.093 tCO2e/th.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Alur: POME dari fat pit diolah awal, masuk 3 reaktor kontak termofilik, lalu degasser vakum dan settler lamella; lumpur dikembalikan ke reaktor. Biogas dibersihkan dari H2S, ditampung, lalu dibakar di 2 genset 600 kWe. Listrik dipakai PKS menggantikan solar, sisanya diekspor ke PLN.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Inovasi. Empat keunggulan: reaktor kecil, dapat dipindah, model layanan, tiga aliran nilai. Matriks pesaing menilai 7 opsi pada 7 kriteria berbobot; kami 3,71 dan biometana BOOT 3,67, tetapi biometana butuh investasi jauh lebih besar per PKS. Grafik kiri bawah menunjukkan mengapa relokasi penting bagi pemberi pinjaman.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Pasar. Corong bottom-up: 1 set per PKS, pendapatan rata-rata 20 tahun. TAM 1.009 set, SAM 159 PKS bergantung solar, SOM 15 set pada 2034. Tabel segmen membuktikan secara jujur bahwa PKS yang sudah terhubung PLN bukan pasar pertama kami.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bisnis. Kiri: biaya POME bagi PKS untuk empat opsi. Kolam tertutup dan tangki milik PKS lebih murah di atas kertas, tetapi butuh capex USD 2,6-3,0 juta dan PKS menanggung risiko kinerja. Layanan kami USD 3,40/t, 21% di bawah status quo. Jembatan menunjukkan dari mana penghematan berasal: solar yang dihindari.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Keuangan. Delapan indikator kunci dari model Excel dengan rumus hidup. Arus kas kumulatif kembali positif tahun ke-6,4. Grafik skenario menunjukkan proyek bergantung pada fee POME dan penggantian solar, dan membaik dengan kurva belajar serta tier 60 t/jam.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Dampak. Lingkungan: 24.025 tCO2e/th per set dengan metodologi AMS-III.H dan faktor ketidakpastian 0,89. Energi: 5,27 GWh neto. Ekonomi: PKS hemat USD 183 ribu per tahun. Sosial: 10 pekerjaan lokal per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Skalabilitas. Desain modular: satu ukuran tangki dipakai untuk tiga tier PKS. Rencana armada 15 set pada 2034 dengan puncak pendanaan USD 40,9 juta. Peta jalan dimulai dengan pilot dan FID di PKS bergantung solar.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Enam risiko utama dan mitigasinya, jawaban atas empat kriteria penilaian, dan kebutuhan kami: PKS mitra pilot, pendanaan set pertama dan pendampingan izin.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1234440"/>
            <a:ext cx="576072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9464040" y="164592"/>
            <a:ext cx="2331720" cy="384048"/>
          </a:xfrm>
          <a:prstGeom prst="rect">
            <a:avLst/>
          </a:prstGeom>
          <a:noFill/>
          <a:ln/>
        </p:spPr>
        <p:txBody>
          <a:bodyPr wrap="square" lIns="0" tIns="0" rIns="0" bIns="0" rtlCol="0" anchor="ctr"/>
          <a:lstStyle/>
          <a:p>
            <a:pPr algn="r" indent="0" marL="0">
              <a:buNone/>
            </a:pPr>
            <a:r>
              <a:rPr lang="en-US" sz="900" dirty="0">
                <a:solidFill>
                  <a:schemeClr val="accent6"/>
                </a:solidFill>
              </a:rPr>
              <a:t>EIC 2026  |  Business Plan</a:t>
            </a:r>
            <a:endParaRPr lang="en-US" sz="900" dirty="0"/>
          </a:p>
          <a:p>
            <a:pPr algn="r" indent="0" marL="0">
              <a:buNone/>
            </a:pPr>
            <a:r>
              <a:rPr lang="en-US" sz="900" dirty="0">
                <a:solidFill>
                  <a:schemeClr val="accent6"/>
                </a:solidFill>
              </a:rPr>
              <a:t>Subtema 3: Ekonomi Sirkular</a:t>
            </a:r>
            <a:endParaRPr lang="en-US" sz="900" dirty="0"/>
          </a:p>
        </p:txBody>
      </p:sp>
      <p:sp>
        <p:nvSpPr>
          <p:cNvPr id="3" name="Text 1"/>
          <p:cNvSpPr/>
          <p:nvPr>
            <p:ph idx="101" type="body" hasCustomPrompt="1"/>
          </p:nvPr>
        </p:nvSpPr>
        <p:spPr>
          <a:xfrm>
            <a:off x="411480" y="182880"/>
            <a:ext cx="8686800" cy="237744"/>
          </a:xfrm>
          <a:prstGeom prst="rect">
            <a:avLst/>
          </a:prstGeom>
          <a:noFill/>
          <a:ln/>
        </p:spPr>
        <p:txBody>
          <a:bodyPr wrap="square" rtlCol="0"/>
          <a:lstStyle>
            <a:lvl1pPr indent="0" marL="0">
              <a:buNone/>
              <a:defRPr lang="en-US" sz="1100" b="1"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411480" y="420624"/>
            <a:ext cx="11338560" cy="786384"/>
          </a:xfrm>
          <a:prstGeom prst="rect">
            <a:avLst/>
          </a:prstGeom>
          <a:noFill/>
          <a:ln/>
        </p:spPr>
        <p:txBody>
          <a:bodyPr wrap="square" rtlCol="0"/>
          <a:lstStyle>
            <a:lvl1pPr algn="l" indent="0" marL="0">
              <a:buNone/>
              <a:defRPr lang="en-US" sz="2100" b="1" dirty="0">
                <a:solidFill>
                  <a:schemeClr val="tx2"/>
                </a:solidFill>
              </a:defRPr>
            </a:lvl1pPr>
          </a:lstStyle>
          <a:p>
            <a:pPr algn="l" indent="0" marL="0">
              <a:buNone/>
            </a:pPr>
            <a:endParaRPr lang="en-US" sz="2100" dirty="0"/>
          </a:p>
        </p:txBody>
      </p:sp>
      <p:sp>
        <p:nvSpPr>
          <p:cNvPr id="25" name="Slide Number Placeholder 0"/>
          <p:cNvSpPr>
            <a:spLocks noGrp="1"/>
          </p:cNvSpPr>
          <p:nvPr>
            <p:ph type="sldNum" sz="quarter" idx="4294967295"/>
          </p:nvPr>
        </p:nvSpPr>
        <p:spPr>
          <a:xfrm>
            <a:off x="1138428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ct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3-1.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1"/>
          <p:cNvSpPr txBox="1"/>
          <p:nvPr/>
        </p:nvSpPr>
        <p:spPr>
          <a:xfrm>
            <a:off x="502920" y="457200"/>
            <a:ext cx="5852160" cy="274320"/>
          </a:xfrm>
          <a:prstGeom prst="rect">
            <a:avLst/>
          </a:prstGeom>
          <a:noFill/>
          <a:ln/>
        </p:spPr>
        <p:txBody>
          <a:bodyPr wrap="square" lIns="0" tIns="0" rIns="0" bIns="0" rtlCol="0" anchor="ctr"/>
          <a:lstStyle/>
          <a:p>
            <a:pPr indent="0" marL="0">
              <a:buNone/>
            </a:pPr>
            <a:r>
              <a:rPr lang="en-US" sz="1100" b="1" dirty="0">
                <a:solidFill>
                  <a:schemeClr val="accent2"/>
                </a:solidFill>
              </a:rPr>
              <a:t>EIC 2026  |  Business Plan  |  Subtema 3: Ekonomi Sirkular</a:t>
            </a:r>
            <a:endParaRPr lang="en-US" sz="1100" dirty="0"/>
          </a:p>
        </p:txBody>
      </p:sp>
      <p:sp>
        <p:nvSpPr>
          <p:cNvPr id="3" name="Text 0"/>
          <p:cNvSpPr/>
          <p:nvPr>
            <p:ph idx="100" type="title" hasCustomPrompt="1"/>
          </p:nvPr>
        </p:nvSpPr>
        <p:spPr>
          <a:xfrm>
            <a:off x="502920" y="1234440"/>
            <a:ext cx="5760720" cy="1371600"/>
          </a:xfrm>
          <a:prstGeom prst="rect">
            <a:avLst/>
          </a:prstGeom>
          <a:noFill/>
          <a:ln/>
        </p:spPr>
        <p:txBody>
          <a:bodyPr wrap="square" lIns="0" tIns="0" rIns="0" bIns="0" rtlCol="0" anchor="t"/>
          <a:lstStyle/>
          <a:p>
            <a:pPr algn="l" indent="0" marL="0">
              <a:buNone/>
            </a:pPr>
            <a:r>
              <a:rPr lang="en-US" sz="3800" b="1" dirty="0">
                <a:solidFill>
                  <a:schemeClr val="bg1"/>
                </a:solidFill>
              </a:rPr>
              <a:t>Biogas-as-a-Service untuk Pabrik Kelapa Sawit</a:t>
            </a:r>
            <a:endParaRPr lang="en-US" sz="3800" dirty="0"/>
          </a:p>
        </p:txBody>
      </p:sp>
      <p:sp>
        <p:nvSpPr>
          <p:cNvPr id="4" name="o2"/>
          <p:cNvSpPr txBox="1"/>
          <p:nvPr/>
        </p:nvSpPr>
        <p:spPr>
          <a:xfrm>
            <a:off x="502920" y="2697480"/>
            <a:ext cx="5669280" cy="960120"/>
          </a:xfrm>
          <a:prstGeom prst="rect">
            <a:avLst/>
          </a:prstGeom>
          <a:noFill/>
          <a:ln/>
        </p:spPr>
        <p:txBody>
          <a:bodyPr wrap="square" lIns="0" tIns="0" rIns="0" bIns="0" rtlCol="0" anchor="t"/>
          <a:lstStyle/>
          <a:p>
            <a:pPr indent="0" marL="0">
              <a:buNone/>
            </a:pPr>
            <a:r>
              <a:rPr lang="en-US" sz="1350" dirty="0">
                <a:solidFill>
                  <a:schemeClr val="bg1"/>
                </a:solidFill>
              </a:rPr>
              <a:t>Set biogas kontak termofilik yang dapat dipindah. Limbah cair POME diubah menjadi listrik pengganti solar, listrik PLN dan kredit karbon, dan PKS tidak mengeluarkan modal sepeser pun.</a:t>
            </a:r>
            <a:endParaRPr lang="en-US" sz="1350" dirty="0"/>
          </a:p>
        </p:txBody>
      </p:sp>
      <p:sp>
        <p:nvSpPr>
          <p:cNvPr id="5" name="o3"/>
          <p:cNvSpPr/>
          <p:nvPr/>
        </p:nvSpPr>
        <p:spPr>
          <a:xfrm>
            <a:off x="502920" y="3840480"/>
            <a:ext cx="2743200" cy="841248"/>
          </a:xfrm>
          <a:prstGeom prst="roundRect">
            <a:avLst>
              <a:gd name="adj" fmla="val 6522"/>
            </a:avLst>
          </a:prstGeom>
          <a:solidFill>
            <a:schemeClr val="accent1">
              <a:alpha val="75000"/>
            </a:schemeClr>
          </a:solidFill>
          <a:ln w="12700">
            <a:solidFill>
              <a:schemeClr val="accent1"/>
            </a:solidFill>
            <a:prstDash val="solid"/>
          </a:ln>
        </p:spPr>
      </p:sp>
      <p:sp>
        <p:nvSpPr>
          <p:cNvPr id="6" name="o4"/>
          <p:cNvSpPr txBox="1"/>
          <p:nvPr/>
        </p:nvSpPr>
        <p:spPr>
          <a:xfrm>
            <a:off x="612648" y="3913632"/>
            <a:ext cx="1325880" cy="694944"/>
          </a:xfrm>
          <a:prstGeom prst="rect">
            <a:avLst/>
          </a:prstGeom>
          <a:noFill/>
          <a:ln/>
        </p:spPr>
        <p:txBody>
          <a:bodyPr wrap="square" lIns="0" tIns="0" rIns="0" bIns="0" rtlCol="0" anchor="ctr">
            <a:normAutofit/>
          </a:bodyPr>
          <a:lstStyle/>
          <a:p>
            <a:pPr indent="0" marL="0">
              <a:buNone/>
            </a:pPr>
            <a:r>
              <a:rPr lang="en-US" sz="2100" b="1" dirty="0">
                <a:solidFill>
                  <a:schemeClr val="accent2"/>
                </a:solidFill>
                <a:latin typeface="Cambria" pitchFamily="34" charset="0"/>
                <a:ea typeface="Cambria" pitchFamily="34" charset="-122"/>
                <a:cs typeface="Cambria" pitchFamily="34" charset="-120"/>
              </a:rPr>
              <a:t>21%</a:t>
            </a:r>
            <a:endParaRPr lang="en-US" sz="2100" dirty="0"/>
          </a:p>
        </p:txBody>
      </p:sp>
      <p:sp>
        <p:nvSpPr>
          <p:cNvPr id="7" name="o5"/>
          <p:cNvSpPr txBox="1"/>
          <p:nvPr/>
        </p:nvSpPr>
        <p:spPr>
          <a:xfrm>
            <a:off x="1920240" y="3913632"/>
            <a:ext cx="1280160" cy="694944"/>
          </a:xfrm>
          <a:prstGeom prst="rect">
            <a:avLst/>
          </a:prstGeom>
          <a:noFill/>
          <a:ln/>
        </p:spPr>
        <p:txBody>
          <a:bodyPr wrap="square" lIns="0" tIns="0" rIns="0" bIns="0" rtlCol="0" anchor="ctr"/>
          <a:lstStyle/>
          <a:p>
            <a:pPr indent="0" marL="0">
              <a:buNone/>
            </a:pPr>
            <a:r>
              <a:rPr lang="en-US" sz="950" dirty="0">
                <a:solidFill>
                  <a:schemeClr val="bg1"/>
                </a:solidFill>
              </a:rPr>
              <a:t>lebih murah bagi PKS</a:t>
            </a:r>
            <a:endParaRPr lang="en-US" sz="950" dirty="0"/>
          </a:p>
          <a:p>
            <a:pPr indent="0" marL="0">
              <a:buNone/>
            </a:pPr>
            <a:r>
              <a:rPr lang="en-US" sz="950" dirty="0">
                <a:solidFill>
                  <a:schemeClr val="bg1"/>
                </a:solidFill>
              </a:rPr>
              <a:t>dibanding kolam terbuka</a:t>
            </a:r>
            <a:endParaRPr lang="en-US" sz="950" dirty="0"/>
          </a:p>
        </p:txBody>
      </p:sp>
      <p:sp>
        <p:nvSpPr>
          <p:cNvPr id="8" name="o6"/>
          <p:cNvSpPr/>
          <p:nvPr/>
        </p:nvSpPr>
        <p:spPr>
          <a:xfrm>
            <a:off x="3355848" y="3840480"/>
            <a:ext cx="2743200" cy="841248"/>
          </a:xfrm>
          <a:prstGeom prst="roundRect">
            <a:avLst>
              <a:gd name="adj" fmla="val 6522"/>
            </a:avLst>
          </a:prstGeom>
          <a:solidFill>
            <a:schemeClr val="accent1">
              <a:alpha val="75000"/>
            </a:schemeClr>
          </a:solidFill>
          <a:ln w="12700">
            <a:solidFill>
              <a:schemeClr val="accent1"/>
            </a:solidFill>
            <a:prstDash val="solid"/>
          </a:ln>
        </p:spPr>
      </p:sp>
      <p:sp>
        <p:nvSpPr>
          <p:cNvPr id="9" name="o7"/>
          <p:cNvSpPr txBox="1"/>
          <p:nvPr/>
        </p:nvSpPr>
        <p:spPr>
          <a:xfrm>
            <a:off x="3465576" y="3913632"/>
            <a:ext cx="1325880" cy="694944"/>
          </a:xfrm>
          <a:prstGeom prst="rect">
            <a:avLst/>
          </a:prstGeom>
          <a:noFill/>
          <a:ln/>
        </p:spPr>
        <p:txBody>
          <a:bodyPr wrap="square" lIns="0" tIns="0" rIns="0" bIns="0" rtlCol="0" anchor="ctr">
            <a:normAutofit/>
          </a:bodyPr>
          <a:lstStyle/>
          <a:p>
            <a:pPr indent="0" marL="0">
              <a:buNone/>
            </a:pPr>
            <a:r>
              <a:rPr lang="en-US" sz="2100" b="1" dirty="0">
                <a:solidFill>
                  <a:schemeClr val="accent2"/>
                </a:solidFill>
                <a:latin typeface="Cambria" pitchFamily="34" charset="0"/>
                <a:ea typeface="Cambria" pitchFamily="34" charset="-122"/>
                <a:cs typeface="Cambria" pitchFamily="34" charset="-120"/>
              </a:rPr>
              <a:t>USD 0</a:t>
            </a:r>
            <a:endParaRPr lang="en-US" sz="2100" dirty="0"/>
          </a:p>
        </p:txBody>
      </p:sp>
      <p:sp>
        <p:nvSpPr>
          <p:cNvPr id="10" name="o8"/>
          <p:cNvSpPr txBox="1"/>
          <p:nvPr/>
        </p:nvSpPr>
        <p:spPr>
          <a:xfrm>
            <a:off x="4773168" y="3913632"/>
            <a:ext cx="1280160" cy="694944"/>
          </a:xfrm>
          <a:prstGeom prst="rect">
            <a:avLst/>
          </a:prstGeom>
          <a:noFill/>
          <a:ln/>
        </p:spPr>
        <p:txBody>
          <a:bodyPr wrap="square" lIns="0" tIns="0" rIns="0" bIns="0" rtlCol="0" anchor="ctr"/>
          <a:lstStyle/>
          <a:p>
            <a:pPr indent="0" marL="0">
              <a:buNone/>
            </a:pPr>
            <a:r>
              <a:rPr lang="en-US" sz="950" dirty="0">
                <a:solidFill>
                  <a:schemeClr val="bg1"/>
                </a:solidFill>
              </a:rPr>
              <a:t>capex PKS</a:t>
            </a:r>
            <a:endParaRPr lang="en-US" sz="950" dirty="0"/>
          </a:p>
          <a:p>
            <a:pPr indent="0" marL="0">
              <a:buNone/>
            </a:pPr>
            <a:r>
              <a:rPr lang="en-US" sz="950" dirty="0">
                <a:solidFill>
                  <a:schemeClr val="bg1"/>
                </a:solidFill>
              </a:rPr>
              <a:t>(model BOO)</a:t>
            </a:r>
            <a:endParaRPr lang="en-US" sz="950" dirty="0"/>
          </a:p>
        </p:txBody>
      </p:sp>
      <p:sp>
        <p:nvSpPr>
          <p:cNvPr id="11" name="o9"/>
          <p:cNvSpPr/>
          <p:nvPr/>
        </p:nvSpPr>
        <p:spPr>
          <a:xfrm>
            <a:off x="502920" y="4800600"/>
            <a:ext cx="2743200" cy="841248"/>
          </a:xfrm>
          <a:prstGeom prst="roundRect">
            <a:avLst>
              <a:gd name="adj" fmla="val 6522"/>
            </a:avLst>
          </a:prstGeom>
          <a:solidFill>
            <a:schemeClr val="accent1">
              <a:alpha val="75000"/>
            </a:schemeClr>
          </a:solidFill>
          <a:ln w="12700">
            <a:solidFill>
              <a:schemeClr val="accent1"/>
            </a:solidFill>
            <a:prstDash val="solid"/>
          </a:ln>
        </p:spPr>
      </p:sp>
      <p:sp>
        <p:nvSpPr>
          <p:cNvPr id="12" name="o10"/>
          <p:cNvSpPr txBox="1"/>
          <p:nvPr/>
        </p:nvSpPr>
        <p:spPr>
          <a:xfrm>
            <a:off x="612648" y="4873752"/>
            <a:ext cx="1325880" cy="694944"/>
          </a:xfrm>
          <a:prstGeom prst="rect">
            <a:avLst/>
          </a:prstGeom>
          <a:noFill/>
          <a:ln/>
        </p:spPr>
        <p:txBody>
          <a:bodyPr wrap="square" lIns="0" tIns="0" rIns="0" bIns="0" rtlCol="0" anchor="ctr">
            <a:normAutofit/>
          </a:bodyPr>
          <a:lstStyle/>
          <a:p>
            <a:pPr indent="0" marL="0">
              <a:buNone/>
            </a:pPr>
            <a:r>
              <a:rPr lang="en-US" sz="2100" b="1" dirty="0">
                <a:solidFill>
                  <a:schemeClr val="accent2"/>
                </a:solidFill>
                <a:latin typeface="Cambria" pitchFamily="34" charset="0"/>
                <a:ea typeface="Cambria" pitchFamily="34" charset="-122"/>
                <a:cs typeface="Cambria" pitchFamily="34" charset="-120"/>
              </a:rPr>
              <a:t>24.025</a:t>
            </a:r>
            <a:endParaRPr lang="en-US" sz="2100" dirty="0"/>
          </a:p>
        </p:txBody>
      </p:sp>
      <p:sp>
        <p:nvSpPr>
          <p:cNvPr id="13" name="o11"/>
          <p:cNvSpPr txBox="1"/>
          <p:nvPr/>
        </p:nvSpPr>
        <p:spPr>
          <a:xfrm>
            <a:off x="1920240" y="4873752"/>
            <a:ext cx="1280160" cy="694944"/>
          </a:xfrm>
          <a:prstGeom prst="rect">
            <a:avLst/>
          </a:prstGeom>
          <a:noFill/>
          <a:ln/>
        </p:spPr>
        <p:txBody>
          <a:bodyPr wrap="square" lIns="0" tIns="0" rIns="0" bIns="0" rtlCol="0" anchor="ctr"/>
          <a:lstStyle/>
          <a:p>
            <a:pPr indent="0" marL="0">
              <a:buNone/>
            </a:pPr>
            <a:r>
              <a:rPr lang="en-US" sz="950" dirty="0">
                <a:solidFill>
                  <a:schemeClr val="bg1"/>
                </a:solidFill>
              </a:rPr>
              <a:t>tCO2e/th metana</a:t>
            </a:r>
            <a:endParaRPr lang="en-US" sz="950" dirty="0"/>
          </a:p>
          <a:p>
            <a:pPr indent="0" marL="0">
              <a:buNone/>
            </a:pPr>
            <a:r>
              <a:rPr lang="en-US" sz="950" dirty="0">
                <a:solidFill>
                  <a:schemeClr val="bg1"/>
                </a:solidFill>
              </a:rPr>
              <a:t>dihindari per set</a:t>
            </a:r>
            <a:endParaRPr lang="en-US" sz="950" dirty="0"/>
          </a:p>
        </p:txBody>
      </p:sp>
      <p:sp>
        <p:nvSpPr>
          <p:cNvPr id="14" name="o12"/>
          <p:cNvSpPr/>
          <p:nvPr/>
        </p:nvSpPr>
        <p:spPr>
          <a:xfrm>
            <a:off x="3355848" y="4800600"/>
            <a:ext cx="2743200" cy="841248"/>
          </a:xfrm>
          <a:prstGeom prst="roundRect">
            <a:avLst>
              <a:gd name="adj" fmla="val 6522"/>
            </a:avLst>
          </a:prstGeom>
          <a:solidFill>
            <a:schemeClr val="accent1">
              <a:alpha val="75000"/>
            </a:schemeClr>
          </a:solidFill>
          <a:ln w="12700">
            <a:solidFill>
              <a:schemeClr val="accent1"/>
            </a:solidFill>
            <a:prstDash val="solid"/>
          </a:ln>
        </p:spPr>
      </p:sp>
      <p:sp>
        <p:nvSpPr>
          <p:cNvPr id="15" name="o13"/>
          <p:cNvSpPr txBox="1"/>
          <p:nvPr/>
        </p:nvSpPr>
        <p:spPr>
          <a:xfrm>
            <a:off x="3465576" y="4873752"/>
            <a:ext cx="1325880" cy="694944"/>
          </a:xfrm>
          <a:prstGeom prst="rect">
            <a:avLst/>
          </a:prstGeom>
          <a:noFill/>
          <a:ln/>
        </p:spPr>
        <p:txBody>
          <a:bodyPr wrap="square" lIns="0" tIns="0" rIns="0" bIns="0" rtlCol="0" anchor="ctr">
            <a:normAutofit/>
          </a:bodyPr>
          <a:lstStyle/>
          <a:p>
            <a:pPr indent="0" marL="0">
              <a:buNone/>
            </a:pPr>
            <a:r>
              <a:rPr lang="en-US" sz="2100" b="1" dirty="0">
                <a:solidFill>
                  <a:schemeClr val="accent2"/>
                </a:solidFill>
                <a:latin typeface="Cambria" pitchFamily="34" charset="0"/>
                <a:ea typeface="Cambria" pitchFamily="34" charset="-122"/>
                <a:cs typeface="Cambria" pitchFamily="34" charset="-120"/>
              </a:rPr>
              <a:t>12,2%</a:t>
            </a:r>
            <a:endParaRPr lang="en-US" sz="2100" dirty="0"/>
          </a:p>
        </p:txBody>
      </p:sp>
      <p:sp>
        <p:nvSpPr>
          <p:cNvPr id="16" name="o14"/>
          <p:cNvSpPr txBox="1"/>
          <p:nvPr/>
        </p:nvSpPr>
        <p:spPr>
          <a:xfrm>
            <a:off x="4773168" y="4873752"/>
            <a:ext cx="1280160" cy="694944"/>
          </a:xfrm>
          <a:prstGeom prst="rect">
            <a:avLst/>
          </a:prstGeom>
          <a:noFill/>
          <a:ln/>
        </p:spPr>
        <p:txBody>
          <a:bodyPr wrap="square" lIns="0" tIns="0" rIns="0" bIns="0" rtlCol="0" anchor="ctr"/>
          <a:lstStyle/>
          <a:p>
            <a:pPr indent="0" marL="0">
              <a:buNone/>
            </a:pPr>
            <a:r>
              <a:rPr lang="en-US" sz="950" dirty="0">
                <a:solidFill>
                  <a:schemeClr val="bg1"/>
                </a:solidFill>
              </a:rPr>
              <a:t>IRR proyek</a:t>
            </a:r>
            <a:endParaRPr lang="en-US" sz="950" dirty="0"/>
          </a:p>
          <a:p>
            <a:pPr indent="0" marL="0">
              <a:buNone/>
            </a:pPr>
            <a:r>
              <a:rPr lang="en-US" sz="950" dirty="0">
                <a:solidFill>
                  <a:schemeClr val="bg1"/>
                </a:solidFill>
              </a:rPr>
              <a:t>(WACC 9,7%)</a:t>
            </a:r>
            <a:endParaRPr lang="en-US" sz="950" dirty="0"/>
          </a:p>
        </p:txBody>
      </p:sp>
      <p:sp>
        <p:nvSpPr>
          <p:cNvPr id="17" name="o15"/>
          <p:cNvSpPr txBox="1"/>
          <p:nvPr/>
        </p:nvSpPr>
        <p:spPr>
          <a:xfrm>
            <a:off x="502920" y="5989320"/>
            <a:ext cx="5760720" cy="274320"/>
          </a:xfrm>
          <a:prstGeom prst="rect">
            <a:avLst/>
          </a:prstGeom>
          <a:noFill/>
          <a:ln/>
        </p:spPr>
        <p:txBody>
          <a:bodyPr wrap="square" lIns="0" tIns="0" rIns="0" bIns="0" rtlCol="0" anchor="ctr"/>
          <a:lstStyle/>
          <a:p>
            <a:pPr indent="0" marL="0">
              <a:buNone/>
            </a:pPr>
            <a:r>
              <a:rPr lang="en-US" sz="1000" dirty="0">
                <a:solidFill>
                  <a:schemeClr val="bg2"/>
                </a:solidFill>
              </a:rPr>
              <a:t>Tim: [Nama tim]    Universitas: [Universitas]    Dosen pembimbing: [Nama]</a:t>
            </a:r>
            <a:endParaRPr lang="en-US" sz="1000" dirty="0"/>
          </a:p>
        </p:txBody>
      </p:sp>
      <p:sp>
        <p:nvSpPr>
          <p:cNvPr id="18" name="o16"/>
          <p:cNvSpPr/>
          <p:nvPr/>
        </p:nvSpPr>
        <p:spPr>
          <a:xfrm>
            <a:off x="6446520" y="502920"/>
            <a:ext cx="5349240" cy="5806440"/>
          </a:xfrm>
          <a:prstGeom prst="roundRect">
            <a:avLst>
              <a:gd name="adj" fmla="val 1368"/>
            </a:avLst>
          </a:prstGeom>
          <a:solidFill>
            <a:schemeClr val="bg1"/>
          </a:solidFill>
          <a:ln w="12700">
            <a:solidFill>
              <a:schemeClr val="bg1"/>
            </a:solidFill>
            <a:prstDash val="solid"/>
          </a:ln>
        </p:spPr>
      </p:sp>
      <p:pic>
        <p:nvPicPr>
          <p:cNvPr id="19" name="o17" descr="/home/user/aspebindo/cad/out/render/DIORAMA_produk.png">    </p:cNvPr>
          <p:cNvPicPr>
            <a:picLocks noChangeAspect="1"/>
          </p:cNvPicPr>
          <p:nvPr/>
        </p:nvPicPr>
        <p:blipFill>
          <a:blip r:embed="rId1"/>
          <a:stretch>
            <a:fillRect/>
          </a:stretch>
        </p:blipFill>
        <p:spPr>
          <a:xfrm>
            <a:off x="6537960" y="594360"/>
            <a:ext cx="4876800" cy="2743200"/>
          </a:xfrm>
          <a:prstGeom prst="rect">
            <a:avLst/>
          </a:prstGeom>
        </p:spPr>
      </p:pic>
      <p:pic>
        <p:nvPicPr>
          <p:cNvPr id="20" name="o18" descr="/home/user/aspebindo/cad/out/render/DIORAMA_lokasi.png">    </p:cNvPr>
          <p:cNvPicPr>
            <a:picLocks noChangeAspect="1"/>
          </p:cNvPicPr>
          <p:nvPr/>
        </p:nvPicPr>
        <p:blipFill>
          <a:blip r:embed="rId2"/>
          <a:stretch>
            <a:fillRect/>
          </a:stretch>
        </p:blipFill>
        <p:spPr>
          <a:xfrm>
            <a:off x="6537960" y="3429000"/>
            <a:ext cx="4876800" cy="2743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11480" y="182880"/>
            <a:ext cx="8686800" cy="237744"/>
          </a:xfrm>
          <a:prstGeom prst="rect">
            <a:avLst/>
          </a:prstGeom>
          <a:noFill/>
          <a:ln/>
        </p:spPr>
        <p:txBody>
          <a:bodyPr wrap="square" lIns="0" tIns="0" rIns="0" bIns="0" rtlCol="0"/>
          <a:lstStyle/>
          <a:p>
            <a:pPr indent="0" marL="0">
              <a:buNone/>
            </a:pPr>
            <a:r>
              <a:rPr lang="en-US" sz="1100" b="1" dirty="0">
                <a:solidFill>
                  <a:schemeClr val="accent1"/>
                </a:solidFill>
              </a:rPr>
              <a:t>Identifikasi masalah</a:t>
            </a:r>
            <a:endParaRPr lang="en-US" sz="1100" dirty="0"/>
          </a:p>
        </p:txBody>
      </p:sp>
      <p:sp>
        <p:nvSpPr>
          <p:cNvPr id="3" name="Text 1"/>
          <p:cNvSpPr/>
          <p:nvPr>
            <p:ph idx="102" type="title" hasCustomPrompt="1"/>
          </p:nvPr>
        </p:nvSpPr>
        <p:spPr>
          <a:xfrm>
            <a:off x="411480" y="420624"/>
            <a:ext cx="11338560" cy="786384"/>
          </a:xfrm>
          <a:prstGeom prst="rect">
            <a:avLst/>
          </a:prstGeom>
          <a:noFill/>
          <a:ln/>
        </p:spPr>
        <p:txBody>
          <a:bodyPr wrap="square" lIns="0" tIns="0" rIns="0" bIns="0" rtlCol="0" anchor="t"/>
          <a:lstStyle/>
          <a:p>
            <a:pPr algn="l" indent="0" marL="0">
              <a:buNone/>
            </a:pPr>
            <a:r>
              <a:rPr lang="en-US" sz="2100" b="1" dirty="0">
                <a:solidFill>
                  <a:schemeClr val="tx2"/>
                </a:solidFill>
              </a:rPr>
              <a:t>Masalah: PKS membuang POME ke kolam terbuka, sehingga metana terlepas, solar tetap dibakar dan biaya POME USD 4,30/t TBS tidak terlihat</a:t>
            </a:r>
            <a:endParaRPr lang="en-US" sz="2100" dirty="0"/>
          </a:p>
        </p:txBody>
      </p:sp>
      <p:sp>
        <p:nvSpPr>
          <p:cNvPr id="4" name="o19"/>
          <p:cNvSpPr txBox="1"/>
          <p:nvPr/>
        </p:nvSpPr>
        <p:spPr>
          <a:xfrm>
            <a:off x="411480" y="1298448"/>
            <a:ext cx="3749040" cy="274320"/>
          </a:xfrm>
          <a:prstGeom prst="rect">
            <a:avLst/>
          </a:prstGeom>
          <a:noFill/>
          <a:ln/>
        </p:spPr>
        <p:txBody>
          <a:bodyPr wrap="square" lIns="0" tIns="0" rIns="0" bIns="0" rtlCol="0" anchor="ctr"/>
          <a:lstStyle/>
          <a:p>
            <a:pPr indent="0" marL="0">
              <a:buNone/>
            </a:pPr>
            <a:r>
              <a:rPr lang="en-US" sz="1250" b="1" dirty="0">
                <a:solidFill>
                  <a:schemeClr val="tx2"/>
                </a:solidFill>
              </a:rPr>
              <a:t>Akar masalah</a:t>
            </a:r>
            <a:endParaRPr lang="en-US" sz="1250" dirty="0"/>
          </a:p>
        </p:txBody>
      </p:sp>
      <p:sp>
        <p:nvSpPr>
          <p:cNvPr id="5" name="o20"/>
          <p:cNvSpPr/>
          <p:nvPr/>
        </p:nvSpPr>
        <p:spPr>
          <a:xfrm>
            <a:off x="411480" y="1627632"/>
            <a:ext cx="3749040" cy="896112"/>
          </a:xfrm>
          <a:prstGeom prst="roundRect">
            <a:avLst>
              <a:gd name="adj" fmla="val 6122"/>
            </a:avLst>
          </a:prstGeom>
          <a:solidFill>
            <a:schemeClr val="bg1"/>
          </a:solidFill>
          <a:ln w="15875">
            <a:solidFill>
              <a:schemeClr val="accent3"/>
            </a:solidFill>
            <a:prstDash val="solid"/>
          </a:ln>
        </p:spPr>
      </p:sp>
      <p:sp>
        <p:nvSpPr>
          <p:cNvPr id="6" name="o21"/>
          <p:cNvSpPr txBox="1"/>
          <p:nvPr/>
        </p:nvSpPr>
        <p:spPr>
          <a:xfrm>
            <a:off x="521208" y="1691640"/>
            <a:ext cx="3529584" cy="274320"/>
          </a:xfrm>
          <a:prstGeom prst="rect">
            <a:avLst/>
          </a:prstGeom>
          <a:noFill/>
          <a:ln/>
        </p:spPr>
        <p:txBody>
          <a:bodyPr wrap="square" lIns="0" tIns="0" rIns="0" bIns="0" rtlCol="0" anchor="t"/>
          <a:lstStyle/>
          <a:p>
            <a:pPr indent="0" marL="0">
              <a:buNone/>
            </a:pPr>
            <a:r>
              <a:rPr lang="en-US" sz="1200" b="1" dirty="0">
                <a:solidFill>
                  <a:schemeClr val="accent3"/>
                </a:solidFill>
              </a:rPr>
              <a:t>Kolam terbuka melepas metana</a:t>
            </a:r>
            <a:endParaRPr lang="en-US" sz="1200" dirty="0"/>
          </a:p>
        </p:txBody>
      </p:sp>
      <p:sp>
        <p:nvSpPr>
          <p:cNvPr id="7" name="o22"/>
          <p:cNvSpPr txBox="1"/>
          <p:nvPr/>
        </p:nvSpPr>
        <p:spPr>
          <a:xfrm>
            <a:off x="521208" y="1975104"/>
            <a:ext cx="3529584" cy="484632"/>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Hanya ~10% PKS di Indonesia menangkap metana (Malaysia 38%). ~1.150 PKS masih memakai kolam terbuka.</a:t>
            </a:r>
            <a:endParaRPr lang="en-US" sz="1000" dirty="0"/>
          </a:p>
        </p:txBody>
      </p:sp>
      <p:sp>
        <p:nvSpPr>
          <p:cNvPr id="8" name="o23"/>
          <p:cNvSpPr/>
          <p:nvPr/>
        </p:nvSpPr>
        <p:spPr>
          <a:xfrm>
            <a:off x="411480" y="2615184"/>
            <a:ext cx="3749040" cy="896112"/>
          </a:xfrm>
          <a:prstGeom prst="roundRect">
            <a:avLst>
              <a:gd name="adj" fmla="val 6122"/>
            </a:avLst>
          </a:prstGeom>
          <a:solidFill>
            <a:schemeClr val="bg1"/>
          </a:solidFill>
          <a:ln w="15875">
            <a:solidFill>
              <a:schemeClr val="accent3"/>
            </a:solidFill>
            <a:prstDash val="solid"/>
          </a:ln>
        </p:spPr>
      </p:sp>
      <p:sp>
        <p:nvSpPr>
          <p:cNvPr id="9" name="o24"/>
          <p:cNvSpPr txBox="1"/>
          <p:nvPr/>
        </p:nvSpPr>
        <p:spPr>
          <a:xfrm>
            <a:off x="521208" y="2679192"/>
            <a:ext cx="3529584" cy="274320"/>
          </a:xfrm>
          <a:prstGeom prst="rect">
            <a:avLst/>
          </a:prstGeom>
          <a:noFill/>
          <a:ln/>
        </p:spPr>
        <p:txBody>
          <a:bodyPr wrap="square" lIns="0" tIns="0" rIns="0" bIns="0" rtlCol="0" anchor="t"/>
          <a:lstStyle/>
          <a:p>
            <a:pPr indent="0" marL="0">
              <a:buNone/>
            </a:pPr>
            <a:r>
              <a:rPr lang="en-US" sz="1200" b="1" dirty="0">
                <a:solidFill>
                  <a:schemeClr val="accent3"/>
                </a:solidFill>
              </a:rPr>
              <a:t>Listrik masih dari solar</a:t>
            </a:r>
            <a:endParaRPr lang="en-US" sz="1200" dirty="0"/>
          </a:p>
        </p:txBody>
      </p:sp>
      <p:sp>
        <p:nvSpPr>
          <p:cNvPr id="10" name="o25"/>
          <p:cNvSpPr txBox="1"/>
          <p:nvPr/>
        </p:nvSpPr>
        <p:spPr>
          <a:xfrm>
            <a:off x="521208" y="2962656"/>
            <a:ext cx="3529584" cy="484632"/>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PKS jauh dari jaringan memakai ~3 L solar/t TBS untuk emplasmen, bengkel dan KCP; listrik solar USD 0,37-0,39/kWh.</a:t>
            </a:r>
            <a:endParaRPr lang="en-US" sz="1000" dirty="0"/>
          </a:p>
        </p:txBody>
      </p:sp>
      <p:sp>
        <p:nvSpPr>
          <p:cNvPr id="11" name="o26"/>
          <p:cNvSpPr/>
          <p:nvPr/>
        </p:nvSpPr>
        <p:spPr>
          <a:xfrm>
            <a:off x="411480" y="3602736"/>
            <a:ext cx="3749040" cy="896112"/>
          </a:xfrm>
          <a:prstGeom prst="roundRect">
            <a:avLst>
              <a:gd name="adj" fmla="val 6122"/>
            </a:avLst>
          </a:prstGeom>
          <a:solidFill>
            <a:schemeClr val="bg1"/>
          </a:solidFill>
          <a:ln w="15875">
            <a:solidFill>
              <a:schemeClr val="accent6"/>
            </a:solidFill>
            <a:prstDash val="solid"/>
          </a:ln>
        </p:spPr>
      </p:sp>
      <p:sp>
        <p:nvSpPr>
          <p:cNvPr id="12" name="o27"/>
          <p:cNvSpPr txBox="1"/>
          <p:nvPr/>
        </p:nvSpPr>
        <p:spPr>
          <a:xfrm>
            <a:off x="521208" y="3666744"/>
            <a:ext cx="3529584" cy="274320"/>
          </a:xfrm>
          <a:prstGeom prst="rect">
            <a:avLst/>
          </a:prstGeom>
          <a:noFill/>
          <a:ln/>
        </p:spPr>
        <p:txBody>
          <a:bodyPr wrap="square" lIns="0" tIns="0" rIns="0" bIns="0" rtlCol="0" anchor="t"/>
          <a:lstStyle/>
          <a:p>
            <a:pPr indent="0" marL="0">
              <a:buNone/>
            </a:pPr>
            <a:r>
              <a:rPr lang="en-US" sz="1200" b="1" dirty="0">
                <a:solidFill>
                  <a:schemeClr val="accent6"/>
                </a:solidFill>
              </a:rPr>
              <a:t>PLTBg sendiri mahal dan berisiko</a:t>
            </a:r>
            <a:endParaRPr lang="en-US" sz="1200" dirty="0"/>
          </a:p>
        </p:txBody>
      </p:sp>
      <p:sp>
        <p:nvSpPr>
          <p:cNvPr id="13" name="o28"/>
          <p:cNvSpPr txBox="1"/>
          <p:nvPr/>
        </p:nvSpPr>
        <p:spPr>
          <a:xfrm>
            <a:off x="521208" y="3950208"/>
            <a:ext cx="3529584" cy="484632"/>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Kolam tertutup atau tangki milik PKS butuh capex USD 2,6-3,0 juta dan menanggung risiko kinerja; aset terkunci di satu lokasi.</a:t>
            </a:r>
            <a:endParaRPr lang="en-US" sz="1000" dirty="0"/>
          </a:p>
        </p:txBody>
      </p:sp>
      <p:sp>
        <p:nvSpPr>
          <p:cNvPr id="14" name="o29"/>
          <p:cNvSpPr/>
          <p:nvPr/>
        </p:nvSpPr>
        <p:spPr>
          <a:xfrm>
            <a:off x="411480" y="4590288"/>
            <a:ext cx="3749040" cy="896112"/>
          </a:xfrm>
          <a:prstGeom prst="roundRect">
            <a:avLst>
              <a:gd name="adj" fmla="val 6122"/>
            </a:avLst>
          </a:prstGeom>
          <a:solidFill>
            <a:schemeClr val="bg1"/>
          </a:solidFill>
          <a:ln w="15875">
            <a:solidFill>
              <a:schemeClr val="accent6"/>
            </a:solidFill>
            <a:prstDash val="solid"/>
          </a:ln>
        </p:spPr>
      </p:sp>
      <p:sp>
        <p:nvSpPr>
          <p:cNvPr id="15" name="o30"/>
          <p:cNvSpPr txBox="1"/>
          <p:nvPr/>
        </p:nvSpPr>
        <p:spPr>
          <a:xfrm>
            <a:off x="521208" y="4654296"/>
            <a:ext cx="3529584" cy="274320"/>
          </a:xfrm>
          <a:prstGeom prst="rect">
            <a:avLst/>
          </a:prstGeom>
          <a:noFill/>
          <a:ln/>
        </p:spPr>
        <p:txBody>
          <a:bodyPr wrap="square" lIns="0" tIns="0" rIns="0" bIns="0" rtlCol="0" anchor="t"/>
          <a:lstStyle/>
          <a:p>
            <a:pPr indent="0" marL="0">
              <a:buNone/>
            </a:pPr>
            <a:r>
              <a:rPr lang="en-US" sz="1200" b="1" dirty="0">
                <a:solidFill>
                  <a:schemeClr val="accent6"/>
                </a:solidFill>
              </a:rPr>
              <a:t>Tekanan regulasi dan pasar</a:t>
            </a:r>
            <a:endParaRPr lang="en-US" sz="1200" dirty="0"/>
          </a:p>
        </p:txBody>
      </p:sp>
      <p:sp>
        <p:nvSpPr>
          <p:cNvPr id="16" name="o31"/>
          <p:cNvSpPr txBox="1"/>
          <p:nvPr/>
        </p:nvSpPr>
        <p:spPr>
          <a:xfrm>
            <a:off x="521208" y="4937760"/>
            <a:ext cx="3529584" cy="484632"/>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ISPO wajib bagi bioenergi per Maret 2027; nilai default EU RED untuk kolam terbuka hanya hemat 20% GRK; kasus pidana POME (PT SIPP).</a:t>
            </a:r>
            <a:endParaRPr lang="en-US" sz="1000" dirty="0"/>
          </a:p>
        </p:txBody>
      </p:sp>
      <p:sp>
        <p:nvSpPr>
          <p:cNvPr id="17" name="o32"/>
          <p:cNvSpPr/>
          <p:nvPr/>
        </p:nvSpPr>
        <p:spPr>
          <a:xfrm>
            <a:off x="4343400" y="2148840"/>
            <a:ext cx="2743200" cy="2377440"/>
          </a:xfrm>
          <a:prstGeom prst="roundRect">
            <a:avLst>
              <a:gd name="adj" fmla="val 3077"/>
            </a:avLst>
          </a:prstGeom>
          <a:solidFill>
            <a:schemeClr val="accent3"/>
          </a:solidFill>
          <a:ln w="12700">
            <a:solidFill>
              <a:schemeClr val="accent3"/>
            </a:solidFill>
            <a:prstDash val="solid"/>
          </a:ln>
        </p:spPr>
      </p:sp>
      <p:sp>
        <p:nvSpPr>
          <p:cNvPr id="18" name="o33"/>
          <p:cNvSpPr txBox="1"/>
          <p:nvPr/>
        </p:nvSpPr>
        <p:spPr>
          <a:xfrm>
            <a:off x="4480560" y="2240280"/>
            <a:ext cx="2468880" cy="2194560"/>
          </a:xfrm>
          <a:prstGeom prst="rect">
            <a:avLst/>
          </a:prstGeom>
          <a:noFill/>
          <a:ln/>
        </p:spPr>
        <p:txBody>
          <a:bodyPr wrap="square" lIns="0" tIns="0" rIns="0" bIns="0" rtlCol="0" anchor="t"/>
          <a:lstStyle/>
          <a:p>
            <a:pPr indent="0" marL="0">
              <a:buNone/>
            </a:pPr>
            <a:r>
              <a:rPr lang="en-US" sz="1200" b="1" dirty="0">
                <a:solidFill>
                  <a:srgbClr val="F3F1EA"/>
                </a:solidFill>
              </a:rPr>
              <a:t>Inti masalah</a:t>
            </a:r>
            <a:endParaRPr lang="en-US" sz="1200" dirty="0"/>
          </a:p>
          <a:p>
            <a:pPr indent="0" marL="0">
              <a:buNone/>
            </a:pPr>
            <a:r>
              <a:rPr lang="en-US" sz="1700" b="1" dirty="0">
                <a:solidFill>
                  <a:srgbClr val="FFFFFF"/>
                </a:solidFill>
                <a:latin typeface="Cambria" pitchFamily="34" charset="0"/>
                <a:ea typeface="Cambria" pitchFamily="34" charset="-122"/>
                <a:cs typeface="Cambria" pitchFamily="34" charset="-120"/>
              </a:rPr>
              <a:t>Limbah POME menjadi biaya dan emisi, bukan sumber energi</a:t>
            </a:r>
            <a:endParaRPr lang="en-US" sz="1200" dirty="0"/>
          </a:p>
          <a:p>
            <a:pPr indent="0" marL="0">
              <a:buNone/>
            </a:pPr>
            <a:r>
              <a:rPr lang="en-US" sz="600" dirty="0">
                <a:solidFill>
                  <a:srgbClr val="000000"/>
                </a:solidFill>
              </a:rPr>
              <a:t> </a:t>
            </a:r>
            <a:endParaRPr lang="en-US" sz="1200" dirty="0"/>
          </a:p>
          <a:p>
            <a:pPr indent="0" marL="0">
              <a:buNone/>
            </a:pPr>
            <a:r>
              <a:rPr lang="en-US" sz="1050" dirty="0">
                <a:solidFill>
                  <a:srgbClr val="FFFFFF"/>
                </a:solidFill>
              </a:rPr>
              <a:t>PKS bergantung solar membayar USD 4,30/t TBS untuk solar, kolam dan risiko lingkungan (USD 871 rb/th per PKS 45 t/jam).</a:t>
            </a:r>
            <a:endParaRPr lang="en-US" sz="1200" dirty="0"/>
          </a:p>
        </p:txBody>
      </p:sp>
      <p:sp>
        <p:nvSpPr>
          <p:cNvPr id="19" name="o34"/>
          <p:cNvSpPr/>
          <p:nvPr/>
        </p:nvSpPr>
        <p:spPr>
          <a:xfrm>
            <a:off x="4133088" y="3182112"/>
            <a:ext cx="201168" cy="310896"/>
          </a:xfrm>
          <a:prstGeom prst="rightArrow">
            <a:avLst/>
          </a:prstGeom>
          <a:solidFill>
            <a:schemeClr val="accent6"/>
          </a:solidFill>
          <a:ln w="12700">
            <a:solidFill>
              <a:schemeClr val="accent6"/>
            </a:solidFill>
            <a:prstDash val="solid"/>
          </a:ln>
        </p:spPr>
      </p:sp>
      <p:sp>
        <p:nvSpPr>
          <p:cNvPr id="20" name="o35"/>
          <p:cNvSpPr/>
          <p:nvPr/>
        </p:nvSpPr>
        <p:spPr>
          <a:xfrm>
            <a:off x="7132320" y="3182112"/>
            <a:ext cx="201168" cy="310896"/>
          </a:xfrm>
          <a:prstGeom prst="rightArrow">
            <a:avLst/>
          </a:prstGeom>
          <a:solidFill>
            <a:schemeClr val="accent6"/>
          </a:solidFill>
          <a:ln w="12700">
            <a:solidFill>
              <a:schemeClr val="accent6"/>
            </a:solidFill>
            <a:prstDash val="solid"/>
          </a:ln>
        </p:spPr>
      </p:sp>
      <p:sp>
        <p:nvSpPr>
          <p:cNvPr id="21" name="o36"/>
          <p:cNvSpPr txBox="1"/>
          <p:nvPr/>
        </p:nvSpPr>
        <p:spPr>
          <a:xfrm>
            <a:off x="7406640" y="1298448"/>
            <a:ext cx="4389120" cy="274320"/>
          </a:xfrm>
          <a:prstGeom prst="rect">
            <a:avLst/>
          </a:prstGeom>
          <a:noFill/>
          <a:ln/>
        </p:spPr>
        <p:txBody>
          <a:bodyPr wrap="square" lIns="0" tIns="0" rIns="0" bIns="0" rtlCol="0" anchor="ctr"/>
          <a:lstStyle/>
          <a:p>
            <a:pPr indent="0" marL="0">
              <a:buNone/>
            </a:pPr>
            <a:r>
              <a:rPr lang="en-US" sz="1250" b="1" dirty="0">
                <a:solidFill>
                  <a:schemeClr val="tx2"/>
                </a:solidFill>
              </a:rPr>
              <a:t>Dampak per PKS 45 t TBS/jam (model kami)</a:t>
            </a:r>
            <a:endParaRPr lang="en-US" sz="1250" dirty="0"/>
          </a:p>
        </p:txBody>
      </p:sp>
      <p:sp>
        <p:nvSpPr>
          <p:cNvPr id="22" name="o37"/>
          <p:cNvSpPr/>
          <p:nvPr/>
        </p:nvSpPr>
        <p:spPr>
          <a:xfrm>
            <a:off x="7406640" y="1627632"/>
            <a:ext cx="2148840" cy="914400"/>
          </a:xfrm>
          <a:prstGeom prst="roundRect">
            <a:avLst>
              <a:gd name="adj" fmla="val 6000"/>
            </a:avLst>
          </a:prstGeom>
          <a:solidFill>
            <a:schemeClr val="bg2"/>
          </a:solidFill>
          <a:ln w="12700">
            <a:solidFill>
              <a:schemeClr val="bg2"/>
            </a:solidFill>
            <a:prstDash val="solid"/>
          </a:ln>
        </p:spPr>
      </p:sp>
      <p:sp>
        <p:nvSpPr>
          <p:cNvPr id="23" name="o38"/>
          <p:cNvSpPr txBox="1"/>
          <p:nvPr/>
        </p:nvSpPr>
        <p:spPr>
          <a:xfrm>
            <a:off x="7498080" y="1682496"/>
            <a:ext cx="1965960" cy="475488"/>
          </a:xfrm>
          <a:prstGeom prst="rect">
            <a:avLst/>
          </a:prstGeom>
          <a:noFill/>
          <a:ln/>
        </p:spPr>
        <p:txBody>
          <a:bodyPr wrap="square" lIns="0" tIns="0" rIns="0" bIns="0" rtlCol="0" anchor="b"/>
          <a:lstStyle/>
          <a:p>
            <a:pPr indent="0" marL="0">
              <a:buNone/>
            </a:pPr>
            <a:r>
              <a:rPr lang="en-US" sz="2200" b="1" dirty="0">
                <a:solidFill>
                  <a:schemeClr val="accent3"/>
                </a:solidFill>
                <a:latin typeface="Cambria" pitchFamily="34" charset="0"/>
                <a:ea typeface="Cambria" pitchFamily="34" charset="-122"/>
                <a:cs typeface="Cambria" pitchFamily="34" charset="-120"/>
              </a:rPr>
              <a:t>25.093</a:t>
            </a:r>
            <a:endParaRPr lang="en-US" sz="2200" dirty="0"/>
          </a:p>
        </p:txBody>
      </p:sp>
      <p:sp>
        <p:nvSpPr>
          <p:cNvPr id="24" name="o39"/>
          <p:cNvSpPr txBox="1"/>
          <p:nvPr/>
        </p:nvSpPr>
        <p:spPr>
          <a:xfrm>
            <a:off x="7498080" y="2157984"/>
            <a:ext cx="1965960" cy="365760"/>
          </a:xfrm>
          <a:prstGeom prst="rect">
            <a:avLst/>
          </a:prstGeom>
          <a:noFill/>
          <a:ln/>
        </p:spPr>
        <p:txBody>
          <a:bodyPr wrap="square" lIns="0" tIns="0" rIns="0" bIns="0" rtlCol="0" anchor="t"/>
          <a:lstStyle/>
          <a:p>
            <a:pPr indent="0" marL="0">
              <a:buNone/>
            </a:pPr>
            <a:r>
              <a:rPr lang="en-US" sz="950" dirty="0">
                <a:solidFill>
                  <a:schemeClr val="tx1"/>
                </a:solidFill>
              </a:rPr>
              <a:t>tCO2e/th dari kolam terbuka (AMS-III.H, GWP 28)</a:t>
            </a:r>
            <a:endParaRPr lang="en-US" sz="950" dirty="0"/>
          </a:p>
        </p:txBody>
      </p:sp>
      <p:sp>
        <p:nvSpPr>
          <p:cNvPr id="25" name="o40"/>
          <p:cNvSpPr/>
          <p:nvPr/>
        </p:nvSpPr>
        <p:spPr>
          <a:xfrm>
            <a:off x="9646920" y="1627632"/>
            <a:ext cx="2148840" cy="914400"/>
          </a:xfrm>
          <a:prstGeom prst="roundRect">
            <a:avLst>
              <a:gd name="adj" fmla="val 6000"/>
            </a:avLst>
          </a:prstGeom>
          <a:solidFill>
            <a:schemeClr val="bg2"/>
          </a:solidFill>
          <a:ln w="12700">
            <a:solidFill>
              <a:schemeClr val="bg2"/>
            </a:solidFill>
            <a:prstDash val="solid"/>
          </a:ln>
        </p:spPr>
      </p:sp>
      <p:sp>
        <p:nvSpPr>
          <p:cNvPr id="26" name="o41"/>
          <p:cNvSpPr txBox="1"/>
          <p:nvPr/>
        </p:nvSpPr>
        <p:spPr>
          <a:xfrm>
            <a:off x="9738360" y="1682496"/>
            <a:ext cx="1965960" cy="475488"/>
          </a:xfrm>
          <a:prstGeom prst="rect">
            <a:avLst/>
          </a:prstGeom>
          <a:noFill/>
          <a:ln/>
        </p:spPr>
        <p:txBody>
          <a:bodyPr wrap="square" lIns="0" tIns="0" rIns="0" bIns="0" rtlCol="0" anchor="b"/>
          <a:lstStyle/>
          <a:p>
            <a:pPr indent="0" marL="0">
              <a:buNone/>
            </a:pPr>
            <a:r>
              <a:rPr lang="en-US" sz="2200" b="1" dirty="0">
                <a:solidFill>
                  <a:schemeClr val="accent3"/>
                </a:solidFill>
                <a:latin typeface="Cambria" pitchFamily="34" charset="0"/>
                <a:ea typeface="Cambria" pitchFamily="34" charset="-122"/>
                <a:cs typeface="Cambria" pitchFamily="34" charset="-120"/>
              </a:rPr>
              <a:t>131.625</a:t>
            </a:r>
            <a:endParaRPr lang="en-US" sz="2200" dirty="0"/>
          </a:p>
        </p:txBody>
      </p:sp>
      <p:sp>
        <p:nvSpPr>
          <p:cNvPr id="27" name="o42"/>
          <p:cNvSpPr txBox="1"/>
          <p:nvPr/>
        </p:nvSpPr>
        <p:spPr>
          <a:xfrm>
            <a:off x="9738360" y="2157984"/>
            <a:ext cx="1965960" cy="365760"/>
          </a:xfrm>
          <a:prstGeom prst="rect">
            <a:avLst/>
          </a:prstGeom>
          <a:noFill/>
          <a:ln/>
        </p:spPr>
        <p:txBody>
          <a:bodyPr wrap="square" lIns="0" tIns="0" rIns="0" bIns="0" rtlCol="0" anchor="t"/>
          <a:lstStyle/>
          <a:p>
            <a:pPr indent="0" marL="0">
              <a:buNone/>
            </a:pPr>
            <a:r>
              <a:rPr lang="en-US" sz="950" dirty="0">
                <a:solidFill>
                  <a:schemeClr val="tx1"/>
                </a:solidFill>
              </a:rPr>
              <a:t>m³ POME/th (0,65 m³/t TBS)</a:t>
            </a:r>
            <a:endParaRPr lang="en-US" sz="950" dirty="0"/>
          </a:p>
        </p:txBody>
      </p:sp>
      <p:sp>
        <p:nvSpPr>
          <p:cNvPr id="28" name="o43"/>
          <p:cNvSpPr/>
          <p:nvPr/>
        </p:nvSpPr>
        <p:spPr>
          <a:xfrm>
            <a:off x="7406640" y="2633472"/>
            <a:ext cx="2148840" cy="914400"/>
          </a:xfrm>
          <a:prstGeom prst="roundRect">
            <a:avLst>
              <a:gd name="adj" fmla="val 6000"/>
            </a:avLst>
          </a:prstGeom>
          <a:solidFill>
            <a:schemeClr val="bg2"/>
          </a:solidFill>
          <a:ln w="12700">
            <a:solidFill>
              <a:schemeClr val="bg2"/>
            </a:solidFill>
            <a:prstDash val="solid"/>
          </a:ln>
        </p:spPr>
      </p:sp>
      <p:sp>
        <p:nvSpPr>
          <p:cNvPr id="29" name="o44"/>
          <p:cNvSpPr txBox="1"/>
          <p:nvPr/>
        </p:nvSpPr>
        <p:spPr>
          <a:xfrm>
            <a:off x="7498080" y="2688336"/>
            <a:ext cx="1965960" cy="475488"/>
          </a:xfrm>
          <a:prstGeom prst="rect">
            <a:avLst/>
          </a:prstGeom>
          <a:noFill/>
          <a:ln/>
        </p:spPr>
        <p:txBody>
          <a:bodyPr wrap="square" lIns="0" tIns="0" rIns="0" bIns="0" rtlCol="0" anchor="b"/>
          <a:lstStyle/>
          <a:p>
            <a:pPr indent="0" marL="0">
              <a:buNone/>
            </a:pPr>
            <a:r>
              <a:rPr lang="en-US" sz="2200" b="1" dirty="0">
                <a:solidFill>
                  <a:schemeClr val="accent3"/>
                </a:solidFill>
                <a:latin typeface="Cambria" pitchFamily="34" charset="0"/>
                <a:ea typeface="Cambria" pitchFamily="34" charset="-122"/>
                <a:cs typeface="Cambria" pitchFamily="34" charset="-120"/>
              </a:rPr>
              <a:t>≤ 15%</a:t>
            </a:r>
            <a:endParaRPr lang="en-US" sz="2200" dirty="0"/>
          </a:p>
        </p:txBody>
      </p:sp>
      <p:sp>
        <p:nvSpPr>
          <p:cNvPr id="30" name="o45"/>
          <p:cNvSpPr txBox="1"/>
          <p:nvPr/>
        </p:nvSpPr>
        <p:spPr>
          <a:xfrm>
            <a:off x="7498080" y="3163824"/>
            <a:ext cx="1965960" cy="365760"/>
          </a:xfrm>
          <a:prstGeom prst="rect">
            <a:avLst/>
          </a:prstGeom>
          <a:noFill/>
          <a:ln/>
        </p:spPr>
        <p:txBody>
          <a:bodyPr wrap="square" lIns="0" tIns="0" rIns="0" bIns="0" rtlCol="0" anchor="t"/>
          <a:lstStyle/>
          <a:p>
            <a:pPr indent="0" marL="0">
              <a:buNone/>
            </a:pPr>
            <a:r>
              <a:rPr lang="en-US" sz="950" dirty="0">
                <a:solidFill>
                  <a:schemeClr val="tx1"/>
                </a:solidFill>
              </a:rPr>
              <a:t>potensi biogas POME nasional yang dimanfaatkan</a:t>
            </a:r>
            <a:endParaRPr lang="en-US" sz="950" dirty="0"/>
          </a:p>
        </p:txBody>
      </p:sp>
      <p:sp>
        <p:nvSpPr>
          <p:cNvPr id="31" name="o46"/>
          <p:cNvSpPr/>
          <p:nvPr/>
        </p:nvSpPr>
        <p:spPr>
          <a:xfrm>
            <a:off x="9646920" y="2633472"/>
            <a:ext cx="2148840" cy="914400"/>
          </a:xfrm>
          <a:prstGeom prst="roundRect">
            <a:avLst>
              <a:gd name="adj" fmla="val 6000"/>
            </a:avLst>
          </a:prstGeom>
          <a:solidFill>
            <a:schemeClr val="bg2"/>
          </a:solidFill>
          <a:ln w="12700">
            <a:solidFill>
              <a:schemeClr val="bg2"/>
            </a:solidFill>
            <a:prstDash val="solid"/>
          </a:ln>
        </p:spPr>
      </p:sp>
      <p:sp>
        <p:nvSpPr>
          <p:cNvPr id="32" name="o47"/>
          <p:cNvSpPr txBox="1"/>
          <p:nvPr/>
        </p:nvSpPr>
        <p:spPr>
          <a:xfrm>
            <a:off x="9738360" y="2688336"/>
            <a:ext cx="1965960" cy="475488"/>
          </a:xfrm>
          <a:prstGeom prst="rect">
            <a:avLst/>
          </a:prstGeom>
          <a:noFill/>
          <a:ln/>
        </p:spPr>
        <p:txBody>
          <a:bodyPr wrap="square" lIns="0" tIns="0" rIns="0" bIns="0" rtlCol="0" anchor="b"/>
          <a:lstStyle/>
          <a:p>
            <a:pPr indent="0" marL="0">
              <a:buNone/>
            </a:pPr>
            <a:r>
              <a:rPr lang="en-US" sz="2200" b="1" dirty="0">
                <a:solidFill>
                  <a:schemeClr val="accent3"/>
                </a:solidFill>
                <a:latin typeface="Cambria" pitchFamily="34" charset="0"/>
                <a:ea typeface="Cambria" pitchFamily="34" charset="-122"/>
                <a:cs typeface="Cambria" pitchFamily="34" charset="-120"/>
              </a:rPr>
              <a:t>165 MW</a:t>
            </a:r>
            <a:endParaRPr lang="en-US" sz="2200" dirty="0"/>
          </a:p>
        </p:txBody>
      </p:sp>
      <p:sp>
        <p:nvSpPr>
          <p:cNvPr id="33" name="o48"/>
          <p:cNvSpPr txBox="1"/>
          <p:nvPr/>
        </p:nvSpPr>
        <p:spPr>
          <a:xfrm>
            <a:off x="9738360" y="3163824"/>
            <a:ext cx="1965960" cy="365760"/>
          </a:xfrm>
          <a:prstGeom prst="rect">
            <a:avLst/>
          </a:prstGeom>
          <a:noFill/>
          <a:ln/>
        </p:spPr>
        <p:txBody>
          <a:bodyPr wrap="square" lIns="0" tIns="0" rIns="0" bIns="0" rtlCol="0" anchor="t"/>
          <a:lstStyle/>
          <a:p>
            <a:pPr indent="0" marL="0">
              <a:buNone/>
            </a:pPr>
            <a:r>
              <a:rPr lang="en-US" sz="950" dirty="0">
                <a:solidFill>
                  <a:schemeClr val="tx1"/>
                </a:solidFill>
              </a:rPr>
              <a:t>PLTBg POME terpasang (84 unit) dari ~1.300 PKS</a:t>
            </a:r>
            <a:endParaRPr lang="en-US" sz="950" dirty="0"/>
          </a:p>
        </p:txBody>
      </p:sp>
      <p:graphicFrame>
        <p:nvGraphicFramePr>
          <p:cNvPr id="34" name="o49" descr=""/>
          <p:cNvGraphicFramePr/>
          <p:nvPr/>
        </p:nvGraphicFramePr>
        <p:xfrm>
          <a:off x="7406640" y="3657600"/>
          <a:ext cx="4389120" cy="1874520"/>
        </p:xfrm>
        <a:graphic xmlns:a="http://schemas.openxmlformats.org/drawingml/2006/main">
          <a:graphicData uri="http://schemas.openxmlformats.org/drawingml/2006/chart">
            <c:chart xmlns:c="http://schemas.openxmlformats.org/drawingml/2006/chart" r:id="rId1"/>
          </a:graphicData>
        </a:graphic>
      </p:graphicFrame>
      <p:sp>
        <p:nvSpPr>
          <p:cNvPr id="35" name="o50"/>
          <p:cNvSpPr txBox="1"/>
          <p:nvPr/>
        </p:nvSpPr>
        <p:spPr>
          <a:xfrm>
            <a:off x="411480" y="5669280"/>
            <a:ext cx="1325880" cy="457200"/>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rPr>
              <a:t>Kesimpulan</a:t>
            </a:r>
            <a:endParaRPr lang="en-US" sz="1200" dirty="0"/>
          </a:p>
        </p:txBody>
      </p:sp>
      <p:sp>
        <p:nvSpPr>
          <p:cNvPr id="36" name="o51"/>
          <p:cNvSpPr txBox="1"/>
          <p:nvPr/>
        </p:nvSpPr>
        <p:spPr>
          <a:xfrm>
            <a:off x="1737360" y="5669280"/>
            <a:ext cx="10058400" cy="457200"/>
          </a:xfrm>
          <a:prstGeom prst="rect">
            <a:avLst/>
          </a:prstGeom>
          <a:solidFill>
            <a:schemeClr val="bg2"/>
          </a:solidFill>
          <a:ln/>
        </p:spPr>
        <p:txBody>
          <a:bodyPr wrap="square" lIns="0" tIns="127000" rIns="127000" bIns="0" rtlCol="0" anchor="ctr"/>
          <a:lstStyle/>
          <a:p>
            <a:pPr indent="0" marL="0">
              <a:buNone/>
            </a:pPr>
            <a:r>
              <a:rPr lang="en-US" sz="1150" dirty="0">
                <a:solidFill>
                  <a:schemeClr val="tx1"/>
                </a:solidFill>
              </a:rPr>
              <a:t>Masalah POME bukan teknologi, tetapi modal dan risiko: PKS tahu metana bisa jadi listrik, tetapi tidak mau menanam USD 2,6-3,0 juta di aset yang terkunci. Kesenjangan ini terbesar di PKS yang masih membakar solar.</a:t>
            </a:r>
            <a:endParaRPr lang="en-US" sz="1150" dirty="0"/>
          </a:p>
        </p:txBody>
      </p:sp>
      <p:sp>
        <p:nvSpPr>
          <p:cNvPr id="37" name="o52"/>
          <p:cNvSpPr txBox="1"/>
          <p:nvPr/>
        </p:nvSpPr>
        <p:spPr>
          <a:xfrm>
            <a:off x="411480" y="6163056"/>
            <a:ext cx="11384280" cy="256032"/>
          </a:xfrm>
          <a:prstGeom prst="rect">
            <a:avLst/>
          </a:prstGeom>
          <a:noFill/>
          <a:ln/>
        </p:spPr>
        <p:txBody>
          <a:bodyPr wrap="square" lIns="0" tIns="0" rIns="0" bIns="0" rtlCol="0" anchor="ctr"/>
          <a:lstStyle/>
          <a:p>
            <a:pPr indent="0" marL="0">
              <a:buNone/>
            </a:pPr>
            <a:r>
              <a:rPr lang="en-US" sz="750" dirty="0">
                <a:solidFill>
                  <a:schemeClr val="accent6"/>
                </a:solidFill>
              </a:rPr>
              <a:t>Sumber: Model neraca proses dan Keputusan PKS (repo ini); IOP Environ. Res. Lett. (&lt;10% PKS ID); RTM Berita 2024 (170/446 PKS MY); PASPI/BRIN; GAPKI-EBTKE 2026; Perpres 16/2025; ISCC EU 205; Trase/SEI-PCS.</a:t>
            </a:r>
            <a:endParaRPr lang="en-US" sz="750" dirty="0"/>
          </a:p>
        </p:txBody>
      </p:sp>
      <p:sp>
        <p:nvSpPr>
          <p:cNvPr id="38" name="o53"/>
          <p:cNvSpPr txBox="1"/>
          <p:nvPr/>
        </p:nvSpPr>
        <p:spPr>
          <a:xfrm>
            <a:off x="411480" y="6473952"/>
            <a:ext cx="1188720" cy="256032"/>
          </a:xfrm>
          <a:prstGeom prst="roundRect">
            <a:avLst>
              <a:gd name="adj" fmla="val 21429"/>
            </a:avLst>
          </a:prstGeom>
          <a:solidFill>
            <a:schemeClr val="tx2"/>
          </a:solidFill>
          <a:ln>
            <a:solidFill>
              <a:schemeClr val="tx2"/>
            </a:solidFill>
          </a:ln>
        </p:spPr>
        <p:txBody>
          <a:bodyPr wrap="square" lIns="0" tIns="0" rIns="0" bIns="0" rtlCol="0" anchor="ctr"/>
          <a:lstStyle/>
          <a:p>
            <a:pPr algn="ctr" indent="0" marL="0">
              <a:buNone/>
            </a:pPr>
            <a:r>
              <a:rPr lang="en-US" sz="950" b="1" dirty="0">
                <a:solidFill>
                  <a:schemeClr val="bg1"/>
                </a:solidFill>
              </a:rPr>
              <a:t>Masalah</a:t>
            </a:r>
            <a:endParaRPr lang="en-US" sz="950" dirty="0"/>
          </a:p>
        </p:txBody>
      </p:sp>
      <p:sp>
        <p:nvSpPr>
          <p:cNvPr id="39" name="o54"/>
          <p:cNvSpPr txBox="1"/>
          <p:nvPr/>
        </p:nvSpPr>
        <p:spPr>
          <a:xfrm>
            <a:off x="163677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Solusi</a:t>
            </a:r>
            <a:endParaRPr lang="en-US" sz="950" dirty="0"/>
          </a:p>
        </p:txBody>
      </p:sp>
      <p:sp>
        <p:nvSpPr>
          <p:cNvPr id="40" name="o55"/>
          <p:cNvSpPr txBox="1"/>
          <p:nvPr/>
        </p:nvSpPr>
        <p:spPr>
          <a:xfrm>
            <a:off x="286207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Inovasi</a:t>
            </a:r>
            <a:endParaRPr lang="en-US" sz="950" dirty="0"/>
          </a:p>
        </p:txBody>
      </p:sp>
      <p:sp>
        <p:nvSpPr>
          <p:cNvPr id="41" name="o56"/>
          <p:cNvSpPr txBox="1"/>
          <p:nvPr/>
        </p:nvSpPr>
        <p:spPr>
          <a:xfrm>
            <a:off x="408736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Pasar</a:t>
            </a:r>
            <a:endParaRPr lang="en-US" sz="950" dirty="0"/>
          </a:p>
        </p:txBody>
      </p:sp>
      <p:sp>
        <p:nvSpPr>
          <p:cNvPr id="42" name="o57"/>
          <p:cNvSpPr txBox="1"/>
          <p:nvPr/>
        </p:nvSpPr>
        <p:spPr>
          <a:xfrm>
            <a:off x="5312664"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Model bisnis</a:t>
            </a:r>
            <a:endParaRPr lang="en-US" sz="950" dirty="0"/>
          </a:p>
        </p:txBody>
      </p:sp>
      <p:sp>
        <p:nvSpPr>
          <p:cNvPr id="43" name="o58"/>
          <p:cNvSpPr txBox="1"/>
          <p:nvPr/>
        </p:nvSpPr>
        <p:spPr>
          <a:xfrm>
            <a:off x="653796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Keuangan</a:t>
            </a:r>
            <a:endParaRPr lang="en-US" sz="950" dirty="0"/>
          </a:p>
        </p:txBody>
      </p:sp>
      <p:sp>
        <p:nvSpPr>
          <p:cNvPr id="44" name="o59"/>
          <p:cNvSpPr txBox="1"/>
          <p:nvPr/>
        </p:nvSpPr>
        <p:spPr>
          <a:xfrm>
            <a:off x="776325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Dampak</a:t>
            </a:r>
            <a:endParaRPr lang="en-US" sz="950" dirty="0"/>
          </a:p>
        </p:txBody>
      </p:sp>
      <p:sp>
        <p:nvSpPr>
          <p:cNvPr id="45" name="o60"/>
          <p:cNvSpPr txBox="1"/>
          <p:nvPr/>
        </p:nvSpPr>
        <p:spPr>
          <a:xfrm>
            <a:off x="898855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Skala</a:t>
            </a:r>
            <a:endParaRPr lang="en-US" sz="950" dirty="0"/>
          </a:p>
        </p:txBody>
      </p:sp>
      <p:sp>
        <p:nvSpPr>
          <p:cNvPr id="46" name="o61"/>
          <p:cNvSpPr txBox="1"/>
          <p:nvPr/>
        </p:nvSpPr>
        <p:spPr>
          <a:xfrm>
            <a:off x="1021384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Penutup</a:t>
            </a:r>
            <a:endParaRPr lang="en-US" sz="950" dirty="0"/>
          </a:p>
        </p:txBody>
      </p:sp>
      <p:sp>
        <p:nvSpPr>
          <p:cNvPr id="47" name="o62"/>
          <p:cNvSpPr/>
          <p:nvPr/>
        </p:nvSpPr>
        <p:spPr>
          <a:xfrm>
            <a:off x="11384280" y="6473952"/>
            <a:ext cx="411480" cy="256032"/>
          </a:xfrm>
          <a:prstGeom prst="roundRect">
            <a:avLst>
              <a:gd name="adj" fmla="val 21429"/>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1138428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11480" y="182880"/>
            <a:ext cx="8686800" cy="237744"/>
          </a:xfrm>
          <a:prstGeom prst="rect">
            <a:avLst/>
          </a:prstGeom>
          <a:noFill/>
          <a:ln/>
        </p:spPr>
        <p:txBody>
          <a:bodyPr wrap="square" lIns="0" tIns="0" rIns="0" bIns="0" rtlCol="0"/>
          <a:lstStyle/>
          <a:p>
            <a:pPr indent="0" marL="0">
              <a:buNone/>
            </a:pPr>
            <a:r>
              <a:rPr lang="en-US" sz="1100" b="1" dirty="0">
                <a:solidFill>
                  <a:schemeClr val="accent1"/>
                </a:solidFill>
              </a:rPr>
              <a:t>Solusi yang diusulkan</a:t>
            </a:r>
            <a:endParaRPr lang="en-US" sz="1100" dirty="0"/>
          </a:p>
        </p:txBody>
      </p:sp>
      <p:sp>
        <p:nvSpPr>
          <p:cNvPr id="3" name="Text 1"/>
          <p:cNvSpPr/>
          <p:nvPr>
            <p:ph idx="102" type="title" hasCustomPrompt="1"/>
          </p:nvPr>
        </p:nvSpPr>
        <p:spPr>
          <a:xfrm>
            <a:off x="411480" y="420624"/>
            <a:ext cx="11338560" cy="786384"/>
          </a:xfrm>
          <a:prstGeom prst="rect">
            <a:avLst/>
          </a:prstGeom>
          <a:noFill/>
          <a:ln/>
        </p:spPr>
        <p:txBody>
          <a:bodyPr wrap="square" lIns="0" tIns="0" rIns="0" bIns="0" rtlCol="0" anchor="t"/>
          <a:lstStyle/>
          <a:p>
            <a:pPr algn="l" indent="0" marL="0">
              <a:buNone/>
            </a:pPr>
            <a:r>
              <a:rPr lang="en-US" sz="2100" b="1" dirty="0">
                <a:solidFill>
                  <a:schemeClr val="tx2"/>
                </a:solidFill>
              </a:rPr>
              <a:t>Solusi: reaktor kontak termofilik 55 °C dalam 3 tangki baut GFS mengubah POME menjadi 5,27 GWh/th listrik neto bagi PKS dan PLN</a:t>
            </a:r>
            <a:endParaRPr lang="en-US" sz="2100" dirty="0"/>
          </a:p>
        </p:txBody>
      </p:sp>
      <p:sp>
        <p:nvSpPr>
          <p:cNvPr id="4" name="o63"/>
          <p:cNvSpPr txBox="1"/>
          <p:nvPr/>
        </p:nvSpPr>
        <p:spPr>
          <a:xfrm>
            <a:off x="411480" y="1298448"/>
            <a:ext cx="7269480" cy="274320"/>
          </a:xfrm>
          <a:prstGeom prst="rect">
            <a:avLst/>
          </a:prstGeom>
          <a:noFill/>
          <a:ln/>
        </p:spPr>
        <p:txBody>
          <a:bodyPr wrap="square" lIns="0" tIns="0" rIns="0" bIns="0" rtlCol="0" anchor="ctr"/>
          <a:lstStyle/>
          <a:p>
            <a:pPr indent="0" marL="0">
              <a:buNone/>
            </a:pPr>
            <a:r>
              <a:rPr lang="en-US" sz="1250" b="1" dirty="0">
                <a:solidFill>
                  <a:schemeClr val="tx2"/>
                </a:solidFill>
              </a:rPr>
              <a:t>Alur proses: jalur cairan (atas) dan jalur gas (bawah)</a:t>
            </a:r>
            <a:endParaRPr lang="en-US" sz="1250" dirty="0"/>
          </a:p>
        </p:txBody>
      </p:sp>
      <p:sp>
        <p:nvSpPr>
          <p:cNvPr id="5" name="o64"/>
          <p:cNvSpPr txBox="1"/>
          <p:nvPr/>
        </p:nvSpPr>
        <p:spPr>
          <a:xfrm>
            <a:off x="411480" y="1645920"/>
            <a:ext cx="1298448" cy="457200"/>
          </a:xfrm>
          <a:prstGeom prst="roundRect">
            <a:avLst>
              <a:gd name="adj" fmla="val 12000"/>
            </a:avLst>
          </a:prstGeom>
          <a:solidFill>
            <a:schemeClr val="accent4"/>
          </a:solidFill>
          <a:ln/>
        </p:spPr>
        <p:txBody>
          <a:bodyPr wrap="square" lIns="25400" tIns="25400" rIns="25400" bIns="25400" rtlCol="0" anchor="ctr"/>
          <a:lstStyle/>
          <a:p>
            <a:pPr algn="ctr" indent="0" marL="0">
              <a:buNone/>
            </a:pPr>
            <a:r>
              <a:rPr lang="en-US" sz="950" b="1" dirty="0">
                <a:solidFill>
                  <a:schemeClr val="bg1"/>
                </a:solidFill>
              </a:rPr>
              <a:t>POME fat pit</a:t>
            </a:r>
            <a:endParaRPr lang="en-US" sz="950" dirty="0"/>
          </a:p>
          <a:p>
            <a:pPr algn="ctr" indent="0" marL="0">
              <a:buNone/>
            </a:pPr>
            <a:r>
              <a:rPr lang="en-US" sz="950" b="1" dirty="0">
                <a:solidFill>
                  <a:schemeClr val="bg1"/>
                </a:solidFill>
              </a:rPr>
              <a:t>585 m³/hari</a:t>
            </a:r>
            <a:endParaRPr lang="en-US" sz="950" dirty="0"/>
          </a:p>
        </p:txBody>
      </p:sp>
      <p:sp>
        <p:nvSpPr>
          <p:cNvPr id="6" name="o65"/>
          <p:cNvSpPr/>
          <p:nvPr/>
        </p:nvSpPr>
        <p:spPr>
          <a:xfrm>
            <a:off x="1728216" y="1783080"/>
            <a:ext cx="146304" cy="182880"/>
          </a:xfrm>
          <a:prstGeom prst="rightArrow">
            <a:avLst/>
          </a:prstGeom>
          <a:solidFill>
            <a:schemeClr val="accent6"/>
          </a:solidFill>
          <a:ln w="12700">
            <a:solidFill>
              <a:schemeClr val="accent6"/>
            </a:solidFill>
            <a:prstDash val="solid"/>
          </a:ln>
        </p:spPr>
      </p:sp>
      <p:sp>
        <p:nvSpPr>
          <p:cNvPr id="7" name="o66"/>
          <p:cNvSpPr txBox="1"/>
          <p:nvPr/>
        </p:nvSpPr>
        <p:spPr>
          <a:xfrm>
            <a:off x="1892808" y="1645920"/>
            <a:ext cx="1298448" cy="457200"/>
          </a:xfrm>
          <a:prstGeom prst="roundRect">
            <a:avLst>
              <a:gd name="adj" fmla="val 12000"/>
            </a:avLst>
          </a:prstGeom>
          <a:solidFill>
            <a:schemeClr val="accent4"/>
          </a:solidFill>
          <a:ln/>
        </p:spPr>
        <p:txBody>
          <a:bodyPr wrap="square" lIns="25400" tIns="25400" rIns="25400" bIns="25400" rtlCol="0" anchor="ctr"/>
          <a:lstStyle/>
          <a:p>
            <a:pPr algn="ctr" indent="0" marL="0">
              <a:buNone/>
            </a:pPr>
            <a:r>
              <a:rPr lang="en-US" sz="950" b="1" dirty="0">
                <a:solidFill>
                  <a:schemeClr val="bg1"/>
                </a:solidFill>
              </a:rPr>
              <a:t>Praolah PM-1</a:t>
            </a:r>
            <a:endParaRPr lang="en-US" sz="950" dirty="0"/>
          </a:p>
          <a:p>
            <a:pPr algn="ctr" indent="0" marL="0">
              <a:buNone/>
            </a:pPr>
            <a:r>
              <a:rPr lang="en-US" sz="950" b="1" dirty="0">
                <a:solidFill>
                  <a:schemeClr val="bg1"/>
                </a:solidFill>
              </a:rPr>
              <a:t>saring + pasir</a:t>
            </a:r>
            <a:endParaRPr lang="en-US" sz="950" dirty="0"/>
          </a:p>
        </p:txBody>
      </p:sp>
      <p:sp>
        <p:nvSpPr>
          <p:cNvPr id="8" name="o67"/>
          <p:cNvSpPr/>
          <p:nvPr/>
        </p:nvSpPr>
        <p:spPr>
          <a:xfrm>
            <a:off x="3209544" y="1783080"/>
            <a:ext cx="146304" cy="182880"/>
          </a:xfrm>
          <a:prstGeom prst="rightArrow">
            <a:avLst/>
          </a:prstGeom>
          <a:solidFill>
            <a:schemeClr val="accent6"/>
          </a:solidFill>
          <a:ln w="12700">
            <a:solidFill>
              <a:schemeClr val="accent6"/>
            </a:solidFill>
            <a:prstDash val="solid"/>
          </a:ln>
        </p:spPr>
      </p:sp>
      <p:sp>
        <p:nvSpPr>
          <p:cNvPr id="9" name="o68"/>
          <p:cNvSpPr txBox="1"/>
          <p:nvPr/>
        </p:nvSpPr>
        <p:spPr>
          <a:xfrm>
            <a:off x="3374136" y="1645920"/>
            <a:ext cx="1298448" cy="457200"/>
          </a:xfrm>
          <a:prstGeom prst="roundRect">
            <a:avLst>
              <a:gd name="adj" fmla="val 12000"/>
            </a:avLst>
          </a:prstGeom>
          <a:solidFill>
            <a:schemeClr val="accent4"/>
          </a:solidFill>
          <a:ln/>
        </p:spPr>
        <p:txBody>
          <a:bodyPr wrap="square" lIns="25400" tIns="25400" rIns="25400" bIns="25400" rtlCol="0" anchor="ctr"/>
          <a:lstStyle/>
          <a:p>
            <a:pPr algn="ctr" indent="0" marL="0">
              <a:buNone/>
            </a:pPr>
            <a:r>
              <a:rPr lang="en-US" sz="950" b="1" dirty="0">
                <a:solidFill>
                  <a:schemeClr val="bg1"/>
                </a:solidFill>
              </a:rPr>
              <a:t>3 reaktor kontak</a:t>
            </a:r>
            <a:endParaRPr lang="en-US" sz="950" dirty="0"/>
          </a:p>
          <a:p>
            <a:pPr algn="ctr" indent="0" marL="0">
              <a:buNone/>
            </a:pPr>
            <a:r>
              <a:rPr lang="en-US" sz="950" b="1" dirty="0">
                <a:solidFill>
                  <a:schemeClr val="bg1"/>
                </a:solidFill>
              </a:rPr>
              <a:t>55 °C, 980 m³</a:t>
            </a:r>
            <a:endParaRPr lang="en-US" sz="950" dirty="0"/>
          </a:p>
        </p:txBody>
      </p:sp>
      <p:sp>
        <p:nvSpPr>
          <p:cNvPr id="10" name="o69"/>
          <p:cNvSpPr/>
          <p:nvPr/>
        </p:nvSpPr>
        <p:spPr>
          <a:xfrm>
            <a:off x="4690872" y="1783080"/>
            <a:ext cx="146304" cy="182880"/>
          </a:xfrm>
          <a:prstGeom prst="rightArrow">
            <a:avLst/>
          </a:prstGeom>
          <a:solidFill>
            <a:schemeClr val="accent6"/>
          </a:solidFill>
          <a:ln w="12700">
            <a:solidFill>
              <a:schemeClr val="accent6"/>
            </a:solidFill>
            <a:prstDash val="solid"/>
          </a:ln>
        </p:spPr>
      </p:sp>
      <p:sp>
        <p:nvSpPr>
          <p:cNvPr id="11" name="o70"/>
          <p:cNvSpPr txBox="1"/>
          <p:nvPr/>
        </p:nvSpPr>
        <p:spPr>
          <a:xfrm>
            <a:off x="4855464" y="1645920"/>
            <a:ext cx="1298448" cy="457200"/>
          </a:xfrm>
          <a:prstGeom prst="roundRect">
            <a:avLst>
              <a:gd name="adj" fmla="val 12000"/>
            </a:avLst>
          </a:prstGeom>
          <a:solidFill>
            <a:schemeClr val="accent4"/>
          </a:solidFill>
          <a:ln/>
        </p:spPr>
        <p:txBody>
          <a:bodyPr wrap="square" lIns="25400" tIns="25400" rIns="25400" bIns="25400" rtlCol="0" anchor="ctr"/>
          <a:lstStyle/>
          <a:p>
            <a:pPr algn="ctr" indent="0" marL="0">
              <a:buNone/>
            </a:pPr>
            <a:r>
              <a:rPr lang="en-US" sz="950" b="1" dirty="0">
                <a:solidFill>
                  <a:schemeClr val="bg1"/>
                </a:solidFill>
              </a:rPr>
              <a:t>Degasser vakum</a:t>
            </a:r>
            <a:endParaRPr lang="en-US" sz="950" dirty="0"/>
          </a:p>
          <a:p>
            <a:pPr algn="ctr" indent="0" marL="0">
              <a:buNone/>
            </a:pPr>
            <a:r>
              <a:rPr lang="en-US" sz="950" b="1" dirty="0">
                <a:solidFill>
                  <a:schemeClr val="bg1"/>
                </a:solidFill>
              </a:rPr>
              <a:t>DG-301</a:t>
            </a:r>
            <a:endParaRPr lang="en-US" sz="950" dirty="0"/>
          </a:p>
        </p:txBody>
      </p:sp>
      <p:sp>
        <p:nvSpPr>
          <p:cNvPr id="12" name="o71"/>
          <p:cNvSpPr/>
          <p:nvPr/>
        </p:nvSpPr>
        <p:spPr>
          <a:xfrm>
            <a:off x="6172200" y="1783080"/>
            <a:ext cx="146304" cy="182880"/>
          </a:xfrm>
          <a:prstGeom prst="rightArrow">
            <a:avLst/>
          </a:prstGeom>
          <a:solidFill>
            <a:schemeClr val="accent6"/>
          </a:solidFill>
          <a:ln w="12700">
            <a:solidFill>
              <a:schemeClr val="accent6"/>
            </a:solidFill>
            <a:prstDash val="solid"/>
          </a:ln>
        </p:spPr>
      </p:sp>
      <p:sp>
        <p:nvSpPr>
          <p:cNvPr id="13" name="o72"/>
          <p:cNvSpPr txBox="1"/>
          <p:nvPr/>
        </p:nvSpPr>
        <p:spPr>
          <a:xfrm>
            <a:off x="6336792" y="1645920"/>
            <a:ext cx="1298448" cy="457200"/>
          </a:xfrm>
          <a:prstGeom prst="roundRect">
            <a:avLst>
              <a:gd name="adj" fmla="val 12000"/>
            </a:avLst>
          </a:prstGeom>
          <a:solidFill>
            <a:schemeClr val="accent4"/>
          </a:solidFill>
          <a:ln/>
        </p:spPr>
        <p:txBody>
          <a:bodyPr wrap="square" lIns="25400" tIns="25400" rIns="25400" bIns="25400" rtlCol="0" anchor="ctr"/>
          <a:lstStyle/>
          <a:p>
            <a:pPr algn="ctr" indent="0" marL="0">
              <a:buNone/>
            </a:pPr>
            <a:r>
              <a:rPr lang="en-US" sz="950" b="1" dirty="0">
                <a:solidFill>
                  <a:schemeClr val="bg1"/>
                </a:solidFill>
              </a:rPr>
              <a:t>Settler lamella</a:t>
            </a:r>
            <a:endParaRPr lang="en-US" sz="950" dirty="0"/>
          </a:p>
          <a:p>
            <a:pPr algn="ctr" indent="0" marL="0">
              <a:buNone/>
            </a:pPr>
            <a:r>
              <a:rPr lang="en-US" sz="950" b="1" dirty="0">
                <a:solidFill>
                  <a:schemeClr val="bg1"/>
                </a:solidFill>
              </a:rPr>
              <a:t>LS-301 → kolam</a:t>
            </a:r>
            <a:endParaRPr lang="en-US" sz="950" dirty="0"/>
          </a:p>
        </p:txBody>
      </p:sp>
      <p:sp>
        <p:nvSpPr>
          <p:cNvPr id="14" name="o73"/>
          <p:cNvSpPr txBox="1"/>
          <p:nvPr/>
        </p:nvSpPr>
        <p:spPr>
          <a:xfrm>
            <a:off x="411480" y="2212848"/>
            <a:ext cx="1298448" cy="457200"/>
          </a:xfrm>
          <a:prstGeom prst="roundRect">
            <a:avLst>
              <a:gd name="adj" fmla="val 12000"/>
            </a:avLst>
          </a:prstGeom>
          <a:solidFill>
            <a:schemeClr val="accent2"/>
          </a:solidFill>
          <a:ln/>
        </p:spPr>
        <p:txBody>
          <a:bodyPr wrap="square" lIns="25400" tIns="25400" rIns="25400" bIns="25400" rtlCol="0" anchor="ctr"/>
          <a:lstStyle/>
          <a:p>
            <a:pPr algn="ctr" indent="0" marL="0">
              <a:buNone/>
            </a:pPr>
            <a:r>
              <a:rPr lang="en-US" sz="950" b="1" dirty="0">
                <a:solidFill>
                  <a:schemeClr val="bg1"/>
                </a:solidFill>
              </a:rPr>
              <a:t>Biogas</a:t>
            </a:r>
            <a:endParaRPr lang="en-US" sz="950" dirty="0"/>
          </a:p>
          <a:p>
            <a:pPr algn="ctr" indent="0" marL="0">
              <a:buNone/>
            </a:pPr>
            <a:r>
              <a:rPr lang="en-US" sz="950" b="1" dirty="0">
                <a:solidFill>
                  <a:schemeClr val="bg1"/>
                </a:solidFill>
              </a:rPr>
              <a:t>CH4 58%</a:t>
            </a:r>
            <a:endParaRPr lang="en-US" sz="950" dirty="0"/>
          </a:p>
        </p:txBody>
      </p:sp>
      <p:sp>
        <p:nvSpPr>
          <p:cNvPr id="15" name="o74"/>
          <p:cNvSpPr/>
          <p:nvPr/>
        </p:nvSpPr>
        <p:spPr>
          <a:xfrm>
            <a:off x="1728216" y="2350008"/>
            <a:ext cx="146304" cy="182880"/>
          </a:xfrm>
          <a:prstGeom prst="rightArrow">
            <a:avLst/>
          </a:prstGeom>
          <a:solidFill>
            <a:schemeClr val="accent6"/>
          </a:solidFill>
          <a:ln w="12700">
            <a:solidFill>
              <a:schemeClr val="accent6"/>
            </a:solidFill>
            <a:prstDash val="solid"/>
          </a:ln>
        </p:spPr>
      </p:sp>
      <p:sp>
        <p:nvSpPr>
          <p:cNvPr id="16" name="o75"/>
          <p:cNvSpPr txBox="1"/>
          <p:nvPr/>
        </p:nvSpPr>
        <p:spPr>
          <a:xfrm>
            <a:off x="1892808" y="2212848"/>
            <a:ext cx="1298448" cy="457200"/>
          </a:xfrm>
          <a:prstGeom prst="roundRect">
            <a:avLst>
              <a:gd name="adj" fmla="val 12000"/>
            </a:avLst>
          </a:prstGeom>
          <a:solidFill>
            <a:schemeClr val="accent2"/>
          </a:solidFill>
          <a:ln/>
        </p:spPr>
        <p:txBody>
          <a:bodyPr wrap="square" lIns="25400" tIns="25400" rIns="25400" bIns="25400" rtlCol="0" anchor="ctr"/>
          <a:lstStyle/>
          <a:p>
            <a:pPr algn="ctr" indent="0" marL="0">
              <a:buNone/>
            </a:pPr>
            <a:r>
              <a:rPr lang="en-US" sz="950" b="1" dirty="0">
                <a:solidFill>
                  <a:schemeClr val="bg1"/>
                </a:solidFill>
              </a:rPr>
              <a:t>Pembersih H2S</a:t>
            </a:r>
            <a:endParaRPr lang="en-US" sz="950" dirty="0"/>
          </a:p>
          <a:p>
            <a:pPr algn="ctr" indent="0" marL="0">
              <a:buNone/>
            </a:pPr>
            <a:r>
              <a:rPr lang="en-US" sz="950" b="1" dirty="0">
                <a:solidFill>
                  <a:schemeClr val="bg1"/>
                </a:solidFill>
              </a:rPr>
              <a:t>bio + karbon aktif</a:t>
            </a:r>
            <a:endParaRPr lang="en-US" sz="950" dirty="0"/>
          </a:p>
        </p:txBody>
      </p:sp>
      <p:sp>
        <p:nvSpPr>
          <p:cNvPr id="17" name="o76"/>
          <p:cNvSpPr/>
          <p:nvPr/>
        </p:nvSpPr>
        <p:spPr>
          <a:xfrm>
            <a:off x="3209544" y="2350008"/>
            <a:ext cx="146304" cy="182880"/>
          </a:xfrm>
          <a:prstGeom prst="rightArrow">
            <a:avLst/>
          </a:prstGeom>
          <a:solidFill>
            <a:schemeClr val="accent6"/>
          </a:solidFill>
          <a:ln w="12700">
            <a:solidFill>
              <a:schemeClr val="accent6"/>
            </a:solidFill>
            <a:prstDash val="solid"/>
          </a:ln>
        </p:spPr>
      </p:sp>
      <p:sp>
        <p:nvSpPr>
          <p:cNvPr id="18" name="o77"/>
          <p:cNvSpPr txBox="1"/>
          <p:nvPr/>
        </p:nvSpPr>
        <p:spPr>
          <a:xfrm>
            <a:off x="3374136" y="2212848"/>
            <a:ext cx="1298448" cy="457200"/>
          </a:xfrm>
          <a:prstGeom prst="roundRect">
            <a:avLst>
              <a:gd name="adj" fmla="val 12000"/>
            </a:avLst>
          </a:prstGeom>
          <a:solidFill>
            <a:schemeClr val="accent2"/>
          </a:solidFill>
          <a:ln/>
        </p:spPr>
        <p:txBody>
          <a:bodyPr wrap="square" lIns="25400" tIns="25400" rIns="25400" bIns="25400" rtlCol="0" anchor="ctr"/>
          <a:lstStyle/>
          <a:p>
            <a:pPr algn="ctr" indent="0" marL="0">
              <a:buNone/>
            </a:pPr>
            <a:r>
              <a:rPr lang="en-US" sz="950" b="1" dirty="0">
                <a:solidFill>
                  <a:schemeClr val="bg1"/>
                </a:solidFill>
              </a:rPr>
              <a:t>Penampung gas</a:t>
            </a:r>
            <a:endParaRPr lang="en-US" sz="950" dirty="0"/>
          </a:p>
          <a:p>
            <a:pPr algn="ctr" indent="0" marL="0">
              <a:buNone/>
            </a:pPr>
            <a:r>
              <a:rPr lang="en-US" sz="950" b="1" dirty="0">
                <a:solidFill>
                  <a:schemeClr val="bg1"/>
                </a:solidFill>
              </a:rPr>
              <a:t>2 jam</a:t>
            </a:r>
            <a:endParaRPr lang="en-US" sz="950" dirty="0"/>
          </a:p>
        </p:txBody>
      </p:sp>
      <p:sp>
        <p:nvSpPr>
          <p:cNvPr id="19" name="o78"/>
          <p:cNvSpPr/>
          <p:nvPr/>
        </p:nvSpPr>
        <p:spPr>
          <a:xfrm>
            <a:off x="4690872" y="2350008"/>
            <a:ext cx="146304" cy="182880"/>
          </a:xfrm>
          <a:prstGeom prst="rightArrow">
            <a:avLst/>
          </a:prstGeom>
          <a:solidFill>
            <a:schemeClr val="accent6"/>
          </a:solidFill>
          <a:ln w="12700">
            <a:solidFill>
              <a:schemeClr val="accent6"/>
            </a:solidFill>
            <a:prstDash val="solid"/>
          </a:ln>
        </p:spPr>
      </p:sp>
      <p:sp>
        <p:nvSpPr>
          <p:cNvPr id="20" name="o79"/>
          <p:cNvSpPr txBox="1"/>
          <p:nvPr/>
        </p:nvSpPr>
        <p:spPr>
          <a:xfrm>
            <a:off x="4855464" y="2212848"/>
            <a:ext cx="1298448" cy="457200"/>
          </a:xfrm>
          <a:prstGeom prst="roundRect">
            <a:avLst>
              <a:gd name="adj" fmla="val 12000"/>
            </a:avLst>
          </a:prstGeom>
          <a:solidFill>
            <a:schemeClr val="accent2"/>
          </a:solidFill>
          <a:ln/>
        </p:spPr>
        <p:txBody>
          <a:bodyPr wrap="square" lIns="25400" tIns="25400" rIns="25400" bIns="25400" rtlCol="0" anchor="ctr"/>
          <a:lstStyle/>
          <a:p>
            <a:pPr algn="ctr" indent="0" marL="0">
              <a:buNone/>
            </a:pPr>
            <a:r>
              <a:rPr lang="en-US" sz="950" b="1" dirty="0">
                <a:solidFill>
                  <a:schemeClr val="bg1"/>
                </a:solidFill>
              </a:rPr>
              <a:t>Genset</a:t>
            </a:r>
            <a:endParaRPr lang="en-US" sz="950" dirty="0"/>
          </a:p>
          <a:p>
            <a:pPr algn="ctr" indent="0" marL="0">
              <a:buNone/>
            </a:pPr>
            <a:r>
              <a:rPr lang="en-US" sz="950" b="1" dirty="0">
                <a:solidFill>
                  <a:schemeClr val="bg1"/>
                </a:solidFill>
              </a:rPr>
              <a:t>2 x 600 kWe</a:t>
            </a:r>
            <a:endParaRPr lang="en-US" sz="950" dirty="0"/>
          </a:p>
        </p:txBody>
      </p:sp>
      <p:sp>
        <p:nvSpPr>
          <p:cNvPr id="21" name="o80"/>
          <p:cNvSpPr/>
          <p:nvPr/>
        </p:nvSpPr>
        <p:spPr>
          <a:xfrm>
            <a:off x="6172200" y="2350008"/>
            <a:ext cx="146304" cy="182880"/>
          </a:xfrm>
          <a:prstGeom prst="rightArrow">
            <a:avLst/>
          </a:prstGeom>
          <a:solidFill>
            <a:schemeClr val="accent6"/>
          </a:solidFill>
          <a:ln w="12700">
            <a:solidFill>
              <a:schemeClr val="accent6"/>
            </a:solidFill>
            <a:prstDash val="solid"/>
          </a:ln>
        </p:spPr>
      </p:sp>
      <p:sp>
        <p:nvSpPr>
          <p:cNvPr id="22" name="o81"/>
          <p:cNvSpPr txBox="1"/>
          <p:nvPr/>
        </p:nvSpPr>
        <p:spPr>
          <a:xfrm>
            <a:off x="6336792" y="2212848"/>
            <a:ext cx="1298448" cy="457200"/>
          </a:xfrm>
          <a:prstGeom prst="roundRect">
            <a:avLst>
              <a:gd name="adj" fmla="val 12000"/>
            </a:avLst>
          </a:prstGeom>
          <a:solidFill>
            <a:schemeClr val="accent2"/>
          </a:solidFill>
          <a:ln/>
        </p:spPr>
        <p:txBody>
          <a:bodyPr wrap="square" lIns="25400" tIns="25400" rIns="25400" bIns="25400" rtlCol="0" anchor="ctr"/>
          <a:lstStyle/>
          <a:p>
            <a:pPr algn="ctr" indent="0" marL="0">
              <a:buNone/>
            </a:pPr>
            <a:r>
              <a:rPr lang="en-US" sz="950" b="1" dirty="0">
                <a:solidFill>
                  <a:schemeClr val="bg1"/>
                </a:solidFill>
              </a:rPr>
              <a:t>Listrik PKS</a:t>
            </a:r>
            <a:endParaRPr lang="en-US" sz="950" dirty="0"/>
          </a:p>
          <a:p>
            <a:pPr algn="ctr" indent="0" marL="0">
              <a:buNone/>
            </a:pPr>
            <a:r>
              <a:rPr lang="en-US" sz="950" b="1" dirty="0">
                <a:solidFill>
                  <a:schemeClr val="bg1"/>
                </a:solidFill>
              </a:rPr>
              <a:t>+ PLN 20 kV</a:t>
            </a:r>
            <a:endParaRPr lang="en-US" sz="950" dirty="0"/>
          </a:p>
        </p:txBody>
      </p:sp>
      <p:sp>
        <p:nvSpPr>
          <p:cNvPr id="23" name="o82"/>
          <p:cNvSpPr txBox="1"/>
          <p:nvPr/>
        </p:nvSpPr>
        <p:spPr>
          <a:xfrm>
            <a:off x="411480" y="2743200"/>
            <a:ext cx="7269480" cy="237744"/>
          </a:xfrm>
          <a:prstGeom prst="rect">
            <a:avLst/>
          </a:prstGeom>
          <a:noFill/>
          <a:ln/>
        </p:spPr>
        <p:txBody>
          <a:bodyPr wrap="square" lIns="0" tIns="0" rIns="0" bIns="0" rtlCol="0" anchor="ctr"/>
          <a:lstStyle/>
          <a:p>
            <a:pPr indent="0" marL="0">
              <a:buNone/>
            </a:pPr>
            <a:r>
              <a:rPr lang="en-US" sz="950" i="1" dirty="0">
                <a:solidFill>
                  <a:schemeClr val="accent6"/>
                </a:solidFill>
              </a:rPr>
              <a:t>Lumpur settler 585 m³/hari dikembalikan ke reaktor (SRT 12 hari); lumpur lebih → screw press → pupuk kebun.</a:t>
            </a:r>
            <a:endParaRPr lang="en-US" sz="950" dirty="0"/>
          </a:p>
        </p:txBody>
      </p:sp>
      <p:pic>
        <p:nvPicPr>
          <p:cNvPr id="24" name="o83" descr="/home/user/aspebindo/cad/out/render/PLANT_iso-depan.png">    </p:cNvPr>
          <p:cNvPicPr>
            <a:picLocks noChangeAspect="1"/>
          </p:cNvPicPr>
          <p:nvPr/>
        </p:nvPicPr>
        <p:blipFill>
          <a:blip r:embed="rId1"/>
          <a:stretch>
            <a:fillRect/>
          </a:stretch>
        </p:blipFill>
        <p:spPr>
          <a:xfrm>
            <a:off x="411480" y="3017520"/>
            <a:ext cx="3951514" cy="2514600"/>
          </a:xfrm>
          <a:prstGeom prst="rect">
            <a:avLst/>
          </a:prstGeom>
        </p:spPr>
      </p:pic>
      <p:graphicFrame>
        <p:nvGraphicFramePr>
          <p:cNvPr id="25" name="o84" descr=""/>
          <p:cNvGraphicFramePr/>
          <p:nvPr/>
        </p:nvGraphicFramePr>
        <p:xfrm>
          <a:off x="4434840" y="2971800"/>
          <a:ext cx="3246120" cy="2606040"/>
        </p:xfrm>
        <a:graphic xmlns:a="http://schemas.openxmlformats.org/drawingml/2006/main">
          <a:graphicData uri="http://schemas.openxmlformats.org/drawingml/2006/chart">
            <c:chart xmlns:c="http://schemas.openxmlformats.org/drawingml/2006/chart" r:id="rId2"/>
          </a:graphicData>
        </a:graphic>
      </p:graphicFrame>
      <p:sp>
        <p:nvSpPr>
          <p:cNvPr id="26" name="o85"/>
          <p:cNvSpPr txBox="1"/>
          <p:nvPr/>
        </p:nvSpPr>
        <p:spPr>
          <a:xfrm>
            <a:off x="7863840" y="1298448"/>
            <a:ext cx="3931920" cy="274320"/>
          </a:xfrm>
          <a:prstGeom prst="rect">
            <a:avLst/>
          </a:prstGeom>
          <a:noFill/>
          <a:ln/>
        </p:spPr>
        <p:txBody>
          <a:bodyPr wrap="square" lIns="0" tIns="0" rIns="0" bIns="0" rtlCol="0" anchor="ctr"/>
          <a:lstStyle/>
          <a:p>
            <a:pPr indent="0" marL="0">
              <a:buNone/>
            </a:pPr>
            <a:r>
              <a:rPr lang="en-US" sz="1250" b="1" dirty="0">
                <a:solidFill>
                  <a:schemeClr val="tx2"/>
                </a:solidFill>
              </a:rPr>
              <a:t>Spesifikasi set 45 t TBS/jam (neraca proses Rev 2)</a:t>
            </a:r>
            <a:endParaRPr lang="en-US" sz="1250" dirty="0"/>
          </a:p>
        </p:txBody>
      </p:sp>
      <p:graphicFrame>
        <p:nvGraphicFramePr>
          <p:cNvPr id="4" name="o86"/>
          <p:cNvGraphicFramePr>
            <a:graphicFrameLocks noGrp="1"/>
          </p:cNvGraphicFramePr>
          <p:nvPr>
            <p:extLst>
              <p:ext uri="{D42A27DB-BD31-4B8C-83A1-F6EECF244321}">
                <p14:modId xmlns:p14="http://schemas.microsoft.com/office/powerpoint/2010/main" val="1579011935"/>
              </p:ext>
            </p:extLst>
          </p:nvPr>
        </p:nvGraphicFramePr>
        <p:xfrm>
          <a:off x="7863840" y="1627632"/>
          <a:ext cx="3931920" cy="914400"/>
        </p:xfrm>
        <a:graphic>
          <a:graphicData uri="http://schemas.openxmlformats.org/drawingml/2006/table">
            <a:tbl>
              <a:tblPr/>
              <a:tblGrid>
                <a:gridCol w="1234440"/>
                <a:gridCol w="2697480"/>
              </a:tblGrid>
              <a:tr h="283464">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Umpan POME</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585 m³/hari, COD ~50 g/L</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283464">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Reaktor</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3 x 980 m³ tangki baut GFS, 55 °C</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283464">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HRT / SRT</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5 hari / 12 hari (resirkulasi lumpur)</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283464">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Pemisah</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Degasser vakum + settler lamella 81 m²</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283464">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Biogas</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11.836 Nm³/hari, CH4 58%</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283464">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H2S</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2.868 → 21 ppm (bio-scrubber + karbon aktif)</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283464">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Pembangkit</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Genset 2 x 600 kWe, neto 1.025 kW</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283464">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Energi neto</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5,27 GWh/th (beban 75%, musiman ±25%)</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283464">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Lahan / angkut</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0,38 ha / 21 muatan kontainer</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bl>
          </a:graphicData>
        </a:graphic>
      </p:graphicFrame>
      <p:sp>
        <p:nvSpPr>
          <p:cNvPr id="28" name="o87"/>
          <p:cNvSpPr/>
          <p:nvPr/>
        </p:nvSpPr>
        <p:spPr>
          <a:xfrm>
            <a:off x="7863840" y="4315968"/>
            <a:ext cx="3931920" cy="1069848"/>
          </a:xfrm>
          <a:prstGeom prst="roundRect">
            <a:avLst>
              <a:gd name="adj" fmla="val 5128"/>
            </a:avLst>
          </a:prstGeom>
          <a:solidFill>
            <a:schemeClr val="bg1"/>
          </a:solidFill>
          <a:ln w="15875">
            <a:solidFill>
              <a:schemeClr val="accent4"/>
            </a:solidFill>
            <a:prstDash val="solid"/>
          </a:ln>
        </p:spPr>
      </p:sp>
      <p:sp>
        <p:nvSpPr>
          <p:cNvPr id="29" name="o88"/>
          <p:cNvSpPr txBox="1"/>
          <p:nvPr/>
        </p:nvSpPr>
        <p:spPr>
          <a:xfrm>
            <a:off x="7973568" y="4379976"/>
            <a:ext cx="3712464" cy="274320"/>
          </a:xfrm>
          <a:prstGeom prst="rect">
            <a:avLst/>
          </a:prstGeom>
          <a:noFill/>
          <a:ln/>
        </p:spPr>
        <p:txBody>
          <a:bodyPr wrap="square" lIns="0" tIns="0" rIns="0" bIns="0" rtlCol="0" anchor="t"/>
          <a:lstStyle/>
          <a:p>
            <a:pPr indent="0" marL="0">
              <a:buNone/>
            </a:pPr>
            <a:r>
              <a:rPr lang="en-US" sz="1200" b="1" dirty="0">
                <a:solidFill>
                  <a:schemeClr val="accent4"/>
                </a:solidFill>
              </a:rPr>
              <a:t>Efluen tetap ke kolam polishing</a:t>
            </a:r>
            <a:endParaRPr lang="en-US" sz="1200" dirty="0"/>
          </a:p>
        </p:txBody>
      </p:sp>
      <p:sp>
        <p:nvSpPr>
          <p:cNvPr id="30" name="o89"/>
          <p:cNvSpPr txBox="1"/>
          <p:nvPr/>
        </p:nvSpPr>
        <p:spPr>
          <a:xfrm>
            <a:off x="7973568" y="4663440"/>
            <a:ext cx="3712464" cy="658368"/>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Efluen settler (BOD ~1.540 mg/L) masuk kolam fakultatif lama lalu aplikasi lahan (batas 5.000 mg/L), sesuai Persetujuan Teknis PKS; tidak dibuang ke sungai.</a:t>
            </a:r>
            <a:endParaRPr lang="en-US" sz="1000" dirty="0"/>
          </a:p>
        </p:txBody>
      </p:sp>
      <p:sp>
        <p:nvSpPr>
          <p:cNvPr id="31" name="o90"/>
          <p:cNvSpPr txBox="1"/>
          <p:nvPr/>
        </p:nvSpPr>
        <p:spPr>
          <a:xfrm>
            <a:off x="411480" y="5669280"/>
            <a:ext cx="1325880" cy="457200"/>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rPr>
              <a:t>Kesimpulan</a:t>
            </a:r>
            <a:endParaRPr lang="en-US" sz="1200" dirty="0"/>
          </a:p>
        </p:txBody>
      </p:sp>
      <p:sp>
        <p:nvSpPr>
          <p:cNvPr id="32" name="o91"/>
          <p:cNvSpPr txBox="1"/>
          <p:nvPr/>
        </p:nvSpPr>
        <p:spPr>
          <a:xfrm>
            <a:off x="1737360" y="5669280"/>
            <a:ext cx="10058400" cy="457200"/>
          </a:xfrm>
          <a:prstGeom prst="rect">
            <a:avLst/>
          </a:prstGeom>
          <a:solidFill>
            <a:schemeClr val="bg2"/>
          </a:solidFill>
          <a:ln/>
        </p:spPr>
        <p:txBody>
          <a:bodyPr wrap="square" lIns="0" tIns="127000" rIns="127000" bIns="0" rtlCol="0" anchor="ctr"/>
          <a:lstStyle/>
          <a:p>
            <a:pPr indent="0" marL="0">
              <a:buNone/>
            </a:pPr>
            <a:r>
              <a:rPr lang="en-US" sz="1150" dirty="0">
                <a:solidFill>
                  <a:schemeClr val="tx1"/>
                </a:solidFill>
              </a:rPr>
              <a:t>Proses kontak menahan biomassa (SRT 12 hari) dalam reaktor kecil (HRT 5 hari), sehingga seluruh set muat di 0,38 ha, dapat dibaut dan dibongkar, dan metana terlarut ditangkap kembali oleh degasser.</a:t>
            </a:r>
            <a:endParaRPr lang="en-US" sz="1150" dirty="0"/>
          </a:p>
        </p:txBody>
      </p:sp>
      <p:sp>
        <p:nvSpPr>
          <p:cNvPr id="33" name="o92"/>
          <p:cNvSpPr txBox="1"/>
          <p:nvPr/>
        </p:nvSpPr>
        <p:spPr>
          <a:xfrm>
            <a:off x="411480" y="6163056"/>
            <a:ext cx="11384280" cy="256032"/>
          </a:xfrm>
          <a:prstGeom prst="rect">
            <a:avLst/>
          </a:prstGeom>
          <a:noFill/>
          <a:ln/>
        </p:spPr>
        <p:txBody>
          <a:bodyPr wrap="square" lIns="0" tIns="0" rIns="0" bIns="0" rtlCol="0" anchor="ctr"/>
          <a:lstStyle/>
          <a:p>
            <a:pPr indent="0" marL="0">
              <a:buNone/>
            </a:pPr>
            <a:r>
              <a:rPr lang="en-US" sz="750" dirty="0">
                <a:solidFill>
                  <a:schemeClr val="accent6"/>
                </a:solidFill>
              </a:rPr>
              <a:t>Sumber: PFD BG-002 Rev 3, process/biogas_balance.py (model ADM1-lite kalibrasi), PermenLH 5/2014; desain dasar process/PROCESS_DESIGN_BASIS.md.</a:t>
            </a:r>
            <a:endParaRPr lang="en-US" sz="750" dirty="0"/>
          </a:p>
        </p:txBody>
      </p:sp>
      <p:sp>
        <p:nvSpPr>
          <p:cNvPr id="34" name="o93"/>
          <p:cNvSpPr txBox="1"/>
          <p:nvPr/>
        </p:nvSpPr>
        <p:spPr>
          <a:xfrm>
            <a:off x="41148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Masalah</a:t>
            </a:r>
            <a:endParaRPr lang="en-US" sz="950" dirty="0"/>
          </a:p>
        </p:txBody>
      </p:sp>
      <p:sp>
        <p:nvSpPr>
          <p:cNvPr id="35" name="o94"/>
          <p:cNvSpPr txBox="1"/>
          <p:nvPr/>
        </p:nvSpPr>
        <p:spPr>
          <a:xfrm>
            <a:off x="1636776" y="6473952"/>
            <a:ext cx="1188720" cy="256032"/>
          </a:xfrm>
          <a:prstGeom prst="roundRect">
            <a:avLst>
              <a:gd name="adj" fmla="val 21429"/>
            </a:avLst>
          </a:prstGeom>
          <a:solidFill>
            <a:schemeClr val="tx2"/>
          </a:solidFill>
          <a:ln>
            <a:solidFill>
              <a:schemeClr val="tx2"/>
            </a:solidFill>
          </a:ln>
        </p:spPr>
        <p:txBody>
          <a:bodyPr wrap="square" lIns="0" tIns="0" rIns="0" bIns="0" rtlCol="0" anchor="ctr"/>
          <a:lstStyle/>
          <a:p>
            <a:pPr algn="ctr" indent="0" marL="0">
              <a:buNone/>
            </a:pPr>
            <a:r>
              <a:rPr lang="en-US" sz="950" b="1" dirty="0">
                <a:solidFill>
                  <a:schemeClr val="bg1"/>
                </a:solidFill>
              </a:rPr>
              <a:t>Solusi</a:t>
            </a:r>
            <a:endParaRPr lang="en-US" sz="950" dirty="0"/>
          </a:p>
        </p:txBody>
      </p:sp>
      <p:sp>
        <p:nvSpPr>
          <p:cNvPr id="36" name="o95"/>
          <p:cNvSpPr txBox="1"/>
          <p:nvPr/>
        </p:nvSpPr>
        <p:spPr>
          <a:xfrm>
            <a:off x="286207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Inovasi</a:t>
            </a:r>
            <a:endParaRPr lang="en-US" sz="950" dirty="0"/>
          </a:p>
        </p:txBody>
      </p:sp>
      <p:sp>
        <p:nvSpPr>
          <p:cNvPr id="37" name="o96"/>
          <p:cNvSpPr txBox="1"/>
          <p:nvPr/>
        </p:nvSpPr>
        <p:spPr>
          <a:xfrm>
            <a:off x="408736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Pasar</a:t>
            </a:r>
            <a:endParaRPr lang="en-US" sz="950" dirty="0"/>
          </a:p>
        </p:txBody>
      </p:sp>
      <p:sp>
        <p:nvSpPr>
          <p:cNvPr id="38" name="o97"/>
          <p:cNvSpPr txBox="1"/>
          <p:nvPr/>
        </p:nvSpPr>
        <p:spPr>
          <a:xfrm>
            <a:off x="5312664"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Model bisnis</a:t>
            </a:r>
            <a:endParaRPr lang="en-US" sz="950" dirty="0"/>
          </a:p>
        </p:txBody>
      </p:sp>
      <p:sp>
        <p:nvSpPr>
          <p:cNvPr id="39" name="o98"/>
          <p:cNvSpPr txBox="1"/>
          <p:nvPr/>
        </p:nvSpPr>
        <p:spPr>
          <a:xfrm>
            <a:off x="653796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Keuangan</a:t>
            </a:r>
            <a:endParaRPr lang="en-US" sz="950" dirty="0"/>
          </a:p>
        </p:txBody>
      </p:sp>
      <p:sp>
        <p:nvSpPr>
          <p:cNvPr id="40" name="o99"/>
          <p:cNvSpPr txBox="1"/>
          <p:nvPr/>
        </p:nvSpPr>
        <p:spPr>
          <a:xfrm>
            <a:off x="776325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Dampak</a:t>
            </a:r>
            <a:endParaRPr lang="en-US" sz="950" dirty="0"/>
          </a:p>
        </p:txBody>
      </p:sp>
      <p:sp>
        <p:nvSpPr>
          <p:cNvPr id="41" name="o100"/>
          <p:cNvSpPr txBox="1"/>
          <p:nvPr/>
        </p:nvSpPr>
        <p:spPr>
          <a:xfrm>
            <a:off x="898855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Skala</a:t>
            </a:r>
            <a:endParaRPr lang="en-US" sz="950" dirty="0"/>
          </a:p>
        </p:txBody>
      </p:sp>
      <p:sp>
        <p:nvSpPr>
          <p:cNvPr id="42" name="o101"/>
          <p:cNvSpPr txBox="1"/>
          <p:nvPr/>
        </p:nvSpPr>
        <p:spPr>
          <a:xfrm>
            <a:off x="1021384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Penutup</a:t>
            </a:r>
            <a:endParaRPr lang="en-US" sz="950" dirty="0"/>
          </a:p>
        </p:txBody>
      </p:sp>
      <p:sp>
        <p:nvSpPr>
          <p:cNvPr id="43" name="o102"/>
          <p:cNvSpPr/>
          <p:nvPr/>
        </p:nvSpPr>
        <p:spPr>
          <a:xfrm>
            <a:off x="11384280" y="6473952"/>
            <a:ext cx="411480" cy="256032"/>
          </a:xfrm>
          <a:prstGeom prst="roundRect">
            <a:avLst>
              <a:gd name="adj" fmla="val 21429"/>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1138428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11480" y="182880"/>
            <a:ext cx="8686800" cy="237744"/>
          </a:xfrm>
          <a:prstGeom prst="rect">
            <a:avLst/>
          </a:prstGeom>
          <a:noFill/>
          <a:ln/>
        </p:spPr>
        <p:txBody>
          <a:bodyPr wrap="square" lIns="0" tIns="0" rIns="0" bIns="0" rtlCol="0"/>
          <a:lstStyle/>
          <a:p>
            <a:pPr indent="0" marL="0">
              <a:buNone/>
            </a:pPr>
            <a:r>
              <a:rPr lang="en-US" sz="1100" b="1" dirty="0">
                <a:solidFill>
                  <a:schemeClr val="accent1"/>
                </a:solidFill>
              </a:rPr>
              <a:t>Inovasi dan keunggulan unik</a:t>
            </a:r>
            <a:endParaRPr lang="en-US" sz="1100" dirty="0"/>
          </a:p>
        </p:txBody>
      </p:sp>
      <p:sp>
        <p:nvSpPr>
          <p:cNvPr id="3" name="Text 1"/>
          <p:cNvSpPr/>
          <p:nvPr>
            <p:ph idx="102" type="title" hasCustomPrompt="1"/>
          </p:nvPr>
        </p:nvSpPr>
        <p:spPr>
          <a:xfrm>
            <a:off x="411480" y="420624"/>
            <a:ext cx="11338560" cy="786384"/>
          </a:xfrm>
          <a:prstGeom prst="rect">
            <a:avLst/>
          </a:prstGeom>
          <a:noFill/>
          <a:ln/>
        </p:spPr>
        <p:txBody>
          <a:bodyPr wrap="square" lIns="0" tIns="0" rIns="0" bIns="0" rtlCol="0" anchor="t"/>
          <a:lstStyle/>
          <a:p>
            <a:pPr algn="l" indent="0" marL="0">
              <a:buNone/>
            </a:pPr>
            <a:r>
              <a:rPr lang="en-US" sz="2100" b="1" dirty="0">
                <a:solidFill>
                  <a:schemeClr val="tx2"/>
                </a:solidFill>
              </a:rPr>
              <a:t>Inovasi: satu-satunya opsi yang menggabungkan nol capex PKS, kinerja yang dijamin operator dan aset yang dapat dipindah</a:t>
            </a:r>
            <a:endParaRPr lang="en-US" sz="2100" dirty="0"/>
          </a:p>
        </p:txBody>
      </p:sp>
      <p:sp>
        <p:nvSpPr>
          <p:cNvPr id="4" name="o103"/>
          <p:cNvSpPr/>
          <p:nvPr/>
        </p:nvSpPr>
        <p:spPr>
          <a:xfrm>
            <a:off x="411480" y="1298448"/>
            <a:ext cx="2743200" cy="1389888"/>
          </a:xfrm>
          <a:prstGeom prst="roundRect">
            <a:avLst>
              <a:gd name="adj" fmla="val 3947"/>
            </a:avLst>
          </a:prstGeom>
          <a:solidFill>
            <a:schemeClr val="bg1"/>
          </a:solidFill>
          <a:ln w="15875">
            <a:solidFill>
              <a:schemeClr val="accent1"/>
            </a:solidFill>
            <a:prstDash val="solid"/>
          </a:ln>
        </p:spPr>
      </p:sp>
      <p:sp>
        <p:nvSpPr>
          <p:cNvPr id="5" name="o104"/>
          <p:cNvSpPr txBox="1"/>
          <p:nvPr/>
        </p:nvSpPr>
        <p:spPr>
          <a:xfrm>
            <a:off x="521208" y="1362456"/>
            <a:ext cx="2523744" cy="274320"/>
          </a:xfrm>
          <a:prstGeom prst="rect">
            <a:avLst/>
          </a:prstGeom>
          <a:noFill/>
          <a:ln/>
        </p:spPr>
        <p:txBody>
          <a:bodyPr wrap="square" lIns="0" tIns="0" rIns="0" bIns="0" rtlCol="0" anchor="t"/>
          <a:lstStyle/>
          <a:p>
            <a:pPr indent="0" marL="0">
              <a:buNone/>
            </a:pPr>
            <a:r>
              <a:rPr lang="en-US" sz="1150" b="1" dirty="0">
                <a:solidFill>
                  <a:schemeClr val="accent1"/>
                </a:solidFill>
              </a:rPr>
              <a:t>1  Reaktor kecil, kinerja tinggi</a:t>
            </a:r>
            <a:endParaRPr lang="en-US" sz="1150" dirty="0"/>
          </a:p>
        </p:txBody>
      </p:sp>
      <p:sp>
        <p:nvSpPr>
          <p:cNvPr id="6" name="o105"/>
          <p:cNvSpPr txBox="1"/>
          <p:nvPr/>
        </p:nvSpPr>
        <p:spPr>
          <a:xfrm>
            <a:off x="521208" y="1645920"/>
            <a:ext cx="2523744" cy="978408"/>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Kontak termofilik 55 °C: HRT 5 hari, bukan ~40 hari seperti kolam tertutup. Volume reaktor 2.940 m³ cukup untuk PKS 45 t/jam.</a:t>
            </a:r>
            <a:endParaRPr lang="en-US" sz="1000" dirty="0"/>
          </a:p>
        </p:txBody>
      </p:sp>
      <p:sp>
        <p:nvSpPr>
          <p:cNvPr id="7" name="o106"/>
          <p:cNvSpPr/>
          <p:nvPr/>
        </p:nvSpPr>
        <p:spPr>
          <a:xfrm>
            <a:off x="3246120" y="1298448"/>
            <a:ext cx="2743200" cy="1389888"/>
          </a:xfrm>
          <a:prstGeom prst="roundRect">
            <a:avLst>
              <a:gd name="adj" fmla="val 3947"/>
            </a:avLst>
          </a:prstGeom>
          <a:solidFill>
            <a:schemeClr val="bg1"/>
          </a:solidFill>
          <a:ln w="15875">
            <a:solidFill>
              <a:schemeClr val="accent1"/>
            </a:solidFill>
            <a:prstDash val="solid"/>
          </a:ln>
        </p:spPr>
      </p:sp>
      <p:sp>
        <p:nvSpPr>
          <p:cNvPr id="8" name="o107"/>
          <p:cNvSpPr txBox="1"/>
          <p:nvPr/>
        </p:nvSpPr>
        <p:spPr>
          <a:xfrm>
            <a:off x="3355848" y="1362456"/>
            <a:ext cx="2523744" cy="274320"/>
          </a:xfrm>
          <a:prstGeom prst="rect">
            <a:avLst/>
          </a:prstGeom>
          <a:noFill/>
          <a:ln/>
        </p:spPr>
        <p:txBody>
          <a:bodyPr wrap="square" lIns="0" tIns="0" rIns="0" bIns="0" rtlCol="0" anchor="t"/>
          <a:lstStyle/>
          <a:p>
            <a:pPr indent="0" marL="0">
              <a:buNone/>
            </a:pPr>
            <a:r>
              <a:rPr lang="en-US" sz="1150" b="1" dirty="0">
                <a:solidFill>
                  <a:schemeClr val="accent1"/>
                </a:solidFill>
              </a:rPr>
              <a:t>2  Dapat dipindah</a:t>
            </a:r>
            <a:endParaRPr lang="en-US" sz="1150" dirty="0"/>
          </a:p>
        </p:txBody>
      </p:sp>
      <p:sp>
        <p:nvSpPr>
          <p:cNvPr id="9" name="o108"/>
          <p:cNvSpPr txBox="1"/>
          <p:nvPr/>
        </p:nvSpPr>
        <p:spPr>
          <a:xfrm>
            <a:off x="3355848" y="1645920"/>
            <a:ext cx="2523744" cy="978408"/>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Tangki GFS dibaut dan peralatan di skid kontainer (21 muatan). Bila PKS tutup di tahun 8, set dipindah: NPV USD 0,20 juta, bukan USD -0,84 juta terdampar.</a:t>
            </a:r>
            <a:endParaRPr lang="en-US" sz="1000" dirty="0"/>
          </a:p>
        </p:txBody>
      </p:sp>
      <p:sp>
        <p:nvSpPr>
          <p:cNvPr id="10" name="o109"/>
          <p:cNvSpPr/>
          <p:nvPr/>
        </p:nvSpPr>
        <p:spPr>
          <a:xfrm>
            <a:off x="411480" y="2779776"/>
            <a:ext cx="2743200" cy="1389888"/>
          </a:xfrm>
          <a:prstGeom prst="roundRect">
            <a:avLst>
              <a:gd name="adj" fmla="val 3947"/>
            </a:avLst>
          </a:prstGeom>
          <a:solidFill>
            <a:schemeClr val="bg1"/>
          </a:solidFill>
          <a:ln w="15875">
            <a:solidFill>
              <a:schemeClr val="accent2"/>
            </a:solidFill>
            <a:prstDash val="solid"/>
          </a:ln>
        </p:spPr>
      </p:sp>
      <p:sp>
        <p:nvSpPr>
          <p:cNvPr id="11" name="o110"/>
          <p:cNvSpPr txBox="1"/>
          <p:nvPr/>
        </p:nvSpPr>
        <p:spPr>
          <a:xfrm>
            <a:off x="521208" y="2843784"/>
            <a:ext cx="2523744" cy="274320"/>
          </a:xfrm>
          <a:prstGeom prst="rect">
            <a:avLst/>
          </a:prstGeom>
          <a:noFill/>
          <a:ln/>
        </p:spPr>
        <p:txBody>
          <a:bodyPr wrap="square" lIns="0" tIns="0" rIns="0" bIns="0" rtlCol="0" anchor="t"/>
          <a:lstStyle/>
          <a:p>
            <a:pPr indent="0" marL="0">
              <a:buNone/>
            </a:pPr>
            <a:r>
              <a:rPr lang="en-US" sz="1150" b="1" dirty="0">
                <a:solidFill>
                  <a:schemeClr val="accent2"/>
                </a:solidFill>
              </a:rPr>
              <a:t>3  Layanan, bukan penjualan alat</a:t>
            </a:r>
            <a:endParaRPr lang="en-US" sz="1150" dirty="0"/>
          </a:p>
        </p:txBody>
      </p:sp>
      <p:sp>
        <p:nvSpPr>
          <p:cNvPr id="12" name="o111"/>
          <p:cNvSpPr txBox="1"/>
          <p:nvPr/>
        </p:nvSpPr>
        <p:spPr>
          <a:xfrm>
            <a:off x="521208" y="3127248"/>
            <a:ext cx="2523744" cy="978408"/>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BOO: PKS membayar USD 1,00/t TBS dan listrik USD 0,20/kWh (solar USD 0,37-0,39). Operator menanggung risiko biologis dan teknis.</a:t>
            </a:r>
            <a:endParaRPr lang="en-US" sz="1000" dirty="0"/>
          </a:p>
        </p:txBody>
      </p:sp>
      <p:sp>
        <p:nvSpPr>
          <p:cNvPr id="13" name="o112"/>
          <p:cNvSpPr/>
          <p:nvPr/>
        </p:nvSpPr>
        <p:spPr>
          <a:xfrm>
            <a:off x="3246120" y="2779776"/>
            <a:ext cx="2743200" cy="1389888"/>
          </a:xfrm>
          <a:prstGeom prst="roundRect">
            <a:avLst>
              <a:gd name="adj" fmla="val 3947"/>
            </a:avLst>
          </a:prstGeom>
          <a:solidFill>
            <a:schemeClr val="bg1"/>
          </a:solidFill>
          <a:ln w="15875">
            <a:solidFill>
              <a:schemeClr val="accent2"/>
            </a:solidFill>
            <a:prstDash val="solid"/>
          </a:ln>
        </p:spPr>
      </p:sp>
      <p:sp>
        <p:nvSpPr>
          <p:cNvPr id="14" name="o113"/>
          <p:cNvSpPr txBox="1"/>
          <p:nvPr/>
        </p:nvSpPr>
        <p:spPr>
          <a:xfrm>
            <a:off x="3355848" y="2843784"/>
            <a:ext cx="2523744" cy="274320"/>
          </a:xfrm>
          <a:prstGeom prst="rect">
            <a:avLst/>
          </a:prstGeom>
          <a:noFill/>
          <a:ln/>
        </p:spPr>
        <p:txBody>
          <a:bodyPr wrap="square" lIns="0" tIns="0" rIns="0" bIns="0" rtlCol="0" anchor="t"/>
          <a:lstStyle/>
          <a:p>
            <a:pPr indent="0" marL="0">
              <a:buNone/>
            </a:pPr>
            <a:r>
              <a:rPr lang="en-US" sz="1150" b="1" dirty="0">
                <a:solidFill>
                  <a:schemeClr val="accent2"/>
                </a:solidFill>
              </a:rPr>
              <a:t>4  Tiga aliran nilai dari satu limbah</a:t>
            </a:r>
            <a:endParaRPr lang="en-US" sz="1150" dirty="0"/>
          </a:p>
        </p:txBody>
      </p:sp>
      <p:sp>
        <p:nvSpPr>
          <p:cNvPr id="15" name="o114"/>
          <p:cNvSpPr txBox="1"/>
          <p:nvPr/>
        </p:nvSpPr>
        <p:spPr>
          <a:xfrm>
            <a:off x="3355848" y="3127248"/>
            <a:ext cx="2523744" cy="978408"/>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Listrik pengganti solar, ekspor PLN (Perpres 112/2022) dan kredit penghindaran metana; karbon hanya 5% pendapatan, jadi proyek tidak bergantung harga karbon.</a:t>
            </a:r>
            <a:endParaRPr lang="en-US" sz="1000" dirty="0"/>
          </a:p>
        </p:txBody>
      </p:sp>
      <p:graphicFrame>
        <p:nvGraphicFramePr>
          <p:cNvPr id="16" name="o115" descr=""/>
          <p:cNvGraphicFramePr/>
          <p:nvPr/>
        </p:nvGraphicFramePr>
        <p:xfrm>
          <a:off x="411480" y="4315968"/>
          <a:ext cx="5577840" cy="1261872"/>
        </p:xfrm>
        <a:graphic xmlns:a="http://schemas.openxmlformats.org/drawingml/2006/main">
          <a:graphicData uri="http://schemas.openxmlformats.org/drawingml/2006/chart">
            <c:chart xmlns:c="http://schemas.openxmlformats.org/drawingml/2006/chart" r:id="rId1"/>
          </a:graphicData>
        </a:graphic>
      </p:graphicFrame>
      <p:sp>
        <p:nvSpPr>
          <p:cNvPr id="17" name="o116"/>
          <p:cNvSpPr txBox="1"/>
          <p:nvPr/>
        </p:nvSpPr>
        <p:spPr>
          <a:xfrm>
            <a:off x="6172200" y="1298448"/>
            <a:ext cx="5623560" cy="274320"/>
          </a:xfrm>
          <a:prstGeom prst="rect">
            <a:avLst/>
          </a:prstGeom>
          <a:noFill/>
          <a:ln/>
        </p:spPr>
        <p:txBody>
          <a:bodyPr wrap="square" lIns="0" tIns="0" rIns="0" bIns="0" rtlCol="0" anchor="ctr"/>
          <a:lstStyle/>
          <a:p>
            <a:pPr indent="0" marL="0">
              <a:buNone/>
            </a:pPr>
            <a:r>
              <a:rPr lang="en-US" sz="1250" b="1" dirty="0">
                <a:solidFill>
                  <a:schemeClr val="tx2"/>
                </a:solidFill>
              </a:rPr>
              <a:t>Matriks pesaing berbobot (5 = terbaik bagi PKS)</a:t>
            </a:r>
            <a:endParaRPr lang="en-US" sz="1250" dirty="0"/>
          </a:p>
        </p:txBody>
      </p:sp>
      <p:pic>
        <p:nvPicPr>
          <p:cNvPr id="18" name="o117" descr="/home/user/aspebindo/finance/outputs/figs/g13_pesaing.png">    </p:cNvPr>
          <p:cNvPicPr>
            <a:picLocks noChangeAspect="1"/>
          </p:cNvPicPr>
          <p:nvPr/>
        </p:nvPicPr>
        <p:blipFill>
          <a:blip r:embed="rId2"/>
          <a:stretch>
            <a:fillRect/>
          </a:stretch>
        </p:blipFill>
        <p:spPr>
          <a:xfrm>
            <a:off x="6172200" y="1627632"/>
            <a:ext cx="5623560" cy="2325058"/>
          </a:xfrm>
          <a:prstGeom prst="rect">
            <a:avLst/>
          </a:prstGeom>
        </p:spPr>
      </p:pic>
      <p:sp>
        <p:nvSpPr>
          <p:cNvPr id="19" name="o118"/>
          <p:cNvSpPr/>
          <p:nvPr/>
        </p:nvSpPr>
        <p:spPr>
          <a:xfrm>
            <a:off x="6172200" y="4023360"/>
            <a:ext cx="1783080" cy="1554480"/>
          </a:xfrm>
          <a:prstGeom prst="roundRect">
            <a:avLst>
              <a:gd name="adj" fmla="val 3529"/>
            </a:avLst>
          </a:prstGeom>
          <a:solidFill>
            <a:schemeClr val="bg2"/>
          </a:solidFill>
          <a:ln w="12700">
            <a:solidFill>
              <a:schemeClr val="bg2"/>
            </a:solidFill>
            <a:prstDash val="solid"/>
          </a:ln>
        </p:spPr>
      </p:sp>
      <p:sp>
        <p:nvSpPr>
          <p:cNvPr id="20" name="o119"/>
          <p:cNvSpPr txBox="1"/>
          <p:nvPr/>
        </p:nvSpPr>
        <p:spPr>
          <a:xfrm>
            <a:off x="6263640" y="4078224"/>
            <a:ext cx="1600200" cy="80833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3,71</a:t>
            </a:r>
            <a:endParaRPr lang="en-US" sz="2600" dirty="0"/>
          </a:p>
        </p:txBody>
      </p:sp>
      <p:sp>
        <p:nvSpPr>
          <p:cNvPr id="21" name="o120"/>
          <p:cNvSpPr txBox="1"/>
          <p:nvPr/>
        </p:nvSpPr>
        <p:spPr>
          <a:xfrm>
            <a:off x="6263640" y="4924958"/>
            <a:ext cx="1600200" cy="621792"/>
          </a:xfrm>
          <a:prstGeom prst="rect">
            <a:avLst/>
          </a:prstGeom>
          <a:noFill/>
          <a:ln/>
        </p:spPr>
        <p:txBody>
          <a:bodyPr wrap="square" lIns="0" tIns="0" rIns="0" bIns="0" rtlCol="0" anchor="t"/>
          <a:lstStyle/>
          <a:p>
            <a:pPr indent="0" marL="0">
              <a:buNone/>
            </a:pPr>
            <a:r>
              <a:rPr lang="en-US" sz="950" dirty="0">
                <a:solidFill>
                  <a:schemeClr val="tx1"/>
                </a:solidFill>
              </a:rPr>
              <a:t>skor kami, tertinggi dari 7 opsi</a:t>
            </a:r>
            <a:endParaRPr lang="en-US" sz="950" dirty="0"/>
          </a:p>
        </p:txBody>
      </p:sp>
      <p:sp>
        <p:nvSpPr>
          <p:cNvPr id="22" name="o121"/>
          <p:cNvSpPr/>
          <p:nvPr/>
        </p:nvSpPr>
        <p:spPr>
          <a:xfrm>
            <a:off x="8092440" y="4023360"/>
            <a:ext cx="1783080" cy="1554480"/>
          </a:xfrm>
          <a:prstGeom prst="roundRect">
            <a:avLst>
              <a:gd name="adj" fmla="val 3529"/>
            </a:avLst>
          </a:prstGeom>
          <a:solidFill>
            <a:schemeClr val="bg2"/>
          </a:solidFill>
          <a:ln w="12700">
            <a:solidFill>
              <a:schemeClr val="bg2"/>
            </a:solidFill>
            <a:prstDash val="solid"/>
          </a:ln>
        </p:spPr>
      </p:sp>
      <p:sp>
        <p:nvSpPr>
          <p:cNvPr id="23" name="o122"/>
          <p:cNvSpPr txBox="1"/>
          <p:nvPr/>
        </p:nvSpPr>
        <p:spPr>
          <a:xfrm>
            <a:off x="8183880" y="4078224"/>
            <a:ext cx="1600200" cy="808330"/>
          </a:xfrm>
          <a:prstGeom prst="rect">
            <a:avLst/>
          </a:prstGeom>
          <a:noFill/>
          <a:ln/>
        </p:spPr>
        <p:txBody>
          <a:bodyPr wrap="square" lIns="0" tIns="0" rIns="0" bIns="0" rtlCol="0" anchor="b"/>
          <a:lstStyle/>
          <a:p>
            <a:pPr indent="0" marL="0">
              <a:buNone/>
            </a:pPr>
            <a:r>
              <a:rPr lang="en-US" sz="2600" b="1" dirty="0">
                <a:solidFill>
                  <a:schemeClr val="accent6"/>
                </a:solidFill>
                <a:latin typeface="Cambria" pitchFamily="34" charset="0"/>
                <a:ea typeface="Cambria" pitchFamily="34" charset="-122"/>
                <a:cs typeface="Cambria" pitchFamily="34" charset="-120"/>
              </a:rPr>
              <a:t>3,67</a:t>
            </a:r>
            <a:endParaRPr lang="en-US" sz="2600" dirty="0"/>
          </a:p>
        </p:txBody>
      </p:sp>
      <p:sp>
        <p:nvSpPr>
          <p:cNvPr id="24" name="o123"/>
          <p:cNvSpPr txBox="1"/>
          <p:nvPr/>
        </p:nvSpPr>
        <p:spPr>
          <a:xfrm>
            <a:off x="8183880" y="4924958"/>
            <a:ext cx="1600200" cy="621792"/>
          </a:xfrm>
          <a:prstGeom prst="rect">
            <a:avLst/>
          </a:prstGeom>
          <a:noFill/>
          <a:ln/>
        </p:spPr>
        <p:txBody>
          <a:bodyPr wrap="square" lIns="0" tIns="0" rIns="0" bIns="0" rtlCol="0" anchor="t"/>
          <a:lstStyle/>
          <a:p>
            <a:pPr indent="0" marL="0">
              <a:buNone/>
            </a:pPr>
            <a:r>
              <a:rPr lang="en-US" sz="950" dirty="0">
                <a:solidFill>
                  <a:schemeClr val="tx1"/>
                </a:solidFill>
              </a:rPr>
              <a:t>biometana BOOT (reNIKOLA): butuh USD 5,3 jt/PKS</a:t>
            </a:r>
            <a:endParaRPr lang="en-US" sz="950" dirty="0"/>
          </a:p>
        </p:txBody>
      </p:sp>
      <p:sp>
        <p:nvSpPr>
          <p:cNvPr id="25" name="o124"/>
          <p:cNvSpPr/>
          <p:nvPr/>
        </p:nvSpPr>
        <p:spPr>
          <a:xfrm>
            <a:off x="10012680" y="4023360"/>
            <a:ext cx="1783080" cy="1554480"/>
          </a:xfrm>
          <a:prstGeom prst="roundRect">
            <a:avLst>
              <a:gd name="adj" fmla="val 3529"/>
            </a:avLst>
          </a:prstGeom>
          <a:solidFill>
            <a:schemeClr val="bg2"/>
          </a:solidFill>
          <a:ln w="12700">
            <a:solidFill>
              <a:schemeClr val="bg2"/>
            </a:solidFill>
            <a:prstDash val="solid"/>
          </a:ln>
        </p:spPr>
      </p:sp>
      <p:sp>
        <p:nvSpPr>
          <p:cNvPr id="26" name="o125"/>
          <p:cNvSpPr txBox="1"/>
          <p:nvPr/>
        </p:nvSpPr>
        <p:spPr>
          <a:xfrm>
            <a:off x="10104120" y="4078224"/>
            <a:ext cx="1600200" cy="808330"/>
          </a:xfrm>
          <a:prstGeom prst="rect">
            <a:avLst/>
          </a:prstGeom>
          <a:noFill/>
          <a:ln/>
        </p:spPr>
        <p:txBody>
          <a:bodyPr wrap="square" lIns="0" tIns="0" rIns="0" bIns="0" rtlCol="0" anchor="b"/>
          <a:lstStyle/>
          <a:p>
            <a:pPr indent="0" marL="0">
              <a:buNone/>
            </a:pPr>
            <a:r>
              <a:rPr lang="en-US" sz="2600" b="1" dirty="0">
                <a:solidFill>
                  <a:schemeClr val="accent2"/>
                </a:solidFill>
                <a:latin typeface="Cambria" pitchFamily="34" charset="0"/>
                <a:ea typeface="Cambria" pitchFamily="34" charset="-122"/>
                <a:cs typeface="Cambria" pitchFamily="34" charset="-120"/>
              </a:rPr>
              <a:t>5,0</a:t>
            </a:r>
            <a:endParaRPr lang="en-US" sz="2600" dirty="0"/>
          </a:p>
        </p:txBody>
      </p:sp>
      <p:sp>
        <p:nvSpPr>
          <p:cNvPr id="27" name="o126"/>
          <p:cNvSpPr txBox="1"/>
          <p:nvPr/>
        </p:nvSpPr>
        <p:spPr>
          <a:xfrm>
            <a:off x="10104120" y="4924958"/>
            <a:ext cx="1600200" cy="621792"/>
          </a:xfrm>
          <a:prstGeom prst="rect">
            <a:avLst/>
          </a:prstGeom>
          <a:noFill/>
          <a:ln/>
        </p:spPr>
        <p:txBody>
          <a:bodyPr wrap="square" lIns="0" tIns="0" rIns="0" bIns="0" rtlCol="0" anchor="t"/>
          <a:lstStyle/>
          <a:p>
            <a:pPr indent="0" marL="0">
              <a:buNone/>
            </a:pPr>
            <a:r>
              <a:rPr lang="en-US" sz="950" dirty="0">
                <a:solidFill>
                  <a:schemeClr val="tx1"/>
                </a:solidFill>
              </a:rPr>
              <a:t>satu-satunya skor penuh untuk modal PKS dan relokasi</a:t>
            </a:r>
            <a:endParaRPr lang="en-US" sz="950" dirty="0"/>
          </a:p>
        </p:txBody>
      </p:sp>
      <p:sp>
        <p:nvSpPr>
          <p:cNvPr id="28" name="o127"/>
          <p:cNvSpPr txBox="1"/>
          <p:nvPr/>
        </p:nvSpPr>
        <p:spPr>
          <a:xfrm>
            <a:off x="411480" y="5669280"/>
            <a:ext cx="1325880" cy="457200"/>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rPr>
              <a:t>Kesimpulan</a:t>
            </a:r>
            <a:endParaRPr lang="en-US" sz="1200" dirty="0"/>
          </a:p>
        </p:txBody>
      </p:sp>
      <p:sp>
        <p:nvSpPr>
          <p:cNvPr id="29" name="o128"/>
          <p:cNvSpPr txBox="1"/>
          <p:nvPr/>
        </p:nvSpPr>
        <p:spPr>
          <a:xfrm>
            <a:off x="1737360" y="5669280"/>
            <a:ext cx="10058400" cy="457200"/>
          </a:xfrm>
          <a:prstGeom prst="rect">
            <a:avLst/>
          </a:prstGeom>
          <a:solidFill>
            <a:schemeClr val="bg2"/>
          </a:solidFill>
          <a:ln/>
        </p:spPr>
        <p:txBody>
          <a:bodyPr wrap="square" lIns="0" tIns="127000" rIns="127000" bIns="0" rtlCol="0" anchor="ctr"/>
          <a:lstStyle/>
          <a:p>
            <a:pPr indent="0" marL="0">
              <a:buNone/>
            </a:pPr>
            <a:r>
              <a:rPr lang="en-US" sz="1150" dirty="0">
                <a:solidFill>
                  <a:schemeClr val="tx1"/>
                </a:solidFill>
              </a:rPr>
              <a:t>Teknologi biogas POME sudah matang; inovasi kami adalah mengemasnya menjadi produk standar yang dapat dipindah dan dijual sebagai layanan, sehingga risiko modal dan kinerja pindah dari PKS ke operator.</a:t>
            </a:r>
            <a:endParaRPr lang="en-US" sz="1150" dirty="0"/>
          </a:p>
        </p:txBody>
      </p:sp>
      <p:sp>
        <p:nvSpPr>
          <p:cNvPr id="30" name="o129"/>
          <p:cNvSpPr txBox="1"/>
          <p:nvPr/>
        </p:nvSpPr>
        <p:spPr>
          <a:xfrm>
            <a:off x="411480" y="6163056"/>
            <a:ext cx="11384280" cy="256032"/>
          </a:xfrm>
          <a:prstGeom prst="rect">
            <a:avLst/>
          </a:prstGeom>
          <a:noFill/>
          <a:ln/>
        </p:spPr>
        <p:txBody>
          <a:bodyPr wrap="square" lIns="0" tIns="0" rIns="0" bIns="0" rtlCol="0" anchor="ctr"/>
          <a:lstStyle/>
          <a:p>
            <a:pPr indent="0" marL="0">
              <a:buNone/>
            </a:pPr>
            <a:r>
              <a:rPr lang="en-US" sz="750" dirty="0">
                <a:solidFill>
                  <a:schemeClr val="accent6"/>
                </a:solidFill>
              </a:rPr>
              <a:t>Sumber: fin_market.py (matriks 7 kriteria berbobot), fin_core.py (skenario relokasi), R3_competitors.json; reNIKOLA/PTPN IV/Pertagas (USD 40-45 jt untuk 8 PKS).</a:t>
            </a:r>
            <a:endParaRPr lang="en-US" sz="750" dirty="0"/>
          </a:p>
        </p:txBody>
      </p:sp>
      <p:sp>
        <p:nvSpPr>
          <p:cNvPr id="31" name="o130"/>
          <p:cNvSpPr txBox="1"/>
          <p:nvPr/>
        </p:nvSpPr>
        <p:spPr>
          <a:xfrm>
            <a:off x="41148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Masalah</a:t>
            </a:r>
            <a:endParaRPr lang="en-US" sz="950" dirty="0"/>
          </a:p>
        </p:txBody>
      </p:sp>
      <p:sp>
        <p:nvSpPr>
          <p:cNvPr id="32" name="o131"/>
          <p:cNvSpPr txBox="1"/>
          <p:nvPr/>
        </p:nvSpPr>
        <p:spPr>
          <a:xfrm>
            <a:off x="163677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Solusi</a:t>
            </a:r>
            <a:endParaRPr lang="en-US" sz="950" dirty="0"/>
          </a:p>
        </p:txBody>
      </p:sp>
      <p:sp>
        <p:nvSpPr>
          <p:cNvPr id="33" name="o132"/>
          <p:cNvSpPr txBox="1"/>
          <p:nvPr/>
        </p:nvSpPr>
        <p:spPr>
          <a:xfrm>
            <a:off x="2862072" y="6473952"/>
            <a:ext cx="1188720" cy="256032"/>
          </a:xfrm>
          <a:prstGeom prst="roundRect">
            <a:avLst>
              <a:gd name="adj" fmla="val 21429"/>
            </a:avLst>
          </a:prstGeom>
          <a:solidFill>
            <a:schemeClr val="tx2"/>
          </a:solidFill>
          <a:ln>
            <a:solidFill>
              <a:schemeClr val="tx2"/>
            </a:solidFill>
          </a:ln>
        </p:spPr>
        <p:txBody>
          <a:bodyPr wrap="square" lIns="0" tIns="0" rIns="0" bIns="0" rtlCol="0" anchor="ctr"/>
          <a:lstStyle/>
          <a:p>
            <a:pPr algn="ctr" indent="0" marL="0">
              <a:buNone/>
            </a:pPr>
            <a:r>
              <a:rPr lang="en-US" sz="950" b="1" dirty="0">
                <a:solidFill>
                  <a:schemeClr val="bg1"/>
                </a:solidFill>
              </a:rPr>
              <a:t>Inovasi</a:t>
            </a:r>
            <a:endParaRPr lang="en-US" sz="950" dirty="0"/>
          </a:p>
        </p:txBody>
      </p:sp>
      <p:sp>
        <p:nvSpPr>
          <p:cNvPr id="34" name="o133"/>
          <p:cNvSpPr txBox="1"/>
          <p:nvPr/>
        </p:nvSpPr>
        <p:spPr>
          <a:xfrm>
            <a:off x="408736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Pasar</a:t>
            </a:r>
            <a:endParaRPr lang="en-US" sz="950" dirty="0"/>
          </a:p>
        </p:txBody>
      </p:sp>
      <p:sp>
        <p:nvSpPr>
          <p:cNvPr id="35" name="o134"/>
          <p:cNvSpPr txBox="1"/>
          <p:nvPr/>
        </p:nvSpPr>
        <p:spPr>
          <a:xfrm>
            <a:off x="5312664"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Model bisnis</a:t>
            </a:r>
            <a:endParaRPr lang="en-US" sz="950" dirty="0"/>
          </a:p>
        </p:txBody>
      </p:sp>
      <p:sp>
        <p:nvSpPr>
          <p:cNvPr id="36" name="o135"/>
          <p:cNvSpPr txBox="1"/>
          <p:nvPr/>
        </p:nvSpPr>
        <p:spPr>
          <a:xfrm>
            <a:off x="653796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Keuangan</a:t>
            </a:r>
            <a:endParaRPr lang="en-US" sz="950" dirty="0"/>
          </a:p>
        </p:txBody>
      </p:sp>
      <p:sp>
        <p:nvSpPr>
          <p:cNvPr id="37" name="o136"/>
          <p:cNvSpPr txBox="1"/>
          <p:nvPr/>
        </p:nvSpPr>
        <p:spPr>
          <a:xfrm>
            <a:off x="776325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Dampak</a:t>
            </a:r>
            <a:endParaRPr lang="en-US" sz="950" dirty="0"/>
          </a:p>
        </p:txBody>
      </p:sp>
      <p:sp>
        <p:nvSpPr>
          <p:cNvPr id="38" name="o137"/>
          <p:cNvSpPr txBox="1"/>
          <p:nvPr/>
        </p:nvSpPr>
        <p:spPr>
          <a:xfrm>
            <a:off x="898855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Skala</a:t>
            </a:r>
            <a:endParaRPr lang="en-US" sz="950" dirty="0"/>
          </a:p>
        </p:txBody>
      </p:sp>
      <p:sp>
        <p:nvSpPr>
          <p:cNvPr id="39" name="o138"/>
          <p:cNvSpPr txBox="1"/>
          <p:nvPr/>
        </p:nvSpPr>
        <p:spPr>
          <a:xfrm>
            <a:off x="1021384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Penutup</a:t>
            </a:r>
            <a:endParaRPr lang="en-US" sz="950" dirty="0"/>
          </a:p>
        </p:txBody>
      </p:sp>
      <p:sp>
        <p:nvSpPr>
          <p:cNvPr id="40" name="o139"/>
          <p:cNvSpPr/>
          <p:nvPr/>
        </p:nvSpPr>
        <p:spPr>
          <a:xfrm>
            <a:off x="11384280" y="6473952"/>
            <a:ext cx="411480" cy="256032"/>
          </a:xfrm>
          <a:prstGeom prst="roundRect">
            <a:avLst>
              <a:gd name="adj" fmla="val 21429"/>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1138428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11480" y="182880"/>
            <a:ext cx="8686800" cy="237744"/>
          </a:xfrm>
          <a:prstGeom prst="rect">
            <a:avLst/>
          </a:prstGeom>
          <a:noFill/>
          <a:ln/>
        </p:spPr>
        <p:txBody>
          <a:bodyPr wrap="square" lIns="0" tIns="0" rIns="0" bIns="0" rtlCol="0"/>
          <a:lstStyle/>
          <a:p>
            <a:pPr indent="0" marL="0">
              <a:buNone/>
            </a:pPr>
            <a:r>
              <a:rPr lang="en-US" sz="1100" b="1" dirty="0">
                <a:solidFill>
                  <a:schemeClr val="accent1"/>
                </a:solidFill>
              </a:rPr>
              <a:t>Peluang pasar</a:t>
            </a:r>
            <a:endParaRPr lang="en-US" sz="1100" dirty="0"/>
          </a:p>
        </p:txBody>
      </p:sp>
      <p:sp>
        <p:nvSpPr>
          <p:cNvPr id="3" name="Text 1"/>
          <p:cNvSpPr/>
          <p:nvPr>
            <p:ph idx="102" type="title" hasCustomPrompt="1"/>
          </p:nvPr>
        </p:nvSpPr>
        <p:spPr>
          <a:xfrm>
            <a:off x="411480" y="420624"/>
            <a:ext cx="11338560" cy="786384"/>
          </a:xfrm>
          <a:prstGeom prst="rect">
            <a:avLst/>
          </a:prstGeom>
          <a:noFill/>
          <a:ln/>
        </p:spPr>
        <p:txBody>
          <a:bodyPr wrap="square" lIns="0" tIns="0" rIns="0" bIns="0" rtlCol="0" anchor="t"/>
          <a:lstStyle/>
          <a:p>
            <a:pPr algn="l" indent="0" marL="0">
              <a:buNone/>
            </a:pPr>
            <a:r>
              <a:rPr lang="en-US" sz="2100" b="1" dirty="0">
                <a:solidFill>
                  <a:schemeClr val="tx2"/>
                </a:solidFill>
              </a:rPr>
              <a:t>Pasar: ~1.150 PKS belum menangkap metana; target awal 159 PKS bergantung solar dengan nilai layanan USD 164 juta/th</a:t>
            </a:r>
            <a:endParaRPr lang="en-US" sz="2100" dirty="0"/>
          </a:p>
        </p:txBody>
      </p:sp>
      <p:pic>
        <p:nvPicPr>
          <p:cNvPr id="4" name="o140" descr="/home/user/aspebindo/finance/outputs/figs/g01_pasar.png">    </p:cNvPr>
          <p:cNvPicPr>
            <a:picLocks noChangeAspect="1"/>
          </p:cNvPicPr>
          <p:nvPr/>
        </p:nvPicPr>
        <p:blipFill>
          <a:blip r:embed="rId1"/>
          <a:stretch>
            <a:fillRect/>
          </a:stretch>
        </p:blipFill>
        <p:spPr>
          <a:xfrm>
            <a:off x="411480" y="1298448"/>
            <a:ext cx="6400800" cy="2767488"/>
          </a:xfrm>
          <a:prstGeom prst="rect">
            <a:avLst/>
          </a:prstGeom>
        </p:spPr>
      </p:pic>
      <p:sp>
        <p:nvSpPr>
          <p:cNvPr id="5" name="o141"/>
          <p:cNvSpPr/>
          <p:nvPr/>
        </p:nvSpPr>
        <p:spPr>
          <a:xfrm>
            <a:off x="411480" y="4206240"/>
            <a:ext cx="2057400" cy="1325880"/>
          </a:xfrm>
          <a:prstGeom prst="roundRect">
            <a:avLst>
              <a:gd name="adj" fmla="val 4138"/>
            </a:avLst>
          </a:prstGeom>
          <a:solidFill>
            <a:schemeClr val="bg2"/>
          </a:solidFill>
          <a:ln w="12700">
            <a:solidFill>
              <a:schemeClr val="bg2"/>
            </a:solidFill>
            <a:prstDash val="solid"/>
          </a:ln>
        </p:spPr>
      </p:sp>
      <p:sp>
        <p:nvSpPr>
          <p:cNvPr id="6" name="o142"/>
          <p:cNvSpPr txBox="1"/>
          <p:nvPr/>
        </p:nvSpPr>
        <p:spPr>
          <a:xfrm>
            <a:off x="502920" y="4261104"/>
            <a:ext cx="1874520" cy="689458"/>
          </a:xfrm>
          <a:prstGeom prst="rect">
            <a:avLst/>
          </a:prstGeom>
          <a:noFill/>
          <a:ln/>
        </p:spPr>
        <p:txBody>
          <a:bodyPr wrap="square" lIns="0" tIns="0" rIns="0" bIns="0" rtlCol="0" anchor="b"/>
          <a:lstStyle/>
          <a:p>
            <a:pPr indent="0" marL="0">
              <a:buNone/>
            </a:pPr>
            <a:r>
              <a:rPr lang="en-US" sz="2200" b="1" dirty="0">
                <a:solidFill>
                  <a:schemeClr val="tx2"/>
                </a:solidFill>
                <a:latin typeface="Cambria" pitchFamily="34" charset="0"/>
                <a:ea typeface="Cambria" pitchFamily="34" charset="-122"/>
                <a:cs typeface="Cambria" pitchFamily="34" charset="-120"/>
              </a:rPr>
              <a:t>1.009 set</a:t>
            </a:r>
            <a:endParaRPr lang="en-US" sz="2200" dirty="0"/>
          </a:p>
        </p:txBody>
      </p:sp>
      <p:sp>
        <p:nvSpPr>
          <p:cNvPr id="7" name="o143"/>
          <p:cNvSpPr txBox="1"/>
          <p:nvPr/>
        </p:nvSpPr>
        <p:spPr>
          <a:xfrm>
            <a:off x="502920" y="4975250"/>
            <a:ext cx="1874520" cy="530352"/>
          </a:xfrm>
          <a:prstGeom prst="rect">
            <a:avLst/>
          </a:prstGeom>
          <a:noFill/>
          <a:ln/>
        </p:spPr>
        <p:txBody>
          <a:bodyPr wrap="square" lIns="0" tIns="0" rIns="0" bIns="0" rtlCol="0" anchor="t"/>
          <a:lstStyle/>
          <a:p>
            <a:pPr indent="0" marL="0">
              <a:buNone/>
            </a:pPr>
            <a:r>
              <a:rPr lang="en-US" sz="950" dirty="0">
                <a:solidFill>
                  <a:schemeClr val="tx1"/>
                </a:solidFill>
              </a:rPr>
              <a:t>TAM: USD 1,04 miliar/th, semua POME tanpa penangkapan</a:t>
            </a:r>
            <a:endParaRPr lang="en-US" sz="950" dirty="0"/>
          </a:p>
        </p:txBody>
      </p:sp>
      <p:sp>
        <p:nvSpPr>
          <p:cNvPr id="8" name="o144"/>
          <p:cNvSpPr/>
          <p:nvPr/>
        </p:nvSpPr>
        <p:spPr>
          <a:xfrm>
            <a:off x="2578608" y="4206240"/>
            <a:ext cx="2057400" cy="1325880"/>
          </a:xfrm>
          <a:prstGeom prst="roundRect">
            <a:avLst>
              <a:gd name="adj" fmla="val 4138"/>
            </a:avLst>
          </a:prstGeom>
          <a:solidFill>
            <a:schemeClr val="bg2"/>
          </a:solidFill>
          <a:ln w="12700">
            <a:solidFill>
              <a:schemeClr val="bg2"/>
            </a:solidFill>
            <a:prstDash val="solid"/>
          </a:ln>
        </p:spPr>
      </p:sp>
      <p:sp>
        <p:nvSpPr>
          <p:cNvPr id="9" name="o145"/>
          <p:cNvSpPr txBox="1"/>
          <p:nvPr/>
        </p:nvSpPr>
        <p:spPr>
          <a:xfrm>
            <a:off x="2670048" y="4261104"/>
            <a:ext cx="1874520" cy="689458"/>
          </a:xfrm>
          <a:prstGeom prst="rect">
            <a:avLst/>
          </a:prstGeom>
          <a:noFill/>
          <a:ln/>
        </p:spPr>
        <p:txBody>
          <a:bodyPr wrap="square" lIns="0" tIns="0" rIns="0" bIns="0" rtlCol="0" anchor="b"/>
          <a:lstStyle/>
          <a:p>
            <a:pPr indent="0" marL="0">
              <a:buNone/>
            </a:pPr>
            <a:r>
              <a:rPr lang="en-US" sz="2200" b="1" dirty="0">
                <a:solidFill>
                  <a:schemeClr val="accent1"/>
                </a:solidFill>
                <a:latin typeface="Cambria" pitchFamily="34" charset="0"/>
                <a:ea typeface="Cambria" pitchFamily="34" charset="-122"/>
                <a:cs typeface="Cambria" pitchFamily="34" charset="-120"/>
              </a:rPr>
              <a:t>159 PKS</a:t>
            </a:r>
            <a:endParaRPr lang="en-US" sz="2200" dirty="0"/>
          </a:p>
        </p:txBody>
      </p:sp>
      <p:sp>
        <p:nvSpPr>
          <p:cNvPr id="10" name="o146"/>
          <p:cNvSpPr txBox="1"/>
          <p:nvPr/>
        </p:nvSpPr>
        <p:spPr>
          <a:xfrm>
            <a:off x="2670048" y="4975250"/>
            <a:ext cx="1874520" cy="530352"/>
          </a:xfrm>
          <a:prstGeom prst="rect">
            <a:avLst/>
          </a:prstGeom>
          <a:noFill/>
          <a:ln/>
        </p:spPr>
        <p:txBody>
          <a:bodyPr wrap="square" lIns="0" tIns="0" rIns="0" bIns="0" rtlCol="0" anchor="t"/>
          <a:lstStyle/>
          <a:p>
            <a:pPr indent="0" marL="0">
              <a:buNone/>
            </a:pPr>
            <a:r>
              <a:rPr lang="en-US" sz="950" dirty="0">
                <a:solidFill>
                  <a:schemeClr val="tx1"/>
                </a:solidFill>
              </a:rPr>
              <a:t>SAM: 30-60 t/jam, tanpa metana, bergantung solar</a:t>
            </a:r>
            <a:endParaRPr lang="en-US" sz="950" dirty="0"/>
          </a:p>
        </p:txBody>
      </p:sp>
      <p:sp>
        <p:nvSpPr>
          <p:cNvPr id="11" name="o147"/>
          <p:cNvSpPr/>
          <p:nvPr/>
        </p:nvSpPr>
        <p:spPr>
          <a:xfrm>
            <a:off x="4745736" y="4206240"/>
            <a:ext cx="2057400" cy="1325880"/>
          </a:xfrm>
          <a:prstGeom prst="roundRect">
            <a:avLst>
              <a:gd name="adj" fmla="val 4138"/>
            </a:avLst>
          </a:prstGeom>
          <a:solidFill>
            <a:schemeClr val="bg2"/>
          </a:solidFill>
          <a:ln w="12700">
            <a:solidFill>
              <a:schemeClr val="bg2"/>
            </a:solidFill>
            <a:prstDash val="solid"/>
          </a:ln>
        </p:spPr>
      </p:sp>
      <p:sp>
        <p:nvSpPr>
          <p:cNvPr id="12" name="o148"/>
          <p:cNvSpPr txBox="1"/>
          <p:nvPr/>
        </p:nvSpPr>
        <p:spPr>
          <a:xfrm>
            <a:off x="4837176" y="4261104"/>
            <a:ext cx="1874520" cy="689458"/>
          </a:xfrm>
          <a:prstGeom prst="rect">
            <a:avLst/>
          </a:prstGeom>
          <a:noFill/>
          <a:ln/>
        </p:spPr>
        <p:txBody>
          <a:bodyPr wrap="square" lIns="0" tIns="0" rIns="0" bIns="0" rtlCol="0" anchor="b"/>
          <a:lstStyle/>
          <a:p>
            <a:pPr indent="0" marL="0">
              <a:buNone/>
            </a:pPr>
            <a:r>
              <a:rPr lang="en-US" sz="2200" b="1" dirty="0">
                <a:solidFill>
                  <a:schemeClr val="accent2"/>
                </a:solidFill>
                <a:latin typeface="Cambria" pitchFamily="34" charset="0"/>
                <a:ea typeface="Cambria" pitchFamily="34" charset="-122"/>
                <a:cs typeface="Cambria" pitchFamily="34" charset="-120"/>
              </a:rPr>
              <a:t>15 set</a:t>
            </a:r>
            <a:endParaRPr lang="en-US" sz="2200" dirty="0"/>
          </a:p>
        </p:txBody>
      </p:sp>
      <p:sp>
        <p:nvSpPr>
          <p:cNvPr id="13" name="o149"/>
          <p:cNvSpPr txBox="1"/>
          <p:nvPr/>
        </p:nvSpPr>
        <p:spPr>
          <a:xfrm>
            <a:off x="4837176" y="4975250"/>
            <a:ext cx="1874520" cy="530352"/>
          </a:xfrm>
          <a:prstGeom prst="rect">
            <a:avLst/>
          </a:prstGeom>
          <a:noFill/>
          <a:ln/>
        </p:spPr>
        <p:txBody>
          <a:bodyPr wrap="square" lIns="0" tIns="0" rIns="0" bIns="0" rtlCol="0" anchor="t"/>
          <a:lstStyle/>
          <a:p>
            <a:pPr indent="0" marL="0">
              <a:buNone/>
            </a:pPr>
            <a:r>
              <a:rPr lang="en-US" sz="950" dirty="0">
                <a:solidFill>
                  <a:schemeClr val="tx1"/>
                </a:solidFill>
              </a:rPr>
              <a:t>SOM 2034: USD 15,5 juta/th (9% SAM)</a:t>
            </a:r>
            <a:endParaRPr lang="en-US" sz="950" dirty="0"/>
          </a:p>
        </p:txBody>
      </p:sp>
      <p:sp>
        <p:nvSpPr>
          <p:cNvPr id="14" name="o150"/>
          <p:cNvSpPr txBox="1"/>
          <p:nvPr/>
        </p:nvSpPr>
        <p:spPr>
          <a:xfrm>
            <a:off x="7040880" y="1298448"/>
            <a:ext cx="4754880" cy="274320"/>
          </a:xfrm>
          <a:prstGeom prst="rect">
            <a:avLst/>
          </a:prstGeom>
          <a:noFill/>
          <a:ln/>
        </p:spPr>
        <p:txBody>
          <a:bodyPr wrap="square" lIns="0" tIns="0" rIns="0" bIns="0" rtlCol="0" anchor="ctr"/>
          <a:lstStyle/>
          <a:p>
            <a:pPr indent="0" marL="0">
              <a:buNone/>
            </a:pPr>
            <a:r>
              <a:rPr lang="en-US" sz="1250" b="1" dirty="0">
                <a:solidFill>
                  <a:schemeClr val="tx2"/>
                </a:solidFill>
              </a:rPr>
              <a:t>Jendela kesepakatan per segmen (USD/t TBS)</a:t>
            </a:r>
            <a:endParaRPr lang="en-US" sz="1250" dirty="0"/>
          </a:p>
        </p:txBody>
      </p:sp>
      <p:graphicFrame>
        <p:nvGraphicFramePr>
          <p:cNvPr id="6" name="o151"/>
          <p:cNvGraphicFramePr>
            <a:graphicFrameLocks noGrp="1"/>
          </p:cNvGraphicFramePr>
          <p:nvPr>
            <p:extLst>
              <p:ext uri="{D42A27DB-BD31-4B8C-83A1-F6EECF244321}">
                <p14:modId xmlns:p14="http://schemas.microsoft.com/office/powerpoint/2010/main" val="1579011935"/>
              </p:ext>
            </p:extLst>
          </p:nvPr>
        </p:nvGraphicFramePr>
        <p:xfrm>
          <a:off x="7040880" y="1627632"/>
          <a:ext cx="4754880" cy="914400"/>
        </p:xfrm>
        <a:graphic>
          <a:graphicData uri="http://schemas.openxmlformats.org/drawingml/2006/table">
            <a:tbl>
              <a:tblPr/>
              <a:tblGrid>
                <a:gridCol w="1645920"/>
                <a:gridCol w="822960"/>
                <a:gridCol w="777240"/>
                <a:gridCol w="777240"/>
                <a:gridCol w="731520"/>
              </a:tblGrid>
              <a:tr h="32918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Segmen</a:t>
                      </a:r>
                      <a:endParaRPr lang="en-US" sz="1000" dirty="0">
                        <a:latin typeface="Calibri" charset="0"/>
                        <a:ea typeface="Calibri" charset="0"/>
                        <a:cs typeface="Calibri" charset="0"/>
                      </a:endParaRPr>
                    </a:p>
                  </a:txBody>
                  <a:tcPr marL="50800" marR="508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Fee min</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pengembang</a:t>
                      </a:r>
                      <a:endParaRPr lang="en-US" sz="1000" dirty="0">
                        <a:latin typeface="Calibri" charset="0"/>
                        <a:ea typeface="Calibri" charset="0"/>
                        <a:cs typeface="Calibri" charset="0"/>
                      </a:endParaRPr>
                    </a:p>
                  </a:txBody>
                  <a:tcPr marL="50800" marR="508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Fee maks</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PKS</a:t>
                      </a:r>
                      <a:endParaRPr lang="en-US" sz="1000" dirty="0">
                        <a:latin typeface="Calibri" charset="0"/>
                        <a:ea typeface="Calibri" charset="0"/>
                        <a:cs typeface="Calibri" charset="0"/>
                      </a:endParaRPr>
                    </a:p>
                  </a:txBody>
                  <a:tcPr marL="50800" marR="508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Hemat</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PKS</a:t>
                      </a:r>
                      <a:endParaRPr lang="en-US" sz="1000" dirty="0">
                        <a:latin typeface="Calibri" charset="0"/>
                        <a:ea typeface="Calibri" charset="0"/>
                        <a:cs typeface="Calibri" charset="0"/>
                      </a:endParaRPr>
                    </a:p>
                  </a:txBody>
                  <a:tcPr marL="50800" marR="508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IRR</a:t>
                      </a:r>
                      <a:endParaRPr lang="en-US" sz="1000" dirty="0">
                        <a:latin typeface="Calibri" charset="0"/>
                        <a:ea typeface="Calibri" charset="0"/>
                        <a:cs typeface="Calibri" charset="0"/>
                      </a:endParaRPr>
                    </a:p>
                  </a:txBody>
                  <a:tcPr marL="50800" marR="508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r>
              <a:tr h="329184">
                <a:tc>
                  <a:txBody>
                    <a:bodyPr/>
                    <a:lstStyle/>
                    <a:p>
                      <a:pPr algn="l" indent="0" marL="0">
                        <a:buNone/>
                      </a:pPr>
                      <a:r>
                        <a:rPr lang="en-US" sz="1000" dirty="0">
                          <a:solidFill>
                            <a:srgbClr val="1A2B26"/>
                          </a:solidFill>
                          <a:latin typeface="Calibri" pitchFamily="34" charset="0"/>
                          <a:ea typeface="Calibri" pitchFamily="34" charset="-122"/>
                          <a:cs typeface="Calibri" pitchFamily="34" charset="-120"/>
                        </a:rPr>
                        <a:t>S1 Terhubung PLN</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1,47</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0,60</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5462F"/>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A2B26"/>
                          </a:solidFill>
                          <a:latin typeface="Calibri" pitchFamily="34" charset="0"/>
                          <a:ea typeface="Calibri" pitchFamily="34" charset="-122"/>
                          <a:cs typeface="Calibri" pitchFamily="34" charset="-120"/>
                        </a:rPr>
                        <a:t>S2 PLN, beban tinggi</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1,09</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0,58</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5462F"/>
                          </a:solidFill>
                          <a:latin typeface="Calibri" pitchFamily="34" charset="0"/>
                          <a:ea typeface="Calibri" pitchFamily="34" charset="-122"/>
                          <a:cs typeface="Calibri" pitchFamily="34" charset="-120"/>
                        </a:rPr>
                        <a:t>-34%</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9,1%</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1A2B26"/>
                          </a:solidFill>
                          <a:latin typeface="Calibri" pitchFamily="34" charset="0"/>
                          <a:ea typeface="Calibri" pitchFamily="34" charset="-122"/>
                          <a:cs typeface="Calibri" pitchFamily="34" charset="-120"/>
                        </a:rPr>
                        <a:t>S3 Bergantung solar</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3EFE9"/>
                    </a:solidFill>
                  </a:tcPr>
                </a:tc>
                <a:tc>
                  <a:txBody>
                    <a:bodyPr/>
                    <a:lstStyle/>
                    <a:p>
                      <a:pPr algn="ctr" indent="0" marL="0">
                        <a:buNone/>
                      </a:pPr>
                      <a:r>
                        <a:rPr lang="en-US" sz="1000" b="1" dirty="0">
                          <a:solidFill>
                            <a:srgbClr val="1A2B26"/>
                          </a:solidFill>
                          <a:latin typeface="Calibri" pitchFamily="34" charset="0"/>
                          <a:ea typeface="Calibri" pitchFamily="34" charset="-122"/>
                          <a:cs typeface="Calibri" pitchFamily="34" charset="-120"/>
                        </a:rPr>
                        <a:t>0,60</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3EFE9"/>
                    </a:solidFill>
                  </a:tcPr>
                </a:tc>
                <a:tc>
                  <a:txBody>
                    <a:bodyPr/>
                    <a:lstStyle/>
                    <a:p>
                      <a:pPr algn="ctr" indent="0" marL="0">
                        <a:buNone/>
                      </a:pPr>
                      <a:r>
                        <a:rPr lang="en-US" sz="1000" b="1" dirty="0">
                          <a:solidFill>
                            <a:srgbClr val="1A2B26"/>
                          </a:solidFill>
                          <a:latin typeface="Calibri" pitchFamily="34" charset="0"/>
                          <a:ea typeface="Calibri" pitchFamily="34" charset="-122"/>
                          <a:cs typeface="Calibri" pitchFamily="34" charset="-120"/>
                        </a:rPr>
                        <a:t>1,90</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3EFE9"/>
                    </a:solidFill>
                  </a:tcPr>
                </a:tc>
                <a:tc>
                  <a:txBody>
                    <a:bodyPr/>
                    <a:lstStyle/>
                    <a:p>
                      <a:pPr algn="ctr" indent="0" marL="0">
                        <a:buNone/>
                      </a:pPr>
                      <a:r>
                        <a:rPr lang="en-US" sz="1000" b="1" dirty="0">
                          <a:solidFill>
                            <a:srgbClr val="2E7D6B"/>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3EFE9"/>
                    </a:solidFill>
                  </a:tcPr>
                </a:tc>
                <a:tc>
                  <a:txBody>
                    <a:bodyPr/>
                    <a:lstStyle/>
                    <a:p>
                      <a:pPr algn="ctr" indent="0" marL="0">
                        <a:buNone/>
                      </a:pPr>
                      <a:r>
                        <a:rPr lang="en-US" sz="1000" b="1" dirty="0">
                          <a:solidFill>
                            <a:srgbClr val="1A2B26"/>
                          </a:solidFill>
                          <a:latin typeface="Calibri" pitchFamily="34" charset="0"/>
                          <a:ea typeface="Calibri" pitchFamily="34" charset="-122"/>
                          <a:cs typeface="Calibri" pitchFamily="34" charset="-120"/>
                        </a:rPr>
                        <a:t>12,2%</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3EFE9"/>
                    </a:solidFill>
                  </a:tcPr>
                </a:tc>
              </a:tr>
              <a:tr h="329184">
                <a:tc>
                  <a:txBody>
                    <a:bodyPr/>
                    <a:lstStyle/>
                    <a:p>
                      <a:pPr algn="l" indent="0" marL="0">
                        <a:buNone/>
                      </a:pPr>
                      <a:r>
                        <a:rPr lang="en-US" sz="1000" dirty="0">
                          <a:solidFill>
                            <a:srgbClr val="1A2B26"/>
                          </a:solidFill>
                          <a:latin typeface="Calibri" pitchFamily="34" charset="0"/>
                          <a:ea typeface="Calibri" pitchFamily="34" charset="-122"/>
                          <a:cs typeface="Calibri" pitchFamily="34" charset="-120"/>
                        </a:rPr>
                        <a:t>S4 Off-grid penuh</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-0,11</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2,97</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E7D6B"/>
                          </a:solidFill>
                          <a:latin typeface="Calibri" pitchFamily="34" charset="0"/>
                          <a:ea typeface="Calibri" pitchFamily="34" charset="-122"/>
                          <a:cs typeface="Calibri" pitchFamily="34" charset="-120"/>
                        </a:rPr>
                        <a:t>29%</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15,6%</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bl>
          </a:graphicData>
        </a:graphic>
      </p:graphicFrame>
      <p:sp>
        <p:nvSpPr>
          <p:cNvPr id="16" name="o152"/>
          <p:cNvSpPr/>
          <p:nvPr/>
        </p:nvSpPr>
        <p:spPr>
          <a:xfrm>
            <a:off x="7040880" y="3401568"/>
            <a:ext cx="4754880" cy="2130552"/>
          </a:xfrm>
          <a:prstGeom prst="roundRect">
            <a:avLst>
              <a:gd name="adj" fmla="val 2575"/>
            </a:avLst>
          </a:prstGeom>
          <a:solidFill>
            <a:schemeClr val="bg1"/>
          </a:solidFill>
          <a:ln w="15875">
            <a:solidFill>
              <a:schemeClr val="accent1"/>
            </a:solidFill>
            <a:prstDash val="solid"/>
          </a:ln>
        </p:spPr>
      </p:sp>
      <p:sp>
        <p:nvSpPr>
          <p:cNvPr id="17" name="o153"/>
          <p:cNvSpPr txBox="1"/>
          <p:nvPr/>
        </p:nvSpPr>
        <p:spPr>
          <a:xfrm>
            <a:off x="7150608" y="3465576"/>
            <a:ext cx="4535424" cy="274320"/>
          </a:xfrm>
          <a:prstGeom prst="rect">
            <a:avLst/>
          </a:prstGeom>
          <a:noFill/>
          <a:ln/>
        </p:spPr>
        <p:txBody>
          <a:bodyPr wrap="square" lIns="0" tIns="0" rIns="0" bIns="0" rtlCol="0" anchor="t"/>
          <a:lstStyle/>
          <a:p>
            <a:pPr indent="0" marL="0">
              <a:buNone/>
            </a:pPr>
            <a:r>
              <a:rPr lang="en-US" sz="1200" b="1" dirty="0">
                <a:solidFill>
                  <a:schemeClr val="accent1"/>
                </a:solidFill>
              </a:rPr>
              <a:t>Mengapa mulai dari S3</a:t>
            </a:r>
            <a:endParaRPr lang="en-US" sz="1200" dirty="0"/>
          </a:p>
        </p:txBody>
      </p:sp>
      <p:sp>
        <p:nvSpPr>
          <p:cNvPr id="18" name="o154"/>
          <p:cNvSpPr txBox="1"/>
          <p:nvPr/>
        </p:nvSpPr>
        <p:spPr>
          <a:xfrm>
            <a:off x="7150608" y="3749040"/>
            <a:ext cx="4535424" cy="1719072"/>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chemeClr val="tx1"/>
                </a:solidFill>
              </a:rPr>
              <a:t>S1/S2 tidak punya jendela: biaya minimum kami melebihi yang mau dibayar PKS. Kami tidak menjual ke sana dulu.</a:t>
            </a:r>
            <a:endParaRPr lang="en-US" sz="1000" dirty="0"/>
          </a:p>
          <a:p>
            <a:pPr marL="342900" indent="-342900">
              <a:spcAft>
                <a:spcPts val="200"/>
              </a:spcAft>
              <a:buSzPct val="100000"/>
              <a:buChar char="•"/>
            </a:pPr>
            <a:r>
              <a:rPr lang="en-US" sz="1000" dirty="0">
                <a:solidFill>
                  <a:schemeClr val="tx1"/>
                </a:solidFill>
              </a:rPr>
              <a:t>S3 punya jendela USD 0,60-1,90/t TBS; fee dasar USD 1,00 di tengahnya.</a:t>
            </a:r>
            <a:endParaRPr lang="en-US" sz="1000" dirty="0"/>
          </a:p>
          <a:p>
            <a:pPr marL="342900" indent="-342900">
              <a:spcAft>
                <a:spcPts val="200"/>
              </a:spcAft>
              <a:buSzPct val="100000"/>
              <a:buChar char="•"/>
            </a:pPr>
            <a:r>
              <a:rPr lang="en-US" sz="1000" dirty="0">
                <a:solidFill>
                  <a:schemeClr val="tx1"/>
                </a:solidFill>
              </a:rPr>
              <a:t>442 PKS tanpa kebun (GAPKI 2026) adalah pembeli layanan alami: modal terbatas, risiko pasokan TBS tinggi.</a:t>
            </a:r>
            <a:endParaRPr lang="en-US" sz="1000" dirty="0"/>
          </a:p>
          <a:p>
            <a:pPr marL="342900" indent="-342900">
              <a:spcAft>
                <a:spcPts val="200"/>
              </a:spcAft>
              <a:buSzPct val="100000"/>
              <a:buChar char="•"/>
            </a:pPr>
            <a:r>
              <a:rPr lang="en-US" sz="1000" dirty="0">
                <a:solidFill>
                  <a:schemeClr val="tx1"/>
                </a:solidFill>
              </a:rPr>
              <a:t>Riau, Sumut, Kalteng, Kalbar dan Sumsel memuat &gt;60% SAM.</a:t>
            </a:r>
            <a:endParaRPr lang="en-US" sz="1000" dirty="0"/>
          </a:p>
        </p:txBody>
      </p:sp>
      <p:sp>
        <p:nvSpPr>
          <p:cNvPr id="19" name="o155"/>
          <p:cNvSpPr txBox="1"/>
          <p:nvPr/>
        </p:nvSpPr>
        <p:spPr>
          <a:xfrm>
            <a:off x="411480" y="5669280"/>
            <a:ext cx="1325880" cy="457200"/>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rPr>
              <a:t>Kesimpulan</a:t>
            </a:r>
            <a:endParaRPr lang="en-US" sz="1200" dirty="0"/>
          </a:p>
        </p:txBody>
      </p:sp>
      <p:sp>
        <p:nvSpPr>
          <p:cNvPr id="20" name="o156"/>
          <p:cNvSpPr txBox="1"/>
          <p:nvPr/>
        </p:nvSpPr>
        <p:spPr>
          <a:xfrm>
            <a:off x="1737360" y="5669280"/>
            <a:ext cx="10058400" cy="457200"/>
          </a:xfrm>
          <a:prstGeom prst="rect">
            <a:avLst/>
          </a:prstGeom>
          <a:solidFill>
            <a:schemeClr val="bg2"/>
          </a:solidFill>
          <a:ln/>
        </p:spPr>
        <p:txBody>
          <a:bodyPr wrap="square" lIns="0" tIns="127000" rIns="127000" bIns="0" rtlCol="0" anchor="ctr"/>
          <a:lstStyle/>
          <a:p>
            <a:pPr indent="0" marL="0">
              <a:buNone/>
            </a:pPr>
            <a:r>
              <a:rPr lang="en-US" sz="1150" dirty="0">
                <a:solidFill>
                  <a:schemeClr val="tx1"/>
                </a:solidFill>
              </a:rPr>
              <a:t>Kami sengaja menyempitkan pasar ke PKS yang benar-benar diuntungkan. Merebut 15 set pada 2034 sama dengan ~9% SAM dan seperempat laju bangun PLTBg nasional (9 MW/th), target yang dapat dicapai.</a:t>
            </a:r>
            <a:endParaRPr lang="en-US" sz="1150" dirty="0"/>
          </a:p>
        </p:txBody>
      </p:sp>
      <p:sp>
        <p:nvSpPr>
          <p:cNvPr id="21" name="o157"/>
          <p:cNvSpPr txBox="1"/>
          <p:nvPr/>
        </p:nvSpPr>
        <p:spPr>
          <a:xfrm>
            <a:off x="411480" y="6163056"/>
            <a:ext cx="11384280" cy="256032"/>
          </a:xfrm>
          <a:prstGeom prst="rect">
            <a:avLst/>
          </a:prstGeom>
          <a:noFill/>
          <a:ln/>
        </p:spPr>
        <p:txBody>
          <a:bodyPr wrap="square" lIns="0" tIns="0" rIns="0" bIns="0" rtlCol="0" anchor="ctr"/>
          <a:lstStyle/>
          <a:p>
            <a:pPr indent="0" marL="0">
              <a:buNone/>
            </a:pPr>
            <a:r>
              <a:rPr lang="en-US" sz="750" dirty="0">
                <a:solidFill>
                  <a:schemeClr val="accent6"/>
                </a:solidFill>
              </a:rPr>
              <a:t>Sumber: fin_market.py (pasar bottom-up), fin_mill.py (segmen); Trase/SEI-PCS (~1.300 PKS); GAPKI 2026 (442 PKS tanpa kebun); EBTKE (laju bangun PLTBg); Disbun Kaltim.</a:t>
            </a:r>
            <a:endParaRPr lang="en-US" sz="750" dirty="0"/>
          </a:p>
        </p:txBody>
      </p:sp>
      <p:sp>
        <p:nvSpPr>
          <p:cNvPr id="22" name="o158"/>
          <p:cNvSpPr txBox="1"/>
          <p:nvPr/>
        </p:nvSpPr>
        <p:spPr>
          <a:xfrm>
            <a:off x="41148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Masalah</a:t>
            </a:r>
            <a:endParaRPr lang="en-US" sz="950" dirty="0"/>
          </a:p>
        </p:txBody>
      </p:sp>
      <p:sp>
        <p:nvSpPr>
          <p:cNvPr id="23" name="o159"/>
          <p:cNvSpPr txBox="1"/>
          <p:nvPr/>
        </p:nvSpPr>
        <p:spPr>
          <a:xfrm>
            <a:off x="163677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Solusi</a:t>
            </a:r>
            <a:endParaRPr lang="en-US" sz="950" dirty="0"/>
          </a:p>
        </p:txBody>
      </p:sp>
      <p:sp>
        <p:nvSpPr>
          <p:cNvPr id="24" name="o160"/>
          <p:cNvSpPr txBox="1"/>
          <p:nvPr/>
        </p:nvSpPr>
        <p:spPr>
          <a:xfrm>
            <a:off x="286207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Inovasi</a:t>
            </a:r>
            <a:endParaRPr lang="en-US" sz="950" dirty="0"/>
          </a:p>
        </p:txBody>
      </p:sp>
      <p:sp>
        <p:nvSpPr>
          <p:cNvPr id="25" name="o161"/>
          <p:cNvSpPr txBox="1"/>
          <p:nvPr/>
        </p:nvSpPr>
        <p:spPr>
          <a:xfrm>
            <a:off x="4087368" y="6473952"/>
            <a:ext cx="1188720" cy="256032"/>
          </a:xfrm>
          <a:prstGeom prst="roundRect">
            <a:avLst>
              <a:gd name="adj" fmla="val 21429"/>
            </a:avLst>
          </a:prstGeom>
          <a:solidFill>
            <a:schemeClr val="tx2"/>
          </a:solidFill>
          <a:ln>
            <a:solidFill>
              <a:schemeClr val="tx2"/>
            </a:solidFill>
          </a:ln>
        </p:spPr>
        <p:txBody>
          <a:bodyPr wrap="square" lIns="0" tIns="0" rIns="0" bIns="0" rtlCol="0" anchor="ctr"/>
          <a:lstStyle/>
          <a:p>
            <a:pPr algn="ctr" indent="0" marL="0">
              <a:buNone/>
            </a:pPr>
            <a:r>
              <a:rPr lang="en-US" sz="950" b="1" dirty="0">
                <a:solidFill>
                  <a:schemeClr val="bg1"/>
                </a:solidFill>
              </a:rPr>
              <a:t>Pasar</a:t>
            </a:r>
            <a:endParaRPr lang="en-US" sz="950" dirty="0"/>
          </a:p>
        </p:txBody>
      </p:sp>
      <p:sp>
        <p:nvSpPr>
          <p:cNvPr id="26" name="o162"/>
          <p:cNvSpPr txBox="1"/>
          <p:nvPr/>
        </p:nvSpPr>
        <p:spPr>
          <a:xfrm>
            <a:off x="5312664"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Model bisnis</a:t>
            </a:r>
            <a:endParaRPr lang="en-US" sz="950" dirty="0"/>
          </a:p>
        </p:txBody>
      </p:sp>
      <p:sp>
        <p:nvSpPr>
          <p:cNvPr id="27" name="o163"/>
          <p:cNvSpPr txBox="1"/>
          <p:nvPr/>
        </p:nvSpPr>
        <p:spPr>
          <a:xfrm>
            <a:off x="653796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Keuangan</a:t>
            </a:r>
            <a:endParaRPr lang="en-US" sz="950" dirty="0"/>
          </a:p>
        </p:txBody>
      </p:sp>
      <p:sp>
        <p:nvSpPr>
          <p:cNvPr id="28" name="o164"/>
          <p:cNvSpPr txBox="1"/>
          <p:nvPr/>
        </p:nvSpPr>
        <p:spPr>
          <a:xfrm>
            <a:off x="776325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Dampak</a:t>
            </a:r>
            <a:endParaRPr lang="en-US" sz="950" dirty="0"/>
          </a:p>
        </p:txBody>
      </p:sp>
      <p:sp>
        <p:nvSpPr>
          <p:cNvPr id="29" name="o165"/>
          <p:cNvSpPr txBox="1"/>
          <p:nvPr/>
        </p:nvSpPr>
        <p:spPr>
          <a:xfrm>
            <a:off x="898855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Skala</a:t>
            </a:r>
            <a:endParaRPr lang="en-US" sz="950" dirty="0"/>
          </a:p>
        </p:txBody>
      </p:sp>
      <p:sp>
        <p:nvSpPr>
          <p:cNvPr id="30" name="o166"/>
          <p:cNvSpPr txBox="1"/>
          <p:nvPr/>
        </p:nvSpPr>
        <p:spPr>
          <a:xfrm>
            <a:off x="1021384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Penutup</a:t>
            </a:r>
            <a:endParaRPr lang="en-US" sz="950" dirty="0"/>
          </a:p>
        </p:txBody>
      </p:sp>
      <p:sp>
        <p:nvSpPr>
          <p:cNvPr id="31" name="o167"/>
          <p:cNvSpPr/>
          <p:nvPr/>
        </p:nvSpPr>
        <p:spPr>
          <a:xfrm>
            <a:off x="11384280" y="6473952"/>
            <a:ext cx="411480" cy="256032"/>
          </a:xfrm>
          <a:prstGeom prst="roundRect">
            <a:avLst>
              <a:gd name="adj" fmla="val 21429"/>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1138428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11480" y="182880"/>
            <a:ext cx="8686800" cy="237744"/>
          </a:xfrm>
          <a:prstGeom prst="rect">
            <a:avLst/>
          </a:prstGeom>
          <a:noFill/>
          <a:ln/>
        </p:spPr>
        <p:txBody>
          <a:bodyPr wrap="square" lIns="0" tIns="0" rIns="0" bIns="0" rtlCol="0"/>
          <a:lstStyle/>
          <a:p>
            <a:pPr indent="0" marL="0">
              <a:buNone/>
            </a:pPr>
            <a:r>
              <a:rPr lang="en-US" sz="1100" b="1" dirty="0">
                <a:solidFill>
                  <a:schemeClr val="accent1"/>
                </a:solidFill>
              </a:rPr>
              <a:t>Model bisnis</a:t>
            </a:r>
            <a:endParaRPr lang="en-US" sz="1100" dirty="0"/>
          </a:p>
        </p:txBody>
      </p:sp>
      <p:sp>
        <p:nvSpPr>
          <p:cNvPr id="3" name="Text 1"/>
          <p:cNvSpPr/>
          <p:nvPr>
            <p:ph idx="102" type="title" hasCustomPrompt="1"/>
          </p:nvPr>
        </p:nvSpPr>
        <p:spPr>
          <a:xfrm>
            <a:off x="411480" y="420624"/>
            <a:ext cx="11338560" cy="786384"/>
          </a:xfrm>
          <a:prstGeom prst="rect">
            <a:avLst/>
          </a:prstGeom>
          <a:noFill/>
          <a:ln/>
        </p:spPr>
        <p:txBody>
          <a:bodyPr wrap="square" lIns="0" tIns="0" rIns="0" bIns="0" rtlCol="0" anchor="t"/>
          <a:lstStyle/>
          <a:p>
            <a:pPr algn="l" indent="0" marL="0">
              <a:buNone/>
            </a:pPr>
            <a:r>
              <a:rPr lang="en-US" sz="2100" b="1" dirty="0">
                <a:solidFill>
                  <a:schemeClr val="tx2"/>
                </a:solidFill>
              </a:rPr>
              <a:t>Model bisnis: PKS membayar USD 3,40/t TBS, bukan 4,30, sehingga hemat 21% (USD 183 rb/th) tanpa capex, dan operator tetap untung</a:t>
            </a:r>
            <a:endParaRPr lang="en-US" sz="2100" dirty="0"/>
          </a:p>
        </p:txBody>
      </p:sp>
      <p:sp>
        <p:nvSpPr>
          <p:cNvPr id="4" name="o168"/>
          <p:cNvSpPr txBox="1"/>
          <p:nvPr/>
        </p:nvSpPr>
        <p:spPr>
          <a:xfrm>
            <a:off x="411480" y="1298448"/>
            <a:ext cx="7315200" cy="274320"/>
          </a:xfrm>
          <a:prstGeom prst="rect">
            <a:avLst/>
          </a:prstGeom>
          <a:noFill/>
          <a:ln/>
        </p:spPr>
        <p:txBody>
          <a:bodyPr wrap="square" lIns="0" tIns="0" rIns="0" bIns="0" rtlCol="0" anchor="ctr"/>
          <a:lstStyle/>
          <a:p>
            <a:pPr indent="0" marL="0">
              <a:buNone/>
            </a:pPr>
            <a:r>
              <a:rPr lang="en-US" sz="1250" b="1" dirty="0">
                <a:solidFill>
                  <a:schemeClr val="tx2"/>
                </a:solidFill>
              </a:rPr>
              <a:t>Biaya POME bagi PKS bergantung solar (USD 2026/t TBS, 20 th): opsi A-D dan jembatan A → D</a:t>
            </a:r>
            <a:endParaRPr lang="en-US" sz="1250" dirty="0"/>
          </a:p>
        </p:txBody>
      </p:sp>
      <p:pic>
        <p:nvPicPr>
          <p:cNvPr id="5" name="o169" descr="/home/user/aspebindo/finance/outputs/figs/g11_keputusan_pks.png">    </p:cNvPr>
          <p:cNvPicPr>
            <a:picLocks noChangeAspect="1"/>
          </p:cNvPicPr>
          <p:nvPr/>
        </p:nvPicPr>
        <p:blipFill>
          <a:blip r:embed="rId1"/>
          <a:stretch>
            <a:fillRect/>
          </a:stretch>
        </p:blipFill>
        <p:spPr>
          <a:xfrm>
            <a:off x="411480" y="1600200"/>
            <a:ext cx="7315200" cy="2770116"/>
          </a:xfrm>
          <a:prstGeom prst="rect">
            <a:avLst/>
          </a:prstGeom>
        </p:spPr>
      </p:pic>
      <p:graphicFrame>
        <p:nvGraphicFramePr>
          <p:cNvPr id="6" name="o170" descr=""/>
          <p:cNvGraphicFramePr/>
          <p:nvPr/>
        </p:nvGraphicFramePr>
        <p:xfrm>
          <a:off x="7955280" y="1298448"/>
          <a:ext cx="3840480" cy="2834640"/>
        </p:xfrm>
        <a:graphic xmlns:a="http://schemas.openxmlformats.org/drawingml/2006/main">
          <a:graphicData uri="http://schemas.openxmlformats.org/drawingml/2006/chart">
            <c:chart xmlns:c="http://schemas.openxmlformats.org/drawingml/2006/chart" r:id="rId2"/>
          </a:graphicData>
        </a:graphic>
      </p:graphicFrame>
      <p:sp>
        <p:nvSpPr>
          <p:cNvPr id="7" name="o171"/>
          <p:cNvSpPr/>
          <p:nvPr/>
        </p:nvSpPr>
        <p:spPr>
          <a:xfrm>
            <a:off x="411480" y="4462272"/>
            <a:ext cx="2761488" cy="1097280"/>
          </a:xfrm>
          <a:prstGeom prst="roundRect">
            <a:avLst>
              <a:gd name="adj" fmla="val 5000"/>
            </a:avLst>
          </a:prstGeom>
          <a:solidFill>
            <a:schemeClr val="bg1"/>
          </a:solidFill>
          <a:ln w="15875">
            <a:solidFill>
              <a:schemeClr val="accent1"/>
            </a:solidFill>
            <a:prstDash val="solid"/>
          </a:ln>
        </p:spPr>
      </p:sp>
      <p:sp>
        <p:nvSpPr>
          <p:cNvPr id="8" name="o172"/>
          <p:cNvSpPr txBox="1"/>
          <p:nvPr/>
        </p:nvSpPr>
        <p:spPr>
          <a:xfrm>
            <a:off x="521208" y="4526280"/>
            <a:ext cx="2542032" cy="274320"/>
          </a:xfrm>
          <a:prstGeom prst="rect">
            <a:avLst/>
          </a:prstGeom>
          <a:noFill/>
          <a:ln/>
        </p:spPr>
        <p:txBody>
          <a:bodyPr wrap="square" lIns="0" tIns="0" rIns="0" bIns="0" rtlCol="0" anchor="t"/>
          <a:lstStyle/>
          <a:p>
            <a:pPr indent="0" marL="0">
              <a:buNone/>
            </a:pPr>
            <a:r>
              <a:rPr lang="en-US" sz="1200" b="1" dirty="0">
                <a:solidFill>
                  <a:schemeClr val="accent1"/>
                </a:solidFill>
              </a:rPr>
              <a:t>Listrik ke PKS</a:t>
            </a:r>
            <a:endParaRPr lang="en-US" sz="1200" dirty="0"/>
          </a:p>
        </p:txBody>
      </p:sp>
      <p:sp>
        <p:nvSpPr>
          <p:cNvPr id="9" name="o173"/>
          <p:cNvSpPr txBox="1"/>
          <p:nvPr/>
        </p:nvSpPr>
        <p:spPr>
          <a:xfrm>
            <a:off x="521208" y="4809744"/>
            <a:ext cx="2542032" cy="685800"/>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1,88 GWh/th × USD 0,20/kWh, menggantikan 564.975 L solar/th</a:t>
            </a:r>
            <a:endParaRPr lang="en-US" sz="1000" dirty="0"/>
          </a:p>
        </p:txBody>
      </p:sp>
      <p:sp>
        <p:nvSpPr>
          <p:cNvPr id="10" name="o174"/>
          <p:cNvSpPr/>
          <p:nvPr/>
        </p:nvSpPr>
        <p:spPr>
          <a:xfrm>
            <a:off x="3273552" y="4462272"/>
            <a:ext cx="2761488" cy="1097280"/>
          </a:xfrm>
          <a:prstGeom prst="roundRect">
            <a:avLst>
              <a:gd name="adj" fmla="val 5000"/>
            </a:avLst>
          </a:prstGeom>
          <a:solidFill>
            <a:schemeClr val="bg1"/>
          </a:solidFill>
          <a:ln w="15875">
            <a:solidFill>
              <a:schemeClr val="accent1"/>
            </a:solidFill>
            <a:prstDash val="solid"/>
          </a:ln>
        </p:spPr>
      </p:sp>
      <p:sp>
        <p:nvSpPr>
          <p:cNvPr id="11" name="o175"/>
          <p:cNvSpPr txBox="1"/>
          <p:nvPr/>
        </p:nvSpPr>
        <p:spPr>
          <a:xfrm>
            <a:off x="3383280" y="4526280"/>
            <a:ext cx="2542032" cy="274320"/>
          </a:xfrm>
          <a:prstGeom prst="rect">
            <a:avLst/>
          </a:prstGeom>
          <a:noFill/>
          <a:ln/>
        </p:spPr>
        <p:txBody>
          <a:bodyPr wrap="square" lIns="0" tIns="0" rIns="0" bIns="0" rtlCol="0" anchor="t"/>
          <a:lstStyle/>
          <a:p>
            <a:pPr indent="0" marL="0">
              <a:buNone/>
            </a:pPr>
            <a:r>
              <a:rPr lang="en-US" sz="1200" b="1" dirty="0">
                <a:solidFill>
                  <a:schemeClr val="accent1"/>
                </a:solidFill>
              </a:rPr>
              <a:t>Ekspor ke PLN</a:t>
            </a:r>
            <a:endParaRPr lang="en-US" sz="1200" dirty="0"/>
          </a:p>
        </p:txBody>
      </p:sp>
      <p:sp>
        <p:nvSpPr>
          <p:cNvPr id="12" name="o176"/>
          <p:cNvSpPr txBox="1"/>
          <p:nvPr/>
        </p:nvSpPr>
        <p:spPr>
          <a:xfrm>
            <a:off x="3383280" y="4809744"/>
            <a:ext cx="2542032" cy="685800"/>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3,02 GWh/th × 10,18 USc × F 1,10 (th 1-10), lalu 6,11 USc</a:t>
            </a:r>
            <a:endParaRPr lang="en-US" sz="1000" dirty="0"/>
          </a:p>
        </p:txBody>
      </p:sp>
      <p:sp>
        <p:nvSpPr>
          <p:cNvPr id="13" name="o177"/>
          <p:cNvSpPr/>
          <p:nvPr/>
        </p:nvSpPr>
        <p:spPr>
          <a:xfrm>
            <a:off x="6135624" y="4462272"/>
            <a:ext cx="2761488" cy="1097280"/>
          </a:xfrm>
          <a:prstGeom prst="roundRect">
            <a:avLst>
              <a:gd name="adj" fmla="val 5000"/>
            </a:avLst>
          </a:prstGeom>
          <a:solidFill>
            <a:schemeClr val="bg1"/>
          </a:solidFill>
          <a:ln w="15875">
            <a:solidFill>
              <a:schemeClr val="accent2"/>
            </a:solidFill>
            <a:prstDash val="solid"/>
          </a:ln>
        </p:spPr>
      </p:sp>
      <p:sp>
        <p:nvSpPr>
          <p:cNvPr id="14" name="o178"/>
          <p:cNvSpPr txBox="1"/>
          <p:nvPr/>
        </p:nvSpPr>
        <p:spPr>
          <a:xfrm>
            <a:off x="6245352" y="4526280"/>
            <a:ext cx="2542032" cy="274320"/>
          </a:xfrm>
          <a:prstGeom prst="rect">
            <a:avLst/>
          </a:prstGeom>
          <a:noFill/>
          <a:ln/>
        </p:spPr>
        <p:txBody>
          <a:bodyPr wrap="square" lIns="0" tIns="0" rIns="0" bIns="0" rtlCol="0" anchor="t"/>
          <a:lstStyle/>
          <a:p>
            <a:pPr indent="0" marL="0">
              <a:buNone/>
            </a:pPr>
            <a:r>
              <a:rPr lang="en-US" sz="1200" b="1" dirty="0">
                <a:solidFill>
                  <a:schemeClr val="accent2"/>
                </a:solidFill>
              </a:rPr>
              <a:t>Jasa POME</a:t>
            </a:r>
            <a:endParaRPr lang="en-US" sz="1200" dirty="0"/>
          </a:p>
        </p:txBody>
      </p:sp>
      <p:sp>
        <p:nvSpPr>
          <p:cNvPr id="15" name="o179"/>
          <p:cNvSpPr txBox="1"/>
          <p:nvPr/>
        </p:nvSpPr>
        <p:spPr>
          <a:xfrm>
            <a:off x="6245352" y="4809744"/>
            <a:ext cx="2542032" cy="685800"/>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USD 1,00/t TBS × 202.500 t/th; jendela USD 0,60-1,90</a:t>
            </a:r>
            <a:endParaRPr lang="en-US" sz="1000" dirty="0"/>
          </a:p>
        </p:txBody>
      </p:sp>
      <p:sp>
        <p:nvSpPr>
          <p:cNvPr id="16" name="o180"/>
          <p:cNvSpPr/>
          <p:nvPr/>
        </p:nvSpPr>
        <p:spPr>
          <a:xfrm>
            <a:off x="8997696" y="4462272"/>
            <a:ext cx="2761488" cy="1097280"/>
          </a:xfrm>
          <a:prstGeom prst="roundRect">
            <a:avLst>
              <a:gd name="adj" fmla="val 5000"/>
            </a:avLst>
          </a:prstGeom>
          <a:solidFill>
            <a:schemeClr val="bg1"/>
          </a:solidFill>
          <a:ln w="15875">
            <a:solidFill>
              <a:schemeClr val="accent4"/>
            </a:solidFill>
            <a:prstDash val="solid"/>
          </a:ln>
        </p:spPr>
      </p:sp>
      <p:sp>
        <p:nvSpPr>
          <p:cNvPr id="17" name="o181"/>
          <p:cNvSpPr txBox="1"/>
          <p:nvPr/>
        </p:nvSpPr>
        <p:spPr>
          <a:xfrm>
            <a:off x="9107424" y="4526280"/>
            <a:ext cx="2542032" cy="274320"/>
          </a:xfrm>
          <a:prstGeom prst="rect">
            <a:avLst/>
          </a:prstGeom>
          <a:noFill/>
          <a:ln/>
        </p:spPr>
        <p:txBody>
          <a:bodyPr wrap="square" lIns="0" tIns="0" rIns="0" bIns="0" rtlCol="0" anchor="t"/>
          <a:lstStyle/>
          <a:p>
            <a:pPr indent="0" marL="0">
              <a:buNone/>
            </a:pPr>
            <a:r>
              <a:rPr lang="en-US" sz="1200" b="1" dirty="0">
                <a:solidFill>
                  <a:schemeClr val="accent4"/>
                </a:solidFill>
              </a:rPr>
              <a:t>Kredit karbon</a:t>
            </a:r>
            <a:endParaRPr lang="en-US" sz="1200" dirty="0"/>
          </a:p>
        </p:txBody>
      </p:sp>
      <p:sp>
        <p:nvSpPr>
          <p:cNvPr id="18" name="o182"/>
          <p:cNvSpPr txBox="1"/>
          <p:nvPr/>
        </p:nvSpPr>
        <p:spPr>
          <a:xfrm>
            <a:off x="9107424" y="4809744"/>
            <a:ext cx="2542032" cy="685800"/>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24.025 tCO2e/th × USD 5 (Verra, 10 th)</a:t>
            </a:r>
            <a:endParaRPr lang="en-US" sz="1000" dirty="0"/>
          </a:p>
        </p:txBody>
      </p:sp>
      <p:sp>
        <p:nvSpPr>
          <p:cNvPr id="19" name="o183"/>
          <p:cNvSpPr txBox="1"/>
          <p:nvPr/>
        </p:nvSpPr>
        <p:spPr>
          <a:xfrm>
            <a:off x="411480" y="5669280"/>
            <a:ext cx="1325880" cy="457200"/>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rPr>
              <a:t>Kesimpulan</a:t>
            </a:r>
            <a:endParaRPr lang="en-US" sz="1200" dirty="0"/>
          </a:p>
        </p:txBody>
      </p:sp>
      <p:sp>
        <p:nvSpPr>
          <p:cNvPr id="20" name="o184"/>
          <p:cNvSpPr txBox="1"/>
          <p:nvPr/>
        </p:nvSpPr>
        <p:spPr>
          <a:xfrm>
            <a:off x="1737360" y="5669280"/>
            <a:ext cx="10058400" cy="457200"/>
          </a:xfrm>
          <a:prstGeom prst="rect">
            <a:avLst/>
          </a:prstGeom>
          <a:solidFill>
            <a:schemeClr val="bg2"/>
          </a:solidFill>
          <a:ln/>
        </p:spPr>
        <p:txBody>
          <a:bodyPr wrap="square" lIns="0" tIns="127000" rIns="127000" bIns="0" rtlCol="0" anchor="ctr"/>
          <a:lstStyle/>
          <a:p>
            <a:pPr indent="0" marL="0">
              <a:buNone/>
            </a:pPr>
            <a:r>
              <a:rPr lang="en-US" sz="1150" dirty="0">
                <a:solidFill>
                  <a:schemeClr val="tx1"/>
                </a:solidFill>
              </a:rPr>
              <a:t>Fee ditetapkan di dalam jendela kesepakatan: di atas titik impas pengembang (USD 0,60) dan jauh di bawah titik PKS lebih baik memakai kolam (USD 1,90). Kedua pihak untung, tanpa subsidi.</a:t>
            </a:r>
            <a:endParaRPr lang="en-US" sz="1150" dirty="0"/>
          </a:p>
        </p:txBody>
      </p:sp>
      <p:sp>
        <p:nvSpPr>
          <p:cNvPr id="21" name="o185"/>
          <p:cNvSpPr txBox="1"/>
          <p:nvPr/>
        </p:nvSpPr>
        <p:spPr>
          <a:xfrm>
            <a:off x="411480" y="6163056"/>
            <a:ext cx="11384280" cy="256032"/>
          </a:xfrm>
          <a:prstGeom prst="rect">
            <a:avLst/>
          </a:prstGeom>
          <a:noFill/>
          <a:ln/>
        </p:spPr>
        <p:txBody>
          <a:bodyPr wrap="square" lIns="0" tIns="0" rIns="0" bIns="0" rtlCol="0" anchor="ctr"/>
          <a:lstStyle/>
          <a:p>
            <a:pPr indent="0" marL="0">
              <a:buNone/>
            </a:pPr>
            <a:r>
              <a:rPr lang="en-US" sz="750" dirty="0">
                <a:solidFill>
                  <a:schemeClr val="accent6"/>
                </a:solidFill>
              </a:rPr>
              <a:t>Sumber: fin_mill.py dan lembar Keputusan PKS di BG_Model_Keuangan.xlsx (rumus hidup); Perpres 112/2022; harga karbon EcoEngineers/AlliedOffsets 2025; biaya solar R2.</a:t>
            </a:r>
            <a:endParaRPr lang="en-US" sz="750" dirty="0"/>
          </a:p>
        </p:txBody>
      </p:sp>
      <p:sp>
        <p:nvSpPr>
          <p:cNvPr id="22" name="o186"/>
          <p:cNvSpPr txBox="1"/>
          <p:nvPr/>
        </p:nvSpPr>
        <p:spPr>
          <a:xfrm>
            <a:off x="41148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Masalah</a:t>
            </a:r>
            <a:endParaRPr lang="en-US" sz="950" dirty="0"/>
          </a:p>
        </p:txBody>
      </p:sp>
      <p:sp>
        <p:nvSpPr>
          <p:cNvPr id="23" name="o187"/>
          <p:cNvSpPr txBox="1"/>
          <p:nvPr/>
        </p:nvSpPr>
        <p:spPr>
          <a:xfrm>
            <a:off x="163677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Solusi</a:t>
            </a:r>
            <a:endParaRPr lang="en-US" sz="950" dirty="0"/>
          </a:p>
        </p:txBody>
      </p:sp>
      <p:sp>
        <p:nvSpPr>
          <p:cNvPr id="24" name="o188"/>
          <p:cNvSpPr txBox="1"/>
          <p:nvPr/>
        </p:nvSpPr>
        <p:spPr>
          <a:xfrm>
            <a:off x="286207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Inovasi</a:t>
            </a:r>
            <a:endParaRPr lang="en-US" sz="950" dirty="0"/>
          </a:p>
        </p:txBody>
      </p:sp>
      <p:sp>
        <p:nvSpPr>
          <p:cNvPr id="25" name="o189"/>
          <p:cNvSpPr txBox="1"/>
          <p:nvPr/>
        </p:nvSpPr>
        <p:spPr>
          <a:xfrm>
            <a:off x="408736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Pasar</a:t>
            </a:r>
            <a:endParaRPr lang="en-US" sz="950" dirty="0"/>
          </a:p>
        </p:txBody>
      </p:sp>
      <p:sp>
        <p:nvSpPr>
          <p:cNvPr id="26" name="o190"/>
          <p:cNvSpPr txBox="1"/>
          <p:nvPr/>
        </p:nvSpPr>
        <p:spPr>
          <a:xfrm>
            <a:off x="5312664" y="6473952"/>
            <a:ext cx="1188720" cy="256032"/>
          </a:xfrm>
          <a:prstGeom prst="roundRect">
            <a:avLst>
              <a:gd name="adj" fmla="val 21429"/>
            </a:avLst>
          </a:prstGeom>
          <a:solidFill>
            <a:schemeClr val="tx2"/>
          </a:solidFill>
          <a:ln>
            <a:solidFill>
              <a:schemeClr val="tx2"/>
            </a:solidFill>
          </a:ln>
        </p:spPr>
        <p:txBody>
          <a:bodyPr wrap="square" lIns="0" tIns="0" rIns="0" bIns="0" rtlCol="0" anchor="ctr"/>
          <a:lstStyle/>
          <a:p>
            <a:pPr algn="ctr" indent="0" marL="0">
              <a:buNone/>
            </a:pPr>
            <a:r>
              <a:rPr lang="en-US" sz="950" b="1" dirty="0">
                <a:solidFill>
                  <a:schemeClr val="bg1"/>
                </a:solidFill>
              </a:rPr>
              <a:t>Model bisnis</a:t>
            </a:r>
            <a:endParaRPr lang="en-US" sz="950" dirty="0"/>
          </a:p>
        </p:txBody>
      </p:sp>
      <p:sp>
        <p:nvSpPr>
          <p:cNvPr id="27" name="o191"/>
          <p:cNvSpPr txBox="1"/>
          <p:nvPr/>
        </p:nvSpPr>
        <p:spPr>
          <a:xfrm>
            <a:off x="653796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Keuangan</a:t>
            </a:r>
            <a:endParaRPr lang="en-US" sz="950" dirty="0"/>
          </a:p>
        </p:txBody>
      </p:sp>
      <p:sp>
        <p:nvSpPr>
          <p:cNvPr id="28" name="o192"/>
          <p:cNvSpPr txBox="1"/>
          <p:nvPr/>
        </p:nvSpPr>
        <p:spPr>
          <a:xfrm>
            <a:off x="776325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Dampak</a:t>
            </a:r>
            <a:endParaRPr lang="en-US" sz="950" dirty="0"/>
          </a:p>
        </p:txBody>
      </p:sp>
      <p:sp>
        <p:nvSpPr>
          <p:cNvPr id="29" name="o193"/>
          <p:cNvSpPr txBox="1"/>
          <p:nvPr/>
        </p:nvSpPr>
        <p:spPr>
          <a:xfrm>
            <a:off x="898855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Skala</a:t>
            </a:r>
            <a:endParaRPr lang="en-US" sz="950" dirty="0"/>
          </a:p>
        </p:txBody>
      </p:sp>
      <p:sp>
        <p:nvSpPr>
          <p:cNvPr id="30" name="o194"/>
          <p:cNvSpPr txBox="1"/>
          <p:nvPr/>
        </p:nvSpPr>
        <p:spPr>
          <a:xfrm>
            <a:off x="1021384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Penutup</a:t>
            </a:r>
            <a:endParaRPr lang="en-US" sz="950" dirty="0"/>
          </a:p>
        </p:txBody>
      </p:sp>
      <p:sp>
        <p:nvSpPr>
          <p:cNvPr id="31" name="o195"/>
          <p:cNvSpPr/>
          <p:nvPr/>
        </p:nvSpPr>
        <p:spPr>
          <a:xfrm>
            <a:off x="11384280" y="6473952"/>
            <a:ext cx="411480" cy="256032"/>
          </a:xfrm>
          <a:prstGeom prst="roundRect">
            <a:avLst>
              <a:gd name="adj" fmla="val 21429"/>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1138428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11480" y="182880"/>
            <a:ext cx="8686800" cy="237744"/>
          </a:xfrm>
          <a:prstGeom prst="rect">
            <a:avLst/>
          </a:prstGeom>
          <a:noFill/>
          <a:ln/>
        </p:spPr>
        <p:txBody>
          <a:bodyPr wrap="square" lIns="0" tIns="0" rIns="0" bIns="0" rtlCol="0"/>
          <a:lstStyle/>
          <a:p>
            <a:pPr indent="0" marL="0">
              <a:buNone/>
            </a:pPr>
            <a:r>
              <a:rPr lang="en-US" sz="1100" b="1" dirty="0">
                <a:solidFill>
                  <a:schemeClr val="accent1"/>
                </a:solidFill>
              </a:rPr>
              <a:t>Kelayakan finansial</a:t>
            </a:r>
            <a:endParaRPr lang="en-US" sz="1100" dirty="0"/>
          </a:p>
        </p:txBody>
      </p:sp>
      <p:sp>
        <p:nvSpPr>
          <p:cNvPr id="3" name="Text 1"/>
          <p:cNvSpPr/>
          <p:nvPr>
            <p:ph idx="102" type="title" hasCustomPrompt="1"/>
          </p:nvPr>
        </p:nvSpPr>
        <p:spPr>
          <a:xfrm>
            <a:off x="411480" y="420624"/>
            <a:ext cx="11338560" cy="786384"/>
          </a:xfrm>
          <a:prstGeom prst="rect">
            <a:avLst/>
          </a:prstGeom>
          <a:noFill/>
          <a:ln/>
        </p:spPr>
        <p:txBody>
          <a:bodyPr wrap="square" lIns="0" tIns="0" rIns="0" bIns="0" rtlCol="0" anchor="t"/>
          <a:lstStyle/>
          <a:p>
            <a:pPr algn="l" indent="0" marL="0">
              <a:buNone/>
            </a:pPr>
            <a:r>
              <a:rPr lang="en-US" sz="2100" b="1" dirty="0">
                <a:solidFill>
                  <a:schemeClr val="tx2"/>
                </a:solidFill>
              </a:rPr>
              <a:t>Keuangan: investasi USD 4,1 juta per set memberi NPV USD 0,68 juta, IRR 12,2% dan payback 6,4 tahun</a:t>
            </a:r>
            <a:endParaRPr lang="en-US" sz="2100" dirty="0"/>
          </a:p>
        </p:txBody>
      </p:sp>
      <p:sp>
        <p:nvSpPr>
          <p:cNvPr id="4" name="o196"/>
          <p:cNvSpPr/>
          <p:nvPr/>
        </p:nvSpPr>
        <p:spPr>
          <a:xfrm>
            <a:off x="411480" y="1298448"/>
            <a:ext cx="1271016" cy="859536"/>
          </a:xfrm>
          <a:prstGeom prst="roundRect">
            <a:avLst>
              <a:gd name="adj" fmla="val 6383"/>
            </a:avLst>
          </a:prstGeom>
          <a:solidFill>
            <a:schemeClr val="bg2"/>
          </a:solidFill>
          <a:ln w="12700">
            <a:solidFill>
              <a:schemeClr val="bg2"/>
            </a:solidFill>
            <a:prstDash val="solid"/>
          </a:ln>
        </p:spPr>
      </p:sp>
      <p:sp>
        <p:nvSpPr>
          <p:cNvPr id="5" name="o197"/>
          <p:cNvSpPr txBox="1"/>
          <p:nvPr/>
        </p:nvSpPr>
        <p:spPr>
          <a:xfrm>
            <a:off x="502920" y="1353312"/>
            <a:ext cx="1088136" cy="446959"/>
          </a:xfrm>
          <a:prstGeom prst="rect">
            <a:avLst/>
          </a:prstGeom>
          <a:noFill/>
          <a:ln/>
        </p:spPr>
        <p:txBody>
          <a:bodyPr wrap="square" lIns="0" tIns="0" rIns="0" bIns="0" rtlCol="0" anchor="b"/>
          <a:lstStyle/>
          <a:p>
            <a:pPr indent="0" marL="0">
              <a:buNone/>
            </a:pPr>
            <a:r>
              <a:rPr lang="en-US" sz="1600" b="1" dirty="0">
                <a:solidFill>
                  <a:schemeClr val="tx2"/>
                </a:solidFill>
                <a:latin typeface="Cambria" pitchFamily="34" charset="0"/>
                <a:ea typeface="Cambria" pitchFamily="34" charset="-122"/>
                <a:cs typeface="Cambria" pitchFamily="34" charset="-120"/>
              </a:rPr>
              <a:t>USD 4,1 jt</a:t>
            </a:r>
            <a:endParaRPr lang="en-US" sz="1600" dirty="0"/>
          </a:p>
        </p:txBody>
      </p:sp>
      <p:sp>
        <p:nvSpPr>
          <p:cNvPr id="6" name="o198"/>
          <p:cNvSpPr txBox="1"/>
          <p:nvPr/>
        </p:nvSpPr>
        <p:spPr>
          <a:xfrm>
            <a:off x="502920" y="1796979"/>
            <a:ext cx="1088136" cy="343814"/>
          </a:xfrm>
          <a:prstGeom prst="rect">
            <a:avLst/>
          </a:prstGeom>
          <a:noFill/>
          <a:ln/>
        </p:spPr>
        <p:txBody>
          <a:bodyPr wrap="square" lIns="0" tIns="0" rIns="0" bIns="0" rtlCol="0" anchor="t"/>
          <a:lstStyle/>
          <a:p>
            <a:pPr indent="0" marL="0">
              <a:buNone/>
            </a:pPr>
            <a:r>
              <a:rPr lang="en-US" sz="850" dirty="0">
                <a:solidFill>
                  <a:schemeClr val="tx1"/>
                </a:solidFill>
              </a:rPr>
              <a:t>FCI per set (60% utang hijau 8%)</a:t>
            </a:r>
            <a:endParaRPr lang="en-US" sz="850" dirty="0"/>
          </a:p>
        </p:txBody>
      </p:sp>
      <p:sp>
        <p:nvSpPr>
          <p:cNvPr id="7" name="o199"/>
          <p:cNvSpPr/>
          <p:nvPr/>
        </p:nvSpPr>
        <p:spPr>
          <a:xfrm>
            <a:off x="1755648" y="1298448"/>
            <a:ext cx="1271016" cy="859536"/>
          </a:xfrm>
          <a:prstGeom prst="roundRect">
            <a:avLst>
              <a:gd name="adj" fmla="val 6383"/>
            </a:avLst>
          </a:prstGeom>
          <a:solidFill>
            <a:schemeClr val="bg2"/>
          </a:solidFill>
          <a:ln w="12700">
            <a:solidFill>
              <a:schemeClr val="bg2"/>
            </a:solidFill>
            <a:prstDash val="solid"/>
          </a:ln>
        </p:spPr>
      </p:sp>
      <p:sp>
        <p:nvSpPr>
          <p:cNvPr id="8" name="o200"/>
          <p:cNvSpPr txBox="1"/>
          <p:nvPr/>
        </p:nvSpPr>
        <p:spPr>
          <a:xfrm>
            <a:off x="1847088" y="1353312"/>
            <a:ext cx="1088136" cy="446959"/>
          </a:xfrm>
          <a:prstGeom prst="rect">
            <a:avLst/>
          </a:prstGeom>
          <a:noFill/>
          <a:ln/>
        </p:spPr>
        <p:txBody>
          <a:bodyPr wrap="square" lIns="0" tIns="0" rIns="0" bIns="0" rtlCol="0" anchor="b"/>
          <a:lstStyle/>
          <a:p>
            <a:pPr indent="0" marL="0">
              <a:buNone/>
            </a:pPr>
            <a:r>
              <a:rPr lang="en-US" sz="1600" b="1" dirty="0">
                <a:solidFill>
                  <a:schemeClr val="tx2"/>
                </a:solidFill>
                <a:latin typeface="Cambria" pitchFamily="34" charset="0"/>
                <a:ea typeface="Cambria" pitchFamily="34" charset="-122"/>
                <a:cs typeface="Cambria" pitchFamily="34" charset="-120"/>
              </a:rPr>
              <a:t>USD 0,68 jt</a:t>
            </a:r>
            <a:endParaRPr lang="en-US" sz="1600" dirty="0"/>
          </a:p>
        </p:txBody>
      </p:sp>
      <p:sp>
        <p:nvSpPr>
          <p:cNvPr id="9" name="o201"/>
          <p:cNvSpPr txBox="1"/>
          <p:nvPr/>
        </p:nvSpPr>
        <p:spPr>
          <a:xfrm>
            <a:off x="1847088" y="1796979"/>
            <a:ext cx="1088136" cy="343814"/>
          </a:xfrm>
          <a:prstGeom prst="rect">
            <a:avLst/>
          </a:prstGeom>
          <a:noFill/>
          <a:ln/>
        </p:spPr>
        <p:txBody>
          <a:bodyPr wrap="square" lIns="0" tIns="0" rIns="0" bIns="0" rtlCol="0" anchor="t"/>
          <a:lstStyle/>
          <a:p>
            <a:pPr indent="0" marL="0">
              <a:buNone/>
            </a:pPr>
            <a:r>
              <a:rPr lang="en-US" sz="850" dirty="0">
                <a:solidFill>
                  <a:schemeClr val="tx1"/>
                </a:solidFill>
              </a:rPr>
              <a:t>NPV proyek @ WACC 9,7%</a:t>
            </a:r>
            <a:endParaRPr lang="en-US" sz="850" dirty="0"/>
          </a:p>
        </p:txBody>
      </p:sp>
      <p:sp>
        <p:nvSpPr>
          <p:cNvPr id="10" name="o202"/>
          <p:cNvSpPr/>
          <p:nvPr/>
        </p:nvSpPr>
        <p:spPr>
          <a:xfrm>
            <a:off x="3099816" y="1298448"/>
            <a:ext cx="1271016" cy="859536"/>
          </a:xfrm>
          <a:prstGeom prst="roundRect">
            <a:avLst>
              <a:gd name="adj" fmla="val 6383"/>
            </a:avLst>
          </a:prstGeom>
          <a:solidFill>
            <a:schemeClr val="bg2"/>
          </a:solidFill>
          <a:ln w="12700">
            <a:solidFill>
              <a:schemeClr val="bg2"/>
            </a:solidFill>
            <a:prstDash val="solid"/>
          </a:ln>
        </p:spPr>
      </p:sp>
      <p:sp>
        <p:nvSpPr>
          <p:cNvPr id="11" name="o203"/>
          <p:cNvSpPr txBox="1"/>
          <p:nvPr/>
        </p:nvSpPr>
        <p:spPr>
          <a:xfrm>
            <a:off x="3191256" y="1353312"/>
            <a:ext cx="1088136" cy="446959"/>
          </a:xfrm>
          <a:prstGeom prst="rect">
            <a:avLst/>
          </a:prstGeom>
          <a:noFill/>
          <a:ln/>
        </p:spPr>
        <p:txBody>
          <a:bodyPr wrap="square" lIns="0" tIns="0" rIns="0" bIns="0" rtlCol="0" anchor="b"/>
          <a:lstStyle/>
          <a:p>
            <a:pPr indent="0" marL="0">
              <a:buNone/>
            </a:pPr>
            <a:r>
              <a:rPr lang="en-US" sz="1600" b="1" dirty="0">
                <a:solidFill>
                  <a:schemeClr val="tx2"/>
                </a:solidFill>
                <a:latin typeface="Cambria" pitchFamily="34" charset="0"/>
                <a:ea typeface="Cambria" pitchFamily="34" charset="-122"/>
                <a:cs typeface="Cambria" pitchFamily="34" charset="-120"/>
              </a:rPr>
              <a:t>12,2%</a:t>
            </a:r>
            <a:endParaRPr lang="en-US" sz="1600" dirty="0"/>
          </a:p>
        </p:txBody>
      </p:sp>
      <p:sp>
        <p:nvSpPr>
          <p:cNvPr id="12" name="o204"/>
          <p:cNvSpPr txBox="1"/>
          <p:nvPr/>
        </p:nvSpPr>
        <p:spPr>
          <a:xfrm>
            <a:off x="3191256" y="1796979"/>
            <a:ext cx="1088136" cy="343814"/>
          </a:xfrm>
          <a:prstGeom prst="rect">
            <a:avLst/>
          </a:prstGeom>
          <a:noFill/>
          <a:ln/>
        </p:spPr>
        <p:txBody>
          <a:bodyPr wrap="square" lIns="0" tIns="0" rIns="0" bIns="0" rtlCol="0" anchor="t"/>
          <a:lstStyle/>
          <a:p>
            <a:pPr indent="0" marL="0">
              <a:buNone/>
            </a:pPr>
            <a:r>
              <a:rPr lang="en-US" sz="850" dirty="0">
                <a:solidFill>
                  <a:schemeClr val="tx1"/>
                </a:solidFill>
              </a:rPr>
              <a:t>IRR proyek</a:t>
            </a:r>
            <a:endParaRPr lang="en-US" sz="850" dirty="0"/>
          </a:p>
        </p:txBody>
      </p:sp>
      <p:sp>
        <p:nvSpPr>
          <p:cNvPr id="13" name="o205"/>
          <p:cNvSpPr/>
          <p:nvPr/>
        </p:nvSpPr>
        <p:spPr>
          <a:xfrm>
            <a:off x="4443984" y="1298448"/>
            <a:ext cx="1271016" cy="859536"/>
          </a:xfrm>
          <a:prstGeom prst="roundRect">
            <a:avLst>
              <a:gd name="adj" fmla="val 6383"/>
            </a:avLst>
          </a:prstGeom>
          <a:solidFill>
            <a:schemeClr val="bg2"/>
          </a:solidFill>
          <a:ln w="12700">
            <a:solidFill>
              <a:schemeClr val="bg2"/>
            </a:solidFill>
            <a:prstDash val="solid"/>
          </a:ln>
        </p:spPr>
      </p:sp>
      <p:sp>
        <p:nvSpPr>
          <p:cNvPr id="14" name="o206"/>
          <p:cNvSpPr txBox="1"/>
          <p:nvPr/>
        </p:nvSpPr>
        <p:spPr>
          <a:xfrm>
            <a:off x="4535424" y="1353312"/>
            <a:ext cx="1088136" cy="446959"/>
          </a:xfrm>
          <a:prstGeom prst="rect">
            <a:avLst/>
          </a:prstGeom>
          <a:noFill/>
          <a:ln/>
        </p:spPr>
        <p:txBody>
          <a:bodyPr wrap="square" lIns="0" tIns="0" rIns="0" bIns="0" rtlCol="0" anchor="b"/>
          <a:lstStyle/>
          <a:p>
            <a:pPr indent="0" marL="0">
              <a:buNone/>
            </a:pPr>
            <a:r>
              <a:rPr lang="en-US" sz="1600" b="1" dirty="0">
                <a:solidFill>
                  <a:schemeClr val="tx2"/>
                </a:solidFill>
                <a:latin typeface="Cambria" pitchFamily="34" charset="0"/>
                <a:ea typeface="Cambria" pitchFamily="34" charset="-122"/>
                <a:cs typeface="Cambria" pitchFamily="34" charset="-120"/>
              </a:rPr>
              <a:t>14,0%</a:t>
            </a:r>
            <a:endParaRPr lang="en-US" sz="1600" dirty="0"/>
          </a:p>
        </p:txBody>
      </p:sp>
      <p:sp>
        <p:nvSpPr>
          <p:cNvPr id="15" name="o207"/>
          <p:cNvSpPr txBox="1"/>
          <p:nvPr/>
        </p:nvSpPr>
        <p:spPr>
          <a:xfrm>
            <a:off x="4535424" y="1796979"/>
            <a:ext cx="1088136" cy="343814"/>
          </a:xfrm>
          <a:prstGeom prst="rect">
            <a:avLst/>
          </a:prstGeom>
          <a:noFill/>
          <a:ln/>
        </p:spPr>
        <p:txBody>
          <a:bodyPr wrap="square" lIns="0" tIns="0" rIns="0" bIns="0" rtlCol="0" anchor="t"/>
          <a:lstStyle/>
          <a:p>
            <a:pPr indent="0" marL="0">
              <a:buNone/>
            </a:pPr>
            <a:r>
              <a:rPr lang="en-US" sz="850" dirty="0">
                <a:solidFill>
                  <a:schemeClr val="tx1"/>
                </a:solidFill>
              </a:rPr>
              <a:t>IRR ekuitas</a:t>
            </a:r>
            <a:endParaRPr lang="en-US" sz="850" dirty="0"/>
          </a:p>
        </p:txBody>
      </p:sp>
      <p:sp>
        <p:nvSpPr>
          <p:cNvPr id="16" name="o208"/>
          <p:cNvSpPr/>
          <p:nvPr/>
        </p:nvSpPr>
        <p:spPr>
          <a:xfrm>
            <a:off x="411480" y="2231136"/>
            <a:ext cx="1271016" cy="859536"/>
          </a:xfrm>
          <a:prstGeom prst="roundRect">
            <a:avLst>
              <a:gd name="adj" fmla="val 6383"/>
            </a:avLst>
          </a:prstGeom>
          <a:solidFill>
            <a:schemeClr val="bg2"/>
          </a:solidFill>
          <a:ln w="12700">
            <a:solidFill>
              <a:schemeClr val="bg2"/>
            </a:solidFill>
            <a:prstDash val="solid"/>
          </a:ln>
        </p:spPr>
      </p:sp>
      <p:sp>
        <p:nvSpPr>
          <p:cNvPr id="17" name="o209"/>
          <p:cNvSpPr txBox="1"/>
          <p:nvPr/>
        </p:nvSpPr>
        <p:spPr>
          <a:xfrm>
            <a:off x="502920" y="2286000"/>
            <a:ext cx="1088136" cy="446959"/>
          </a:xfrm>
          <a:prstGeom prst="rect">
            <a:avLst/>
          </a:prstGeom>
          <a:noFill/>
          <a:ln/>
        </p:spPr>
        <p:txBody>
          <a:bodyPr wrap="square" lIns="0" tIns="0" rIns="0" bIns="0" rtlCol="0" anchor="b"/>
          <a:lstStyle/>
          <a:p>
            <a:pPr indent="0" marL="0">
              <a:buNone/>
            </a:pPr>
            <a:r>
              <a:rPr lang="en-US" sz="1600" b="1" dirty="0">
                <a:solidFill>
                  <a:schemeClr val="accent1"/>
                </a:solidFill>
                <a:latin typeface="Cambria" pitchFamily="34" charset="0"/>
                <a:ea typeface="Cambria" pitchFamily="34" charset="-122"/>
                <a:cs typeface="Cambria" pitchFamily="34" charset="-120"/>
              </a:rPr>
              <a:t>6,4 th</a:t>
            </a:r>
            <a:endParaRPr lang="en-US" sz="1600" dirty="0"/>
          </a:p>
        </p:txBody>
      </p:sp>
      <p:sp>
        <p:nvSpPr>
          <p:cNvPr id="18" name="o210"/>
          <p:cNvSpPr txBox="1"/>
          <p:nvPr/>
        </p:nvSpPr>
        <p:spPr>
          <a:xfrm>
            <a:off x="502920" y="2729667"/>
            <a:ext cx="1088136" cy="343814"/>
          </a:xfrm>
          <a:prstGeom prst="rect">
            <a:avLst/>
          </a:prstGeom>
          <a:noFill/>
          <a:ln/>
        </p:spPr>
        <p:txBody>
          <a:bodyPr wrap="square" lIns="0" tIns="0" rIns="0" bIns="0" rtlCol="0" anchor="t"/>
          <a:lstStyle/>
          <a:p>
            <a:pPr indent="0" marL="0">
              <a:buNone/>
            </a:pPr>
            <a:r>
              <a:rPr lang="en-US" sz="850" dirty="0">
                <a:solidFill>
                  <a:schemeClr val="tx1"/>
                </a:solidFill>
              </a:rPr>
              <a:t>payback sejak COD 2028</a:t>
            </a:r>
            <a:endParaRPr lang="en-US" sz="850" dirty="0"/>
          </a:p>
        </p:txBody>
      </p:sp>
      <p:sp>
        <p:nvSpPr>
          <p:cNvPr id="19" name="o211"/>
          <p:cNvSpPr/>
          <p:nvPr/>
        </p:nvSpPr>
        <p:spPr>
          <a:xfrm>
            <a:off x="1755648" y="2231136"/>
            <a:ext cx="1271016" cy="859536"/>
          </a:xfrm>
          <a:prstGeom prst="roundRect">
            <a:avLst>
              <a:gd name="adj" fmla="val 6383"/>
            </a:avLst>
          </a:prstGeom>
          <a:solidFill>
            <a:schemeClr val="bg2"/>
          </a:solidFill>
          <a:ln w="12700">
            <a:solidFill>
              <a:schemeClr val="bg2"/>
            </a:solidFill>
            <a:prstDash val="solid"/>
          </a:ln>
        </p:spPr>
      </p:sp>
      <p:sp>
        <p:nvSpPr>
          <p:cNvPr id="20" name="o212"/>
          <p:cNvSpPr txBox="1"/>
          <p:nvPr/>
        </p:nvSpPr>
        <p:spPr>
          <a:xfrm>
            <a:off x="1847088" y="2286000"/>
            <a:ext cx="1088136" cy="446959"/>
          </a:xfrm>
          <a:prstGeom prst="rect">
            <a:avLst/>
          </a:prstGeom>
          <a:noFill/>
          <a:ln/>
        </p:spPr>
        <p:txBody>
          <a:bodyPr wrap="square" lIns="0" tIns="0" rIns="0" bIns="0" rtlCol="0" anchor="b"/>
          <a:lstStyle/>
          <a:p>
            <a:pPr indent="0" marL="0">
              <a:buNone/>
            </a:pPr>
            <a:r>
              <a:rPr lang="en-US" sz="1600" b="1" dirty="0">
                <a:solidFill>
                  <a:schemeClr val="accent1"/>
                </a:solidFill>
                <a:latin typeface="Cambria" pitchFamily="34" charset="0"/>
                <a:ea typeface="Cambria" pitchFamily="34" charset="-122"/>
                <a:cs typeface="Cambria" pitchFamily="34" charset="-120"/>
              </a:rPr>
              <a:t>1,31</a:t>
            </a:r>
            <a:endParaRPr lang="en-US" sz="1600" dirty="0"/>
          </a:p>
        </p:txBody>
      </p:sp>
      <p:sp>
        <p:nvSpPr>
          <p:cNvPr id="21" name="o213"/>
          <p:cNvSpPr txBox="1"/>
          <p:nvPr/>
        </p:nvSpPr>
        <p:spPr>
          <a:xfrm>
            <a:off x="1847088" y="2729667"/>
            <a:ext cx="1088136" cy="343814"/>
          </a:xfrm>
          <a:prstGeom prst="rect">
            <a:avLst/>
          </a:prstGeom>
          <a:noFill/>
          <a:ln/>
        </p:spPr>
        <p:txBody>
          <a:bodyPr wrap="square" lIns="0" tIns="0" rIns="0" bIns="0" rtlCol="0" anchor="t"/>
          <a:lstStyle/>
          <a:p>
            <a:pPr indent="0" marL="0">
              <a:buNone/>
            </a:pPr>
            <a:r>
              <a:rPr lang="en-US" sz="850" dirty="0">
                <a:solidFill>
                  <a:schemeClr val="tx1"/>
                </a:solidFill>
              </a:rPr>
              <a:t>DSCR minimum (≥ 1,30)</a:t>
            </a:r>
            <a:endParaRPr lang="en-US" sz="850" dirty="0"/>
          </a:p>
        </p:txBody>
      </p:sp>
      <p:sp>
        <p:nvSpPr>
          <p:cNvPr id="22" name="o214"/>
          <p:cNvSpPr/>
          <p:nvPr/>
        </p:nvSpPr>
        <p:spPr>
          <a:xfrm>
            <a:off x="3099816" y="2231136"/>
            <a:ext cx="1271016" cy="859536"/>
          </a:xfrm>
          <a:prstGeom prst="roundRect">
            <a:avLst>
              <a:gd name="adj" fmla="val 6383"/>
            </a:avLst>
          </a:prstGeom>
          <a:solidFill>
            <a:schemeClr val="bg2"/>
          </a:solidFill>
          <a:ln w="12700">
            <a:solidFill>
              <a:schemeClr val="bg2"/>
            </a:solidFill>
            <a:prstDash val="solid"/>
          </a:ln>
        </p:spPr>
      </p:sp>
      <p:sp>
        <p:nvSpPr>
          <p:cNvPr id="23" name="o215"/>
          <p:cNvSpPr txBox="1"/>
          <p:nvPr/>
        </p:nvSpPr>
        <p:spPr>
          <a:xfrm>
            <a:off x="3191256" y="2286000"/>
            <a:ext cx="1088136" cy="446959"/>
          </a:xfrm>
          <a:prstGeom prst="rect">
            <a:avLst/>
          </a:prstGeom>
          <a:noFill/>
          <a:ln/>
        </p:spPr>
        <p:txBody>
          <a:bodyPr wrap="square" lIns="0" tIns="0" rIns="0" bIns="0" rtlCol="0" anchor="b"/>
          <a:lstStyle/>
          <a:p>
            <a:pPr indent="0" marL="0">
              <a:buNone/>
            </a:pPr>
            <a:r>
              <a:rPr lang="en-US" sz="1600" b="1" dirty="0">
                <a:solidFill>
                  <a:schemeClr val="accent1"/>
                </a:solidFill>
                <a:latin typeface="Cambria" pitchFamily="34" charset="0"/>
                <a:ea typeface="Cambria" pitchFamily="34" charset="-122"/>
                <a:cs typeface="Cambria" pitchFamily="34" charset="-120"/>
              </a:rPr>
              <a:t>USD 0,186</a:t>
            </a:r>
            <a:endParaRPr lang="en-US" sz="1600" dirty="0"/>
          </a:p>
        </p:txBody>
      </p:sp>
      <p:sp>
        <p:nvSpPr>
          <p:cNvPr id="24" name="o216"/>
          <p:cNvSpPr txBox="1"/>
          <p:nvPr/>
        </p:nvSpPr>
        <p:spPr>
          <a:xfrm>
            <a:off x="3191256" y="2729667"/>
            <a:ext cx="1088136" cy="343814"/>
          </a:xfrm>
          <a:prstGeom prst="rect">
            <a:avLst/>
          </a:prstGeom>
          <a:noFill/>
          <a:ln/>
        </p:spPr>
        <p:txBody>
          <a:bodyPr wrap="square" lIns="0" tIns="0" rIns="0" bIns="0" rtlCol="0" anchor="t"/>
          <a:lstStyle/>
          <a:p>
            <a:pPr indent="0" marL="0">
              <a:buNone/>
            </a:pPr>
            <a:r>
              <a:rPr lang="en-US" sz="850" dirty="0">
                <a:solidFill>
                  <a:schemeClr val="tx1"/>
                </a:solidFill>
              </a:rPr>
              <a:t>LCOE per kWh</a:t>
            </a:r>
            <a:endParaRPr lang="en-US" sz="850" dirty="0"/>
          </a:p>
        </p:txBody>
      </p:sp>
      <p:sp>
        <p:nvSpPr>
          <p:cNvPr id="25" name="o217"/>
          <p:cNvSpPr/>
          <p:nvPr/>
        </p:nvSpPr>
        <p:spPr>
          <a:xfrm>
            <a:off x="4443984" y="2231136"/>
            <a:ext cx="1271016" cy="859536"/>
          </a:xfrm>
          <a:prstGeom prst="roundRect">
            <a:avLst>
              <a:gd name="adj" fmla="val 6383"/>
            </a:avLst>
          </a:prstGeom>
          <a:solidFill>
            <a:schemeClr val="bg2"/>
          </a:solidFill>
          <a:ln w="12700">
            <a:solidFill>
              <a:schemeClr val="bg2"/>
            </a:solidFill>
            <a:prstDash val="solid"/>
          </a:ln>
        </p:spPr>
      </p:sp>
      <p:sp>
        <p:nvSpPr>
          <p:cNvPr id="26" name="o218"/>
          <p:cNvSpPr txBox="1"/>
          <p:nvPr/>
        </p:nvSpPr>
        <p:spPr>
          <a:xfrm>
            <a:off x="4535424" y="2286000"/>
            <a:ext cx="1088136" cy="446959"/>
          </a:xfrm>
          <a:prstGeom prst="rect">
            <a:avLst/>
          </a:prstGeom>
          <a:noFill/>
          <a:ln/>
        </p:spPr>
        <p:txBody>
          <a:bodyPr wrap="square" lIns="0" tIns="0" rIns="0" bIns="0" rtlCol="0" anchor="b"/>
          <a:lstStyle/>
          <a:p>
            <a:pPr indent="0" marL="0">
              <a:buNone/>
            </a:pPr>
            <a:r>
              <a:rPr lang="en-US" sz="1600" b="1" dirty="0">
                <a:solidFill>
                  <a:schemeClr val="accent1"/>
                </a:solidFill>
                <a:latin typeface="Cambria" pitchFamily="34" charset="0"/>
                <a:ea typeface="Cambria" pitchFamily="34" charset="-122"/>
                <a:cs typeface="Cambria" pitchFamily="34" charset="-120"/>
              </a:rPr>
              <a:t>59%</a:t>
            </a:r>
            <a:endParaRPr lang="en-US" sz="1600" dirty="0"/>
          </a:p>
        </p:txBody>
      </p:sp>
      <p:sp>
        <p:nvSpPr>
          <p:cNvPr id="27" name="o219"/>
          <p:cNvSpPr txBox="1"/>
          <p:nvPr/>
        </p:nvSpPr>
        <p:spPr>
          <a:xfrm>
            <a:off x="4535424" y="2729667"/>
            <a:ext cx="1088136" cy="343814"/>
          </a:xfrm>
          <a:prstGeom prst="rect">
            <a:avLst/>
          </a:prstGeom>
          <a:noFill/>
          <a:ln/>
        </p:spPr>
        <p:txBody>
          <a:bodyPr wrap="square" lIns="0" tIns="0" rIns="0" bIns="0" rtlCol="0" anchor="t"/>
          <a:lstStyle/>
          <a:p>
            <a:pPr indent="0" marL="0">
              <a:buNone/>
            </a:pPr>
            <a:r>
              <a:rPr lang="en-US" sz="850" dirty="0">
                <a:solidFill>
                  <a:schemeClr val="tx1"/>
                </a:solidFill>
              </a:rPr>
              <a:t>P(NPV &gt; 0), Monte Carlo 3.000</a:t>
            </a:r>
            <a:endParaRPr lang="en-US" sz="850" dirty="0"/>
          </a:p>
        </p:txBody>
      </p:sp>
      <p:pic>
        <p:nvPicPr>
          <p:cNvPr id="28" name="o220" descr="/home/user/aspebindo/finance/outputs/figs/g04_arus_kas.png">    </p:cNvPr>
          <p:cNvPicPr>
            <a:picLocks noChangeAspect="1"/>
          </p:cNvPicPr>
          <p:nvPr/>
        </p:nvPicPr>
        <p:blipFill>
          <a:blip r:embed="rId1"/>
          <a:stretch>
            <a:fillRect/>
          </a:stretch>
        </p:blipFill>
        <p:spPr>
          <a:xfrm>
            <a:off x="411480" y="3218688"/>
            <a:ext cx="5321808" cy="2249424"/>
          </a:xfrm>
          <a:prstGeom prst="rect">
            <a:avLst/>
          </a:prstGeom>
        </p:spPr>
      </p:pic>
      <p:graphicFrame>
        <p:nvGraphicFramePr>
          <p:cNvPr id="29" name="o221" descr=""/>
          <p:cNvGraphicFramePr/>
          <p:nvPr/>
        </p:nvGraphicFramePr>
        <p:xfrm>
          <a:off x="5943600" y="1298448"/>
          <a:ext cx="5852160" cy="2834640"/>
        </p:xfrm>
        <a:graphic xmlns:a="http://schemas.openxmlformats.org/drawingml/2006/main">
          <a:graphicData uri="http://schemas.openxmlformats.org/drawingml/2006/chart">
            <c:chart xmlns:c="http://schemas.openxmlformats.org/drawingml/2006/chart" r:id="rId2"/>
          </a:graphicData>
        </a:graphic>
      </p:graphicFrame>
      <p:sp>
        <p:nvSpPr>
          <p:cNvPr id="30" name="o222"/>
          <p:cNvSpPr/>
          <p:nvPr/>
        </p:nvSpPr>
        <p:spPr>
          <a:xfrm>
            <a:off x="5943600" y="4251960"/>
            <a:ext cx="2834640" cy="1280160"/>
          </a:xfrm>
          <a:prstGeom prst="roundRect">
            <a:avLst>
              <a:gd name="adj" fmla="val 4286"/>
            </a:avLst>
          </a:prstGeom>
          <a:solidFill>
            <a:schemeClr val="bg1"/>
          </a:solidFill>
          <a:ln w="15875">
            <a:solidFill>
              <a:schemeClr val="accent3"/>
            </a:solidFill>
            <a:prstDash val="solid"/>
          </a:ln>
        </p:spPr>
      </p:sp>
      <p:sp>
        <p:nvSpPr>
          <p:cNvPr id="31" name="o223"/>
          <p:cNvSpPr txBox="1"/>
          <p:nvPr/>
        </p:nvSpPr>
        <p:spPr>
          <a:xfrm>
            <a:off x="6053328" y="4315968"/>
            <a:ext cx="2615184" cy="274320"/>
          </a:xfrm>
          <a:prstGeom prst="rect">
            <a:avLst/>
          </a:prstGeom>
          <a:noFill/>
          <a:ln/>
        </p:spPr>
        <p:txBody>
          <a:bodyPr wrap="square" lIns="0" tIns="0" rIns="0" bIns="0" rtlCol="0" anchor="t"/>
          <a:lstStyle/>
          <a:p>
            <a:pPr indent="0" marL="0">
              <a:buNone/>
            </a:pPr>
            <a:r>
              <a:rPr lang="en-US" sz="1200" b="1" dirty="0">
                <a:solidFill>
                  <a:schemeClr val="accent3"/>
                </a:solidFill>
              </a:rPr>
              <a:t>Yang membuat proyek layak</a:t>
            </a:r>
            <a:endParaRPr lang="en-US" sz="1200" dirty="0"/>
          </a:p>
        </p:txBody>
      </p:sp>
      <p:sp>
        <p:nvSpPr>
          <p:cNvPr id="32" name="o224"/>
          <p:cNvSpPr txBox="1"/>
          <p:nvPr/>
        </p:nvSpPr>
        <p:spPr>
          <a:xfrm>
            <a:off x="6053328" y="4599432"/>
            <a:ext cx="2615184" cy="86868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Fee POME dan penggantian solar. Tanpa fee, NPV USD -1,03 juta; di PKS terhubung PLN, USD -0,80 juta.</a:t>
            </a:r>
            <a:endParaRPr lang="en-US" sz="950" dirty="0"/>
          </a:p>
        </p:txBody>
      </p:sp>
      <p:sp>
        <p:nvSpPr>
          <p:cNvPr id="33" name="o225"/>
          <p:cNvSpPr/>
          <p:nvPr/>
        </p:nvSpPr>
        <p:spPr>
          <a:xfrm>
            <a:off x="8961120" y="4251960"/>
            <a:ext cx="2834640" cy="1280160"/>
          </a:xfrm>
          <a:prstGeom prst="roundRect">
            <a:avLst>
              <a:gd name="adj" fmla="val 4286"/>
            </a:avLst>
          </a:prstGeom>
          <a:solidFill>
            <a:schemeClr val="bg1"/>
          </a:solidFill>
          <a:ln w="15875">
            <a:solidFill>
              <a:schemeClr val="accent1"/>
            </a:solidFill>
            <a:prstDash val="solid"/>
          </a:ln>
        </p:spPr>
      </p:sp>
      <p:sp>
        <p:nvSpPr>
          <p:cNvPr id="34" name="o226"/>
          <p:cNvSpPr txBox="1"/>
          <p:nvPr/>
        </p:nvSpPr>
        <p:spPr>
          <a:xfrm>
            <a:off x="9070848" y="4315968"/>
            <a:ext cx="2615184" cy="274320"/>
          </a:xfrm>
          <a:prstGeom prst="rect">
            <a:avLst/>
          </a:prstGeom>
          <a:noFill/>
          <a:ln/>
        </p:spPr>
        <p:txBody>
          <a:bodyPr wrap="square" lIns="0" tIns="0" rIns="0" bIns="0" rtlCol="0" anchor="t"/>
          <a:lstStyle/>
          <a:p>
            <a:pPr indent="0" marL="0">
              <a:buNone/>
            </a:pPr>
            <a:r>
              <a:rPr lang="en-US" sz="1200" b="1" dirty="0">
                <a:solidFill>
                  <a:schemeClr val="accent1"/>
                </a:solidFill>
              </a:rPr>
              <a:t>Yang memperbaikinya</a:t>
            </a:r>
            <a:endParaRPr lang="en-US" sz="1200" dirty="0"/>
          </a:p>
        </p:txBody>
      </p:sp>
      <p:sp>
        <p:nvSpPr>
          <p:cNvPr id="35" name="o227"/>
          <p:cNvSpPr txBox="1"/>
          <p:nvPr/>
        </p:nvSpPr>
        <p:spPr>
          <a:xfrm>
            <a:off x="9070848" y="4599432"/>
            <a:ext cx="2615184" cy="86868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Kurva belajar: unit ke-10 IRR 15,5%. Tier 60 t/jam IRR 14,1%. Penggerak utama ketidakpastian: faktor beban TBS dan capex.</a:t>
            </a:r>
            <a:endParaRPr lang="en-US" sz="950" dirty="0"/>
          </a:p>
        </p:txBody>
      </p:sp>
      <p:sp>
        <p:nvSpPr>
          <p:cNvPr id="36" name="o228"/>
          <p:cNvSpPr txBox="1"/>
          <p:nvPr/>
        </p:nvSpPr>
        <p:spPr>
          <a:xfrm>
            <a:off x="411480" y="5669280"/>
            <a:ext cx="1325880" cy="457200"/>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rPr>
              <a:t>Kesimpulan</a:t>
            </a:r>
            <a:endParaRPr lang="en-US" sz="1200" dirty="0"/>
          </a:p>
        </p:txBody>
      </p:sp>
      <p:sp>
        <p:nvSpPr>
          <p:cNvPr id="37" name="o229"/>
          <p:cNvSpPr txBox="1"/>
          <p:nvPr/>
        </p:nvSpPr>
        <p:spPr>
          <a:xfrm>
            <a:off x="1737360" y="5669280"/>
            <a:ext cx="10058400" cy="457200"/>
          </a:xfrm>
          <a:prstGeom prst="rect">
            <a:avLst/>
          </a:prstGeom>
          <a:solidFill>
            <a:schemeClr val="bg2"/>
          </a:solidFill>
          <a:ln/>
        </p:spPr>
        <p:txBody>
          <a:bodyPr wrap="square" lIns="0" tIns="127000" rIns="127000" bIns="0" rtlCol="0" anchor="ctr"/>
          <a:lstStyle/>
          <a:p>
            <a:pPr indent="0" marL="0">
              <a:buNone/>
            </a:pPr>
            <a:r>
              <a:rPr lang="en-US" sz="1150" dirty="0">
                <a:solidFill>
                  <a:schemeClr val="tx1"/>
                </a:solidFill>
              </a:rPr>
              <a:t>Satu set layak dengan margin wajar (IRR 12,2% vs WACC 9,7%, DSCR 1,31). Risikonya kami ungkap: P(NPV &gt; 0) 59%, sehingga set pertama dipilih di PKS dengan beban TBS terjamin.</a:t>
            </a:r>
            <a:endParaRPr lang="en-US" sz="1150" dirty="0"/>
          </a:p>
        </p:txBody>
      </p:sp>
      <p:sp>
        <p:nvSpPr>
          <p:cNvPr id="38" name="o230"/>
          <p:cNvSpPr txBox="1"/>
          <p:nvPr/>
        </p:nvSpPr>
        <p:spPr>
          <a:xfrm>
            <a:off x="411480" y="6163056"/>
            <a:ext cx="11384280" cy="256032"/>
          </a:xfrm>
          <a:prstGeom prst="rect">
            <a:avLst/>
          </a:prstGeom>
          <a:noFill/>
          <a:ln/>
        </p:spPr>
        <p:txBody>
          <a:bodyPr wrap="square" lIns="0" tIns="0" rIns="0" bIns="0" rtlCol="0" anchor="ctr"/>
          <a:lstStyle/>
          <a:p>
            <a:pPr indent="0" marL="0">
              <a:buNone/>
            </a:pPr>
            <a:r>
              <a:rPr lang="en-US" sz="750" dirty="0">
                <a:solidFill>
                  <a:schemeClr val="accent6"/>
                </a:solidFill>
              </a:rPr>
              <a:t>Sumber: BG_Model_Keuangan.xlsx (rumus hidup, diverifikasi ulang LibreOffice = Python), fin_core.py v3; WACC dari IEA, CPI, BI Rate 5,75%; PP 78/2019 (tax allowance).</a:t>
            </a:r>
            <a:endParaRPr lang="en-US" sz="750" dirty="0"/>
          </a:p>
        </p:txBody>
      </p:sp>
      <p:sp>
        <p:nvSpPr>
          <p:cNvPr id="39" name="o231"/>
          <p:cNvSpPr txBox="1"/>
          <p:nvPr/>
        </p:nvSpPr>
        <p:spPr>
          <a:xfrm>
            <a:off x="41148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Masalah</a:t>
            </a:r>
            <a:endParaRPr lang="en-US" sz="950" dirty="0"/>
          </a:p>
        </p:txBody>
      </p:sp>
      <p:sp>
        <p:nvSpPr>
          <p:cNvPr id="40" name="o232"/>
          <p:cNvSpPr txBox="1"/>
          <p:nvPr/>
        </p:nvSpPr>
        <p:spPr>
          <a:xfrm>
            <a:off x="163677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Solusi</a:t>
            </a:r>
            <a:endParaRPr lang="en-US" sz="950" dirty="0"/>
          </a:p>
        </p:txBody>
      </p:sp>
      <p:sp>
        <p:nvSpPr>
          <p:cNvPr id="41" name="o233"/>
          <p:cNvSpPr txBox="1"/>
          <p:nvPr/>
        </p:nvSpPr>
        <p:spPr>
          <a:xfrm>
            <a:off x="286207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Inovasi</a:t>
            </a:r>
            <a:endParaRPr lang="en-US" sz="950" dirty="0"/>
          </a:p>
        </p:txBody>
      </p:sp>
      <p:sp>
        <p:nvSpPr>
          <p:cNvPr id="42" name="o234"/>
          <p:cNvSpPr txBox="1"/>
          <p:nvPr/>
        </p:nvSpPr>
        <p:spPr>
          <a:xfrm>
            <a:off x="408736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Pasar</a:t>
            </a:r>
            <a:endParaRPr lang="en-US" sz="950" dirty="0"/>
          </a:p>
        </p:txBody>
      </p:sp>
      <p:sp>
        <p:nvSpPr>
          <p:cNvPr id="43" name="o235"/>
          <p:cNvSpPr txBox="1"/>
          <p:nvPr/>
        </p:nvSpPr>
        <p:spPr>
          <a:xfrm>
            <a:off x="5312664"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Model bisnis</a:t>
            </a:r>
            <a:endParaRPr lang="en-US" sz="950" dirty="0"/>
          </a:p>
        </p:txBody>
      </p:sp>
      <p:sp>
        <p:nvSpPr>
          <p:cNvPr id="44" name="o236"/>
          <p:cNvSpPr txBox="1"/>
          <p:nvPr/>
        </p:nvSpPr>
        <p:spPr>
          <a:xfrm>
            <a:off x="6537960" y="6473952"/>
            <a:ext cx="1188720" cy="256032"/>
          </a:xfrm>
          <a:prstGeom prst="roundRect">
            <a:avLst>
              <a:gd name="adj" fmla="val 21429"/>
            </a:avLst>
          </a:prstGeom>
          <a:solidFill>
            <a:schemeClr val="tx2"/>
          </a:solidFill>
          <a:ln>
            <a:solidFill>
              <a:schemeClr val="tx2"/>
            </a:solidFill>
          </a:ln>
        </p:spPr>
        <p:txBody>
          <a:bodyPr wrap="square" lIns="0" tIns="0" rIns="0" bIns="0" rtlCol="0" anchor="ctr"/>
          <a:lstStyle/>
          <a:p>
            <a:pPr algn="ctr" indent="0" marL="0">
              <a:buNone/>
            </a:pPr>
            <a:r>
              <a:rPr lang="en-US" sz="950" b="1" dirty="0">
                <a:solidFill>
                  <a:schemeClr val="bg1"/>
                </a:solidFill>
              </a:rPr>
              <a:t>Keuangan</a:t>
            </a:r>
            <a:endParaRPr lang="en-US" sz="950" dirty="0"/>
          </a:p>
        </p:txBody>
      </p:sp>
      <p:sp>
        <p:nvSpPr>
          <p:cNvPr id="45" name="o237"/>
          <p:cNvSpPr txBox="1"/>
          <p:nvPr/>
        </p:nvSpPr>
        <p:spPr>
          <a:xfrm>
            <a:off x="776325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Dampak</a:t>
            </a:r>
            <a:endParaRPr lang="en-US" sz="950" dirty="0"/>
          </a:p>
        </p:txBody>
      </p:sp>
      <p:sp>
        <p:nvSpPr>
          <p:cNvPr id="46" name="o238"/>
          <p:cNvSpPr txBox="1"/>
          <p:nvPr/>
        </p:nvSpPr>
        <p:spPr>
          <a:xfrm>
            <a:off x="898855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Skala</a:t>
            </a:r>
            <a:endParaRPr lang="en-US" sz="950" dirty="0"/>
          </a:p>
        </p:txBody>
      </p:sp>
      <p:sp>
        <p:nvSpPr>
          <p:cNvPr id="47" name="o239"/>
          <p:cNvSpPr txBox="1"/>
          <p:nvPr/>
        </p:nvSpPr>
        <p:spPr>
          <a:xfrm>
            <a:off x="1021384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Penutup</a:t>
            </a:r>
            <a:endParaRPr lang="en-US" sz="950" dirty="0"/>
          </a:p>
        </p:txBody>
      </p:sp>
      <p:sp>
        <p:nvSpPr>
          <p:cNvPr id="48" name="o240"/>
          <p:cNvSpPr/>
          <p:nvPr/>
        </p:nvSpPr>
        <p:spPr>
          <a:xfrm>
            <a:off x="11384280" y="6473952"/>
            <a:ext cx="411480" cy="256032"/>
          </a:xfrm>
          <a:prstGeom prst="roundRect">
            <a:avLst>
              <a:gd name="adj" fmla="val 21429"/>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1138428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11480" y="182880"/>
            <a:ext cx="8686800" cy="237744"/>
          </a:xfrm>
          <a:prstGeom prst="rect">
            <a:avLst/>
          </a:prstGeom>
          <a:noFill/>
          <a:ln/>
        </p:spPr>
        <p:txBody>
          <a:bodyPr wrap="square" lIns="0" tIns="0" rIns="0" bIns="0" rtlCol="0"/>
          <a:lstStyle/>
          <a:p>
            <a:pPr indent="0" marL="0">
              <a:buNone/>
            </a:pPr>
            <a:r>
              <a:rPr lang="en-US" sz="1100" b="1" dirty="0">
                <a:solidFill>
                  <a:schemeClr val="accent1"/>
                </a:solidFill>
              </a:rPr>
              <a:t>Dampak lingkungan, energi dan sosial</a:t>
            </a:r>
            <a:endParaRPr lang="en-US" sz="1100" dirty="0"/>
          </a:p>
        </p:txBody>
      </p:sp>
      <p:sp>
        <p:nvSpPr>
          <p:cNvPr id="3" name="Text 1"/>
          <p:cNvSpPr/>
          <p:nvPr>
            <p:ph idx="102" type="title" hasCustomPrompt="1"/>
          </p:nvPr>
        </p:nvSpPr>
        <p:spPr>
          <a:xfrm>
            <a:off x="411480" y="420624"/>
            <a:ext cx="11338560" cy="786384"/>
          </a:xfrm>
          <a:prstGeom prst="rect">
            <a:avLst/>
          </a:prstGeom>
          <a:noFill/>
          <a:ln/>
        </p:spPr>
        <p:txBody>
          <a:bodyPr wrap="square" lIns="0" tIns="0" rIns="0" bIns="0" rtlCol="0" anchor="t"/>
          <a:lstStyle/>
          <a:p>
            <a:pPr algn="l" indent="0" marL="0">
              <a:buNone/>
            </a:pPr>
            <a:r>
              <a:rPr lang="en-US" sz="2100" b="1" dirty="0">
                <a:solidFill>
                  <a:schemeClr val="tx2"/>
                </a:solidFill>
              </a:rPr>
              <a:t>Dampak: setiap set menghindari 24.025 tCO2e/th dan menggantikan ~565 rb L solar/th; 15 set pada 2034 menghindari ~360 rb tCO2e/th</a:t>
            </a:r>
            <a:endParaRPr lang="en-US" sz="2100" dirty="0"/>
          </a:p>
        </p:txBody>
      </p:sp>
      <p:pic>
        <p:nvPicPr>
          <p:cNvPr id="4" name="o241" descr="/home/user/aspebindo/cad/out/render/DIORAMA_lokasi.png">    </p:cNvPr>
          <p:cNvPicPr>
            <a:picLocks noChangeAspect="1"/>
          </p:cNvPicPr>
          <p:nvPr/>
        </p:nvPicPr>
        <p:blipFill>
          <a:blip r:embed="rId1"/>
          <a:stretch>
            <a:fillRect/>
          </a:stretch>
        </p:blipFill>
        <p:spPr>
          <a:xfrm>
            <a:off x="411480" y="1298448"/>
            <a:ext cx="5852160" cy="3291840"/>
          </a:xfrm>
          <a:prstGeom prst="rect">
            <a:avLst/>
          </a:prstGeom>
        </p:spPr>
      </p:pic>
      <p:sp>
        <p:nvSpPr>
          <p:cNvPr id="5" name="o242"/>
          <p:cNvSpPr txBox="1"/>
          <p:nvPr/>
        </p:nvSpPr>
        <p:spPr>
          <a:xfrm>
            <a:off x="411480" y="4608576"/>
            <a:ext cx="5852160" cy="256032"/>
          </a:xfrm>
          <a:prstGeom prst="rect">
            <a:avLst/>
          </a:prstGeom>
          <a:noFill/>
          <a:ln/>
        </p:spPr>
        <p:txBody>
          <a:bodyPr wrap="square" lIns="0" tIns="0" rIns="0" bIns="0" rtlCol="0" anchor="ctr"/>
          <a:lstStyle/>
          <a:p>
            <a:pPr indent="0" marL="0">
              <a:buNone/>
            </a:pPr>
            <a:r>
              <a:rPr lang="en-US" sz="900" i="1" dirty="0">
                <a:solidFill>
                  <a:schemeClr val="accent6"/>
                </a:solidFill>
              </a:rPr>
              <a:t>Set biogas dipasang di samping kolam POME lama; kolam lama dikosongkan, kolam polishing tetap dipakai.</a:t>
            </a:r>
            <a:endParaRPr lang="en-US" sz="900" dirty="0"/>
          </a:p>
        </p:txBody>
      </p:sp>
      <p:sp>
        <p:nvSpPr>
          <p:cNvPr id="6" name="o243"/>
          <p:cNvSpPr txBox="1"/>
          <p:nvPr/>
        </p:nvSpPr>
        <p:spPr>
          <a:xfrm>
            <a:off x="411480" y="4937760"/>
            <a:ext cx="1115568" cy="594360"/>
          </a:xfrm>
          <a:prstGeom prst="roundRect">
            <a:avLst>
              <a:gd name="adj" fmla="val 9231"/>
            </a:avLst>
          </a:prstGeom>
          <a:solidFill>
            <a:schemeClr val="accent4"/>
          </a:solidFill>
          <a:ln/>
        </p:spPr>
        <p:txBody>
          <a:bodyPr wrap="square" lIns="25400" tIns="25400" rIns="25400" bIns="25400" rtlCol="0" anchor="ctr"/>
          <a:lstStyle/>
          <a:p>
            <a:pPr algn="ctr" indent="0" marL="0">
              <a:buNone/>
            </a:pPr>
            <a:r>
              <a:rPr lang="en-US" sz="1000" b="1" dirty="0">
                <a:solidFill>
                  <a:schemeClr val="bg1"/>
                </a:solidFill>
              </a:rPr>
              <a:t>SDG 6</a:t>
            </a:r>
            <a:endParaRPr lang="en-US" sz="1000" dirty="0"/>
          </a:p>
          <a:p>
            <a:pPr algn="ctr" indent="0" marL="0">
              <a:buNone/>
            </a:pPr>
            <a:r>
              <a:rPr lang="en-US" sz="850" dirty="0">
                <a:solidFill>
                  <a:schemeClr val="bg1"/>
                </a:solidFill>
              </a:rPr>
              <a:t>Air bersih</a:t>
            </a:r>
            <a:endParaRPr lang="en-US" sz="1000" dirty="0"/>
          </a:p>
        </p:txBody>
      </p:sp>
      <p:sp>
        <p:nvSpPr>
          <p:cNvPr id="7" name="o244"/>
          <p:cNvSpPr txBox="1"/>
          <p:nvPr/>
        </p:nvSpPr>
        <p:spPr>
          <a:xfrm>
            <a:off x="1591056" y="4937760"/>
            <a:ext cx="1115568" cy="594360"/>
          </a:xfrm>
          <a:prstGeom prst="roundRect">
            <a:avLst>
              <a:gd name="adj" fmla="val 9231"/>
            </a:avLst>
          </a:prstGeom>
          <a:solidFill>
            <a:schemeClr val="accent2"/>
          </a:solidFill>
          <a:ln/>
        </p:spPr>
        <p:txBody>
          <a:bodyPr wrap="square" lIns="25400" tIns="25400" rIns="25400" bIns="25400" rtlCol="0" anchor="ctr"/>
          <a:lstStyle/>
          <a:p>
            <a:pPr algn="ctr" indent="0" marL="0">
              <a:buNone/>
            </a:pPr>
            <a:r>
              <a:rPr lang="en-US" sz="1000" b="1" dirty="0">
                <a:solidFill>
                  <a:schemeClr val="bg1"/>
                </a:solidFill>
              </a:rPr>
              <a:t>SDG 7</a:t>
            </a:r>
            <a:endParaRPr lang="en-US" sz="1000" dirty="0"/>
          </a:p>
          <a:p>
            <a:pPr algn="ctr" indent="0" marL="0">
              <a:buNone/>
            </a:pPr>
            <a:r>
              <a:rPr lang="en-US" sz="850" dirty="0">
                <a:solidFill>
                  <a:schemeClr val="bg1"/>
                </a:solidFill>
              </a:rPr>
              <a:t>Energi bersih</a:t>
            </a:r>
            <a:endParaRPr lang="en-US" sz="1000" dirty="0"/>
          </a:p>
        </p:txBody>
      </p:sp>
      <p:sp>
        <p:nvSpPr>
          <p:cNvPr id="8" name="o245"/>
          <p:cNvSpPr txBox="1"/>
          <p:nvPr/>
        </p:nvSpPr>
        <p:spPr>
          <a:xfrm>
            <a:off x="2770632" y="4937760"/>
            <a:ext cx="1115568" cy="594360"/>
          </a:xfrm>
          <a:prstGeom prst="roundRect">
            <a:avLst>
              <a:gd name="adj" fmla="val 9231"/>
            </a:avLst>
          </a:prstGeom>
          <a:solidFill>
            <a:schemeClr val="accent3"/>
          </a:solidFill>
          <a:ln/>
        </p:spPr>
        <p:txBody>
          <a:bodyPr wrap="square" lIns="25400" tIns="25400" rIns="25400" bIns="25400" rtlCol="0" anchor="ctr"/>
          <a:lstStyle/>
          <a:p>
            <a:pPr algn="ctr" indent="0" marL="0">
              <a:buNone/>
            </a:pPr>
            <a:r>
              <a:rPr lang="en-US" sz="1000" b="1" dirty="0">
                <a:solidFill>
                  <a:schemeClr val="bg1"/>
                </a:solidFill>
              </a:rPr>
              <a:t>SDG 8</a:t>
            </a:r>
            <a:endParaRPr lang="en-US" sz="1000" dirty="0"/>
          </a:p>
          <a:p>
            <a:pPr algn="ctr" indent="0" marL="0">
              <a:buNone/>
            </a:pPr>
            <a:r>
              <a:rPr lang="en-US" sz="850" dirty="0">
                <a:solidFill>
                  <a:schemeClr val="bg1"/>
                </a:solidFill>
              </a:rPr>
              <a:t>Pekerjaan layak</a:t>
            </a:r>
            <a:endParaRPr lang="en-US" sz="1000" dirty="0"/>
          </a:p>
        </p:txBody>
      </p:sp>
      <p:sp>
        <p:nvSpPr>
          <p:cNvPr id="9" name="o246"/>
          <p:cNvSpPr txBox="1"/>
          <p:nvPr/>
        </p:nvSpPr>
        <p:spPr>
          <a:xfrm>
            <a:off x="3950208" y="4937760"/>
            <a:ext cx="1115568" cy="594360"/>
          </a:xfrm>
          <a:prstGeom prst="roundRect">
            <a:avLst>
              <a:gd name="adj" fmla="val 9231"/>
            </a:avLst>
          </a:prstGeom>
          <a:solidFill>
            <a:schemeClr val="accent5"/>
          </a:solidFill>
          <a:ln/>
        </p:spPr>
        <p:txBody>
          <a:bodyPr wrap="square" lIns="25400" tIns="25400" rIns="25400" bIns="25400" rtlCol="0" anchor="ctr"/>
          <a:lstStyle/>
          <a:p>
            <a:pPr algn="ctr" indent="0" marL="0">
              <a:buNone/>
            </a:pPr>
            <a:r>
              <a:rPr lang="en-US" sz="1000" b="1" dirty="0">
                <a:solidFill>
                  <a:schemeClr val="bg1"/>
                </a:solidFill>
              </a:rPr>
              <a:t>SDG 12</a:t>
            </a:r>
            <a:endParaRPr lang="en-US" sz="1000" dirty="0"/>
          </a:p>
          <a:p>
            <a:pPr algn="ctr" indent="0" marL="0">
              <a:buNone/>
            </a:pPr>
            <a:r>
              <a:rPr lang="en-US" sz="850" dirty="0">
                <a:solidFill>
                  <a:schemeClr val="bg1"/>
                </a:solidFill>
              </a:rPr>
              <a:t>Konsumsi bertanggung jawab</a:t>
            </a:r>
            <a:endParaRPr lang="en-US" sz="1000" dirty="0"/>
          </a:p>
        </p:txBody>
      </p:sp>
      <p:sp>
        <p:nvSpPr>
          <p:cNvPr id="10" name="o247"/>
          <p:cNvSpPr txBox="1"/>
          <p:nvPr/>
        </p:nvSpPr>
        <p:spPr>
          <a:xfrm>
            <a:off x="5129784" y="4937760"/>
            <a:ext cx="1115568" cy="594360"/>
          </a:xfrm>
          <a:prstGeom prst="roundRect">
            <a:avLst>
              <a:gd name="adj" fmla="val 9231"/>
            </a:avLst>
          </a:prstGeom>
          <a:solidFill>
            <a:schemeClr val="tx2"/>
          </a:solidFill>
          <a:ln/>
        </p:spPr>
        <p:txBody>
          <a:bodyPr wrap="square" lIns="25400" tIns="25400" rIns="25400" bIns="25400" rtlCol="0" anchor="ctr"/>
          <a:lstStyle/>
          <a:p>
            <a:pPr algn="ctr" indent="0" marL="0">
              <a:buNone/>
            </a:pPr>
            <a:r>
              <a:rPr lang="en-US" sz="1000" b="1" dirty="0">
                <a:solidFill>
                  <a:schemeClr val="bg1"/>
                </a:solidFill>
              </a:rPr>
              <a:t>SDG 13</a:t>
            </a:r>
            <a:endParaRPr lang="en-US" sz="1000" dirty="0"/>
          </a:p>
          <a:p>
            <a:pPr algn="ctr" indent="0" marL="0">
              <a:buNone/>
            </a:pPr>
            <a:r>
              <a:rPr lang="en-US" sz="850" dirty="0">
                <a:solidFill>
                  <a:schemeClr val="bg1"/>
                </a:solidFill>
              </a:rPr>
              <a:t>Aksi iklim</a:t>
            </a:r>
            <a:endParaRPr lang="en-US" sz="1000" dirty="0"/>
          </a:p>
        </p:txBody>
      </p:sp>
      <p:sp>
        <p:nvSpPr>
          <p:cNvPr id="11" name="o248"/>
          <p:cNvSpPr/>
          <p:nvPr/>
        </p:nvSpPr>
        <p:spPr>
          <a:xfrm>
            <a:off x="6446520" y="1298448"/>
            <a:ext cx="2606040" cy="1033272"/>
          </a:xfrm>
          <a:prstGeom prst="roundRect">
            <a:avLst>
              <a:gd name="adj" fmla="val 5310"/>
            </a:avLst>
          </a:prstGeom>
          <a:solidFill>
            <a:schemeClr val="bg2"/>
          </a:solidFill>
          <a:ln w="12700">
            <a:solidFill>
              <a:schemeClr val="bg2"/>
            </a:solidFill>
            <a:prstDash val="solid"/>
          </a:ln>
        </p:spPr>
      </p:sp>
      <p:sp>
        <p:nvSpPr>
          <p:cNvPr id="12" name="o249"/>
          <p:cNvSpPr txBox="1"/>
          <p:nvPr/>
        </p:nvSpPr>
        <p:spPr>
          <a:xfrm>
            <a:off x="6537960" y="1353312"/>
            <a:ext cx="2423160" cy="537301"/>
          </a:xfrm>
          <a:prstGeom prst="rect">
            <a:avLst/>
          </a:prstGeom>
          <a:noFill/>
          <a:ln/>
        </p:spPr>
        <p:txBody>
          <a:bodyPr wrap="square" lIns="0" tIns="0" rIns="0" bIns="0" rtlCol="0" anchor="b"/>
          <a:lstStyle/>
          <a:p>
            <a:pPr indent="0" marL="0">
              <a:buNone/>
            </a:pPr>
            <a:r>
              <a:rPr lang="en-US" sz="2200" b="1" dirty="0">
                <a:solidFill>
                  <a:schemeClr val="accent1"/>
                </a:solidFill>
                <a:latin typeface="Cambria" pitchFamily="34" charset="0"/>
                <a:ea typeface="Cambria" pitchFamily="34" charset="-122"/>
                <a:cs typeface="Cambria" pitchFamily="34" charset="-120"/>
              </a:rPr>
              <a:t>24.025</a:t>
            </a:r>
            <a:endParaRPr lang="en-US" sz="2200" dirty="0"/>
          </a:p>
        </p:txBody>
      </p:sp>
      <p:sp>
        <p:nvSpPr>
          <p:cNvPr id="13" name="o250"/>
          <p:cNvSpPr txBox="1"/>
          <p:nvPr/>
        </p:nvSpPr>
        <p:spPr>
          <a:xfrm>
            <a:off x="6537960" y="1897746"/>
            <a:ext cx="2423160" cy="413309"/>
          </a:xfrm>
          <a:prstGeom prst="rect">
            <a:avLst/>
          </a:prstGeom>
          <a:noFill/>
          <a:ln/>
        </p:spPr>
        <p:txBody>
          <a:bodyPr wrap="square" lIns="0" tIns="0" rIns="0" bIns="0" rtlCol="0" anchor="t"/>
          <a:lstStyle/>
          <a:p>
            <a:pPr indent="0" marL="0">
              <a:buNone/>
            </a:pPr>
            <a:r>
              <a:rPr lang="en-US" sz="950" dirty="0">
                <a:solidFill>
                  <a:schemeClr val="tx1"/>
                </a:solidFill>
              </a:rPr>
              <a:t>tCO2e/th metana dihindari (96% dari baseline kolam)</a:t>
            </a:r>
            <a:endParaRPr lang="en-US" sz="950" dirty="0"/>
          </a:p>
        </p:txBody>
      </p:sp>
      <p:sp>
        <p:nvSpPr>
          <p:cNvPr id="14" name="o251"/>
          <p:cNvSpPr/>
          <p:nvPr/>
        </p:nvSpPr>
        <p:spPr>
          <a:xfrm>
            <a:off x="9144000" y="1298448"/>
            <a:ext cx="2606040" cy="1033272"/>
          </a:xfrm>
          <a:prstGeom prst="roundRect">
            <a:avLst>
              <a:gd name="adj" fmla="val 5310"/>
            </a:avLst>
          </a:prstGeom>
          <a:solidFill>
            <a:schemeClr val="bg2"/>
          </a:solidFill>
          <a:ln w="12700">
            <a:solidFill>
              <a:schemeClr val="bg2"/>
            </a:solidFill>
            <a:prstDash val="solid"/>
          </a:ln>
        </p:spPr>
      </p:sp>
      <p:sp>
        <p:nvSpPr>
          <p:cNvPr id="15" name="o252"/>
          <p:cNvSpPr txBox="1"/>
          <p:nvPr/>
        </p:nvSpPr>
        <p:spPr>
          <a:xfrm>
            <a:off x="9235440" y="1353312"/>
            <a:ext cx="2423160" cy="537301"/>
          </a:xfrm>
          <a:prstGeom prst="rect">
            <a:avLst/>
          </a:prstGeom>
          <a:noFill/>
          <a:ln/>
        </p:spPr>
        <p:txBody>
          <a:bodyPr wrap="square" lIns="0" tIns="0" rIns="0" bIns="0" rtlCol="0" anchor="b"/>
          <a:lstStyle/>
          <a:p>
            <a:pPr indent="0" marL="0">
              <a:buNone/>
            </a:pPr>
            <a:r>
              <a:rPr lang="en-US" sz="2200" b="1" dirty="0">
                <a:solidFill>
                  <a:schemeClr val="accent2"/>
                </a:solidFill>
                <a:latin typeface="Cambria" pitchFamily="34" charset="0"/>
                <a:ea typeface="Cambria" pitchFamily="34" charset="-122"/>
                <a:cs typeface="Cambria" pitchFamily="34" charset="-120"/>
              </a:rPr>
              <a:t>564.975 L</a:t>
            </a:r>
            <a:endParaRPr lang="en-US" sz="2200" dirty="0"/>
          </a:p>
        </p:txBody>
      </p:sp>
      <p:sp>
        <p:nvSpPr>
          <p:cNvPr id="16" name="o253"/>
          <p:cNvSpPr txBox="1"/>
          <p:nvPr/>
        </p:nvSpPr>
        <p:spPr>
          <a:xfrm>
            <a:off x="9235440" y="1897746"/>
            <a:ext cx="2423160" cy="413309"/>
          </a:xfrm>
          <a:prstGeom prst="rect">
            <a:avLst/>
          </a:prstGeom>
          <a:noFill/>
          <a:ln/>
        </p:spPr>
        <p:txBody>
          <a:bodyPr wrap="square" lIns="0" tIns="0" rIns="0" bIns="0" rtlCol="0" anchor="t"/>
          <a:lstStyle/>
          <a:p>
            <a:pPr indent="0" marL="0">
              <a:buNone/>
            </a:pPr>
            <a:r>
              <a:rPr lang="en-US" sz="950" dirty="0">
                <a:solidFill>
                  <a:schemeClr val="tx1"/>
                </a:solidFill>
              </a:rPr>
              <a:t>solar/th digantikan listrik biogas di PKS</a:t>
            </a:r>
            <a:endParaRPr lang="en-US" sz="950" dirty="0"/>
          </a:p>
        </p:txBody>
      </p:sp>
      <p:sp>
        <p:nvSpPr>
          <p:cNvPr id="17" name="o254"/>
          <p:cNvSpPr/>
          <p:nvPr/>
        </p:nvSpPr>
        <p:spPr>
          <a:xfrm>
            <a:off x="6446520" y="2423160"/>
            <a:ext cx="2606040" cy="1033272"/>
          </a:xfrm>
          <a:prstGeom prst="roundRect">
            <a:avLst>
              <a:gd name="adj" fmla="val 5310"/>
            </a:avLst>
          </a:prstGeom>
          <a:solidFill>
            <a:schemeClr val="bg2"/>
          </a:solidFill>
          <a:ln w="12700">
            <a:solidFill>
              <a:schemeClr val="bg2"/>
            </a:solidFill>
            <a:prstDash val="solid"/>
          </a:ln>
        </p:spPr>
      </p:sp>
      <p:sp>
        <p:nvSpPr>
          <p:cNvPr id="18" name="o255"/>
          <p:cNvSpPr txBox="1"/>
          <p:nvPr/>
        </p:nvSpPr>
        <p:spPr>
          <a:xfrm>
            <a:off x="6537960" y="2478024"/>
            <a:ext cx="2423160" cy="537301"/>
          </a:xfrm>
          <a:prstGeom prst="rect">
            <a:avLst/>
          </a:prstGeom>
          <a:noFill/>
          <a:ln/>
        </p:spPr>
        <p:txBody>
          <a:bodyPr wrap="square" lIns="0" tIns="0" rIns="0" bIns="0" rtlCol="0" anchor="b"/>
          <a:lstStyle/>
          <a:p>
            <a:pPr indent="0" marL="0">
              <a:buNone/>
            </a:pPr>
            <a:r>
              <a:rPr lang="en-US" sz="2200" b="1" dirty="0">
                <a:solidFill>
                  <a:schemeClr val="accent1"/>
                </a:solidFill>
                <a:latin typeface="Cambria" pitchFamily="34" charset="0"/>
                <a:ea typeface="Cambria" pitchFamily="34" charset="-122"/>
                <a:cs typeface="Cambria" pitchFamily="34" charset="-120"/>
              </a:rPr>
              <a:t>5,27 GWh</a:t>
            </a:r>
            <a:endParaRPr lang="en-US" sz="2200" dirty="0"/>
          </a:p>
        </p:txBody>
      </p:sp>
      <p:sp>
        <p:nvSpPr>
          <p:cNvPr id="19" name="o256"/>
          <p:cNvSpPr txBox="1"/>
          <p:nvPr/>
        </p:nvSpPr>
        <p:spPr>
          <a:xfrm>
            <a:off x="6537960" y="3022458"/>
            <a:ext cx="2423160" cy="413309"/>
          </a:xfrm>
          <a:prstGeom prst="rect">
            <a:avLst/>
          </a:prstGeom>
          <a:noFill/>
          <a:ln/>
        </p:spPr>
        <p:txBody>
          <a:bodyPr wrap="square" lIns="0" tIns="0" rIns="0" bIns="0" rtlCol="0" anchor="t"/>
          <a:lstStyle/>
          <a:p>
            <a:pPr indent="0" marL="0">
              <a:buNone/>
            </a:pPr>
            <a:r>
              <a:rPr lang="en-US" sz="950" dirty="0">
                <a:solidFill>
                  <a:schemeClr val="tx1"/>
                </a:solidFill>
              </a:rPr>
              <a:t>listrik neto/th; 3,02 GWh ke jaringan PLN</a:t>
            </a:r>
            <a:endParaRPr lang="en-US" sz="950" dirty="0"/>
          </a:p>
        </p:txBody>
      </p:sp>
      <p:sp>
        <p:nvSpPr>
          <p:cNvPr id="20" name="o257"/>
          <p:cNvSpPr/>
          <p:nvPr/>
        </p:nvSpPr>
        <p:spPr>
          <a:xfrm>
            <a:off x="9144000" y="2423160"/>
            <a:ext cx="2606040" cy="1033272"/>
          </a:xfrm>
          <a:prstGeom prst="roundRect">
            <a:avLst>
              <a:gd name="adj" fmla="val 5310"/>
            </a:avLst>
          </a:prstGeom>
          <a:solidFill>
            <a:schemeClr val="bg2"/>
          </a:solidFill>
          <a:ln w="12700">
            <a:solidFill>
              <a:schemeClr val="bg2"/>
            </a:solidFill>
            <a:prstDash val="solid"/>
          </a:ln>
        </p:spPr>
      </p:sp>
      <p:sp>
        <p:nvSpPr>
          <p:cNvPr id="21" name="o258"/>
          <p:cNvSpPr txBox="1"/>
          <p:nvPr/>
        </p:nvSpPr>
        <p:spPr>
          <a:xfrm>
            <a:off x="9235440" y="2478024"/>
            <a:ext cx="2423160" cy="537301"/>
          </a:xfrm>
          <a:prstGeom prst="rect">
            <a:avLst/>
          </a:prstGeom>
          <a:noFill/>
          <a:ln/>
        </p:spPr>
        <p:txBody>
          <a:bodyPr wrap="square" lIns="0" tIns="0" rIns="0" bIns="0" rtlCol="0" anchor="b"/>
          <a:lstStyle/>
          <a:p>
            <a:pPr indent="0" marL="0">
              <a:buNone/>
            </a:pPr>
            <a:r>
              <a:rPr lang="en-US" sz="2200" b="1" dirty="0">
                <a:solidFill>
                  <a:schemeClr val="accent2"/>
                </a:solidFill>
                <a:latin typeface="Cambria" pitchFamily="34" charset="0"/>
                <a:ea typeface="Cambria" pitchFamily="34" charset="-122"/>
                <a:cs typeface="Cambria" pitchFamily="34" charset="-120"/>
              </a:rPr>
              <a:t>USD 183 rb</a:t>
            </a:r>
            <a:endParaRPr lang="en-US" sz="2200" dirty="0"/>
          </a:p>
        </p:txBody>
      </p:sp>
      <p:sp>
        <p:nvSpPr>
          <p:cNvPr id="22" name="o259"/>
          <p:cNvSpPr txBox="1"/>
          <p:nvPr/>
        </p:nvSpPr>
        <p:spPr>
          <a:xfrm>
            <a:off x="9235440" y="3022458"/>
            <a:ext cx="2423160" cy="413309"/>
          </a:xfrm>
          <a:prstGeom prst="rect">
            <a:avLst/>
          </a:prstGeom>
          <a:noFill/>
          <a:ln/>
        </p:spPr>
        <p:txBody>
          <a:bodyPr wrap="square" lIns="0" tIns="0" rIns="0" bIns="0" rtlCol="0" anchor="t"/>
          <a:lstStyle/>
          <a:p>
            <a:pPr indent="0" marL="0">
              <a:buNone/>
            </a:pPr>
            <a:r>
              <a:rPr lang="en-US" sz="950" dirty="0">
                <a:solidFill>
                  <a:schemeClr val="tx1"/>
                </a:solidFill>
              </a:rPr>
              <a:t>hemat biaya PKS per tahun, tanpa capex</a:t>
            </a:r>
            <a:endParaRPr lang="en-US" sz="950" dirty="0"/>
          </a:p>
        </p:txBody>
      </p:sp>
      <p:sp>
        <p:nvSpPr>
          <p:cNvPr id="23" name="o260"/>
          <p:cNvSpPr/>
          <p:nvPr/>
        </p:nvSpPr>
        <p:spPr>
          <a:xfrm>
            <a:off x="6446520" y="3547872"/>
            <a:ext cx="2606040" cy="1033272"/>
          </a:xfrm>
          <a:prstGeom prst="roundRect">
            <a:avLst>
              <a:gd name="adj" fmla="val 5310"/>
            </a:avLst>
          </a:prstGeom>
          <a:solidFill>
            <a:schemeClr val="bg2"/>
          </a:solidFill>
          <a:ln w="12700">
            <a:solidFill>
              <a:schemeClr val="bg2"/>
            </a:solidFill>
            <a:prstDash val="solid"/>
          </a:ln>
        </p:spPr>
      </p:sp>
      <p:sp>
        <p:nvSpPr>
          <p:cNvPr id="24" name="o261"/>
          <p:cNvSpPr txBox="1"/>
          <p:nvPr/>
        </p:nvSpPr>
        <p:spPr>
          <a:xfrm>
            <a:off x="6537960" y="3602736"/>
            <a:ext cx="2423160" cy="537301"/>
          </a:xfrm>
          <a:prstGeom prst="rect">
            <a:avLst/>
          </a:prstGeom>
          <a:noFill/>
          <a:ln/>
        </p:spPr>
        <p:txBody>
          <a:bodyPr wrap="square" lIns="0" tIns="0" rIns="0" bIns="0" rtlCol="0" anchor="b"/>
          <a:lstStyle/>
          <a:p>
            <a:pPr indent="0" marL="0">
              <a:buNone/>
            </a:pPr>
            <a:r>
              <a:rPr lang="en-US" sz="2200" b="1" dirty="0">
                <a:solidFill>
                  <a:schemeClr val="tx2"/>
                </a:solidFill>
                <a:latin typeface="Cambria" pitchFamily="34" charset="0"/>
                <a:ea typeface="Cambria" pitchFamily="34" charset="-122"/>
                <a:cs typeface="Cambria" pitchFamily="34" charset="-120"/>
              </a:rPr>
              <a:t>10 orang</a:t>
            </a:r>
            <a:endParaRPr lang="en-US" sz="2200" dirty="0"/>
          </a:p>
        </p:txBody>
      </p:sp>
      <p:sp>
        <p:nvSpPr>
          <p:cNvPr id="25" name="o262"/>
          <p:cNvSpPr txBox="1"/>
          <p:nvPr/>
        </p:nvSpPr>
        <p:spPr>
          <a:xfrm>
            <a:off x="6537960" y="4147170"/>
            <a:ext cx="2423160" cy="413309"/>
          </a:xfrm>
          <a:prstGeom prst="rect">
            <a:avLst/>
          </a:prstGeom>
          <a:noFill/>
          <a:ln/>
        </p:spPr>
        <p:txBody>
          <a:bodyPr wrap="square" lIns="0" tIns="0" rIns="0" bIns="0" rtlCol="0" anchor="t"/>
          <a:lstStyle/>
          <a:p>
            <a:pPr indent="0" marL="0">
              <a:buNone/>
            </a:pPr>
            <a:r>
              <a:rPr lang="en-US" sz="950" dirty="0">
                <a:solidFill>
                  <a:schemeClr val="tx1"/>
                </a:solidFill>
              </a:rPr>
              <a:t>lapangan kerja lokal per set (operator, lab/K3, manajer)</a:t>
            </a:r>
            <a:endParaRPr lang="en-US" sz="950" dirty="0"/>
          </a:p>
        </p:txBody>
      </p:sp>
      <p:sp>
        <p:nvSpPr>
          <p:cNvPr id="26" name="o263"/>
          <p:cNvSpPr/>
          <p:nvPr/>
        </p:nvSpPr>
        <p:spPr>
          <a:xfrm>
            <a:off x="9144000" y="3547872"/>
            <a:ext cx="2606040" cy="1033272"/>
          </a:xfrm>
          <a:prstGeom prst="roundRect">
            <a:avLst>
              <a:gd name="adj" fmla="val 5310"/>
            </a:avLst>
          </a:prstGeom>
          <a:solidFill>
            <a:schemeClr val="bg2"/>
          </a:solidFill>
          <a:ln w="12700">
            <a:solidFill>
              <a:schemeClr val="bg2"/>
            </a:solidFill>
            <a:prstDash val="solid"/>
          </a:ln>
        </p:spPr>
      </p:sp>
      <p:sp>
        <p:nvSpPr>
          <p:cNvPr id="27" name="o264"/>
          <p:cNvSpPr txBox="1"/>
          <p:nvPr/>
        </p:nvSpPr>
        <p:spPr>
          <a:xfrm>
            <a:off x="9235440" y="3602736"/>
            <a:ext cx="2423160" cy="537301"/>
          </a:xfrm>
          <a:prstGeom prst="rect">
            <a:avLst/>
          </a:prstGeom>
          <a:noFill/>
          <a:ln/>
        </p:spPr>
        <p:txBody>
          <a:bodyPr wrap="square" lIns="0" tIns="0" rIns="0" bIns="0" rtlCol="0" anchor="b"/>
          <a:lstStyle/>
          <a:p>
            <a:pPr indent="0" marL="0">
              <a:buNone/>
            </a:pPr>
            <a:r>
              <a:rPr lang="en-US" sz="2200" b="1" dirty="0">
                <a:solidFill>
                  <a:schemeClr val="tx2"/>
                </a:solidFill>
                <a:latin typeface="Cambria" pitchFamily="34" charset="0"/>
                <a:ea typeface="Cambria" pitchFamily="34" charset="-122"/>
                <a:cs typeface="Cambria" pitchFamily="34" charset="-120"/>
              </a:rPr>
              <a:t>0,1186</a:t>
            </a:r>
            <a:endParaRPr lang="en-US" sz="2200" dirty="0"/>
          </a:p>
        </p:txBody>
      </p:sp>
      <p:sp>
        <p:nvSpPr>
          <p:cNvPr id="28" name="o265"/>
          <p:cNvSpPr txBox="1"/>
          <p:nvPr/>
        </p:nvSpPr>
        <p:spPr>
          <a:xfrm>
            <a:off x="9235440" y="4147170"/>
            <a:ext cx="2423160" cy="413309"/>
          </a:xfrm>
          <a:prstGeom prst="rect">
            <a:avLst/>
          </a:prstGeom>
          <a:noFill/>
          <a:ln/>
        </p:spPr>
        <p:txBody>
          <a:bodyPr wrap="square" lIns="0" tIns="0" rIns="0" bIns="0" rtlCol="0" anchor="t"/>
          <a:lstStyle/>
          <a:p>
            <a:pPr indent="0" marL="0">
              <a:buNone/>
            </a:pPr>
            <a:r>
              <a:rPr lang="en-US" sz="950" dirty="0">
                <a:solidFill>
                  <a:schemeClr val="tx1"/>
                </a:solidFill>
              </a:rPr>
              <a:t>tCO2e/t TBS dihindari: membantu PKS lolos ISPO dan EU RED</a:t>
            </a:r>
            <a:endParaRPr lang="en-US" sz="950" dirty="0"/>
          </a:p>
        </p:txBody>
      </p:sp>
      <p:sp>
        <p:nvSpPr>
          <p:cNvPr id="29" name="o266"/>
          <p:cNvSpPr/>
          <p:nvPr/>
        </p:nvSpPr>
        <p:spPr>
          <a:xfrm>
            <a:off x="6446520" y="4681728"/>
            <a:ext cx="5349240" cy="850392"/>
          </a:xfrm>
          <a:prstGeom prst="roundRect">
            <a:avLst>
              <a:gd name="adj" fmla="val 6452"/>
            </a:avLst>
          </a:prstGeom>
          <a:solidFill>
            <a:schemeClr val="bg1"/>
          </a:solidFill>
          <a:ln w="15875">
            <a:solidFill>
              <a:schemeClr val="accent5"/>
            </a:solidFill>
            <a:prstDash val="solid"/>
          </a:ln>
        </p:spPr>
      </p:sp>
      <p:sp>
        <p:nvSpPr>
          <p:cNvPr id="30" name="o267"/>
          <p:cNvSpPr txBox="1"/>
          <p:nvPr/>
        </p:nvSpPr>
        <p:spPr>
          <a:xfrm>
            <a:off x="6556248" y="4745736"/>
            <a:ext cx="5129784" cy="274320"/>
          </a:xfrm>
          <a:prstGeom prst="rect">
            <a:avLst/>
          </a:prstGeom>
          <a:noFill/>
          <a:ln/>
        </p:spPr>
        <p:txBody>
          <a:bodyPr wrap="square" lIns="0" tIns="0" rIns="0" bIns="0" rtlCol="0" anchor="t"/>
          <a:lstStyle/>
          <a:p>
            <a:pPr indent="0" marL="0">
              <a:buNone/>
            </a:pPr>
            <a:r>
              <a:rPr lang="en-US" sz="1200" b="1" dirty="0">
                <a:solidFill>
                  <a:schemeClr val="accent5"/>
                </a:solidFill>
              </a:rPr>
              <a:t>Ekonomi sirkular</a:t>
            </a:r>
            <a:endParaRPr lang="en-US" sz="1200" dirty="0"/>
          </a:p>
        </p:txBody>
      </p:sp>
      <p:sp>
        <p:nvSpPr>
          <p:cNvPr id="31" name="o268"/>
          <p:cNvSpPr txBox="1"/>
          <p:nvPr/>
        </p:nvSpPr>
        <p:spPr>
          <a:xfrm>
            <a:off x="6556248" y="5029200"/>
            <a:ext cx="5129784" cy="438912"/>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Limbah POME → listrik dan kredit karbon; lumpur terolah → pupuk kebun; kolam lama dibebaskan untuk polishing. Tidak ada limbah baru.</a:t>
            </a:r>
            <a:endParaRPr lang="en-US" sz="1000" dirty="0"/>
          </a:p>
        </p:txBody>
      </p:sp>
      <p:sp>
        <p:nvSpPr>
          <p:cNvPr id="32" name="o269"/>
          <p:cNvSpPr txBox="1"/>
          <p:nvPr/>
        </p:nvSpPr>
        <p:spPr>
          <a:xfrm>
            <a:off x="411480" y="5669280"/>
            <a:ext cx="1325880" cy="457200"/>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rPr>
              <a:t>Kesimpulan</a:t>
            </a:r>
            <a:endParaRPr lang="en-US" sz="1200" dirty="0"/>
          </a:p>
        </p:txBody>
      </p:sp>
      <p:sp>
        <p:nvSpPr>
          <p:cNvPr id="33" name="o270"/>
          <p:cNvSpPr txBox="1"/>
          <p:nvPr/>
        </p:nvSpPr>
        <p:spPr>
          <a:xfrm>
            <a:off x="1737360" y="5669280"/>
            <a:ext cx="10058400" cy="457200"/>
          </a:xfrm>
          <a:prstGeom prst="rect">
            <a:avLst/>
          </a:prstGeom>
          <a:solidFill>
            <a:schemeClr val="bg2"/>
          </a:solidFill>
          <a:ln/>
        </p:spPr>
        <p:txBody>
          <a:bodyPr wrap="square" lIns="0" tIns="127000" rIns="127000" bIns="0" rtlCol="0" anchor="ctr"/>
          <a:lstStyle/>
          <a:p>
            <a:pPr indent="0" marL="0">
              <a:buNone/>
            </a:pPr>
            <a:r>
              <a:rPr lang="en-US" sz="1150" dirty="0">
                <a:solidFill>
                  <a:schemeClr val="tx1"/>
                </a:solidFill>
              </a:rPr>
              <a:t>Dampak paling besar ada pada metana: satu set menghindari emisi setara 24.025 t CO2, dan karena set dapat dipindah, dampak ini tetap berjalan meskipun satu PKS tutup.</a:t>
            </a:r>
            <a:endParaRPr lang="en-US" sz="1150" dirty="0"/>
          </a:p>
        </p:txBody>
      </p:sp>
      <p:sp>
        <p:nvSpPr>
          <p:cNvPr id="34" name="o271"/>
          <p:cNvSpPr txBox="1"/>
          <p:nvPr/>
        </p:nvSpPr>
        <p:spPr>
          <a:xfrm>
            <a:off x="411480" y="6163056"/>
            <a:ext cx="11384280" cy="256032"/>
          </a:xfrm>
          <a:prstGeom prst="rect">
            <a:avLst/>
          </a:prstGeom>
          <a:noFill/>
          <a:ln/>
        </p:spPr>
        <p:txBody>
          <a:bodyPr wrap="square" lIns="0" tIns="0" rIns="0" bIns="0" rtlCol="0" anchor="ctr"/>
          <a:lstStyle/>
          <a:p>
            <a:pPr indent="0" marL="0">
              <a:buNone/>
            </a:pPr>
            <a:r>
              <a:rPr lang="en-US" sz="750" dirty="0">
                <a:solidFill>
                  <a:schemeClr val="accent6"/>
                </a:solidFill>
              </a:rPr>
              <a:t>Sumber: process/biogas_balance.py (emisi AMS-III.H, UF 0,89, GWP 28 sesuai Decision 18/CMA.1); solar 0,30 L/kWh (R2); staf dari fin_core.py; ISCC EU 205.</a:t>
            </a:r>
            <a:endParaRPr lang="en-US" sz="750" dirty="0"/>
          </a:p>
        </p:txBody>
      </p:sp>
      <p:sp>
        <p:nvSpPr>
          <p:cNvPr id="35" name="o272"/>
          <p:cNvSpPr txBox="1"/>
          <p:nvPr/>
        </p:nvSpPr>
        <p:spPr>
          <a:xfrm>
            <a:off x="41148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Masalah</a:t>
            </a:r>
            <a:endParaRPr lang="en-US" sz="950" dirty="0"/>
          </a:p>
        </p:txBody>
      </p:sp>
      <p:sp>
        <p:nvSpPr>
          <p:cNvPr id="36" name="o273"/>
          <p:cNvSpPr txBox="1"/>
          <p:nvPr/>
        </p:nvSpPr>
        <p:spPr>
          <a:xfrm>
            <a:off x="163677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Solusi</a:t>
            </a:r>
            <a:endParaRPr lang="en-US" sz="950" dirty="0"/>
          </a:p>
        </p:txBody>
      </p:sp>
      <p:sp>
        <p:nvSpPr>
          <p:cNvPr id="37" name="o274"/>
          <p:cNvSpPr txBox="1"/>
          <p:nvPr/>
        </p:nvSpPr>
        <p:spPr>
          <a:xfrm>
            <a:off x="286207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Inovasi</a:t>
            </a:r>
            <a:endParaRPr lang="en-US" sz="950" dirty="0"/>
          </a:p>
        </p:txBody>
      </p:sp>
      <p:sp>
        <p:nvSpPr>
          <p:cNvPr id="38" name="o275"/>
          <p:cNvSpPr txBox="1"/>
          <p:nvPr/>
        </p:nvSpPr>
        <p:spPr>
          <a:xfrm>
            <a:off x="408736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Pasar</a:t>
            </a:r>
            <a:endParaRPr lang="en-US" sz="950" dirty="0"/>
          </a:p>
        </p:txBody>
      </p:sp>
      <p:sp>
        <p:nvSpPr>
          <p:cNvPr id="39" name="o276"/>
          <p:cNvSpPr txBox="1"/>
          <p:nvPr/>
        </p:nvSpPr>
        <p:spPr>
          <a:xfrm>
            <a:off x="5312664"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Model bisnis</a:t>
            </a:r>
            <a:endParaRPr lang="en-US" sz="950" dirty="0"/>
          </a:p>
        </p:txBody>
      </p:sp>
      <p:sp>
        <p:nvSpPr>
          <p:cNvPr id="40" name="o277"/>
          <p:cNvSpPr txBox="1"/>
          <p:nvPr/>
        </p:nvSpPr>
        <p:spPr>
          <a:xfrm>
            <a:off x="653796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Keuangan</a:t>
            </a:r>
            <a:endParaRPr lang="en-US" sz="950" dirty="0"/>
          </a:p>
        </p:txBody>
      </p:sp>
      <p:sp>
        <p:nvSpPr>
          <p:cNvPr id="41" name="o278"/>
          <p:cNvSpPr txBox="1"/>
          <p:nvPr/>
        </p:nvSpPr>
        <p:spPr>
          <a:xfrm>
            <a:off x="7763256" y="6473952"/>
            <a:ext cx="1188720" cy="256032"/>
          </a:xfrm>
          <a:prstGeom prst="roundRect">
            <a:avLst>
              <a:gd name="adj" fmla="val 21429"/>
            </a:avLst>
          </a:prstGeom>
          <a:solidFill>
            <a:schemeClr val="tx2"/>
          </a:solidFill>
          <a:ln>
            <a:solidFill>
              <a:schemeClr val="tx2"/>
            </a:solidFill>
          </a:ln>
        </p:spPr>
        <p:txBody>
          <a:bodyPr wrap="square" lIns="0" tIns="0" rIns="0" bIns="0" rtlCol="0" anchor="ctr"/>
          <a:lstStyle/>
          <a:p>
            <a:pPr algn="ctr" indent="0" marL="0">
              <a:buNone/>
            </a:pPr>
            <a:r>
              <a:rPr lang="en-US" sz="950" b="1" dirty="0">
                <a:solidFill>
                  <a:schemeClr val="bg1"/>
                </a:solidFill>
              </a:rPr>
              <a:t>Dampak</a:t>
            </a:r>
            <a:endParaRPr lang="en-US" sz="950" dirty="0"/>
          </a:p>
        </p:txBody>
      </p:sp>
      <p:sp>
        <p:nvSpPr>
          <p:cNvPr id="42" name="o279"/>
          <p:cNvSpPr txBox="1"/>
          <p:nvPr/>
        </p:nvSpPr>
        <p:spPr>
          <a:xfrm>
            <a:off x="898855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Skala</a:t>
            </a:r>
            <a:endParaRPr lang="en-US" sz="950" dirty="0"/>
          </a:p>
        </p:txBody>
      </p:sp>
      <p:sp>
        <p:nvSpPr>
          <p:cNvPr id="43" name="o280"/>
          <p:cNvSpPr txBox="1"/>
          <p:nvPr/>
        </p:nvSpPr>
        <p:spPr>
          <a:xfrm>
            <a:off x="1021384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Penutup</a:t>
            </a:r>
            <a:endParaRPr lang="en-US" sz="950" dirty="0"/>
          </a:p>
        </p:txBody>
      </p:sp>
      <p:sp>
        <p:nvSpPr>
          <p:cNvPr id="44" name="o281"/>
          <p:cNvSpPr/>
          <p:nvPr/>
        </p:nvSpPr>
        <p:spPr>
          <a:xfrm>
            <a:off x="11384280" y="6473952"/>
            <a:ext cx="411480" cy="256032"/>
          </a:xfrm>
          <a:prstGeom prst="roundRect">
            <a:avLst>
              <a:gd name="adj" fmla="val 21429"/>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1138428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11480" y="182880"/>
            <a:ext cx="8686800" cy="237744"/>
          </a:xfrm>
          <a:prstGeom prst="rect">
            <a:avLst/>
          </a:prstGeom>
          <a:noFill/>
          <a:ln/>
        </p:spPr>
        <p:txBody>
          <a:bodyPr wrap="square" lIns="0" tIns="0" rIns="0" bIns="0" rtlCol="0"/>
          <a:lstStyle/>
          <a:p>
            <a:pPr indent="0" marL="0">
              <a:buNone/>
            </a:pPr>
            <a:r>
              <a:rPr lang="en-US" sz="1100" b="1" dirty="0">
                <a:solidFill>
                  <a:schemeClr val="accent1"/>
                </a:solidFill>
              </a:rPr>
              <a:t>Skalabilitas dan peta jalan</a:t>
            </a:r>
            <a:endParaRPr lang="en-US" sz="1100" dirty="0"/>
          </a:p>
        </p:txBody>
      </p:sp>
      <p:sp>
        <p:nvSpPr>
          <p:cNvPr id="3" name="Text 1"/>
          <p:cNvSpPr/>
          <p:nvPr>
            <p:ph idx="102" type="title" hasCustomPrompt="1"/>
          </p:nvPr>
        </p:nvSpPr>
        <p:spPr>
          <a:xfrm>
            <a:off x="411480" y="420624"/>
            <a:ext cx="11338560" cy="786384"/>
          </a:xfrm>
          <a:prstGeom prst="rect">
            <a:avLst/>
          </a:prstGeom>
          <a:noFill/>
          <a:ln/>
        </p:spPr>
        <p:txBody>
          <a:bodyPr wrap="square" lIns="0" tIns="0" rIns="0" bIns="0" rtlCol="0" anchor="t"/>
          <a:lstStyle/>
          <a:p>
            <a:pPr algn="l" indent="0" marL="0">
              <a:buNone/>
            </a:pPr>
            <a:r>
              <a:rPr lang="en-US" sz="2100" b="1" dirty="0">
                <a:solidFill>
                  <a:schemeClr val="tx2"/>
                </a:solidFill>
              </a:rPr>
              <a:t>Skala: modul standar 2/3/4 tangki untuk PKS 30/45/60 t/jam; 15 set pada 2034 memberi NPV perusahaan USD 0,88 juta</a:t>
            </a:r>
            <a:endParaRPr lang="en-US" sz="2100" dirty="0"/>
          </a:p>
        </p:txBody>
      </p:sp>
      <p:pic>
        <p:nvPicPr>
          <p:cNvPr id="4" name="o282" descr="/home/user/aspebindo/finance/outputs/figs/g09_armada.png">    </p:cNvPr>
          <p:cNvPicPr>
            <a:picLocks noChangeAspect="1"/>
          </p:cNvPicPr>
          <p:nvPr/>
        </p:nvPicPr>
        <p:blipFill>
          <a:blip r:embed="rId1"/>
          <a:stretch>
            <a:fillRect/>
          </a:stretch>
        </p:blipFill>
        <p:spPr>
          <a:xfrm>
            <a:off x="411480" y="1298448"/>
            <a:ext cx="6949440" cy="2497636"/>
          </a:xfrm>
          <a:prstGeom prst="rect">
            <a:avLst/>
          </a:prstGeom>
        </p:spPr>
      </p:pic>
      <p:sp>
        <p:nvSpPr>
          <p:cNvPr id="5" name="o283"/>
          <p:cNvSpPr txBox="1"/>
          <p:nvPr/>
        </p:nvSpPr>
        <p:spPr>
          <a:xfrm>
            <a:off x="7589520" y="1298448"/>
            <a:ext cx="4206240" cy="274320"/>
          </a:xfrm>
          <a:prstGeom prst="rect">
            <a:avLst/>
          </a:prstGeom>
          <a:noFill/>
          <a:ln/>
        </p:spPr>
        <p:txBody>
          <a:bodyPr wrap="square" lIns="0" tIns="0" rIns="0" bIns="0" rtlCol="0" anchor="ctr"/>
          <a:lstStyle/>
          <a:p>
            <a:pPr indent="0" marL="0">
              <a:buNone/>
            </a:pPr>
            <a:r>
              <a:rPr lang="en-US" sz="1250" b="1" dirty="0">
                <a:solidFill>
                  <a:schemeClr val="tx2"/>
                </a:solidFill>
              </a:rPr>
              <a:t>Tier produk (desain berulang, tangki standar 980 m³)</a:t>
            </a:r>
            <a:endParaRPr lang="en-US" sz="1250" dirty="0"/>
          </a:p>
        </p:txBody>
      </p:sp>
      <p:graphicFrame>
        <p:nvGraphicFramePr>
          <p:cNvPr id="10" name="o284"/>
          <p:cNvGraphicFramePr>
            <a:graphicFrameLocks noGrp="1"/>
          </p:cNvGraphicFramePr>
          <p:nvPr>
            <p:extLst>
              <p:ext uri="{D42A27DB-BD31-4B8C-83A1-F6EECF244321}">
                <p14:modId xmlns:p14="http://schemas.microsoft.com/office/powerpoint/2010/main" val="1579011935"/>
              </p:ext>
            </p:extLst>
          </p:nvPr>
        </p:nvGraphicFramePr>
        <p:xfrm>
          <a:off x="7589520" y="1627632"/>
          <a:ext cx="4206240" cy="914400"/>
        </p:xfrm>
        <a:graphic>
          <a:graphicData uri="http://schemas.openxmlformats.org/drawingml/2006/table">
            <a:tbl>
              <a:tblPr/>
              <a:tblGrid>
                <a:gridCol w="914400"/>
                <a:gridCol w="685800"/>
                <a:gridCol w="1051560"/>
                <a:gridCol w="777240"/>
                <a:gridCol w="777240"/>
              </a:tblGrid>
              <a:tr h="31089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Tier PKS</a:t>
                      </a:r>
                      <a:endParaRPr lang="en-US" sz="1000" dirty="0">
                        <a:latin typeface="Calibri" charset="0"/>
                        <a:ea typeface="Calibri" charset="0"/>
                        <a:cs typeface="Calibri" charset="0"/>
                      </a:endParaRPr>
                    </a:p>
                  </a:txBody>
                  <a:tcPr marL="50800" marR="508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Tangki</a:t>
                      </a:r>
                      <a:endParaRPr lang="en-US" sz="1000" dirty="0">
                        <a:latin typeface="Calibri" charset="0"/>
                        <a:ea typeface="Calibri" charset="0"/>
                        <a:cs typeface="Calibri" charset="0"/>
                      </a:endParaRPr>
                    </a:p>
                  </a:txBody>
                  <a:tcPr marL="50800" marR="508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Genset</a:t>
                      </a:r>
                      <a:endParaRPr lang="en-US" sz="1000" dirty="0">
                        <a:latin typeface="Calibri" charset="0"/>
                        <a:ea typeface="Calibri" charset="0"/>
                        <a:cs typeface="Calibri" charset="0"/>
                      </a:endParaRPr>
                    </a:p>
                  </a:txBody>
                  <a:tcPr marL="50800" marR="508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NPV</a:t>
                      </a:r>
                      <a:endParaRPr lang="en-US" sz="1000" dirty="0">
                        <a:latin typeface="Calibri" charset="0"/>
                        <a:ea typeface="Calibri" charset="0"/>
                        <a:cs typeface="Calibri" charset="0"/>
                      </a:endParaRPr>
                    </a:p>
                  </a:txBody>
                  <a:tcPr marL="50800" marR="508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IRR</a:t>
                      </a:r>
                      <a:endParaRPr lang="en-US" sz="1000" dirty="0">
                        <a:latin typeface="Calibri" charset="0"/>
                        <a:ea typeface="Calibri" charset="0"/>
                        <a:cs typeface="Calibri" charset="0"/>
                      </a:endParaRPr>
                    </a:p>
                  </a:txBody>
                  <a:tcPr marL="50800" marR="508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r>
              <a:tr h="310896">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30 t/jam</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2 x 400 kWe</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5462F"/>
                          </a:solidFill>
                          <a:latin typeface="Calibri" pitchFamily="34" charset="0"/>
                          <a:ea typeface="Calibri" pitchFamily="34" charset="-122"/>
                          <a:cs typeface="Calibri" pitchFamily="34" charset="-120"/>
                        </a:rPr>
                        <a:t>-0,28</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310896">
                <a:tc>
                  <a:txBody>
                    <a:bodyPr/>
                    <a:lstStyle/>
                    <a:p>
                      <a:pPr algn="ctr" indent="0" marL="0">
                        <a:buNone/>
                      </a:pPr>
                      <a:r>
                        <a:rPr lang="en-US" sz="1000" b="1" dirty="0">
                          <a:solidFill>
                            <a:srgbClr val="1A2B26"/>
                          </a:solidFill>
                          <a:latin typeface="Calibri" pitchFamily="34" charset="0"/>
                          <a:ea typeface="Calibri" pitchFamily="34" charset="-122"/>
                          <a:cs typeface="Calibri" pitchFamily="34" charset="-120"/>
                        </a:rPr>
                        <a:t>45 t/jam</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3EFE9"/>
                    </a:solidFill>
                  </a:tcPr>
                </a:tc>
                <a:tc>
                  <a:txBody>
                    <a:bodyPr/>
                    <a:lstStyle/>
                    <a:p>
                      <a:pPr algn="ctr" indent="0" marL="0">
                        <a:buNone/>
                      </a:pPr>
                      <a:r>
                        <a:rPr lang="en-US" sz="1000" b="1" dirty="0">
                          <a:solidFill>
                            <a:srgbClr val="1A2B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3EFE9"/>
                    </a:solidFill>
                  </a:tcPr>
                </a:tc>
                <a:tc>
                  <a:txBody>
                    <a:bodyPr/>
                    <a:lstStyle/>
                    <a:p>
                      <a:pPr algn="ctr" indent="0" marL="0">
                        <a:buNone/>
                      </a:pPr>
                      <a:r>
                        <a:rPr lang="en-US" sz="1000" b="1" dirty="0">
                          <a:solidFill>
                            <a:srgbClr val="1A2B26"/>
                          </a:solidFill>
                          <a:latin typeface="Calibri" pitchFamily="34" charset="0"/>
                          <a:ea typeface="Calibri" pitchFamily="34" charset="-122"/>
                          <a:cs typeface="Calibri" pitchFamily="34" charset="-120"/>
                        </a:rPr>
                        <a:t>2 x 600 kWe</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3EFE9"/>
                    </a:solidFill>
                  </a:tcPr>
                </a:tc>
                <a:tc>
                  <a:txBody>
                    <a:bodyPr/>
                    <a:lstStyle/>
                    <a:p>
                      <a:pPr algn="ctr" indent="0" marL="0">
                        <a:buNone/>
                      </a:pPr>
                      <a:r>
                        <a:rPr lang="en-US" sz="1000" b="1" dirty="0">
                          <a:solidFill>
                            <a:srgbClr val="1A2B26"/>
                          </a:solidFill>
                          <a:latin typeface="Calibri" pitchFamily="34" charset="0"/>
                          <a:ea typeface="Calibri" pitchFamily="34" charset="-122"/>
                          <a:cs typeface="Calibri" pitchFamily="34" charset="-120"/>
                        </a:rPr>
                        <a:t>0,68</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3EFE9"/>
                    </a:solidFill>
                  </a:tcPr>
                </a:tc>
                <a:tc>
                  <a:txBody>
                    <a:bodyPr/>
                    <a:lstStyle/>
                    <a:p>
                      <a:pPr algn="ctr" indent="0" marL="0">
                        <a:buNone/>
                      </a:pPr>
                      <a:r>
                        <a:rPr lang="en-US" sz="1000" b="1" dirty="0">
                          <a:solidFill>
                            <a:srgbClr val="1A2B26"/>
                          </a:solidFill>
                          <a:latin typeface="Calibri" pitchFamily="34" charset="0"/>
                          <a:ea typeface="Calibri" pitchFamily="34" charset="-122"/>
                          <a:cs typeface="Calibri" pitchFamily="34" charset="-120"/>
                        </a:rPr>
                        <a:t>12,2%</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E3EFE9"/>
                    </a:solidFill>
                  </a:tcPr>
                </a:tc>
              </a:tr>
              <a:tr h="310896">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60 t/jam</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2 x 800 kWe</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1,58</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B26"/>
                          </a:solidFill>
                          <a:latin typeface="Calibri" pitchFamily="34" charset="0"/>
                          <a:ea typeface="Calibri" pitchFamily="34" charset="-122"/>
                          <a:cs typeface="Calibri" pitchFamily="34" charset="-120"/>
                        </a:rPr>
                        <a:t>14,1%</a:t>
                      </a:r>
                      <a:endParaRPr lang="en-US" sz="1000" dirty="0">
                        <a:latin typeface="Calibri" charset="0"/>
                        <a:ea typeface="Calibri" charset="0"/>
                        <a:cs typeface="Calibri" charset="0"/>
                      </a:endParaRPr>
                    </a:p>
                  </a:txBody>
                  <a:tcPr marL="50800" marR="508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bl>
          </a:graphicData>
        </a:graphic>
      </p:graphicFrame>
      <p:sp>
        <p:nvSpPr>
          <p:cNvPr id="7" name="o285"/>
          <p:cNvSpPr txBox="1"/>
          <p:nvPr/>
        </p:nvSpPr>
        <p:spPr>
          <a:xfrm>
            <a:off x="7589520" y="2944368"/>
            <a:ext cx="4206240" cy="457200"/>
          </a:xfrm>
          <a:prstGeom prst="rect">
            <a:avLst/>
          </a:prstGeom>
          <a:noFill/>
          <a:ln/>
        </p:spPr>
        <p:txBody>
          <a:bodyPr wrap="square" lIns="0" tIns="0" rIns="0" bIns="0" rtlCol="0" anchor="ctr"/>
          <a:lstStyle/>
          <a:p>
            <a:pPr indent="0" marL="0">
              <a:buNone/>
            </a:pPr>
            <a:r>
              <a:rPr lang="en-US" sz="900" i="1" dirty="0">
                <a:solidFill>
                  <a:schemeClr val="accent6"/>
                </a:solidFill>
              </a:rPr>
              <a:t>NPV dalam USD juta. Tier 30 t/jam baru layak setelah kurva belajar; unit ke-10 tier 45 mencapai IRR 15,5%.</a:t>
            </a:r>
            <a:endParaRPr lang="en-US" sz="900" dirty="0"/>
          </a:p>
        </p:txBody>
      </p:sp>
      <p:sp>
        <p:nvSpPr>
          <p:cNvPr id="8" name="o286"/>
          <p:cNvSpPr txBox="1"/>
          <p:nvPr/>
        </p:nvSpPr>
        <p:spPr>
          <a:xfrm>
            <a:off x="411480" y="3931920"/>
            <a:ext cx="11384280" cy="274320"/>
          </a:xfrm>
          <a:prstGeom prst="rect">
            <a:avLst/>
          </a:prstGeom>
          <a:noFill/>
          <a:ln/>
        </p:spPr>
        <p:txBody>
          <a:bodyPr wrap="square" lIns="0" tIns="0" rIns="0" bIns="0" rtlCol="0" anchor="ctr"/>
          <a:lstStyle/>
          <a:p>
            <a:pPr indent="0" marL="0">
              <a:buNone/>
            </a:pPr>
            <a:r>
              <a:rPr lang="en-US" sz="1250" b="1" dirty="0">
                <a:solidFill>
                  <a:schemeClr val="tx2"/>
                </a:solidFill>
              </a:rPr>
              <a:t>Peta jalan</a:t>
            </a:r>
            <a:endParaRPr lang="en-US" sz="1250" dirty="0"/>
          </a:p>
        </p:txBody>
      </p:sp>
      <p:sp>
        <p:nvSpPr>
          <p:cNvPr id="9" name="o287"/>
          <p:cNvSpPr/>
          <p:nvPr/>
        </p:nvSpPr>
        <p:spPr>
          <a:xfrm>
            <a:off x="411480" y="4297680"/>
            <a:ext cx="1847088" cy="420624"/>
          </a:xfrm>
          <a:prstGeom prst="chevron">
            <a:avLst/>
          </a:prstGeom>
          <a:solidFill>
            <a:schemeClr val="tx2"/>
          </a:solidFill>
          <a:ln w="12700">
            <a:solidFill>
              <a:schemeClr val="bg1"/>
            </a:solidFill>
            <a:prstDash val="solid"/>
          </a:ln>
        </p:spPr>
      </p:sp>
      <p:sp>
        <p:nvSpPr>
          <p:cNvPr id="10" name="o288"/>
          <p:cNvSpPr txBox="1"/>
          <p:nvPr/>
        </p:nvSpPr>
        <p:spPr>
          <a:xfrm>
            <a:off x="576072" y="4297680"/>
            <a:ext cx="1517904" cy="420624"/>
          </a:xfrm>
          <a:prstGeom prst="rect">
            <a:avLst/>
          </a:prstGeom>
          <a:noFill/>
          <a:ln/>
        </p:spPr>
        <p:txBody>
          <a:bodyPr wrap="square" lIns="0" tIns="0" rIns="0" bIns="0" rtlCol="0" anchor="ctr"/>
          <a:lstStyle/>
          <a:p>
            <a:pPr algn="ctr" indent="0" marL="0">
              <a:buNone/>
            </a:pPr>
            <a:r>
              <a:rPr lang="en-US" sz="1100" b="1" dirty="0">
                <a:solidFill>
                  <a:schemeClr val="bg1"/>
                </a:solidFill>
              </a:rPr>
              <a:t>2026-27</a:t>
            </a:r>
            <a:endParaRPr lang="en-US" sz="1100" dirty="0"/>
          </a:p>
        </p:txBody>
      </p:sp>
      <p:sp>
        <p:nvSpPr>
          <p:cNvPr id="11" name="o289"/>
          <p:cNvSpPr txBox="1"/>
          <p:nvPr/>
        </p:nvSpPr>
        <p:spPr>
          <a:xfrm>
            <a:off x="448056" y="4791456"/>
            <a:ext cx="1792224" cy="914400"/>
          </a:xfrm>
          <a:prstGeom prst="rect">
            <a:avLst/>
          </a:prstGeom>
          <a:noFill/>
          <a:ln/>
        </p:spPr>
        <p:txBody>
          <a:bodyPr wrap="square" lIns="25400" tIns="25400" rIns="25400" bIns="25400" rtlCol="0" anchor="t"/>
          <a:lstStyle/>
          <a:p>
            <a:pPr indent="0" marL="0">
              <a:buNone/>
            </a:pPr>
            <a:r>
              <a:rPr lang="en-US" sz="1150" b="1" dirty="0">
                <a:solidFill>
                  <a:srgbClr val="1F4E3D"/>
                </a:solidFill>
              </a:rPr>
              <a:t>Pilot &amp; FID</a:t>
            </a:r>
            <a:endParaRPr lang="en-US" sz="1150" dirty="0"/>
          </a:p>
          <a:p>
            <a:pPr indent="0" marL="0">
              <a:buNone/>
            </a:pPr>
            <a:r>
              <a:rPr lang="en-US" sz="1050" dirty="0">
                <a:solidFill>
                  <a:schemeClr val="tx1"/>
                </a:solidFill>
              </a:rPr>
              <a:t>MoU PKS S3 pertama, uji batch termofilik, PDD Verra, FID set 1</a:t>
            </a:r>
            <a:endParaRPr lang="en-US" sz="1150" dirty="0"/>
          </a:p>
        </p:txBody>
      </p:sp>
      <p:sp>
        <p:nvSpPr>
          <p:cNvPr id="12" name="o290"/>
          <p:cNvSpPr/>
          <p:nvPr/>
        </p:nvSpPr>
        <p:spPr>
          <a:xfrm>
            <a:off x="2322576" y="4297680"/>
            <a:ext cx="1847088" cy="420624"/>
          </a:xfrm>
          <a:prstGeom prst="chevron">
            <a:avLst/>
          </a:prstGeom>
          <a:solidFill>
            <a:schemeClr val="tx2"/>
          </a:solidFill>
          <a:ln w="12700">
            <a:solidFill>
              <a:schemeClr val="bg1"/>
            </a:solidFill>
            <a:prstDash val="solid"/>
          </a:ln>
        </p:spPr>
      </p:sp>
      <p:sp>
        <p:nvSpPr>
          <p:cNvPr id="13" name="o291"/>
          <p:cNvSpPr txBox="1"/>
          <p:nvPr/>
        </p:nvSpPr>
        <p:spPr>
          <a:xfrm>
            <a:off x="2487168" y="4297680"/>
            <a:ext cx="1517904" cy="420624"/>
          </a:xfrm>
          <a:prstGeom prst="rect">
            <a:avLst/>
          </a:prstGeom>
          <a:noFill/>
          <a:ln/>
        </p:spPr>
        <p:txBody>
          <a:bodyPr wrap="square" lIns="0" tIns="0" rIns="0" bIns="0" rtlCol="0" anchor="ctr"/>
          <a:lstStyle/>
          <a:p>
            <a:pPr algn="ctr" indent="0" marL="0">
              <a:buNone/>
            </a:pPr>
            <a:r>
              <a:rPr lang="en-US" sz="1100" b="1" dirty="0">
                <a:solidFill>
                  <a:schemeClr val="bg1"/>
                </a:solidFill>
              </a:rPr>
              <a:t>2027</a:t>
            </a:r>
            <a:endParaRPr lang="en-US" sz="1100" dirty="0"/>
          </a:p>
        </p:txBody>
      </p:sp>
      <p:sp>
        <p:nvSpPr>
          <p:cNvPr id="14" name="o292"/>
          <p:cNvSpPr txBox="1"/>
          <p:nvPr/>
        </p:nvSpPr>
        <p:spPr>
          <a:xfrm>
            <a:off x="2359152" y="4791456"/>
            <a:ext cx="1792224" cy="914400"/>
          </a:xfrm>
          <a:prstGeom prst="rect">
            <a:avLst/>
          </a:prstGeom>
          <a:noFill/>
          <a:ln/>
        </p:spPr>
        <p:txBody>
          <a:bodyPr wrap="square" lIns="25400" tIns="25400" rIns="25400" bIns="25400" rtlCol="0" anchor="t"/>
          <a:lstStyle/>
          <a:p>
            <a:pPr indent="0" marL="0">
              <a:buNone/>
            </a:pPr>
            <a:r>
              <a:rPr lang="en-US" sz="1150" b="1" dirty="0">
                <a:solidFill>
                  <a:srgbClr val="1F4E3D"/>
                </a:solidFill>
              </a:rPr>
              <a:t>Konstruksi set 1</a:t>
            </a:r>
            <a:endParaRPr lang="en-US" sz="1150" dirty="0"/>
          </a:p>
          <a:p>
            <a:pPr indent="0" marL="0">
              <a:buNone/>
            </a:pPr>
            <a:r>
              <a:rPr lang="en-US" sz="1050" dirty="0">
                <a:solidFill>
                  <a:schemeClr val="tx1"/>
                </a:solidFill>
              </a:rPr>
              <a:t>Panel GFS dan skid dibuat 6 bln, pasang 4 bln</a:t>
            </a:r>
            <a:endParaRPr lang="en-US" sz="1150" dirty="0"/>
          </a:p>
        </p:txBody>
      </p:sp>
      <p:sp>
        <p:nvSpPr>
          <p:cNvPr id="15" name="o293"/>
          <p:cNvSpPr/>
          <p:nvPr/>
        </p:nvSpPr>
        <p:spPr>
          <a:xfrm>
            <a:off x="4233672" y="4297680"/>
            <a:ext cx="1847088" cy="420624"/>
          </a:xfrm>
          <a:prstGeom prst="chevron">
            <a:avLst/>
          </a:prstGeom>
          <a:solidFill>
            <a:schemeClr val="tx2"/>
          </a:solidFill>
          <a:ln w="12700">
            <a:solidFill>
              <a:schemeClr val="bg1"/>
            </a:solidFill>
            <a:prstDash val="solid"/>
          </a:ln>
        </p:spPr>
      </p:sp>
      <p:sp>
        <p:nvSpPr>
          <p:cNvPr id="16" name="o294"/>
          <p:cNvSpPr txBox="1"/>
          <p:nvPr/>
        </p:nvSpPr>
        <p:spPr>
          <a:xfrm>
            <a:off x="4398264" y="4297680"/>
            <a:ext cx="1517904" cy="420624"/>
          </a:xfrm>
          <a:prstGeom prst="rect">
            <a:avLst/>
          </a:prstGeom>
          <a:noFill/>
          <a:ln/>
        </p:spPr>
        <p:txBody>
          <a:bodyPr wrap="square" lIns="0" tIns="0" rIns="0" bIns="0" rtlCol="0" anchor="ctr"/>
          <a:lstStyle/>
          <a:p>
            <a:pPr algn="ctr" indent="0" marL="0">
              <a:buNone/>
            </a:pPr>
            <a:r>
              <a:rPr lang="en-US" sz="1100" b="1" dirty="0">
                <a:solidFill>
                  <a:schemeClr val="bg1"/>
                </a:solidFill>
              </a:rPr>
              <a:t>2028</a:t>
            </a:r>
            <a:endParaRPr lang="en-US" sz="1100" dirty="0"/>
          </a:p>
        </p:txBody>
      </p:sp>
      <p:sp>
        <p:nvSpPr>
          <p:cNvPr id="17" name="o295"/>
          <p:cNvSpPr txBox="1"/>
          <p:nvPr/>
        </p:nvSpPr>
        <p:spPr>
          <a:xfrm>
            <a:off x="4270248" y="4791456"/>
            <a:ext cx="1792224" cy="914400"/>
          </a:xfrm>
          <a:prstGeom prst="rect">
            <a:avLst/>
          </a:prstGeom>
          <a:noFill/>
          <a:ln/>
        </p:spPr>
        <p:txBody>
          <a:bodyPr wrap="square" lIns="25400" tIns="25400" rIns="25400" bIns="25400" rtlCol="0" anchor="t"/>
          <a:lstStyle/>
          <a:p>
            <a:pPr indent="0" marL="0">
              <a:buNone/>
            </a:pPr>
            <a:r>
              <a:rPr lang="en-US" sz="1150" b="1" dirty="0">
                <a:solidFill>
                  <a:srgbClr val="1F4E3D"/>
                </a:solidFill>
              </a:rPr>
              <a:t>COD set 1</a:t>
            </a:r>
            <a:endParaRPr lang="en-US" sz="1150" dirty="0"/>
          </a:p>
          <a:p>
            <a:pPr indent="0" marL="0">
              <a:buNone/>
            </a:pPr>
            <a:r>
              <a:rPr lang="en-US" sz="1050" dirty="0">
                <a:solidFill>
                  <a:schemeClr val="tx1"/>
                </a:solidFill>
              </a:rPr>
              <a:t>Ramp-up 2-4 bln; data kinerja untuk pemberi pinjaman</a:t>
            </a:r>
            <a:endParaRPr lang="en-US" sz="1150" dirty="0"/>
          </a:p>
        </p:txBody>
      </p:sp>
      <p:sp>
        <p:nvSpPr>
          <p:cNvPr id="18" name="o296"/>
          <p:cNvSpPr/>
          <p:nvPr/>
        </p:nvSpPr>
        <p:spPr>
          <a:xfrm>
            <a:off x="6144768" y="4297680"/>
            <a:ext cx="1847088" cy="420624"/>
          </a:xfrm>
          <a:prstGeom prst="chevron">
            <a:avLst/>
          </a:prstGeom>
          <a:solidFill>
            <a:schemeClr val="accent1"/>
          </a:solidFill>
          <a:ln w="12700">
            <a:solidFill>
              <a:schemeClr val="bg1"/>
            </a:solidFill>
            <a:prstDash val="solid"/>
          </a:ln>
        </p:spPr>
      </p:sp>
      <p:sp>
        <p:nvSpPr>
          <p:cNvPr id="19" name="o297"/>
          <p:cNvSpPr txBox="1"/>
          <p:nvPr/>
        </p:nvSpPr>
        <p:spPr>
          <a:xfrm>
            <a:off x="6309360" y="4297680"/>
            <a:ext cx="1517904" cy="420624"/>
          </a:xfrm>
          <a:prstGeom prst="rect">
            <a:avLst/>
          </a:prstGeom>
          <a:noFill/>
          <a:ln/>
        </p:spPr>
        <p:txBody>
          <a:bodyPr wrap="square" lIns="0" tIns="0" rIns="0" bIns="0" rtlCol="0" anchor="ctr"/>
          <a:lstStyle/>
          <a:p>
            <a:pPr algn="ctr" indent="0" marL="0">
              <a:buNone/>
            </a:pPr>
            <a:r>
              <a:rPr lang="en-US" sz="1100" b="1" dirty="0">
                <a:solidFill>
                  <a:schemeClr val="bg1"/>
                </a:solidFill>
              </a:rPr>
              <a:t>2029-31</a:t>
            </a:r>
            <a:endParaRPr lang="en-US" sz="1100" dirty="0"/>
          </a:p>
        </p:txBody>
      </p:sp>
      <p:sp>
        <p:nvSpPr>
          <p:cNvPr id="20" name="o298"/>
          <p:cNvSpPr txBox="1"/>
          <p:nvPr/>
        </p:nvSpPr>
        <p:spPr>
          <a:xfrm>
            <a:off x="6181344" y="4791456"/>
            <a:ext cx="1792224" cy="914400"/>
          </a:xfrm>
          <a:prstGeom prst="rect">
            <a:avLst/>
          </a:prstGeom>
          <a:noFill/>
          <a:ln/>
        </p:spPr>
        <p:txBody>
          <a:bodyPr wrap="square" lIns="25400" tIns="25400" rIns="25400" bIns="25400" rtlCol="0" anchor="t"/>
          <a:lstStyle/>
          <a:p>
            <a:pPr indent="0" marL="0">
              <a:buNone/>
            </a:pPr>
            <a:r>
              <a:rPr lang="en-US" sz="1150" b="1" dirty="0">
                <a:solidFill>
                  <a:srgbClr val="1F4E3D"/>
                </a:solidFill>
              </a:rPr>
              <a:t>Replikasi</a:t>
            </a:r>
            <a:endParaRPr lang="en-US" sz="1150" dirty="0"/>
          </a:p>
          <a:p>
            <a:pPr indent="0" marL="0">
              <a:buNone/>
            </a:pPr>
            <a:r>
              <a:rPr lang="en-US" sz="1050" dirty="0">
                <a:solidFill>
                  <a:schemeClr val="tx1"/>
                </a:solidFill>
              </a:rPr>
              <a:t>2 set/th di Riau, Sumut, Kalteng; kontrak standar</a:t>
            </a:r>
            <a:endParaRPr lang="en-US" sz="1150" dirty="0"/>
          </a:p>
        </p:txBody>
      </p:sp>
      <p:sp>
        <p:nvSpPr>
          <p:cNvPr id="21" name="o299"/>
          <p:cNvSpPr/>
          <p:nvPr/>
        </p:nvSpPr>
        <p:spPr>
          <a:xfrm>
            <a:off x="8055864" y="4297680"/>
            <a:ext cx="1847088" cy="420624"/>
          </a:xfrm>
          <a:prstGeom prst="chevron">
            <a:avLst/>
          </a:prstGeom>
          <a:solidFill>
            <a:schemeClr val="accent1"/>
          </a:solidFill>
          <a:ln w="12700">
            <a:solidFill>
              <a:schemeClr val="bg1"/>
            </a:solidFill>
            <a:prstDash val="solid"/>
          </a:ln>
        </p:spPr>
      </p:sp>
      <p:sp>
        <p:nvSpPr>
          <p:cNvPr id="22" name="o300"/>
          <p:cNvSpPr txBox="1"/>
          <p:nvPr/>
        </p:nvSpPr>
        <p:spPr>
          <a:xfrm>
            <a:off x="8220456" y="4297680"/>
            <a:ext cx="1517904" cy="420624"/>
          </a:xfrm>
          <a:prstGeom prst="rect">
            <a:avLst/>
          </a:prstGeom>
          <a:noFill/>
          <a:ln/>
        </p:spPr>
        <p:txBody>
          <a:bodyPr wrap="square" lIns="0" tIns="0" rIns="0" bIns="0" rtlCol="0" anchor="ctr"/>
          <a:lstStyle/>
          <a:p>
            <a:pPr algn="ctr" indent="0" marL="0">
              <a:buNone/>
            </a:pPr>
            <a:r>
              <a:rPr lang="en-US" sz="1100" b="1" dirty="0">
                <a:solidFill>
                  <a:schemeClr val="bg1"/>
                </a:solidFill>
              </a:rPr>
              <a:t>2032-34</a:t>
            </a:r>
            <a:endParaRPr lang="en-US" sz="1100" dirty="0"/>
          </a:p>
        </p:txBody>
      </p:sp>
      <p:sp>
        <p:nvSpPr>
          <p:cNvPr id="23" name="o301"/>
          <p:cNvSpPr txBox="1"/>
          <p:nvPr/>
        </p:nvSpPr>
        <p:spPr>
          <a:xfrm>
            <a:off x="8092440" y="4791456"/>
            <a:ext cx="1792224" cy="914400"/>
          </a:xfrm>
          <a:prstGeom prst="rect">
            <a:avLst/>
          </a:prstGeom>
          <a:noFill/>
          <a:ln/>
        </p:spPr>
        <p:txBody>
          <a:bodyPr wrap="square" lIns="25400" tIns="25400" rIns="25400" bIns="25400" rtlCol="0" anchor="t"/>
          <a:lstStyle/>
          <a:p>
            <a:pPr indent="0" marL="0">
              <a:buNone/>
            </a:pPr>
            <a:r>
              <a:rPr lang="en-US" sz="1150" b="1" dirty="0">
                <a:solidFill>
                  <a:srgbClr val="1F4E3D"/>
                </a:solidFill>
              </a:rPr>
              <a:t>Armada 15 set</a:t>
            </a:r>
            <a:endParaRPr lang="en-US" sz="1150" dirty="0"/>
          </a:p>
          <a:p>
            <a:pPr indent="0" marL="0">
              <a:buNone/>
            </a:pPr>
            <a:r>
              <a:rPr lang="en-US" sz="1050" dirty="0">
                <a:solidFill>
                  <a:schemeClr val="tx1"/>
                </a:solidFill>
              </a:rPr>
              <a:t>3 set/th; relokasi set pertama bila diperlukan</a:t>
            </a:r>
            <a:endParaRPr lang="en-US" sz="1150" dirty="0"/>
          </a:p>
        </p:txBody>
      </p:sp>
      <p:sp>
        <p:nvSpPr>
          <p:cNvPr id="24" name="o302"/>
          <p:cNvSpPr/>
          <p:nvPr/>
        </p:nvSpPr>
        <p:spPr>
          <a:xfrm>
            <a:off x="9966960" y="4297680"/>
            <a:ext cx="1847088" cy="420624"/>
          </a:xfrm>
          <a:prstGeom prst="chevron">
            <a:avLst/>
          </a:prstGeom>
          <a:solidFill>
            <a:schemeClr val="accent1"/>
          </a:solidFill>
          <a:ln w="12700">
            <a:solidFill>
              <a:schemeClr val="bg1"/>
            </a:solidFill>
            <a:prstDash val="solid"/>
          </a:ln>
        </p:spPr>
      </p:sp>
      <p:sp>
        <p:nvSpPr>
          <p:cNvPr id="25" name="o303"/>
          <p:cNvSpPr txBox="1"/>
          <p:nvPr/>
        </p:nvSpPr>
        <p:spPr>
          <a:xfrm>
            <a:off x="10131552" y="4297680"/>
            <a:ext cx="1517904" cy="420624"/>
          </a:xfrm>
          <a:prstGeom prst="rect">
            <a:avLst/>
          </a:prstGeom>
          <a:noFill/>
          <a:ln/>
        </p:spPr>
        <p:txBody>
          <a:bodyPr wrap="square" lIns="0" tIns="0" rIns="0" bIns="0" rtlCol="0" anchor="ctr"/>
          <a:lstStyle/>
          <a:p>
            <a:pPr algn="ctr" indent="0" marL="0">
              <a:buNone/>
            </a:pPr>
            <a:r>
              <a:rPr lang="en-US" sz="1100" b="1" dirty="0">
                <a:solidFill>
                  <a:schemeClr val="bg1"/>
                </a:solidFill>
              </a:rPr>
              <a:t>2035+</a:t>
            </a:r>
            <a:endParaRPr lang="en-US" sz="1100" dirty="0"/>
          </a:p>
        </p:txBody>
      </p:sp>
      <p:sp>
        <p:nvSpPr>
          <p:cNvPr id="26" name="o304"/>
          <p:cNvSpPr txBox="1"/>
          <p:nvPr/>
        </p:nvSpPr>
        <p:spPr>
          <a:xfrm>
            <a:off x="10003536" y="4791456"/>
            <a:ext cx="1792224" cy="914400"/>
          </a:xfrm>
          <a:prstGeom prst="rect">
            <a:avLst/>
          </a:prstGeom>
          <a:noFill/>
          <a:ln/>
        </p:spPr>
        <p:txBody>
          <a:bodyPr wrap="square" lIns="25400" tIns="25400" rIns="25400" bIns="25400" rtlCol="0" anchor="t"/>
          <a:lstStyle/>
          <a:p>
            <a:pPr indent="0" marL="0">
              <a:buNone/>
            </a:pPr>
            <a:r>
              <a:rPr lang="en-US" sz="1150" b="1" dirty="0">
                <a:solidFill>
                  <a:srgbClr val="1F4E3D"/>
                </a:solidFill>
              </a:rPr>
              <a:t>Fase 2</a:t>
            </a:r>
            <a:endParaRPr lang="en-US" sz="1150" dirty="0"/>
          </a:p>
          <a:p>
            <a:pPr indent="0" marL="0">
              <a:buNone/>
            </a:pPr>
            <a:r>
              <a:rPr lang="en-US" sz="1050" dirty="0">
                <a:solidFill>
                  <a:schemeClr val="tx1"/>
                </a:solidFill>
              </a:rPr>
              <a:t>Opsi membran PM-11, bio-CNG, pasar Malaysia (315 PKS)</a:t>
            </a:r>
            <a:endParaRPr lang="en-US" sz="1150" dirty="0"/>
          </a:p>
        </p:txBody>
      </p:sp>
      <p:sp>
        <p:nvSpPr>
          <p:cNvPr id="27" name="o305"/>
          <p:cNvSpPr txBox="1"/>
          <p:nvPr/>
        </p:nvSpPr>
        <p:spPr>
          <a:xfrm>
            <a:off x="411480" y="5669280"/>
            <a:ext cx="1325880" cy="457200"/>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rPr>
              <a:t>Kesimpulan</a:t>
            </a:r>
            <a:endParaRPr lang="en-US" sz="1200" dirty="0"/>
          </a:p>
        </p:txBody>
      </p:sp>
      <p:sp>
        <p:nvSpPr>
          <p:cNvPr id="28" name="o306"/>
          <p:cNvSpPr txBox="1"/>
          <p:nvPr/>
        </p:nvSpPr>
        <p:spPr>
          <a:xfrm>
            <a:off x="1737360" y="5669280"/>
            <a:ext cx="10058400" cy="457200"/>
          </a:xfrm>
          <a:prstGeom prst="rect">
            <a:avLst/>
          </a:prstGeom>
          <a:solidFill>
            <a:schemeClr val="bg2"/>
          </a:solidFill>
          <a:ln/>
        </p:spPr>
        <p:txBody>
          <a:bodyPr wrap="square" lIns="0" tIns="127000" rIns="127000" bIns="0" rtlCol="0" anchor="ctr"/>
          <a:lstStyle/>
          <a:p>
            <a:pPr indent="0" marL="0">
              <a:buNone/>
            </a:pPr>
            <a:r>
              <a:rPr lang="en-US" sz="1150" dirty="0">
                <a:solidFill>
                  <a:schemeClr val="tx1"/>
                </a:solidFill>
              </a:rPr>
              <a:t>Satu desain dipakai berulang: tambah atau kurangi tangki untuk ukuran PKS, pindahkan set bila PKS tutup. Puncak kebutuhan dana armada USD 40,9 juta (2034), IRR perusahaan 10,1%.</a:t>
            </a:r>
            <a:endParaRPr lang="en-US" sz="1150" dirty="0"/>
          </a:p>
        </p:txBody>
      </p:sp>
      <p:sp>
        <p:nvSpPr>
          <p:cNvPr id="29" name="o307"/>
          <p:cNvSpPr txBox="1"/>
          <p:nvPr/>
        </p:nvSpPr>
        <p:spPr>
          <a:xfrm>
            <a:off x="411480" y="6163056"/>
            <a:ext cx="11384280" cy="256032"/>
          </a:xfrm>
          <a:prstGeom prst="rect">
            <a:avLst/>
          </a:prstGeom>
          <a:noFill/>
          <a:ln/>
        </p:spPr>
        <p:txBody>
          <a:bodyPr wrap="square" lIns="0" tIns="0" rIns="0" bIns="0" rtlCol="0" anchor="ctr"/>
          <a:lstStyle/>
          <a:p>
            <a:pPr indent="0" marL="0">
              <a:buNone/>
            </a:pPr>
            <a:r>
              <a:rPr lang="en-US" sz="750" dirty="0">
                <a:solidFill>
                  <a:schemeClr val="accent6"/>
                </a:solidFill>
              </a:rPr>
              <a:t>Sumber: fin_core.py (ROLL 1-1-2-2-2-2-2-3 set/th, kurva belajar), process tiers (2/3/4 tangki), MPOB/RTM (PKS Malaysia tanpa penangkapan).</a:t>
            </a:r>
            <a:endParaRPr lang="en-US" sz="750" dirty="0"/>
          </a:p>
        </p:txBody>
      </p:sp>
      <p:sp>
        <p:nvSpPr>
          <p:cNvPr id="30" name="o308"/>
          <p:cNvSpPr txBox="1"/>
          <p:nvPr/>
        </p:nvSpPr>
        <p:spPr>
          <a:xfrm>
            <a:off x="41148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Masalah</a:t>
            </a:r>
            <a:endParaRPr lang="en-US" sz="950" dirty="0"/>
          </a:p>
        </p:txBody>
      </p:sp>
      <p:sp>
        <p:nvSpPr>
          <p:cNvPr id="31" name="o309"/>
          <p:cNvSpPr txBox="1"/>
          <p:nvPr/>
        </p:nvSpPr>
        <p:spPr>
          <a:xfrm>
            <a:off x="163677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Solusi</a:t>
            </a:r>
            <a:endParaRPr lang="en-US" sz="950" dirty="0"/>
          </a:p>
        </p:txBody>
      </p:sp>
      <p:sp>
        <p:nvSpPr>
          <p:cNvPr id="32" name="o310"/>
          <p:cNvSpPr txBox="1"/>
          <p:nvPr/>
        </p:nvSpPr>
        <p:spPr>
          <a:xfrm>
            <a:off x="286207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Inovasi</a:t>
            </a:r>
            <a:endParaRPr lang="en-US" sz="950" dirty="0"/>
          </a:p>
        </p:txBody>
      </p:sp>
      <p:sp>
        <p:nvSpPr>
          <p:cNvPr id="33" name="o311"/>
          <p:cNvSpPr txBox="1"/>
          <p:nvPr/>
        </p:nvSpPr>
        <p:spPr>
          <a:xfrm>
            <a:off x="408736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Pasar</a:t>
            </a:r>
            <a:endParaRPr lang="en-US" sz="950" dirty="0"/>
          </a:p>
        </p:txBody>
      </p:sp>
      <p:sp>
        <p:nvSpPr>
          <p:cNvPr id="34" name="o312"/>
          <p:cNvSpPr txBox="1"/>
          <p:nvPr/>
        </p:nvSpPr>
        <p:spPr>
          <a:xfrm>
            <a:off x="5312664"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Model bisnis</a:t>
            </a:r>
            <a:endParaRPr lang="en-US" sz="950" dirty="0"/>
          </a:p>
        </p:txBody>
      </p:sp>
      <p:sp>
        <p:nvSpPr>
          <p:cNvPr id="35" name="o313"/>
          <p:cNvSpPr txBox="1"/>
          <p:nvPr/>
        </p:nvSpPr>
        <p:spPr>
          <a:xfrm>
            <a:off x="653796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Keuangan</a:t>
            </a:r>
            <a:endParaRPr lang="en-US" sz="950" dirty="0"/>
          </a:p>
        </p:txBody>
      </p:sp>
      <p:sp>
        <p:nvSpPr>
          <p:cNvPr id="36" name="o314"/>
          <p:cNvSpPr txBox="1"/>
          <p:nvPr/>
        </p:nvSpPr>
        <p:spPr>
          <a:xfrm>
            <a:off x="776325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Dampak</a:t>
            </a:r>
            <a:endParaRPr lang="en-US" sz="950" dirty="0"/>
          </a:p>
        </p:txBody>
      </p:sp>
      <p:sp>
        <p:nvSpPr>
          <p:cNvPr id="37" name="o315"/>
          <p:cNvSpPr txBox="1"/>
          <p:nvPr/>
        </p:nvSpPr>
        <p:spPr>
          <a:xfrm>
            <a:off x="8988552" y="6473952"/>
            <a:ext cx="1188720" cy="256032"/>
          </a:xfrm>
          <a:prstGeom prst="roundRect">
            <a:avLst>
              <a:gd name="adj" fmla="val 21429"/>
            </a:avLst>
          </a:prstGeom>
          <a:solidFill>
            <a:schemeClr val="tx2"/>
          </a:solidFill>
          <a:ln>
            <a:solidFill>
              <a:schemeClr val="tx2"/>
            </a:solidFill>
          </a:ln>
        </p:spPr>
        <p:txBody>
          <a:bodyPr wrap="square" lIns="0" tIns="0" rIns="0" bIns="0" rtlCol="0" anchor="ctr"/>
          <a:lstStyle/>
          <a:p>
            <a:pPr algn="ctr" indent="0" marL="0">
              <a:buNone/>
            </a:pPr>
            <a:r>
              <a:rPr lang="en-US" sz="950" b="1" dirty="0">
                <a:solidFill>
                  <a:schemeClr val="bg1"/>
                </a:solidFill>
              </a:rPr>
              <a:t>Skala</a:t>
            </a:r>
            <a:endParaRPr lang="en-US" sz="950" dirty="0"/>
          </a:p>
        </p:txBody>
      </p:sp>
      <p:sp>
        <p:nvSpPr>
          <p:cNvPr id="38" name="o316"/>
          <p:cNvSpPr txBox="1"/>
          <p:nvPr/>
        </p:nvSpPr>
        <p:spPr>
          <a:xfrm>
            <a:off x="1021384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Penutup</a:t>
            </a:r>
            <a:endParaRPr lang="en-US" sz="950" dirty="0"/>
          </a:p>
        </p:txBody>
      </p:sp>
      <p:sp>
        <p:nvSpPr>
          <p:cNvPr id="39" name="o317"/>
          <p:cNvSpPr/>
          <p:nvPr/>
        </p:nvSpPr>
        <p:spPr>
          <a:xfrm>
            <a:off x="11384280" y="6473952"/>
            <a:ext cx="411480" cy="256032"/>
          </a:xfrm>
          <a:prstGeom prst="roundRect">
            <a:avLst>
              <a:gd name="adj" fmla="val 21429"/>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1138428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11480" y="182880"/>
            <a:ext cx="8686800" cy="237744"/>
          </a:xfrm>
          <a:prstGeom prst="rect">
            <a:avLst/>
          </a:prstGeom>
          <a:noFill/>
          <a:ln/>
        </p:spPr>
        <p:txBody>
          <a:bodyPr wrap="square" lIns="0" tIns="0" rIns="0" bIns="0" rtlCol="0"/>
          <a:lstStyle/>
          <a:p>
            <a:pPr indent="0" marL="0">
              <a:buNone/>
            </a:pPr>
            <a:r>
              <a:rPr lang="en-US" sz="1100" b="1" dirty="0">
                <a:solidFill>
                  <a:schemeClr val="accent1"/>
                </a:solidFill>
              </a:rPr>
              <a:t>Risiko, kesimpulan dan kebutuhan</a:t>
            </a:r>
            <a:endParaRPr lang="en-US" sz="1100" dirty="0"/>
          </a:p>
        </p:txBody>
      </p:sp>
      <p:sp>
        <p:nvSpPr>
          <p:cNvPr id="3" name="Text 1"/>
          <p:cNvSpPr/>
          <p:nvPr>
            <p:ph idx="102" type="title" hasCustomPrompt="1"/>
          </p:nvPr>
        </p:nvSpPr>
        <p:spPr>
          <a:xfrm>
            <a:off x="411480" y="420624"/>
            <a:ext cx="11338560" cy="786384"/>
          </a:xfrm>
          <a:prstGeom prst="rect">
            <a:avLst/>
          </a:prstGeom>
          <a:noFill/>
          <a:ln/>
        </p:spPr>
        <p:txBody>
          <a:bodyPr wrap="square" lIns="0" tIns="0" rIns="0" bIns="0" rtlCol="0" anchor="t"/>
          <a:lstStyle/>
          <a:p>
            <a:pPr algn="l" indent="0" marL="0">
              <a:buNone/>
            </a:pPr>
            <a:r>
              <a:rPr lang="en-US" sz="2100" b="1" dirty="0">
                <a:solidFill>
                  <a:schemeClr val="tx2"/>
                </a:solidFill>
              </a:rPr>
              <a:t>Kesimpulan: layanan biogas yang dapat dipindah membuat penangkapan metana lebih murah bagi PKS daripada membuang POME ke kolam</a:t>
            </a:r>
            <a:endParaRPr lang="en-US" sz="2100" dirty="0"/>
          </a:p>
        </p:txBody>
      </p:sp>
      <p:sp>
        <p:nvSpPr>
          <p:cNvPr id="4" name="o318"/>
          <p:cNvSpPr txBox="1"/>
          <p:nvPr/>
        </p:nvSpPr>
        <p:spPr>
          <a:xfrm>
            <a:off x="411480" y="1298448"/>
            <a:ext cx="6309360" cy="274320"/>
          </a:xfrm>
          <a:prstGeom prst="rect">
            <a:avLst/>
          </a:prstGeom>
          <a:noFill/>
          <a:ln/>
        </p:spPr>
        <p:txBody>
          <a:bodyPr wrap="square" lIns="0" tIns="0" rIns="0" bIns="0" rtlCol="0" anchor="ctr"/>
          <a:lstStyle/>
          <a:p>
            <a:pPr indent="0" marL="0">
              <a:buNone/>
            </a:pPr>
            <a:r>
              <a:rPr lang="en-US" sz="1250" b="1" dirty="0">
                <a:solidFill>
                  <a:schemeClr val="tx2"/>
                </a:solidFill>
              </a:rPr>
              <a:t>Risiko utama dan mitigasi</a:t>
            </a:r>
            <a:endParaRPr lang="en-US" sz="1250" dirty="0"/>
          </a:p>
        </p:txBody>
      </p:sp>
      <p:graphicFrame>
        <p:nvGraphicFramePr>
          <p:cNvPr id="11" name="o319"/>
          <p:cNvGraphicFramePr>
            <a:graphicFrameLocks noGrp="1"/>
          </p:cNvGraphicFramePr>
          <p:nvPr>
            <p:extLst>
              <p:ext uri="{D42A27DB-BD31-4B8C-83A1-F6EECF244321}">
                <p14:modId xmlns:p14="http://schemas.microsoft.com/office/powerpoint/2010/main" val="1579011935"/>
              </p:ext>
            </p:extLst>
          </p:nvPr>
        </p:nvGraphicFramePr>
        <p:xfrm>
          <a:off x="411480" y="1627632"/>
          <a:ext cx="6309360" cy="914400"/>
        </p:xfrm>
        <a:graphic>
          <a:graphicData uri="http://schemas.openxmlformats.org/drawingml/2006/table">
            <a:tbl>
              <a:tblPr/>
              <a:tblGrid>
                <a:gridCol w="1828800"/>
                <a:gridCol w="4480560"/>
              </a:tblGrid>
              <a:tr h="4754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Risiko</a:t>
                      </a:r>
                      <a:endParaRPr lang="en-US" sz="1000" dirty="0">
                        <a:latin typeface="Calibri" charset="0"/>
                        <a:ea typeface="Calibri" charset="0"/>
                        <a:cs typeface="Calibri" charset="0"/>
                      </a:endParaRPr>
                    </a:p>
                  </a:txBody>
                  <a:tcPr marL="63500" marR="635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Mitigasi</a:t>
                      </a:r>
                      <a:endParaRPr lang="en-US" sz="1000" dirty="0">
                        <a:latin typeface="Calibri" charset="0"/>
                        <a:ea typeface="Calibri" charset="0"/>
                        <a:cs typeface="Calibri" charset="0"/>
                      </a:endParaRPr>
                    </a:p>
                  </a:txBody>
                  <a:tcPr marL="63500" marR="63500" marT="25400" marB="25400" anchor="ctr">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1F4E3D"/>
                    </a:solidFill>
                  </a:tcPr>
                </a:tc>
              </a:tr>
              <a:tr h="475488">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Beban TBS rendah</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Fee per t TBS + kontrak minimum; pilih PKS dengan pasokan terjamin; set dapat dipindah</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Kinerja biologis termofilik</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3F1EA"/>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Kontrol FOS/TAC online, resirkulasi lumpur, uji batch sebelum FID; operator menanggung risiko</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3F1EA"/>
                    </a:solidFill>
                  </a:tcPr>
                </a:tc>
              </a:tr>
              <a:tr h="475488">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PKS tutup atau putus kontrak</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Relokasi: NPV tetap USD 0,20 juta, bukan USD -0,84 juta</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Tarif PLN dan izin ekspor</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3F1EA"/>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Prioritas listrik captive (USD 0,20/kWh); ekspor hanya kelebihan ≤ 1 MW</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3F1EA"/>
                    </a:solidFill>
                  </a:tcPr>
                </a:tc>
              </a:tr>
              <a:tr h="475488">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Harga karbon jatuh</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Karbon hanya 5% pendapatan; titik impas karbon &lt; USD 0</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F4E3D"/>
                          </a:solidFill>
                          <a:latin typeface="Calibri" pitchFamily="34" charset="0"/>
                          <a:ea typeface="Calibri" pitchFamily="34" charset="-122"/>
                          <a:cs typeface="Calibri" pitchFamily="34" charset="-120"/>
                        </a:rPr>
                        <a:t>Capex tangki GFS (asumsi)</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3F1EA"/>
                    </a:solidFill>
                  </a:tcPr>
                </a:tc>
                <a:tc>
                  <a:txBody>
                    <a:bodyPr/>
                    <a:lstStyle/>
                    <a:p>
                      <a:pPr indent="0" marL="0">
                        <a:buNone/>
                      </a:pPr>
                      <a:r>
                        <a:rPr lang="en-US" sz="1000" dirty="0">
                          <a:solidFill>
                            <a:srgbClr val="1A2B26"/>
                          </a:solidFill>
                          <a:latin typeface="Calibri" pitchFamily="34" charset="0"/>
                          <a:ea typeface="Calibri" pitchFamily="34" charset="-122"/>
                          <a:cs typeface="Calibri" pitchFamily="34" charset="-120"/>
                        </a:rPr>
                        <a:t>Penawaran 3 pabrikan sebelum FID; capex impas +16%</a:t>
                      </a:r>
                      <a:endParaRPr lang="en-US" sz="1000" dirty="0">
                        <a:latin typeface="Calibri" charset="0"/>
                        <a:ea typeface="Calibri" charset="0"/>
                        <a:cs typeface="Calibri" charset="0"/>
                      </a:endParaRPr>
                    </a:p>
                  </a:txBody>
                  <a:tcPr marL="63500" marR="63500" marT="25400" marB="25400">
                    <a:lnL w="6350" cap="flat" cmpd="sng" algn="ctr">
                      <a:solidFill>
                        <a:srgbClr val="D9D6CC"/>
                      </a:solidFill>
                      <a:prstDash val="solid"/>
                      <a:round/>
                      <a:headEnd type="none" w="med" len="med"/>
                      <a:tailEnd type="none" w="med" len="med"/>
                    </a:lnL>
                    <a:lnR w="6350" cap="flat" cmpd="sng" algn="ctr">
                      <a:solidFill>
                        <a:srgbClr val="D9D6CC"/>
                      </a:solidFill>
                      <a:prstDash val="solid"/>
                      <a:round/>
                      <a:headEnd type="none" w="med" len="med"/>
                      <a:tailEnd type="none" w="med" len="med"/>
                    </a:lnR>
                    <a:lnT w="6350" cap="flat" cmpd="sng" algn="ctr">
                      <a:solidFill>
                        <a:srgbClr val="D9D6CC"/>
                      </a:solidFill>
                      <a:prstDash val="solid"/>
                      <a:round/>
                      <a:headEnd type="none" w="med" len="med"/>
                      <a:tailEnd type="none" w="med" len="med"/>
                    </a:lnT>
                    <a:lnB w="6350" cap="flat" cmpd="sng" algn="ctr">
                      <a:solidFill>
                        <a:srgbClr val="D9D6CC"/>
                      </a:solidFill>
                      <a:prstDash val="solid"/>
                      <a:round/>
                      <a:headEnd type="none" w="med" len="med"/>
                      <a:tailEnd type="none" w="med" len="med"/>
                    </a:lnB>
                    <a:solidFill>
                      <a:srgbClr val="F3F1EA"/>
                    </a:solidFill>
                  </a:tcPr>
                </a:tc>
              </a:tr>
            </a:tbl>
          </a:graphicData>
        </a:graphic>
      </p:graphicFrame>
      <p:sp>
        <p:nvSpPr>
          <p:cNvPr id="6" name="o320"/>
          <p:cNvSpPr/>
          <p:nvPr/>
        </p:nvSpPr>
        <p:spPr>
          <a:xfrm>
            <a:off x="6949440" y="1298448"/>
            <a:ext cx="4846320" cy="4233672"/>
          </a:xfrm>
          <a:prstGeom prst="roundRect">
            <a:avLst>
              <a:gd name="adj" fmla="val 1728"/>
            </a:avLst>
          </a:prstGeom>
          <a:solidFill>
            <a:schemeClr val="tx2"/>
          </a:solidFill>
          <a:ln w="12700">
            <a:solidFill>
              <a:schemeClr val="tx2"/>
            </a:solidFill>
            <a:prstDash val="solid"/>
          </a:ln>
        </p:spPr>
      </p:sp>
      <p:sp>
        <p:nvSpPr>
          <p:cNvPr id="7" name="o321"/>
          <p:cNvSpPr txBox="1"/>
          <p:nvPr/>
        </p:nvSpPr>
        <p:spPr>
          <a:xfrm>
            <a:off x="7132320" y="1417320"/>
            <a:ext cx="4480560" cy="274320"/>
          </a:xfrm>
          <a:prstGeom prst="rect">
            <a:avLst/>
          </a:prstGeom>
          <a:noFill/>
          <a:ln/>
        </p:spPr>
        <p:txBody>
          <a:bodyPr wrap="square" lIns="0" tIns="0" rIns="0" bIns="0" rtlCol="0" anchor="ctr"/>
          <a:lstStyle/>
          <a:p>
            <a:pPr indent="0" marL="0">
              <a:buNone/>
            </a:pPr>
            <a:r>
              <a:rPr lang="en-US" sz="1250" b="1" dirty="0">
                <a:solidFill>
                  <a:schemeClr val="accent2"/>
                </a:solidFill>
              </a:rPr>
              <a:t>Jawaban atas kriteria penilaian</a:t>
            </a:r>
            <a:endParaRPr lang="en-US" sz="1250" dirty="0"/>
          </a:p>
        </p:txBody>
      </p:sp>
      <p:sp>
        <p:nvSpPr>
          <p:cNvPr id="8" name="o322"/>
          <p:cNvSpPr txBox="1"/>
          <p:nvPr/>
        </p:nvSpPr>
        <p:spPr>
          <a:xfrm>
            <a:off x="7132320" y="1755648"/>
            <a:ext cx="4480560" cy="566928"/>
          </a:xfrm>
          <a:prstGeom prst="rect">
            <a:avLst/>
          </a:prstGeom>
          <a:noFill/>
          <a:ln/>
        </p:spPr>
        <p:txBody>
          <a:bodyPr wrap="square" lIns="0" tIns="0" rIns="0" bIns="0" rtlCol="0" anchor="t"/>
          <a:lstStyle/>
          <a:p>
            <a:pPr indent="0" marL="0">
              <a:buNone/>
            </a:pPr>
            <a:r>
              <a:rPr lang="en-US" sz="1100" b="1" dirty="0">
                <a:solidFill>
                  <a:srgbClr val="D99A2B"/>
                </a:solidFill>
              </a:rPr>
              <a:t>Inovasi</a:t>
            </a:r>
            <a:endParaRPr lang="en-US" sz="1100" dirty="0"/>
          </a:p>
          <a:p>
            <a:pPr indent="0" marL="0">
              <a:buNone/>
            </a:pPr>
            <a:r>
              <a:rPr lang="en-US" sz="1050" dirty="0">
                <a:solidFill>
                  <a:srgbClr val="FFFFFF"/>
                </a:solidFill>
              </a:rPr>
              <a:t>Kontak termofilik dalam tangki baut yang dapat dipindah, dijual sebagai layanan</a:t>
            </a:r>
            <a:endParaRPr lang="en-US" sz="1100" dirty="0"/>
          </a:p>
        </p:txBody>
      </p:sp>
      <p:sp>
        <p:nvSpPr>
          <p:cNvPr id="9" name="o323"/>
          <p:cNvSpPr txBox="1"/>
          <p:nvPr/>
        </p:nvSpPr>
        <p:spPr>
          <a:xfrm>
            <a:off x="7132320" y="2359152"/>
            <a:ext cx="4480560" cy="566928"/>
          </a:xfrm>
          <a:prstGeom prst="rect">
            <a:avLst/>
          </a:prstGeom>
          <a:noFill/>
          <a:ln/>
        </p:spPr>
        <p:txBody>
          <a:bodyPr wrap="square" lIns="0" tIns="0" rIns="0" bIns="0" rtlCol="0" anchor="t"/>
          <a:lstStyle/>
          <a:p>
            <a:pPr indent="0" marL="0">
              <a:buNone/>
            </a:pPr>
            <a:r>
              <a:rPr lang="en-US" sz="1100" b="1" dirty="0">
                <a:solidFill>
                  <a:srgbClr val="D99A2B"/>
                </a:solidFill>
              </a:rPr>
              <a:t>Bisnis</a:t>
            </a:r>
            <a:endParaRPr lang="en-US" sz="1100" dirty="0"/>
          </a:p>
          <a:p>
            <a:pPr indent="0" marL="0">
              <a:buNone/>
            </a:pPr>
            <a:r>
              <a:rPr lang="en-US" sz="1050" dirty="0">
                <a:solidFill>
                  <a:srgbClr val="FFFFFF"/>
                </a:solidFill>
              </a:rPr>
              <a:t>PKS hemat 21% tanpa capex; IRR proyek 12,2%, DSCR 1,31</a:t>
            </a:r>
            <a:endParaRPr lang="en-US" sz="1100" dirty="0"/>
          </a:p>
        </p:txBody>
      </p:sp>
      <p:sp>
        <p:nvSpPr>
          <p:cNvPr id="10" name="o324"/>
          <p:cNvSpPr txBox="1"/>
          <p:nvPr/>
        </p:nvSpPr>
        <p:spPr>
          <a:xfrm>
            <a:off x="7132320" y="2962656"/>
            <a:ext cx="4480560" cy="566928"/>
          </a:xfrm>
          <a:prstGeom prst="rect">
            <a:avLst/>
          </a:prstGeom>
          <a:noFill/>
          <a:ln/>
        </p:spPr>
        <p:txBody>
          <a:bodyPr wrap="square" lIns="0" tIns="0" rIns="0" bIns="0" rtlCol="0" anchor="t"/>
          <a:lstStyle/>
          <a:p>
            <a:pPr indent="0" marL="0">
              <a:buNone/>
            </a:pPr>
            <a:r>
              <a:rPr lang="en-US" sz="1100" b="1" dirty="0">
                <a:solidFill>
                  <a:srgbClr val="D99A2B"/>
                </a:solidFill>
              </a:rPr>
              <a:t>Dampak</a:t>
            </a:r>
            <a:endParaRPr lang="en-US" sz="1100" dirty="0"/>
          </a:p>
          <a:p>
            <a:pPr indent="0" marL="0">
              <a:buNone/>
            </a:pPr>
            <a:r>
              <a:rPr lang="en-US" sz="1050" dirty="0">
                <a:solidFill>
                  <a:srgbClr val="FFFFFF"/>
                </a:solidFill>
              </a:rPr>
              <a:t>24.025 tCO2e/th dan 564.975 L solar/th per set</a:t>
            </a:r>
            <a:endParaRPr lang="en-US" sz="1100" dirty="0"/>
          </a:p>
        </p:txBody>
      </p:sp>
      <p:sp>
        <p:nvSpPr>
          <p:cNvPr id="11" name="o325"/>
          <p:cNvSpPr txBox="1"/>
          <p:nvPr/>
        </p:nvSpPr>
        <p:spPr>
          <a:xfrm>
            <a:off x="7132320" y="3566160"/>
            <a:ext cx="4480560" cy="566928"/>
          </a:xfrm>
          <a:prstGeom prst="rect">
            <a:avLst/>
          </a:prstGeom>
          <a:noFill/>
          <a:ln/>
        </p:spPr>
        <p:txBody>
          <a:bodyPr wrap="square" lIns="0" tIns="0" rIns="0" bIns="0" rtlCol="0" anchor="t"/>
          <a:lstStyle/>
          <a:p>
            <a:pPr indent="0" marL="0">
              <a:buNone/>
            </a:pPr>
            <a:r>
              <a:rPr lang="en-US" sz="1100" b="1" dirty="0">
                <a:solidFill>
                  <a:srgbClr val="D99A2B"/>
                </a:solidFill>
              </a:rPr>
              <a:t>Skala</a:t>
            </a:r>
            <a:endParaRPr lang="en-US" sz="1100" dirty="0"/>
          </a:p>
          <a:p>
            <a:pPr indent="0" marL="0">
              <a:buNone/>
            </a:pPr>
            <a:r>
              <a:rPr lang="en-US" sz="1050" dirty="0">
                <a:solidFill>
                  <a:srgbClr val="FFFFFF"/>
                </a:solidFill>
              </a:rPr>
              <a:t>15 set pada 2034; tier 30/45/60 t/jam; relokasi</a:t>
            </a:r>
            <a:endParaRPr lang="en-US" sz="1100" dirty="0"/>
          </a:p>
        </p:txBody>
      </p:sp>
      <p:sp>
        <p:nvSpPr>
          <p:cNvPr id="12" name="o326"/>
          <p:cNvSpPr txBox="1"/>
          <p:nvPr/>
        </p:nvSpPr>
        <p:spPr>
          <a:xfrm>
            <a:off x="7132320" y="4224528"/>
            <a:ext cx="4480560" cy="274320"/>
          </a:xfrm>
          <a:prstGeom prst="rect">
            <a:avLst/>
          </a:prstGeom>
          <a:noFill/>
          <a:ln/>
        </p:spPr>
        <p:txBody>
          <a:bodyPr wrap="square" lIns="0" tIns="0" rIns="0" bIns="0" rtlCol="0" anchor="ctr"/>
          <a:lstStyle/>
          <a:p>
            <a:pPr indent="0" marL="0">
              <a:buNone/>
            </a:pPr>
            <a:r>
              <a:rPr lang="en-US" sz="1250" b="1" dirty="0">
                <a:solidFill>
                  <a:schemeClr val="accent2"/>
                </a:solidFill>
              </a:rPr>
              <a:t>Yang kami butuhkan</a:t>
            </a:r>
            <a:endParaRPr lang="en-US" sz="1250" dirty="0"/>
          </a:p>
        </p:txBody>
      </p:sp>
      <p:sp>
        <p:nvSpPr>
          <p:cNvPr id="13" name="o327"/>
          <p:cNvSpPr txBox="1"/>
          <p:nvPr/>
        </p:nvSpPr>
        <p:spPr>
          <a:xfrm>
            <a:off x="7132320" y="4517136"/>
            <a:ext cx="4480560" cy="9601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bg1"/>
                </a:solidFill>
              </a:rPr>
              <a:t>Satu PKS mitra pilot di segmen S3 (data POME dan solar 12 bulan)</a:t>
            </a:r>
            <a:endParaRPr lang="en-US" sz="1050" dirty="0"/>
          </a:p>
          <a:p>
            <a:pPr marL="342900" indent="-342900">
              <a:spcAft>
                <a:spcPts val="200"/>
              </a:spcAft>
              <a:buSzPct val="100000"/>
              <a:buChar char="•"/>
            </a:pPr>
            <a:r>
              <a:rPr lang="en-US" sz="1050" dirty="0">
                <a:solidFill>
                  <a:schemeClr val="bg1"/>
                </a:solidFill>
              </a:rPr>
              <a:t>Ekuitas USD 1,64 juta + pinjaman hijau USD 2,46 juta untuk set 1</a:t>
            </a:r>
            <a:endParaRPr lang="en-US" sz="1050" dirty="0"/>
          </a:p>
          <a:p>
            <a:pPr marL="342900" indent="-342900">
              <a:spcAft>
                <a:spcPts val="200"/>
              </a:spcAft>
              <a:buSzPct val="100000"/>
              <a:buChar char="•"/>
            </a:pPr>
            <a:r>
              <a:rPr lang="en-US" sz="1050" dirty="0">
                <a:solidFill>
                  <a:schemeClr val="bg1"/>
                </a:solidFill>
              </a:rPr>
              <a:t>Pendampingan izin PLN (IUPTLS) dan PDD Verra</a:t>
            </a:r>
            <a:endParaRPr lang="en-US" sz="1050" dirty="0"/>
          </a:p>
        </p:txBody>
      </p:sp>
      <p:sp>
        <p:nvSpPr>
          <p:cNvPr id="14" name="o328"/>
          <p:cNvSpPr txBox="1"/>
          <p:nvPr/>
        </p:nvSpPr>
        <p:spPr>
          <a:xfrm>
            <a:off x="411480" y="5669280"/>
            <a:ext cx="1325880" cy="457200"/>
          </a:xfrm>
          <a:prstGeom prst="rect">
            <a:avLst/>
          </a:prstGeom>
          <a:solidFill>
            <a:schemeClr val="tx2"/>
          </a:solidFill>
          <a:ln/>
        </p:spPr>
        <p:txBody>
          <a:bodyPr wrap="square" lIns="0" tIns="0" rIns="0" bIns="0" rtlCol="0" anchor="ctr"/>
          <a:lstStyle/>
          <a:p>
            <a:pPr algn="ctr" indent="0" marL="0">
              <a:buNone/>
            </a:pPr>
            <a:r>
              <a:rPr lang="en-US" sz="1200" b="1" dirty="0">
                <a:solidFill>
                  <a:schemeClr val="bg1"/>
                </a:solidFill>
              </a:rPr>
              <a:t>Kesimpulan</a:t>
            </a:r>
            <a:endParaRPr lang="en-US" sz="1200" dirty="0"/>
          </a:p>
        </p:txBody>
      </p:sp>
      <p:sp>
        <p:nvSpPr>
          <p:cNvPr id="15" name="o329"/>
          <p:cNvSpPr txBox="1"/>
          <p:nvPr/>
        </p:nvSpPr>
        <p:spPr>
          <a:xfrm>
            <a:off x="1737360" y="5669280"/>
            <a:ext cx="10058400" cy="457200"/>
          </a:xfrm>
          <a:prstGeom prst="rect">
            <a:avLst/>
          </a:prstGeom>
          <a:solidFill>
            <a:schemeClr val="bg2"/>
          </a:solidFill>
          <a:ln/>
        </p:spPr>
        <p:txBody>
          <a:bodyPr wrap="square" lIns="0" tIns="127000" rIns="127000" bIns="0" rtlCol="0" anchor="ctr"/>
          <a:lstStyle/>
          <a:p>
            <a:pPr indent="0" marL="0">
              <a:buNone/>
            </a:pPr>
            <a:r>
              <a:rPr lang="en-US" sz="1150" dirty="0">
                <a:solidFill>
                  <a:schemeClr val="tx1"/>
                </a:solidFill>
              </a:rPr>
              <a:t>POME tidak perlu lagi menjadi biaya. Dengan model layanan, PKS bergantung solar membayar 21% lebih sedikit, operator memperoleh IRR 12,2%, dan Indonesia menangkap metana yang selama ini terlepas dari kolam.</a:t>
            </a:r>
            <a:endParaRPr lang="en-US" sz="1150" dirty="0"/>
          </a:p>
        </p:txBody>
      </p:sp>
      <p:sp>
        <p:nvSpPr>
          <p:cNvPr id="16" name="o330"/>
          <p:cNvSpPr txBox="1"/>
          <p:nvPr/>
        </p:nvSpPr>
        <p:spPr>
          <a:xfrm>
            <a:off x="411480" y="6163056"/>
            <a:ext cx="11384280" cy="256032"/>
          </a:xfrm>
          <a:prstGeom prst="rect">
            <a:avLst/>
          </a:prstGeom>
          <a:noFill/>
          <a:ln/>
        </p:spPr>
        <p:txBody>
          <a:bodyPr wrap="square" lIns="0" tIns="0" rIns="0" bIns="0" rtlCol="0" anchor="ctr"/>
          <a:lstStyle/>
          <a:p>
            <a:pPr indent="0" marL="0">
              <a:buNone/>
            </a:pPr>
            <a:r>
              <a:rPr lang="en-US" sz="750" dirty="0">
                <a:solidFill>
                  <a:schemeClr val="accent6"/>
                </a:solidFill>
              </a:rPr>
              <a:t>Sumber: Seluruh angka dari model di repositori ini (neraca proses Rev 2, BG_Model_Keuangan.xlsx v3, register 177 sumber di research/source_register.json).</a:t>
            </a:r>
            <a:endParaRPr lang="en-US" sz="750" dirty="0"/>
          </a:p>
        </p:txBody>
      </p:sp>
      <p:sp>
        <p:nvSpPr>
          <p:cNvPr id="17" name="o331"/>
          <p:cNvSpPr txBox="1"/>
          <p:nvPr/>
        </p:nvSpPr>
        <p:spPr>
          <a:xfrm>
            <a:off x="41148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Masalah</a:t>
            </a:r>
            <a:endParaRPr lang="en-US" sz="950" dirty="0"/>
          </a:p>
        </p:txBody>
      </p:sp>
      <p:sp>
        <p:nvSpPr>
          <p:cNvPr id="18" name="o332"/>
          <p:cNvSpPr txBox="1"/>
          <p:nvPr/>
        </p:nvSpPr>
        <p:spPr>
          <a:xfrm>
            <a:off x="163677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Solusi</a:t>
            </a:r>
            <a:endParaRPr lang="en-US" sz="950" dirty="0"/>
          </a:p>
        </p:txBody>
      </p:sp>
      <p:sp>
        <p:nvSpPr>
          <p:cNvPr id="19" name="o333"/>
          <p:cNvSpPr txBox="1"/>
          <p:nvPr/>
        </p:nvSpPr>
        <p:spPr>
          <a:xfrm>
            <a:off x="286207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Inovasi</a:t>
            </a:r>
            <a:endParaRPr lang="en-US" sz="950" dirty="0"/>
          </a:p>
        </p:txBody>
      </p:sp>
      <p:sp>
        <p:nvSpPr>
          <p:cNvPr id="20" name="o334"/>
          <p:cNvSpPr txBox="1"/>
          <p:nvPr/>
        </p:nvSpPr>
        <p:spPr>
          <a:xfrm>
            <a:off x="4087368"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Pasar</a:t>
            </a:r>
            <a:endParaRPr lang="en-US" sz="950" dirty="0"/>
          </a:p>
        </p:txBody>
      </p:sp>
      <p:sp>
        <p:nvSpPr>
          <p:cNvPr id="21" name="o335"/>
          <p:cNvSpPr txBox="1"/>
          <p:nvPr/>
        </p:nvSpPr>
        <p:spPr>
          <a:xfrm>
            <a:off x="5312664"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Model bisnis</a:t>
            </a:r>
            <a:endParaRPr lang="en-US" sz="950" dirty="0"/>
          </a:p>
        </p:txBody>
      </p:sp>
      <p:sp>
        <p:nvSpPr>
          <p:cNvPr id="22" name="o336"/>
          <p:cNvSpPr txBox="1"/>
          <p:nvPr/>
        </p:nvSpPr>
        <p:spPr>
          <a:xfrm>
            <a:off x="6537960"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Keuangan</a:t>
            </a:r>
            <a:endParaRPr lang="en-US" sz="950" dirty="0"/>
          </a:p>
        </p:txBody>
      </p:sp>
      <p:sp>
        <p:nvSpPr>
          <p:cNvPr id="23" name="o337"/>
          <p:cNvSpPr txBox="1"/>
          <p:nvPr/>
        </p:nvSpPr>
        <p:spPr>
          <a:xfrm>
            <a:off x="7763256"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Dampak</a:t>
            </a:r>
            <a:endParaRPr lang="en-US" sz="950" dirty="0"/>
          </a:p>
        </p:txBody>
      </p:sp>
      <p:sp>
        <p:nvSpPr>
          <p:cNvPr id="24" name="o338"/>
          <p:cNvSpPr txBox="1"/>
          <p:nvPr/>
        </p:nvSpPr>
        <p:spPr>
          <a:xfrm>
            <a:off x="8988552" y="6473952"/>
            <a:ext cx="1188720" cy="256032"/>
          </a:xfrm>
          <a:prstGeom prst="roundRect">
            <a:avLst>
              <a:gd name="adj" fmla="val 21429"/>
            </a:avLst>
          </a:prstGeom>
          <a:solidFill>
            <a:schemeClr val="bg2"/>
          </a:solidFill>
          <a:ln>
            <a:solidFill>
              <a:schemeClr val="bg2"/>
            </a:solidFill>
          </a:ln>
        </p:spPr>
        <p:txBody>
          <a:bodyPr wrap="square" lIns="0" tIns="0" rIns="0" bIns="0" rtlCol="0" anchor="ctr"/>
          <a:lstStyle/>
          <a:p>
            <a:pPr algn="ctr" indent="0" marL="0">
              <a:buNone/>
            </a:pPr>
            <a:r>
              <a:rPr lang="en-US" sz="950" dirty="0">
                <a:solidFill>
                  <a:schemeClr val="tx2"/>
                </a:solidFill>
              </a:rPr>
              <a:t>Skala</a:t>
            </a:r>
            <a:endParaRPr lang="en-US" sz="950" dirty="0"/>
          </a:p>
        </p:txBody>
      </p:sp>
      <p:sp>
        <p:nvSpPr>
          <p:cNvPr id="25" name="o339"/>
          <p:cNvSpPr txBox="1"/>
          <p:nvPr/>
        </p:nvSpPr>
        <p:spPr>
          <a:xfrm>
            <a:off x="10213848" y="6473952"/>
            <a:ext cx="1188720" cy="256032"/>
          </a:xfrm>
          <a:prstGeom prst="roundRect">
            <a:avLst>
              <a:gd name="adj" fmla="val 21429"/>
            </a:avLst>
          </a:prstGeom>
          <a:solidFill>
            <a:schemeClr val="tx2"/>
          </a:solidFill>
          <a:ln>
            <a:solidFill>
              <a:schemeClr val="tx2"/>
            </a:solidFill>
          </a:ln>
        </p:spPr>
        <p:txBody>
          <a:bodyPr wrap="square" lIns="0" tIns="0" rIns="0" bIns="0" rtlCol="0" anchor="ctr"/>
          <a:lstStyle/>
          <a:p>
            <a:pPr algn="ctr" indent="0" marL="0">
              <a:buNone/>
            </a:pPr>
            <a:r>
              <a:rPr lang="en-US" sz="950" b="1" dirty="0">
                <a:solidFill>
                  <a:schemeClr val="bg1"/>
                </a:solidFill>
              </a:rPr>
              <a:t>Penutup</a:t>
            </a:r>
            <a:endParaRPr lang="en-US" sz="950" dirty="0"/>
          </a:p>
        </p:txBody>
      </p:sp>
      <p:sp>
        <p:nvSpPr>
          <p:cNvPr id="26" name="o340"/>
          <p:cNvSpPr/>
          <p:nvPr/>
        </p:nvSpPr>
        <p:spPr>
          <a:xfrm>
            <a:off x="11384280" y="6473952"/>
            <a:ext cx="411480" cy="256032"/>
          </a:xfrm>
          <a:prstGeom prst="roundRect">
            <a:avLst>
              <a:gd name="adj" fmla="val 21429"/>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11384280" y="6473952"/>
            <a:ext cx="4114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ct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EIC Sawit Biogas">
  <a:themeElements>
    <a:clrScheme name="EIC Sawit Biogas">
      <a:dk1>
        <a:srgbClr val="1A2B26"/>
      </a:dk1>
      <a:lt1>
        <a:srgbClr val="FFFFFF"/>
      </a:lt1>
      <a:dk2>
        <a:srgbClr val="1F4E3D"/>
      </a:dk2>
      <a:lt2>
        <a:srgbClr val="F3F1EA"/>
      </a:lt2>
      <a:accent1>
        <a:srgbClr val="2E7D6B"/>
      </a:accent1>
      <a:accent2>
        <a:srgbClr val="D99A2B"/>
      </a:accent2>
      <a:accent3>
        <a:srgbClr val="B5462F"/>
      </a:accent3>
      <a:accent4>
        <a:srgbClr val="4E87A0"/>
      </a:accent4>
      <a:accent5>
        <a:srgbClr val="8A9A5B"/>
      </a:accent5>
      <a:accent6>
        <a:srgbClr val="6B6F6C"/>
      </a:accent6>
      <a:hlink>
        <a:srgbClr val="2E7D6B"/>
      </a:hlink>
      <a:folHlink>
        <a:srgbClr val="1F4E3D"/>
      </a:folHlink>
    </a:clrScheme>
    <a:fontScheme name="EIC Sawit Biog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Biogas-as-a-Service untuk PKS - EIC 2026</dc:title>
  <dc:subject>PptxGenJS Presentation</dc:subject>
  <dc:creator>Tim EIC 2026</dc:creator>
  <cp:lastModifiedBy>Tim EIC 2026</cp:lastModifiedBy>
  <cp:revision>1</cp:revision>
  <dcterms:created xsi:type="dcterms:W3CDTF">2026-10-16T09:44:30Z</dcterms:created>
  <dcterms:modified xsi:type="dcterms:W3CDTF">2026-10-16T09:44:30Z</dcterms:modified>
</cp:coreProperties>
</file>